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350" r:id="rId11"/>
  </p:sldIdLst>
  <p:sldSz cx="12192000" cy="6858000"/>
  <p:notesSz cx="6797675" cy="9926638"/>
  <p:custDataLst>
    <p:tags r:id="rId6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552" autoAdjust="0"/>
  </p:normalViewPr>
  <p:slideViewPr>
    <p:cSldViewPr snapToGrid="0">
      <p:cViewPr varScale="1">
        <p:scale>
          <a:sx n="98" d="100"/>
          <a:sy n="98" d="100"/>
        </p:scale>
        <p:origin x="4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 dirty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8" userDrawn="1">
          <p15:clr>
            <a:srgbClr val="CCCCCC"/>
          </p15:clr>
        </p15:guide>
        <p15:guide id="2" pos="7472" userDrawn="1">
          <p15:clr>
            <a:srgbClr val="CCCCC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tags" Target="../tags/tag2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2.emf"/><Relationship Id="rId1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  <a:endParaRPr lang="en-US" sz="100" dirty="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Presentation10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9744-57C6-9810-EB9F-D5BAAE3EC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4B1AFDBB-EE18-10BB-39B4-0BF3F9F31AD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982357">
              <a:extLst>
                <a:ext uri="{FF2B5EF4-FFF2-40B4-BE49-F238E27FC236}">
                  <a16:creationId xmlns:a16="http://schemas.microsoft.com/office/drawing/2014/main" id="{FBDE4C38-9A6A-5C23-B694-474B1EE6833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675028">
              <a:extLst>
                <a:ext uri="{FF2B5EF4-FFF2-40B4-BE49-F238E27FC236}">
                  <a16:creationId xmlns:a16="http://schemas.microsoft.com/office/drawing/2014/main" id="{A0C48888-B4E8-6B44-FFF0-8C272BA58005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978567">
              <a:extLst>
                <a:ext uri="{FF2B5EF4-FFF2-40B4-BE49-F238E27FC236}">
                  <a16:creationId xmlns:a16="http://schemas.microsoft.com/office/drawing/2014/main" id="{83A20FE0-C7E1-D252-C489-3B02E0E10DE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627303">
              <a:extLst>
                <a:ext uri="{FF2B5EF4-FFF2-40B4-BE49-F238E27FC236}">
                  <a16:creationId xmlns:a16="http://schemas.microsoft.com/office/drawing/2014/main" id="{222F4A25-AC78-075C-FEB9-F997F7A42D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A3D35A64-4373-46A5-2CE4-A4FE763AE3C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157115">
              <a:extLst>
                <a:ext uri="{FF2B5EF4-FFF2-40B4-BE49-F238E27FC236}">
                  <a16:creationId xmlns:a16="http://schemas.microsoft.com/office/drawing/2014/main" id="{EBC3D6DB-F445-8096-713E-9AB744090845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839429">
              <a:extLst>
                <a:ext uri="{FF2B5EF4-FFF2-40B4-BE49-F238E27FC236}">
                  <a16:creationId xmlns:a16="http://schemas.microsoft.com/office/drawing/2014/main" id="{02241C48-F5E8-188E-44E1-FA080F93F6A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497660">
              <a:extLst>
                <a:ext uri="{FF2B5EF4-FFF2-40B4-BE49-F238E27FC236}">
                  <a16:creationId xmlns:a16="http://schemas.microsoft.com/office/drawing/2014/main" id="{F8482904-39D6-6CE4-25C6-7C99945A37A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204029">
              <a:extLst>
                <a:ext uri="{FF2B5EF4-FFF2-40B4-BE49-F238E27FC236}">
                  <a16:creationId xmlns:a16="http://schemas.microsoft.com/office/drawing/2014/main" id="{5BA2AB0A-FC42-8C11-5584-12445A88BE2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787BC5-8C32-80DB-6DB0-544E28CA90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04069-1D43-BB2A-3879-B66239BE1D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FF574-0A03-330D-EA26-3DC9916393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36000"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21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0E37-E05C-2983-0B6F-86261F034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14F49B59-696A-DBB5-9154-2263FE94C93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982357">
              <a:extLst>
                <a:ext uri="{FF2B5EF4-FFF2-40B4-BE49-F238E27FC236}">
                  <a16:creationId xmlns:a16="http://schemas.microsoft.com/office/drawing/2014/main" id="{3895C4F6-B9B4-10C0-ABA0-C8BB5E483DF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675028">
              <a:extLst>
                <a:ext uri="{FF2B5EF4-FFF2-40B4-BE49-F238E27FC236}">
                  <a16:creationId xmlns:a16="http://schemas.microsoft.com/office/drawing/2014/main" id="{BA9B9006-E27D-1F22-411E-C340885044C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978567">
              <a:extLst>
                <a:ext uri="{FF2B5EF4-FFF2-40B4-BE49-F238E27FC236}">
                  <a16:creationId xmlns:a16="http://schemas.microsoft.com/office/drawing/2014/main" id="{18CB7ED1-30FC-4EAD-1B47-9E3211340AD0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627303">
              <a:extLst>
                <a:ext uri="{FF2B5EF4-FFF2-40B4-BE49-F238E27FC236}">
                  <a16:creationId xmlns:a16="http://schemas.microsoft.com/office/drawing/2014/main" id="{26B8F9E7-C20B-548B-91F9-CC0AC094352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1F85A4BF-DE31-B686-5E44-7FCE236044D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157115">
              <a:extLst>
                <a:ext uri="{FF2B5EF4-FFF2-40B4-BE49-F238E27FC236}">
                  <a16:creationId xmlns:a16="http://schemas.microsoft.com/office/drawing/2014/main" id="{0D886042-7ED0-7665-87EA-EE51B6CBD33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839429">
              <a:extLst>
                <a:ext uri="{FF2B5EF4-FFF2-40B4-BE49-F238E27FC236}">
                  <a16:creationId xmlns:a16="http://schemas.microsoft.com/office/drawing/2014/main" id="{2340CE35-02F2-118E-6DB8-575DB380688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497660">
              <a:extLst>
                <a:ext uri="{FF2B5EF4-FFF2-40B4-BE49-F238E27FC236}">
                  <a16:creationId xmlns:a16="http://schemas.microsoft.com/office/drawing/2014/main" id="{321D2CA1-9B81-CC08-35D8-327474AE334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204029">
              <a:extLst>
                <a:ext uri="{FF2B5EF4-FFF2-40B4-BE49-F238E27FC236}">
                  <a16:creationId xmlns:a16="http://schemas.microsoft.com/office/drawing/2014/main" id="{C2F29B4F-A945-CD00-A378-6C453A94406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47917783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b="0" sz="2400">
                <a:solidFill>
                  <a:srgbClr val="000000"/>
                </a:solidFill>
                <a:latin typeface="Arial"/>
              </a:rPr>
              <a:t>Converter o lead quente exige rodar quatro passos: comunicar, priorizar, avisar da consequência e realocar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375" y="923925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spc="400">
                <a:solidFill>
                  <a:srgbClr val="6B6B6B"/>
                </a:solidFill>
                <a:latin typeface="Arial"/>
              </a:rPr>
              <a:t>L2S | LEAD QUENTE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375" y="1076325"/>
            <a:ext cx="11239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74747"/>
                </a:solidFill>
                <a:latin typeface="Arial"/>
              </a:rPr>
              <a:t>Pré-requisito: o número existe e é nominal: leads quentes recebidos, conversão e tempo até o primeiro contato por divisional, loja e CV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375" y="1466850"/>
            <a:ext cx="24765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6" name="Rectangle 5"/>
          <p:cNvSpPr/>
          <p:nvPr/>
        </p:nvSpPr>
        <p:spPr>
          <a:xfrm>
            <a:off x="3352800" y="1466850"/>
            <a:ext cx="24765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7" name="Rectangle 6"/>
          <p:cNvSpPr/>
          <p:nvPr/>
        </p:nvSpPr>
        <p:spPr>
          <a:xfrm>
            <a:off x="6372225" y="1466850"/>
            <a:ext cx="24765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8" name="Rectangle 7"/>
          <p:cNvSpPr/>
          <p:nvPr/>
        </p:nvSpPr>
        <p:spPr>
          <a:xfrm>
            <a:off x="9391650" y="1466850"/>
            <a:ext cx="2466975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9" name="Rectangle 8"/>
          <p:cNvSpPr/>
          <p:nvPr/>
        </p:nvSpPr>
        <p:spPr>
          <a:xfrm>
            <a:off x="1323975" y="2019300"/>
            <a:ext cx="114300" cy="209550"/>
          </a:xfrm>
          <a:prstGeom prst="rect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10" name="Rectangle 9"/>
          <p:cNvSpPr/>
          <p:nvPr/>
        </p:nvSpPr>
        <p:spPr>
          <a:xfrm>
            <a:off x="1504950" y="1866900"/>
            <a:ext cx="114300" cy="361950"/>
          </a:xfrm>
          <a:prstGeom prst="rect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11" name="Rectangle 10"/>
          <p:cNvSpPr/>
          <p:nvPr/>
        </p:nvSpPr>
        <p:spPr>
          <a:xfrm>
            <a:off x="1685925" y="1733550"/>
            <a:ext cx="114300" cy="495300"/>
          </a:xfrm>
          <a:prstGeom prst="rect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04825" y="2343150"/>
            <a:ext cx="21336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"/>
              </a:rPr>
              <a:t>Comunicar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"/>
              </a:rPr>
              <a:t>divisionais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2819400"/>
            <a:ext cx="2171700" cy="2038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Glauco leva o número aos divisionais: leads quentes recebidos e conversão por regional</a:t>
            </a:r>
          </a:p>
          <a:p>
            <a:pPr marL="133350" indent="-133350">
              <a:lnSpc>
                <a:spcPct val="92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Ranking nominal explícito: quem está bem e quem está mal</a:t>
            </a:r>
          </a:p>
          <a:p>
            <a:pPr marL="133350" indent="-133350">
              <a:lnSpc>
                <a:spcPct val="92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Mensagem única: o acompanhamento passa a ser semanal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" y="4972050"/>
            <a:ext cx="213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</a:rPr>
              <a:t>Dono: Glauco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</a:rPr>
              <a:t>Prazo: Semana 1</a:t>
            </a:r>
          </a:p>
        </p:txBody>
      </p:sp>
      <p:sp>
        <p:nvSpPr>
          <p:cNvPr id="15" name="Oval 14"/>
          <p:cNvSpPr/>
          <p:nvPr/>
        </p:nvSpPr>
        <p:spPr>
          <a:xfrm>
            <a:off x="4514850" y="1714500"/>
            <a:ext cx="152400" cy="152400"/>
          </a:xfrm>
          <a:prstGeom prst="ellipse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16" name="Oval 15"/>
          <p:cNvSpPr/>
          <p:nvPr/>
        </p:nvSpPr>
        <p:spPr>
          <a:xfrm>
            <a:off x="4333875" y="1809750"/>
            <a:ext cx="123825" cy="123825"/>
          </a:xfrm>
          <a:prstGeom prst="ellipse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17" name="Oval 16"/>
          <p:cNvSpPr/>
          <p:nvPr/>
        </p:nvSpPr>
        <p:spPr>
          <a:xfrm>
            <a:off x="4724400" y="1809750"/>
            <a:ext cx="123825" cy="123825"/>
          </a:xfrm>
          <a:prstGeom prst="ellipse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18" name="Block Arc 17"/>
          <p:cNvSpPr/>
          <p:nvPr/>
        </p:nvSpPr>
        <p:spPr>
          <a:xfrm>
            <a:off x="4448175" y="1905000"/>
            <a:ext cx="285750" cy="323850"/>
          </a:xfrm>
          <a:prstGeom prst="blockArc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19" name="Block Arc 18"/>
          <p:cNvSpPr/>
          <p:nvPr/>
        </p:nvSpPr>
        <p:spPr>
          <a:xfrm>
            <a:off x="4286250" y="1981200"/>
            <a:ext cx="228600" cy="266700"/>
          </a:xfrm>
          <a:prstGeom prst="blockArc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20" name="Block Arc 19"/>
          <p:cNvSpPr/>
          <p:nvPr/>
        </p:nvSpPr>
        <p:spPr>
          <a:xfrm>
            <a:off x="4667250" y="1981200"/>
            <a:ext cx="228600" cy="266700"/>
          </a:xfrm>
          <a:prstGeom prst="blockArc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524250" y="2343150"/>
            <a:ext cx="21336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"/>
              </a:rPr>
              <a:t>Priorizar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"/>
              </a:rPr>
              <a:t>na ponta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200" y="2819400"/>
            <a:ext cx="2171700" cy="2038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Cascata completa: divisional para regional, regional para GV, GV para CV</a:t>
            </a:r>
          </a:p>
          <a:p>
            <a:pPr marL="133350" indent="-133350">
              <a:lnSpc>
                <a:spcPct val="92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Cada CV recebe a lista nominal dos leads quentes do dia</a:t>
            </a:r>
          </a:p>
          <a:p>
            <a:pPr marL="133350" indent="-133350">
              <a:lnSpc>
                <a:spcPct val="92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Instrução única: ligar em 100% da lista no mesmo 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4250" y="4972050"/>
            <a:ext cx="213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</a:rPr>
              <a:t>Dono: Regionais e GVs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</a:rPr>
              <a:t>Prazo: Semanas 1 e 2</a:t>
            </a:r>
          </a:p>
        </p:txBody>
      </p:sp>
      <p:sp>
        <p:nvSpPr>
          <p:cNvPr id="24" name="Isosceles Triangle 23"/>
          <p:cNvSpPr/>
          <p:nvPr/>
        </p:nvSpPr>
        <p:spPr>
          <a:xfrm>
            <a:off x="7343775" y="1733550"/>
            <a:ext cx="533400" cy="476250"/>
          </a:xfrm>
          <a:prstGeom prst="triangle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25" name="Rectangle 24"/>
          <p:cNvSpPr/>
          <p:nvPr/>
        </p:nvSpPr>
        <p:spPr>
          <a:xfrm>
            <a:off x="7591425" y="1905000"/>
            <a:ext cx="28575" cy="16192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26" name="Oval 25"/>
          <p:cNvSpPr/>
          <p:nvPr/>
        </p:nvSpPr>
        <p:spPr>
          <a:xfrm>
            <a:off x="7586662" y="2105025"/>
            <a:ext cx="38100" cy="3810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543675" y="2343150"/>
            <a:ext cx="21336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"/>
              </a:rPr>
              <a:t>Avisar da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"/>
              </a:rPr>
              <a:t>consequência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5" y="2819400"/>
            <a:ext cx="2171700" cy="2038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Regra comunicada antes de valer: não converter lead quente reduz o volume recebido</a:t>
            </a:r>
          </a:p>
          <a:p>
            <a:pPr marL="133350" indent="-133350">
              <a:lnSpc>
                <a:spcPct val="92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Conversão por CV acompanhada semana a semana</a:t>
            </a:r>
          </a:p>
          <a:p>
            <a:pPr marL="133350" indent="-133350">
              <a:lnSpc>
                <a:spcPct val="92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Sem surpresa: aviso formal antes do primeiro corte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3675" y="4972050"/>
            <a:ext cx="213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</a:rPr>
              <a:t>Dono: Glauco e GVs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</a:rPr>
              <a:t>Prazo: Semana 2</a:t>
            </a:r>
          </a:p>
        </p:txBody>
      </p:sp>
      <p:sp>
        <p:nvSpPr>
          <p:cNvPr id="30" name="Circular Arrow 29"/>
          <p:cNvSpPr/>
          <p:nvPr/>
        </p:nvSpPr>
        <p:spPr>
          <a:xfrm>
            <a:off x="10367962" y="1714500"/>
            <a:ext cx="514350" cy="514350"/>
          </a:xfrm>
          <a:prstGeom prst="circularArrow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31" name="Circular Arrow 30"/>
          <p:cNvSpPr/>
          <p:nvPr/>
        </p:nvSpPr>
        <p:spPr>
          <a:xfrm rot="10800000">
            <a:off x="10367962" y="1714500"/>
            <a:ext cx="514350" cy="514350"/>
          </a:xfrm>
          <a:prstGeom prst="circularArrow">
            <a:avLst/>
          </a:prstGeom>
          <a:noFill/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9563100" y="2343150"/>
            <a:ext cx="21240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"/>
              </a:rPr>
              <a:t>Realocar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"/>
              </a:rPr>
              <a:t>o lead quente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4050" y="2819400"/>
            <a:ext cx="2162175" cy="2038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Alocação inicial antes o critério do cliente, como é hoje</a:t>
            </a:r>
          </a:p>
          <a:p>
            <a:pPr marL="133350" indent="-133350">
              <a:lnSpc>
                <a:spcPct val="92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Dentro da loja, o mix de quente, morno e frio segue a performance do CV</a:t>
            </a:r>
          </a:p>
          <a:p>
            <a:pPr marL="133350" indent="-133350">
              <a:lnSpc>
                <a:spcPct val="92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sz="1200">
                <a:solidFill>
                  <a:srgbClr val="1D1D1D"/>
                </a:solidFill>
                <a:latin typeface="Arial"/>
              </a:rPr>
              <a:t>Lead quente não tratado no prazo é realocado para quem atende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3100" y="4972050"/>
            <a:ext cx="21240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</a:rPr>
              <a:t>Dono: L2S e comercial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  <a:latin typeface="Arial"/>
              </a:rPr>
              <a:t>Prazo: Semanas 3 e 4, em piloto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375" y="5581650"/>
            <a:ext cx="857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000000"/>
                </a:solidFill>
                <a:latin typeface="Arial"/>
              </a:rPr>
              <a:t>Fonte: análise Bain; discussão com liderança comercial Localiza Seminovos</a:t>
            </a:r>
          </a:p>
        </p:txBody>
      </p:sp>
      <p:sp>
        <p:nvSpPr>
          <p:cNvPr id="36" name="btfpNumberBubble469252">
            <a:extLst>
              <a:ext uri="{FF2B5EF4-FFF2-40B4-BE49-F238E27FC236}">
                <a16:creationId xmlns:a16="http://schemas.microsoft.com/office/drawing/2014/main" id="{2FBEAB03-9F78-2939-6B2D-A226594C1F1F}"/>
              </a:ext>
            </a:extLst>
          </p:cNvPr>
          <p:cNvSpPr/>
          <p:nvPr/>
        </p:nvSpPr>
        <p:spPr bwMode="gray">
          <a:xfrm>
            <a:off x="409575" y="1314450"/>
            <a:ext cx="314325" cy="314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 dirty="0" sz="1600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37" name="btfpNumberBubble469252">
            <a:extLst>
              <a:ext uri="{FF2B5EF4-FFF2-40B4-BE49-F238E27FC236}">
                <a16:creationId xmlns:a16="http://schemas.microsoft.com/office/drawing/2014/main" id="{2FBEAB03-9F78-2939-6B2D-A226594C1F1F}"/>
              </a:ext>
            </a:extLst>
          </p:cNvPr>
          <p:cNvSpPr/>
          <p:nvPr/>
        </p:nvSpPr>
        <p:spPr bwMode="gray">
          <a:xfrm>
            <a:off x="3429000" y="1314450"/>
            <a:ext cx="314325" cy="314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 dirty="0" sz="1600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38" name="btfpNumberBubble469252">
            <a:extLst>
              <a:ext uri="{FF2B5EF4-FFF2-40B4-BE49-F238E27FC236}">
                <a16:creationId xmlns:a16="http://schemas.microsoft.com/office/drawing/2014/main" id="{2FBEAB03-9F78-2939-6B2D-A226594C1F1F}"/>
              </a:ext>
            </a:extLst>
          </p:cNvPr>
          <p:cNvSpPr/>
          <p:nvPr/>
        </p:nvSpPr>
        <p:spPr bwMode="gray">
          <a:xfrm>
            <a:off x="6448425" y="1314450"/>
            <a:ext cx="314325" cy="314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 dirty="0" sz="1600">
                <a:solidFill>
                  <a:srgbClr val="CC0000"/>
                </a:solidFill>
              </a:rPr>
              <a:t>3</a:t>
            </a:r>
          </a:p>
        </p:txBody>
      </p:sp>
      <p:sp>
        <p:nvSpPr>
          <p:cNvPr id="39" name="btfpNumberBubble469252">
            <a:extLst>
              <a:ext uri="{FF2B5EF4-FFF2-40B4-BE49-F238E27FC236}">
                <a16:creationId xmlns:a16="http://schemas.microsoft.com/office/drawing/2014/main" id="{2FBEAB03-9F78-2939-6B2D-A226594C1F1F}"/>
              </a:ext>
            </a:extLst>
          </p:cNvPr>
          <p:cNvSpPr/>
          <p:nvPr/>
        </p:nvSpPr>
        <p:spPr bwMode="gray">
          <a:xfrm>
            <a:off x="9467850" y="1314450"/>
            <a:ext cx="314325" cy="314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 dirty="0" sz="1600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40" name="btfpSequenceArrow864161">
            <a:extLst>
              <a:ext uri="{FF2B5EF4-FFF2-40B4-BE49-F238E27FC236}">
                <a16:creationId xmlns:a16="http://schemas.microsoft.com/office/drawing/2014/main" id="{A9F3F57D-0BDA-D9B7-5221-13B15C1A26CB}"/>
              </a:ext>
            </a:extLst>
          </p:cNvPr>
          <p:cNvSpPr/>
          <p:nvPr/>
        </p:nvSpPr>
        <p:spPr bwMode="gray">
          <a:xfrm>
            <a:off x="2995612" y="1619250"/>
            <a:ext cx="171450" cy="66675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CC0000"/>
          </a:solidFill>
          <a:ln w="9525" cap="flat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0"/>
              </a:lnSpc>
            </a:pPr>
            <a:endParaRPr lang="en-US" dirty="0"/>
          </a:p>
        </p:txBody>
      </p:sp>
      <p:sp>
        <p:nvSpPr>
          <p:cNvPr id="41" name="btfpSequenceArrow864161">
            <a:extLst>
              <a:ext uri="{FF2B5EF4-FFF2-40B4-BE49-F238E27FC236}">
                <a16:creationId xmlns:a16="http://schemas.microsoft.com/office/drawing/2014/main" id="{A9F3F57D-0BDA-D9B7-5221-13B15C1A26CB}"/>
              </a:ext>
            </a:extLst>
          </p:cNvPr>
          <p:cNvSpPr/>
          <p:nvPr/>
        </p:nvSpPr>
        <p:spPr bwMode="gray">
          <a:xfrm>
            <a:off x="6015038" y="1619250"/>
            <a:ext cx="171450" cy="66675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CC0000"/>
          </a:solidFill>
          <a:ln w="9525" cap="flat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0"/>
              </a:lnSpc>
            </a:pPr>
            <a:endParaRPr lang="en-US" dirty="0"/>
          </a:p>
        </p:txBody>
      </p:sp>
      <p:sp>
        <p:nvSpPr>
          <p:cNvPr id="42" name="btfpSequenceArrow864161">
            <a:extLst>
              <a:ext uri="{FF2B5EF4-FFF2-40B4-BE49-F238E27FC236}">
                <a16:creationId xmlns:a16="http://schemas.microsoft.com/office/drawing/2014/main" id="{A9F3F57D-0BDA-D9B7-5221-13B15C1A26CB}"/>
              </a:ext>
            </a:extLst>
          </p:cNvPr>
          <p:cNvSpPr/>
          <p:nvPr/>
        </p:nvSpPr>
        <p:spPr bwMode="gray">
          <a:xfrm>
            <a:off x="9034462" y="1619250"/>
            <a:ext cx="171450" cy="66675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CC0000"/>
          </a:solidFill>
          <a:ln w="9525" cap="flat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0"/>
              </a:lnSpc>
            </a:pPr>
            <a:endParaRPr lang="en-US" dirty="0"/>
          </a:p>
        </p:txBody>
      </p:sp>
      <p:grpSp>
        <p:nvGrpSpPr>
          <p:cNvPr id="43" name="btfpConclusionArrow779861">
            <a:extLst>
              <a:ext uri="{FF2B5EF4-FFF2-40B4-BE49-F238E27FC236}">
                <a16:creationId xmlns:a16="http://schemas.microsoft.com/office/drawing/2014/main" id="{05D08A4A-41E0-E9E3-F09F-3A07AE1D27E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30200" y="5740988"/>
            <a:ext cx="11531600" cy="824912"/>
            <a:chOff x="-711496" y="909638"/>
            <a:chExt cx="11531600" cy="824912"/>
          </a:xfrm>
        </p:grpSpPr>
        <p:sp>
          <p:nvSpPr>
            <p:cNvPr id="9" name="btfpConclusionArrowText779861">
              <a:extLst>
                <a:ext uri="{FF2B5EF4-FFF2-40B4-BE49-F238E27FC236}">
                  <a16:creationId xmlns:a16="http://schemas.microsoft.com/office/drawing/2014/main" id="{75D111A0-D24E-ED4A-6E99-086ABF15749C}"/>
                </a:ext>
              </a:extLst>
            </p:cNvPr>
            <p:cNvSpPr txBox="1"/>
            <p:nvPr/>
          </p:nvSpPr>
          <p:spPr bwMode="gray">
            <a:xfrm>
              <a:off x="-711496" y="1270000"/>
              <a:ext cx="11531600" cy="464550"/>
            </a:xfrm>
            <a:prstGeom prst="rect">
              <a:avLst/>
            </a:prstGeom>
            <a:noFill/>
          </p:spPr>
          <p:txBody>
            <a:bodyPr vert="horz" wrap="square" lIns="36036" tIns="36036" rIns="36036" bIns="180181" rtlCol="0" anchor="ctr">
              <a:spAutoFit/>
            </a:bodyPr>
            <a:lstStyle/>
            <a:p>
              <a:pPr marL="0" indent="0" algn="ctr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CC0000"/>
                  </a:solidFill>
                </a:rPr>
                <a:t>Lead quente passa a ser mérito, não direito: quem converte recebe mais, quem não converte recebe menos</a:t>
              </a:r>
            </a:p>
          </p:txBody>
        </p:sp>
        <p:sp>
          <p:nvSpPr>
            <p:cNvPr id="10" name="btfpConclusionArrowPointer779861">
              <a:extLst>
                <a:ext uri="{FF2B5EF4-FFF2-40B4-BE49-F238E27FC236}">
                  <a16:creationId xmlns:a16="http://schemas.microsoft.com/office/drawing/2014/main" id="{54F7D14C-7AF7-38B4-3305-02DA70545C40}"/>
                </a:ext>
              </a:extLst>
            </p:cNvPr>
            <p:cNvSpPr/>
            <p:nvPr/>
          </p:nvSpPr>
          <p:spPr bwMode="gray">
            <a:xfrm>
              <a:off x="4621869" y="909638"/>
              <a:ext cx="864870" cy="360362"/>
            </a:xfrm>
            <a:prstGeom prst="downArrow">
              <a:avLst>
                <a:gd name="adj1" fmla="val 50000"/>
                <a:gd name="adj2" fmla="val 70000"/>
              </a:avLst>
            </a:prstGeom>
            <a:noFill/>
            <a:ln w="9525" cmpd="sng">
              <a:solidFill>
                <a:srgbClr val="CC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nclusionArrowLineLeft779861">
              <a:extLst>
                <a:ext uri="{FF2B5EF4-FFF2-40B4-BE49-F238E27FC236}">
                  <a16:creationId xmlns:a16="http://schemas.microsoft.com/office/drawing/2014/main" id="{B24B930C-42E3-0301-698E-090575CD0C6E}"/>
                </a:ext>
              </a:extLst>
            </p:cNvPr>
            <p:cNvCxnSpPr/>
            <p:nvPr/>
          </p:nvCxnSpPr>
          <p:spPr bwMode="gray">
            <a:xfrm>
              <a:off x="-711496" y="1149999"/>
              <a:ext cx="5419852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btfpConclusionArrowLineRight779861">
              <a:extLst>
                <a:ext uri="{FF2B5EF4-FFF2-40B4-BE49-F238E27FC236}">
                  <a16:creationId xmlns:a16="http://schemas.microsoft.com/office/drawing/2014/main" id="{29DAC883-87EF-B9A7-F9B4-DDF68E1038FF}"/>
                </a:ext>
              </a:extLst>
            </p:cNvPr>
            <p:cNvCxnSpPr/>
            <p:nvPr/>
          </p:nvCxnSpPr>
          <p:spPr bwMode="gray">
            <a:xfrm>
              <a:off x="5400252" y="1149999"/>
              <a:ext cx="5419852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BTFPCOLUMNGUIDE" val="Visible"/>
  <p:tag name="MEKKOFORMATS" val="&lt;MekkoFormats&gt;&lt;Font&gt;&lt;Output_Font_Name Default=&quot;Arial&quot; UsePPTTheme=&quot;True&quot; /&gt;&lt;/Font&gt;&lt;/MekkoFormats&gt;"/>
  <p:tag name="OFFICE" val="Warsaw SS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ROTATION" val="0"/>
  <p:tag name="BTFPLAYOUTENABLED" val="0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28C1D2031CE49B65EB9398B6665A4" ma:contentTypeVersion="16" ma:contentTypeDescription="Ein neues Dokument erstellen." ma:contentTypeScope="" ma:versionID="915be8ddf9203496dff81045837c2095">
  <xsd:schema xmlns:xsd="http://www.w3.org/2001/XMLSchema" xmlns:xs="http://www.w3.org/2001/XMLSchema" xmlns:p="http://schemas.microsoft.com/office/2006/metadata/properties" xmlns:ns2="024ef72b-9a44-443b-86c7-2b9b89248177" xmlns:ns3="df6b8441-aa16-4692-b757-547843ef6d58" xmlns:ns4="0e427f73-0d6a-4740-aee4-eea3ddf9cfe2" targetNamespace="http://schemas.microsoft.com/office/2006/metadata/properties" ma:root="true" ma:fieldsID="93e82e7d94d6100c07791c5c9fddab0b" ns2:_="" ns3:_="" ns4:_="">
    <xsd:import namespace="024ef72b-9a44-443b-86c7-2b9b89248177"/>
    <xsd:import namespace="df6b8441-aa16-4692-b757-547843ef6d58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ef72b-9a44-443b-86c7-2b9b892481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b8441-aa16-4692-b757-547843ef6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85ec8ad-9b94-48bf-98e4-b3da507f3f23}" ma:internalName="TaxCatchAll" ma:showField="CatchAllData" ma:web="df6b8441-aa16-4692-b757-547843ef6d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8E3FDD-F0A4-4844-9D40-FD90550EE8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ef72b-9a44-443b-86c7-2b9b89248177"/>
    <ds:schemaRef ds:uri="df6b8441-aa16-4692-b757-547843ef6d58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Bain Core On Screen Show (16_9)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Bain Core</vt:lpstr>
      <vt:lpstr>think-cell Slide</vt:lpstr>
      <vt:lpstr>PowerPoint Presentation</vt:lpstr>
      <vt:lpstr>PowerPoint Presentation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ConsultingInnovation@bain.com</dc:creator>
  <cp:lastModifiedBy>ConsultingInnovation@bain.com</cp:lastModifiedBy>
  <cp:revision>1</cp:revision>
  <cp:lastPrinted>2017-02-15T14:23:56Z</cp:lastPrinted>
  <dcterms:created xsi:type="dcterms:W3CDTF">2026-03-25T09:44:46Z</dcterms:created>
  <dcterms:modified xsi:type="dcterms:W3CDTF">2026-09-12T04:40:14Z</dcterms:modified>
</cp:coreProperties>
</file>