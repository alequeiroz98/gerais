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873" cy="232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>
                <a:latin typeface="Arial"/>
              </a:defRPr>
            </a:pPr>
            <a:r>
              <a:rPr sz="1500" b="1" i="0" lang="pt-BR">
                <a:solidFill>
                  <a:srgbClr val="1A1A1A"/>
                </a:solidFill>
                <a:latin typeface="Arial"/>
              </a:rPr>
              <a:t>3 dos 10 marcos concluídos; simulador e score de crédito fora do plano e 3 integrações com parceiros sem prazo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62178"/>
            <a:ext cx="3657600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>
                <a:latin typeface="Arial"/>
              </a:defRPr>
            </a:pPr>
            <a:r>
              <a:rPr sz="1150" b="1" i="0" lang="pt-BR">
                <a:solidFill>
                  <a:srgbClr val="1A1A1A"/>
                </a:solidFill>
                <a:latin typeface="Arial"/>
              </a:rPr>
              <a:t>Status das quatro frentes  |  posição de 03/set/26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34563" y="64846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>
                <a:latin typeface="Arial"/>
              </a:defRPr>
            </a:pPr>
            <a:r>
              <a:rPr sz="1100" b="1" i="0" lang="pt-BR">
                <a:solidFill>
                  <a:srgbClr val="146A3D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7171" y="694182"/>
            <a:ext cx="54894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Concluído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577" y="64846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4C8E14"/>
                </a:solidFill>
                <a:latin typeface="Arial"/>
              </a:rPr>
              <a:t>• • 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8185" y="694182"/>
            <a:ext cx="1543097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Em andamento, dentro do plano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0738" y="64846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C28E00"/>
                </a:solidFill>
                <a:latin typeface="Arial"/>
              </a:rPr>
              <a:t>• • 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346" y="694182"/>
            <a:ext cx="1322427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Em andamento, com riscos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5230" y="64846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50">
                <a:latin typeface="Arial"/>
              </a:defRPr>
            </a:pPr>
            <a:r>
              <a:rPr sz="950" b="1" i="0" lang="pt-BR">
                <a:solidFill>
                  <a:srgbClr val="C01F1F"/>
                </a:solidFill>
                <a:latin typeface="Arial"/>
              </a:rPr>
              <a:t>• • 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7838" y="694182"/>
            <a:ext cx="143008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6B6B6B"/>
                </a:solidFill>
                <a:latin typeface="Arial"/>
              </a:rPr>
              <a:t>Em andamento, fora do plano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968374"/>
          <a:ext cx="11423870" cy="54781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8214"/>
                <a:gridCol w="2558064"/>
                <a:gridCol w="699326"/>
                <a:gridCol w="607310"/>
                <a:gridCol w="2493652"/>
                <a:gridCol w="2493652"/>
                <a:gridCol w="2493652"/>
              </a:tblGrid>
              <a:tr h="24892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O QUE PRECISAVA SER FEITO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PROGRESSO RECENTE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PRÓXIMOS PASSOS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757575"/>
                          </a:solidFill>
                          <a:latin typeface="Arial"/>
                        </a:rPr>
                        <a:t>PONTOS A ESCALAR</a:t>
                      </a:r>
                    </a:p>
                  </a:txBody>
                  <a:tcPr marL="64008" marR="64008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3F7C0E"/>
                          </a:solidFill>
                          <a:latin typeface="Arial"/>
                        </a:rPr>
                        <a:t>1.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Simulador de pré-análise</a:t>
                      </a:r>
                    </a:p>
                  </a:txBody>
                  <a:tcPr marL="128016" marR="128016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none"/>
                    <a:lstStyle/>
                    <a:p>
                      <a:pPr algn="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2 concluídos</a:t>
                      </a:r>
                      <a:r>
                        <a:rPr sz="8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 •   </a:t>
                      </a:r>
                      <a:r>
                        <a:rPr sz="8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1 fora do plano</a:t>
                      </a:r>
                    </a:p>
                  </a:txBody>
                  <a:tcPr marL="73152" marR="146304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56044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Desenhar plano de comunicação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02/set/26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50">
                          <a:latin typeface="Arial"/>
                        </a:defRPr>
                      </a:pPr>
                      <a:r>
                        <a:rPr sz="115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Plano de comunicação desenhado</a:t>
                      </a: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, com formato, data, participantes e duração definidos para cada conversa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Ajustar tela do simulador, textos e cards de crédito parcial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02/set/26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Desenvolvimentos preliminares concluídos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Implementar ajustes observados durante visita em loja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Avaliar dificuldade e prazos para implementar todas as melhorias mapeadas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Selecionar lojas do piloto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02/set/26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50">
                          <a:latin typeface="Arial"/>
                        </a:defRPr>
                      </a:pPr>
                      <a:r>
                        <a:rPr sz="115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Lojas selecionadas nas regionais Nordeste, MG, CO, ES e RJ;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75 lojas</a:t>
                      </a: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escolhidas para o piloto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3F7C0E"/>
                          </a:solidFill>
                          <a:latin typeface="Arial"/>
                        </a:rPr>
                        <a:t>2.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Modelo de distribuição de fichas</a:t>
                      </a:r>
                    </a:p>
                  </a:txBody>
                  <a:tcPr marL="128016" marR="128016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none"/>
                    <a:lstStyle/>
                    <a:p>
                      <a:pPr algn="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1 concluído</a:t>
                      </a:r>
                      <a:r>
                        <a:rPr sz="8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 •   </a:t>
                      </a:r>
                      <a:r>
                        <a:rPr sz="8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1 no plano</a:t>
                      </a:r>
                    </a:p>
                  </a:txBody>
                  <a:tcPr marL="73152" marR="146304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Iniciar modelo escalável em duas lojas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01/set/26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50">
                          <a:latin typeface="Arial"/>
                        </a:defRPr>
                      </a:pPr>
                      <a:r>
                        <a:rPr sz="1150" b="1" i="0" lang="pt-BR">
                          <a:solidFill>
                            <a:srgbClr val="146A3D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Modelo implementado na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VCGRU</a:t>
                      </a: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 na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VCSCJS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Expandir gradualmente para as outras lojas que já fazem parte do piloto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296964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Implementar sistema de reanálise nos modelos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25/set/26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FF8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3F7C0E"/>
                          </a:solidFill>
                          <a:latin typeface="Arial"/>
                        </a:rPr>
                        <a:t>3.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Ecossistema de financiamento para lojistas</a:t>
                      </a:r>
                    </a:p>
                  </a:txBody>
                  <a:tcPr marL="128016" marR="128016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none"/>
                    <a:lstStyle/>
                    <a:p>
                      <a:pPr algn="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3 com riscos</a:t>
                      </a:r>
                    </a:p>
                  </a:txBody>
                  <a:tcPr marL="73152" marR="146304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Integrar o PAN no FAS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Definir quem fará o desenvolvimento: </a:t>
                      </a: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internamente ou do lado do PAN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Finalizar desenvolvimentos de tecnologia necessários do VOX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Garantir que nossos desenvolvimentos de tecnologia sejam priorizados com o VOX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417868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Resolver inconsistência nas ofertas do Bradesco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C28E00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FF6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Garantir que os problemas de instabilidade sejam resolvidos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78DE1F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l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3F7C0E"/>
                          </a:solidFill>
                          <a:latin typeface="Arial"/>
                        </a:rPr>
                        <a:t>4. </a:t>
                      </a:r>
                      <a:r>
                        <a:rPr sz="1000" b="1" i="0" lang="pt-BR">
                          <a:solidFill>
                            <a:srgbClr val="1A1A1A"/>
                          </a:solidFill>
                          <a:latin typeface="Arial"/>
                        </a:rPr>
                        <a:t>Gestão integrada do ciclo de crédito</a:t>
                      </a:r>
                    </a:p>
                  </a:txBody>
                  <a:tcPr marL="128016" marR="128016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none"/>
                    <a:lstStyle/>
                    <a:p>
                      <a:pPr algn="r">
                        <a:defRPr sz="800">
                          <a:latin typeface="Arial"/>
                        </a:defRPr>
                      </a:pPr>
                      <a:r>
                        <a:rPr sz="8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1 no plano</a:t>
                      </a:r>
                      <a:r>
                        <a:rPr sz="800" b="0" i="0" lang="pt-BR">
                          <a:solidFill>
                            <a:srgbClr val="D5D5D5"/>
                          </a:solidFill>
                          <a:latin typeface="Arial"/>
                        </a:rPr>
                        <a:t>   •   </a:t>
                      </a:r>
                      <a:r>
                        <a:rPr sz="8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1 fora do plano</a:t>
                      </a:r>
                    </a:p>
                  </a:txBody>
                  <a:tcPr marL="73152" marR="146304" marT="36576" marB="36576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6964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Obter dados de Bradesco e VOX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4C8E14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EFF8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ECECEC"/>
                      </a:solidFill>
                    </a:lnB>
                    <a:noFill/>
                  </a:tcPr>
                </a:tc>
              </a:tr>
              <a:tr h="556044">
                <a:tc>
                  <a:txBody>
                    <a:bodyPr/>
                    <a:lstStyle/>
                    <a:p>
                      <a:pPr>
                        <a:defRPr sz="100">
                          <a:latin typeface="Arial"/>
                        </a:defRPr>
                      </a:pPr>
                    </a:p>
                  </a:txBody>
                  <a:tcPr marT="0" marB="0" marL="0" marR="0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Criar score de crédito Localiza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6B6B6B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rPr sz="1000" b="1" i="0" lang="pt-BR">
                          <a:solidFill>
                            <a:srgbClr val="C01F1F"/>
                          </a:solidFill>
                          <a:latin typeface="Arial"/>
                        </a:rPr>
                        <a:t>• • •</a:t>
                      </a:r>
                    </a:p>
                  </a:txBody>
                  <a:tcPr marL="18288" marR="18288" marT="18288" marB="18288" anchor="ctr">
                    <a:lnL w="38100" cap="flat" cmpd="sng" algn="ctr">
                      <a:solidFill>
                        <a:srgbClr val="FFFFFF"/>
                      </a:solidFill>
                    </a:lnL>
                    <a:lnR w="38100" cap="flat" cmpd="sng" algn="ctr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1" i="0" lang="pt-BR">
                          <a:solidFill>
                            <a:srgbClr val="333333"/>
                          </a:solidFill>
                          <a:latin typeface="Arial"/>
                        </a:rPr>
                        <a:t>Acessos concedidos</a:t>
                      </a: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 e bases entendidas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333333"/>
                          </a:solidFill>
                          <a:latin typeface="Arial"/>
                        </a:rPr>
                        <a:t>Estruturação e consolidação das bases, treinamento do modelo e backtest com dados históricos para avaliar a acurácia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rPr sz="850" b="0" i="0" lang="pt-BR">
                          <a:solidFill>
                            <a:srgbClr val="828282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CECEC"/>
                      </a:solidFill>
                    </a:lnL>
                    <a:lnR w="6350" cap="flat" cmpd="sng" algn="ctr">
                      <a:noFill/>
                    </a:lnR>
                    <a:lnT w="6350" cap="flat" cmpd="sng" algn="ctr">
                      <a:noFill/>
                    </a:lnT>
                    <a:lnB w="6350" cap="flat" cmpd="sng" algn="ctr">
                      <a:solidFill>
                        <a:srgbClr val="D5D5D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6547104"/>
            <a:ext cx="114238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rPr sz="800" b="0" i="0" lang="pt-BR">
                <a:solidFill>
                  <a:srgbClr val="757575"/>
                </a:solidFill>
                <a:latin typeface="Arial"/>
              </a:rPr>
              <a:t>Nota: prazos em TBD dependem de definição conjunta com os parceiros (PAN, VOX e Bradesco). NA = não aplicável no ciclo atual.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