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28016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lang="pt-BR" dirty="0">
                <a:solidFill>
                  <a:srgbClr val="333333"/>
                </a:solidFill>
                <a:latin typeface="Arial"/>
              </a:rPr>
              <a:t>Recap: </a:t>
            </a:r>
            <a:r>
              <a:rPr sz="1950" b="0" lang="pt-BR" dirty="0">
                <a:solidFill>
                  <a:srgbClr val="333333"/>
                </a:solidFill>
                <a:latin typeface="Arial"/>
              </a:rPr>
              <a:t>80% dos leads chegam sem informação completa e convertem 0,41% a 0,59%,</a:t>
            </a:r>
          </a:p>
          <a:p>
            <a:pPr algn="l">
              <a:lnSpc>
                <a:spcPct val="110000"/>
              </a:lnSpc>
            </a:pPr>
            <a:r>
              <a:rPr sz="1950" b="0" lang="pt-BR" dirty="0">
                <a:solidFill>
                  <a:srgbClr val="333333"/>
                </a:solidFill>
                <a:latin typeface="Arial"/>
              </a:rPr>
              <a:t>contra 0,71% de quem informa carro e CEP; fechar o gap vale 300 a 950 carros por mês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877824"/>
            <a:ext cx="11643055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entagon 3"/>
          <p:cNvSpPr/>
          <p:nvPr/>
        </p:nvSpPr>
        <p:spPr>
          <a:xfrm>
            <a:off x="274320" y="932688"/>
            <a:ext cx="4041648" cy="274320"/>
          </a:xfrm>
          <a:prstGeom prst="homePlate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0" bIns="0"/>
          <a:lstStyle/>
          <a:p>
            <a:pPr algn="l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 G E N D A   D E   V A L O R   L E A D   T O   S A L E 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014984"/>
            <a:ext cx="128016" cy="128016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9829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Alocação ideal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7568" y="1014984"/>
            <a:ext cx="128016" cy="128016"/>
          </a:xfrm>
          <a:prstGeom prst="rect">
            <a:avLst/>
          </a:prstGeom>
          <a:solidFill>
            <a:srgbClr val="9C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982980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Ideal com os dados disponíveis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1231" y="1014984"/>
            <a:ext cx="128016" cy="128016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1" y="9829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Grande melhoria potencial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960120"/>
            <a:ext cx="2112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60" lang="pt-BR" dirty="0">
                <a:solidFill>
                  <a:srgbClr val="CC0000"/>
                </a:solidFill>
                <a:latin typeface="Arial"/>
              </a:rPr>
              <a:t>/</a:t>
            </a:r>
            <a:r>
              <a:rPr sz="900" b="1" spc="60" lang="pt-BR" dirty="0">
                <a:solidFill>
                  <a:srgbClr val="333333"/>
                </a:solidFill>
                <a:latin typeface="Arial"/>
              </a:rPr>
              <a:t>P R E L I M I N A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43584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lang="pt-BR" dirty="0">
                <a:solidFill>
                  <a:srgbClr val="5C5C5C"/>
                </a:solidFill>
                <a:latin typeface="Arial"/>
              </a:rPr>
              <a:t>Conversão média dos leads por informação coletada e alocação final (% lead em venda,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" y="1600200"/>
            <a:ext cx="6583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NÍVEL DE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INFORMAÇÃO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DO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554480"/>
            <a:ext cx="1786795" cy="585216"/>
          </a:xfrm>
          <a:prstGeom prst="rect">
            <a:avLst/>
          </a:prstGeom>
          <a:solidFill>
            <a:srgbClr val="EEF2F1"/>
          </a:solidFill>
          <a:ln w="9525">
            <a:solidFill>
              <a:srgbClr val="93A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Carro escolhido +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578177"/>
                </a:solidFill>
                <a:latin typeface="Arial"/>
              </a:rPr>
              <a:t>121k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104C3E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104C3E"/>
                </a:solidFill>
                <a:latin typeface="Arial"/>
              </a:rPr>
              <a:t>0,71%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6331" y="1554480"/>
            <a:ext cx="1727503" cy="585216"/>
          </a:xfrm>
          <a:prstGeom prst="rect">
            <a:avLst/>
          </a:prstGeom>
          <a:solidFill>
            <a:srgbClr val="F1F5F4"/>
          </a:solidFill>
          <a:ln w="9525">
            <a:solidFill>
              <a:srgbClr val="A8C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3F7464"/>
                </a:solidFill>
                <a:latin typeface="Arial"/>
              </a:rPr>
              <a:t>Carro escolhido,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789D92"/>
                </a:solidFill>
                <a:latin typeface="Arial"/>
              </a:rPr>
              <a:t>122k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3F7464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3F7464"/>
                </a:solidFill>
                <a:latin typeface="Arial"/>
              </a:rPr>
              <a:t>0,59%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0410" y="1554480"/>
            <a:ext cx="5099349" cy="585216"/>
          </a:xfrm>
          <a:prstGeom prst="rect">
            <a:avLst/>
          </a:prstGeom>
          <a:solidFill>
            <a:srgbClr val="F3F3F3"/>
          </a:solidFill>
          <a:ln w="9525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5C5C5C"/>
                </a:solidFill>
                <a:latin typeface="Arial"/>
              </a:rPr>
              <a:t>Carro não escolhido</a:t>
            </a:r>
            <a:r>
              <a:rPr sz="800" b="0" lang="pt-BR" dirty="0">
                <a:solidFill>
                  <a:srgbClr val="5C5C5C"/>
                </a:solidFill>
                <a:latin typeface="Arial"/>
              </a:rPr>
              <a:t>  com ou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8C8C8C"/>
                </a:solidFill>
                <a:latin typeface="Arial"/>
              </a:rPr>
              <a:t>360k leads/mês · 60%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5C5C5C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5C5C5C"/>
                </a:solidFill>
                <a:latin typeface="Arial"/>
              </a:rPr>
              <a:t>0,41%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822960" y="2157984"/>
            <a:ext cx="8686800" cy="237744"/>
          </a:xfrm>
          <a:prstGeom prst="leftArrow">
            <a:avLst>
              <a:gd name="adj1" fmla="val 42000"/>
              <a:gd name="adj2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Alavanca 1: </a:t>
            </a:r>
            <a:r>
              <a:rPr sz="850" b="0" lang="pt-BR" dirty="0">
                <a:solidFill>
                  <a:srgbClr val="FFFFFF"/>
                </a:solidFill>
                <a:latin typeface="Arial"/>
              </a:rPr>
              <a:t>migrar leads para a esquerda; hoje 482k leads/mês (80%) chegam sem carro escolhido e/ou sem CEP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07208"/>
            <a:ext cx="526682" cy="1965960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6218" y="3264408"/>
            <a:ext cx="637562" cy="150876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0357" y="3241548"/>
            <a:ext cx="415801" cy="153162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2734" y="3950208"/>
            <a:ext cx="97020" cy="822959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46331" y="3104388"/>
            <a:ext cx="859323" cy="1668780"/>
          </a:xfrm>
          <a:prstGeom prst="rect">
            <a:avLst/>
          </a:prstGeom>
          <a:solidFill>
            <a:srgbClr val="9C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42230" y="3767328"/>
            <a:ext cx="831603" cy="100584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0410" y="3790188"/>
            <a:ext cx="2037428" cy="982980"/>
          </a:xfrm>
          <a:prstGeom prst="rect">
            <a:avLst/>
          </a:prstGeom>
          <a:solidFill>
            <a:srgbClr val="9C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4415" y="3813048"/>
            <a:ext cx="540542" cy="96012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61533" y="4087368"/>
            <a:ext cx="554402" cy="68580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2512" y="3813048"/>
            <a:ext cx="1857248" cy="960120"/>
          </a:xfrm>
          <a:prstGeom prst="rect">
            <a:avLst/>
          </a:prstGeom>
          <a:solidFill>
            <a:srgbClr val="C6A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22960" y="4773168"/>
            <a:ext cx="8686800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" y="3154831"/>
            <a:ext cx="1786795" cy="0"/>
          </a:xfrm>
          <a:prstGeom prst="line">
            <a:avLst/>
          </a:prstGeom>
          <a:ln w="19050">
            <a:solidFill>
              <a:srgbClr val="104C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46331" y="3430424"/>
            <a:ext cx="1727503" cy="0"/>
          </a:xfrm>
          <a:prstGeom prst="line">
            <a:avLst/>
          </a:prstGeom>
          <a:ln w="19050">
            <a:solidFill>
              <a:srgbClr val="3F7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10410" y="3834193"/>
            <a:ext cx="5099350" cy="0"/>
          </a:xfrm>
          <a:prstGeom prst="line">
            <a:avLst/>
          </a:prstGeom>
          <a:ln w="19050">
            <a:solidFill>
              <a:srgbClr val="5C5C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2606040"/>
            <a:ext cx="52668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0,86%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218" y="2953663"/>
            <a:ext cx="63756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0,66%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945" y="2953663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933" y="3623881"/>
            <a:ext cx="420624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933" y="3633025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0,36%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6331" y="2903220"/>
            <a:ext cx="85932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0,73%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230" y="3566160"/>
            <a:ext cx="83160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0410" y="3589020"/>
            <a:ext cx="20374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0,43%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4415" y="3611880"/>
            <a:ext cx="54054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0,42%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1533" y="3886200"/>
            <a:ext cx="55440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2512" y="3611880"/>
            <a:ext cx="18572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333333"/>
                </a:solidFill>
                <a:latin typeface="Arial"/>
              </a:rPr>
              <a:t>0,42%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" y="48006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Loja mais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próxima</a:t>
            </a:r>
          </a:p>
        </p:txBody>
      </p:sp>
      <p:sp>
        <p:nvSpPr>
          <p:cNvPr id="44" name="Oval 43"/>
          <p:cNvSpPr/>
          <p:nvPr/>
        </p:nvSpPr>
        <p:spPr>
          <a:xfrm>
            <a:off x="1017721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50639" y="488015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36419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669338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99677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235339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35339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492665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52832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2832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46331" y="4828032"/>
            <a:ext cx="85932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2230" y="4828032"/>
            <a:ext cx="83160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56" name="Oval 55"/>
          <p:cNvSpPr/>
          <p:nvPr/>
        </p:nvSpPr>
        <p:spPr>
          <a:xfrm>
            <a:off x="5360544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393463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86106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721768" y="4877409"/>
            <a:ext cx="65836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721768" y="4877409"/>
            <a:ext cx="65836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270154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30581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30581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52512" y="482803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5047488"/>
            <a:ext cx="8686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46304" y="507492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Loja tinha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o carro</a:t>
            </a:r>
          </a:p>
        </p:txBody>
      </p:sp>
      <p:sp>
        <p:nvSpPr>
          <p:cNvPr id="67" name="Oval 66"/>
          <p:cNvSpPr/>
          <p:nvPr/>
        </p:nvSpPr>
        <p:spPr>
          <a:xfrm>
            <a:off x="1017721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50639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36419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672081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672081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2199677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232596" y="515447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92665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2528326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28326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007413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3040331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89452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925114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925114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10410" y="5102352"/>
            <a:ext cx="20374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84415" y="5102352"/>
            <a:ext cx="54054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61533" y="5102352"/>
            <a:ext cx="55440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52512" y="510235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22960" y="5321808"/>
            <a:ext cx="8686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46304" y="5367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k leads/mês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367528"/>
            <a:ext cx="5266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6218" y="5367528"/>
            <a:ext cx="6375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46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60357" y="5367528"/>
            <a:ext cx="4158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05797" y="5367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46331" y="5367528"/>
            <a:ext cx="8593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62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42230" y="5367528"/>
            <a:ext cx="8316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10410" y="5367528"/>
            <a:ext cx="20374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147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84415" y="5367528"/>
            <a:ext cx="5405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61533" y="5367528"/>
            <a:ext cx="5544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52512" y="5367528"/>
            <a:ext cx="185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134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02368" y="1335024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333333"/>
                </a:solidFill>
                <a:latin typeface="Arial"/>
              </a:rPr>
              <a:t>Alavancas de ganho</a:t>
            </a:r>
          </a:p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333333"/>
                </a:solidFill>
                <a:latin typeface="Arial"/>
              </a:rPr>
              <a:t>de conversão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802368" y="1755648"/>
            <a:ext cx="2115007" cy="0"/>
          </a:xfrm>
          <a:prstGeom prst="line">
            <a:avLst/>
          </a:prstGeom>
          <a:ln w="9525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9802368" y="195681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13264" y="1929384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333333"/>
                </a:solidFill>
                <a:latin typeface="Arial"/>
              </a:rPr>
              <a:t>Aumento da </a:t>
            </a:r>
            <a:r>
              <a:rPr sz="950" b="1" lang="pt-BR" dirty="0">
                <a:solidFill>
                  <a:srgbClr val="333333"/>
                </a:solidFill>
                <a:latin typeface="Arial"/>
              </a:rPr>
              <a:t>proporção de leads com informações mínimas necessárias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quais são: carro desejado e CEP</a:t>
            </a:r>
          </a:p>
        </p:txBody>
      </p:sp>
      <p:sp>
        <p:nvSpPr>
          <p:cNvPr id="102" name="Oval 101"/>
          <p:cNvSpPr/>
          <p:nvPr/>
        </p:nvSpPr>
        <p:spPr>
          <a:xfrm>
            <a:off x="9802368" y="318211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13264" y="3154680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333333"/>
                </a:solidFill>
                <a:latin typeface="Arial"/>
              </a:rPr>
              <a:t>Melhoria da </a:t>
            </a:r>
            <a:r>
              <a:rPr sz="950" b="1" lang="pt-BR" dirty="0">
                <a:solidFill>
                  <a:srgbClr val="333333"/>
                </a:solidFill>
                <a:latin typeface="Arial"/>
              </a:rPr>
              <a:t>qualidade da alocação dos leads</a:t>
            </a:r>
            <a:r>
              <a:rPr sz="950" b="0" lang="pt-BR" dirty="0">
                <a:solidFill>
                  <a:srgbClr val="333333"/>
                </a:solidFill>
                <a:latin typeface="Arial"/>
              </a:rPr>
              <a:t> com base nas preferências do cliente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loja mais próxima e com o carro em estoque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2960" y="5687568"/>
            <a:ext cx="11091672" cy="4572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CC0000"/>
                </a:solidFill>
                <a:latin typeface="Arial"/>
              </a:rPr>
              <a:t>Fechar 25% a 75% do gap até a maior conversão (+0,1 a 0,3 p.p. sobre uma conversão média de 0,46%) pode gerar</a:t>
            </a:r>
          </a:p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CC0000"/>
                </a:solidFill>
                <a:latin typeface="Arial"/>
              </a:rPr>
              <a:t>R$ 20 a 60M por ano, ou 300 a 950 carros adicionais por mês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616305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50" b="0" lang="pt-BR" dirty="0">
                <a:solidFill>
                  <a:srgbClr val="858585"/>
                </a:solidFill>
                <a:latin typeface="Arial"/>
              </a:rPr>
              <a:t>¹ Médias por grupo ponderadas pelo volume de leads das barras exibidas; largura das barras proporcional ao volume de leads/mês. ² Os grupos também diferem em intenção de compra: capturar o ganho exige coleta ativa da informação, não apenas segmentar os leads.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4320" y="645566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50" b="0" lang="pt-BR" dirty="0">
                <a:solidFill>
                  <a:srgbClr val="858585"/>
                </a:solidFill>
                <a:latin typeface="Arial"/>
              </a:rPr>
              <a:t>Fonte: bases internas (vendas e leads). Análises Bain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28016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lang="pt-BR" dirty="0">
                <a:solidFill>
                  <a:srgbClr val="C4C4C4"/>
                </a:solidFill>
                <a:latin typeface="Arial"/>
              </a:rPr>
              <a:t>Recap: </a:t>
            </a:r>
            <a:r>
              <a:rPr sz="1950" b="0" lang="pt-BR" dirty="0">
                <a:solidFill>
                  <a:srgbClr val="C4C4C4"/>
                </a:solidFill>
                <a:latin typeface="Arial"/>
              </a:rPr>
              <a:t>80% dos leads chegam sem informação completa e convertem 0,41% a 0,59%,</a:t>
            </a:r>
          </a:p>
          <a:p>
            <a:pPr algn="l">
              <a:lnSpc>
                <a:spcPct val="110000"/>
              </a:lnSpc>
            </a:pPr>
            <a:r>
              <a:rPr sz="1950" b="0" lang="pt-BR" dirty="0">
                <a:solidFill>
                  <a:srgbClr val="C4C4C4"/>
                </a:solidFill>
                <a:latin typeface="Arial"/>
              </a:rPr>
              <a:t>contra 0,71% de quem informa carro e CEP; fechar o gap vale 300 a 950 carros por mês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877824"/>
            <a:ext cx="11643055" cy="0"/>
          </a:xfrm>
          <a:prstGeom prst="line">
            <a:avLst/>
          </a:prstGeom>
          <a:ln w="19050">
            <a:solidFill>
              <a:srgbClr val="F0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entagon 3"/>
          <p:cNvSpPr/>
          <p:nvPr/>
        </p:nvSpPr>
        <p:spPr>
          <a:xfrm>
            <a:off x="274320" y="932688"/>
            <a:ext cx="4041648" cy="274320"/>
          </a:xfrm>
          <a:prstGeom prst="homePlate">
            <a:avLst>
              <a:gd name="adj" fmla="val 100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0" bIns="0"/>
          <a:lstStyle/>
          <a:p>
            <a:pPr algn="l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 G E N D A   D E   V A L O R   L E A D   T O   S A L E 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014984"/>
            <a:ext cx="128016" cy="128016"/>
          </a:xfrm>
          <a:prstGeom prst="rect">
            <a:avLst/>
          </a:prstGeom>
          <a:solidFill>
            <a:srgbClr val="CA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9829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Alocação ideal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7568" y="1014984"/>
            <a:ext cx="128016" cy="128016"/>
          </a:xfrm>
          <a:prstGeom prst="rect">
            <a:avLst/>
          </a:prstGeom>
          <a:solidFill>
            <a:srgbClr val="E9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982980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Ideal com os dados disponíveis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1231" y="1014984"/>
            <a:ext cx="128016" cy="128016"/>
          </a:xfrm>
          <a:prstGeom prst="rect">
            <a:avLst/>
          </a:prstGeom>
          <a:solidFill>
            <a:srgbClr val="F2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1" y="9829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Grande melhoria potencial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960120"/>
            <a:ext cx="2112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60" lang="pt-BR" dirty="0">
                <a:solidFill>
                  <a:srgbClr val="C4C4C4"/>
                </a:solidFill>
                <a:latin typeface="Arial"/>
              </a:rPr>
              <a:t>/</a:t>
            </a:r>
            <a:r>
              <a:rPr sz="900" b="1" spc="60" lang="pt-BR" dirty="0">
                <a:solidFill>
                  <a:srgbClr val="C4C4C4"/>
                </a:solidFill>
                <a:latin typeface="Arial"/>
              </a:rPr>
              <a:t>P R E L I M I N A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43584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lang="pt-BR" dirty="0">
                <a:solidFill>
                  <a:srgbClr val="C4C4C4"/>
                </a:solidFill>
                <a:latin typeface="Arial"/>
              </a:rPr>
              <a:t>Conversão média dos leads por informação coletada e alocação final (% lead em venda,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" y="1600200"/>
            <a:ext cx="6583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NÍVEL DE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INFORMAÇÃO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5C5C5C"/>
                </a:solidFill>
                <a:latin typeface="Arial"/>
              </a:rPr>
              <a:t>DO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554480"/>
            <a:ext cx="1786795" cy="585216"/>
          </a:xfrm>
          <a:prstGeom prst="rect">
            <a:avLst/>
          </a:prstGeom>
          <a:solidFill>
            <a:srgbClr val="EEF2F1"/>
          </a:solidFill>
          <a:ln w="9525">
            <a:solidFill>
              <a:srgbClr val="93A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Carro escolhido +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578177"/>
                </a:solidFill>
                <a:latin typeface="Arial"/>
              </a:rPr>
              <a:t>121k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104C3E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104C3E"/>
                </a:solidFill>
                <a:latin typeface="Arial"/>
              </a:rPr>
              <a:t>0,71%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6331" y="1554480"/>
            <a:ext cx="1727503" cy="585216"/>
          </a:xfrm>
          <a:prstGeom prst="rect">
            <a:avLst/>
          </a:prstGeom>
          <a:solidFill>
            <a:srgbClr val="F1F5F4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3F7464"/>
                </a:solidFill>
                <a:latin typeface="Arial"/>
              </a:rPr>
              <a:t>Carro escolhido,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789D92"/>
                </a:solidFill>
                <a:latin typeface="Arial"/>
              </a:rPr>
              <a:t>122k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3F7464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3F7464"/>
                </a:solidFill>
                <a:latin typeface="Arial"/>
              </a:rPr>
              <a:t>0,59%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0410" y="1554480"/>
            <a:ext cx="5099349" cy="585216"/>
          </a:xfrm>
          <a:prstGeom prst="rect">
            <a:avLst/>
          </a:prstGeom>
          <a:solidFill>
            <a:srgbClr val="F3F3F3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5C5C5C"/>
                </a:solidFill>
                <a:latin typeface="Arial"/>
              </a:rPr>
              <a:t>Carro não escolhido</a:t>
            </a:r>
            <a:r>
              <a:rPr sz="800" b="0" lang="pt-BR" dirty="0">
                <a:solidFill>
                  <a:srgbClr val="5C5C5C"/>
                </a:solidFill>
                <a:latin typeface="Arial"/>
              </a:rPr>
              <a:t>  com ou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8C8C8C"/>
                </a:solidFill>
                <a:latin typeface="Arial"/>
              </a:rPr>
              <a:t>360k leads/mês · 60%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5C5C5C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5C5C5C"/>
                </a:solidFill>
                <a:latin typeface="Arial"/>
              </a:rPr>
              <a:t>0,41%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822960" y="2157984"/>
            <a:ext cx="8686800" cy="237744"/>
          </a:xfrm>
          <a:prstGeom prst="leftArrow">
            <a:avLst>
              <a:gd name="adj1" fmla="val 42000"/>
              <a:gd name="adj2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Alavanca 1: </a:t>
            </a:r>
            <a:r>
              <a:rPr sz="850" b="0" lang="pt-BR" dirty="0">
                <a:solidFill>
                  <a:srgbClr val="FFFFFF"/>
                </a:solidFill>
                <a:latin typeface="Arial"/>
              </a:rPr>
              <a:t>migrar leads para a esquerda; hoje 482k leads/mês (80%) chegam sem carro escolhido e/ou sem CEP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07208"/>
            <a:ext cx="526682" cy="1965960"/>
          </a:xfrm>
          <a:prstGeom prst="rect">
            <a:avLst/>
          </a:prstGeom>
          <a:solidFill>
            <a:srgbClr val="DD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6218" y="3264408"/>
            <a:ext cx="637562" cy="150876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0357" y="3241548"/>
            <a:ext cx="415801" cy="15316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2734" y="3950208"/>
            <a:ext cx="97020" cy="822959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46331" y="3104388"/>
            <a:ext cx="859323" cy="1668780"/>
          </a:xfrm>
          <a:prstGeom prst="rect">
            <a:avLst/>
          </a:prstGeom>
          <a:solidFill>
            <a:srgbClr val="F1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42230" y="3767328"/>
            <a:ext cx="831603" cy="100584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0410" y="3790188"/>
            <a:ext cx="2037428" cy="982980"/>
          </a:xfrm>
          <a:prstGeom prst="rect">
            <a:avLst/>
          </a:prstGeom>
          <a:solidFill>
            <a:srgbClr val="F1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4415" y="3813048"/>
            <a:ext cx="540542" cy="9601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61533" y="4087368"/>
            <a:ext cx="554402" cy="68580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2512" y="3813048"/>
            <a:ext cx="1857248" cy="9601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22960" y="4773168"/>
            <a:ext cx="86868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" y="3154831"/>
            <a:ext cx="1786795" cy="0"/>
          </a:xfrm>
          <a:prstGeom prst="line">
            <a:avLst/>
          </a:prstGeom>
          <a:ln w="19050">
            <a:solidFill>
              <a:srgbClr val="104C3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46331" y="3430424"/>
            <a:ext cx="1727503" cy="0"/>
          </a:xfrm>
          <a:prstGeom prst="line">
            <a:avLst/>
          </a:prstGeom>
          <a:ln w="19050">
            <a:solidFill>
              <a:srgbClr val="3F7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10410" y="3834193"/>
            <a:ext cx="5099350" cy="0"/>
          </a:xfrm>
          <a:prstGeom prst="line">
            <a:avLst/>
          </a:prstGeom>
          <a:ln w="19050">
            <a:solidFill>
              <a:srgbClr val="5C5C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2606040"/>
            <a:ext cx="52668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0,86%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218" y="2953663"/>
            <a:ext cx="63756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0,66%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945" y="2953663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933" y="3623881"/>
            <a:ext cx="420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50933" y="3633025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0,36%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6331" y="2903220"/>
            <a:ext cx="85932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0,73%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230" y="3566160"/>
            <a:ext cx="83160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0410" y="3589020"/>
            <a:ext cx="20374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4415" y="3611880"/>
            <a:ext cx="54054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1533" y="3886200"/>
            <a:ext cx="55440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52512" y="3611880"/>
            <a:ext cx="18572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" y="48006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C4C4C4"/>
                </a:solidFill>
                <a:latin typeface="Arial"/>
              </a:rPr>
              <a:t>Loja mais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C4C4C4"/>
                </a:solidFill>
                <a:latin typeface="Arial"/>
              </a:rPr>
              <a:t>próxima</a:t>
            </a:r>
          </a:p>
        </p:txBody>
      </p:sp>
      <p:sp>
        <p:nvSpPr>
          <p:cNvPr id="44" name="Oval 43"/>
          <p:cNvSpPr/>
          <p:nvPr/>
        </p:nvSpPr>
        <p:spPr>
          <a:xfrm>
            <a:off x="1017721" y="484174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050639" y="488015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36419" y="484174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669338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99677" y="484174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235339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35339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492665" y="484174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528326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28326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646331" y="4828032"/>
            <a:ext cx="85932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42230" y="4828032"/>
            <a:ext cx="83160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sp>
        <p:nvSpPr>
          <p:cNvPr id="56" name="Oval 55"/>
          <p:cNvSpPr/>
          <p:nvPr/>
        </p:nvSpPr>
        <p:spPr>
          <a:xfrm>
            <a:off x="5360544" y="484174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393463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686106" y="484174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721768" y="4877409"/>
            <a:ext cx="65836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721768" y="4877409"/>
            <a:ext cx="65836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270154" y="484174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305816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305816" y="487740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652512" y="482803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" y="5047488"/>
            <a:ext cx="868680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46304" y="507492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C4C4C4"/>
                </a:solidFill>
                <a:latin typeface="Arial"/>
              </a:rPr>
              <a:t>Loja tinha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C4C4C4"/>
                </a:solidFill>
                <a:latin typeface="Arial"/>
              </a:rPr>
              <a:t>o carro</a:t>
            </a:r>
          </a:p>
        </p:txBody>
      </p:sp>
      <p:sp>
        <p:nvSpPr>
          <p:cNvPr id="67" name="Oval 66"/>
          <p:cNvSpPr/>
          <p:nvPr/>
        </p:nvSpPr>
        <p:spPr>
          <a:xfrm>
            <a:off x="1017721" y="511606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50639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36419" y="511606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672081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672081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2199677" y="511606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2232596" y="515447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492665" y="511606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2528326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28326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007413" y="5116068"/>
            <a:ext cx="137160" cy="13716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3040331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889452" y="5116068"/>
            <a:ext cx="137160" cy="137160"/>
          </a:xfrm>
          <a:prstGeom prst="ellipse">
            <a:avLst/>
          </a:prstGeom>
          <a:noFill/>
          <a:ln w="9525">
            <a:solidFill>
              <a:srgbClr val="F7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925114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925114" y="5151729"/>
            <a:ext cx="65837" cy="65837"/>
          </a:xfrm>
          <a:prstGeom prst="line">
            <a:avLst/>
          </a:prstGeom>
          <a:ln w="12700">
            <a:solidFill>
              <a:srgbClr val="F7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410410" y="5102352"/>
            <a:ext cx="20374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84415" y="5102352"/>
            <a:ext cx="54054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61533" y="5102352"/>
            <a:ext cx="55440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52512" y="510235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D9D9D9"/>
                </a:solidFill>
                <a:latin typeface="Arial"/>
              </a:rPr>
              <a:t>N/A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22960" y="5321808"/>
            <a:ext cx="8686800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46304" y="5367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k leads/mês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367528"/>
            <a:ext cx="5266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6218" y="5367528"/>
            <a:ext cx="6375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46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60357" y="5367528"/>
            <a:ext cx="4158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05797" y="5367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46331" y="5367528"/>
            <a:ext cx="8593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62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42230" y="5367528"/>
            <a:ext cx="8316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60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10410" y="5367528"/>
            <a:ext cx="20374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147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84415" y="5367528"/>
            <a:ext cx="5405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61533" y="5367528"/>
            <a:ext cx="5544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52512" y="5367528"/>
            <a:ext cx="185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333333"/>
                </a:solidFill>
                <a:latin typeface="Arial"/>
              </a:rPr>
              <a:t>134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82896" y="2560320"/>
            <a:ext cx="457200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10912" y="2642615"/>
            <a:ext cx="4315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lang="pt-BR" dirty="0">
                <a:solidFill>
                  <a:srgbClr val="CC0000"/>
                </a:solidFill>
                <a:latin typeface="Arial"/>
              </a:rPr>
              <a:t>Cada degrau de informação vale conversão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10912" y="2852927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não escolhido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8896" y="2852927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0,41%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27264" y="2852927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base de comparação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0912" y="305409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escolhido, sem CEP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68896" y="30540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0,59%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7264" y="305409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1" lang="pt-BR" dirty="0">
                <a:solidFill>
                  <a:srgbClr val="CC0000"/>
                </a:solidFill>
                <a:latin typeface="Arial"/>
              </a:rPr>
              <a:t>+0,18 p.p. vs. base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10912" y="3255263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escolhido + CEP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68896" y="3255263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0,71%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27264" y="325526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1" lang="pt-BR" dirty="0">
                <a:solidFill>
                  <a:srgbClr val="CC0000"/>
                </a:solidFill>
                <a:latin typeface="Arial"/>
              </a:rPr>
              <a:t>+0,30 p.p. vs. base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02368" y="1335024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C4C4C4"/>
                </a:solidFill>
                <a:latin typeface="Arial"/>
              </a:rPr>
              <a:t>Alavancas de ganho</a:t>
            </a:r>
          </a:p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C4C4C4"/>
                </a:solidFill>
                <a:latin typeface="Arial"/>
              </a:rPr>
              <a:t>de conversão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802368" y="1755648"/>
            <a:ext cx="2115007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9729216" y="1847088"/>
            <a:ext cx="2240280" cy="1042415"/>
          </a:xfrm>
          <a:prstGeom prst="rect">
            <a:avLst/>
          </a:prstGeom>
          <a:noFill/>
          <a:ln w="222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802368" y="195681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CC0000"/>
                </a:solidFill>
                <a:latin typeface="Arial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13264" y="1929384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333333"/>
                </a:solidFill>
                <a:latin typeface="Arial"/>
              </a:rPr>
              <a:t>Aumento da </a:t>
            </a:r>
            <a:r>
              <a:rPr sz="950" b="1" lang="pt-BR" dirty="0">
                <a:solidFill>
                  <a:srgbClr val="333333"/>
                </a:solidFill>
                <a:latin typeface="Arial"/>
              </a:rPr>
              <a:t>proporção de leads com informações mínimas necessárias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quais são: carro desejado e CEP</a:t>
            </a:r>
          </a:p>
        </p:txBody>
      </p:sp>
      <p:sp>
        <p:nvSpPr>
          <p:cNvPr id="114" name="Oval 113"/>
          <p:cNvSpPr/>
          <p:nvPr/>
        </p:nvSpPr>
        <p:spPr>
          <a:xfrm>
            <a:off x="9802368" y="318211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C4C4C4"/>
                </a:solidFill>
                <a:latin typeface="Arial"/>
              </a:rP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13264" y="3154680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C4C4C4"/>
                </a:solidFill>
                <a:latin typeface="Arial"/>
              </a:rPr>
              <a:t>Melhoria da </a:t>
            </a:r>
            <a:r>
              <a:rPr sz="950" b="1" lang="pt-BR" dirty="0">
                <a:solidFill>
                  <a:srgbClr val="C4C4C4"/>
                </a:solidFill>
                <a:latin typeface="Arial"/>
              </a:rPr>
              <a:t>qualidade da alocação dos leads</a:t>
            </a:r>
            <a:r>
              <a:rPr sz="950" b="0" lang="pt-BR" dirty="0">
                <a:solidFill>
                  <a:srgbClr val="C4C4C4"/>
                </a:solidFill>
                <a:latin typeface="Arial"/>
              </a:rPr>
              <a:t> com base nas preferências do cliente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loja mais próxima e com o carro em estoque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2960" y="5687568"/>
            <a:ext cx="11091672" cy="4572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F0B7B7"/>
                </a:solidFill>
                <a:latin typeface="Arial"/>
              </a:rPr>
              <a:t>Fechar 25% a 75% do gap até a maior conversão (+0,1 a 0,3 p.p. sobre uma conversão média de 0,46%) pode gerar</a:t>
            </a:r>
          </a:p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F0B7B7"/>
                </a:solidFill>
                <a:latin typeface="Arial"/>
              </a:rPr>
              <a:t>R$ 20 a 60M por ano, ou 300 a 950 carros adicionais por mês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" y="616305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50" b="0" lang="pt-BR" dirty="0">
                <a:solidFill>
                  <a:srgbClr val="C4C4C4"/>
                </a:solidFill>
                <a:latin typeface="Arial"/>
              </a:rPr>
              <a:t>¹ Médias por grupo ponderadas pelo volume de leads das barras exibidas; largura das barras proporcional ao volume de leads/mês. ² Os grupos também diferem em intenção de compra: capturar o ganho exige coleta ativa da informação, não apenas segmentar os leads.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645566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50" b="0" lang="pt-BR" dirty="0">
                <a:solidFill>
                  <a:srgbClr val="C4C4C4"/>
                </a:solidFill>
                <a:latin typeface="Arial"/>
              </a:rPr>
              <a:t>Fonte: bases internas (vendas e leads). Análises Bain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28016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lang="pt-BR" dirty="0">
                <a:solidFill>
                  <a:srgbClr val="C4C4C4"/>
                </a:solidFill>
                <a:latin typeface="Arial"/>
              </a:rPr>
              <a:t>Recap: </a:t>
            </a:r>
            <a:r>
              <a:rPr sz="1950" b="0" lang="pt-BR" dirty="0">
                <a:solidFill>
                  <a:srgbClr val="C4C4C4"/>
                </a:solidFill>
                <a:latin typeface="Arial"/>
              </a:rPr>
              <a:t>80% dos leads chegam sem informação completa e convertem 0,41% a 0,59%,</a:t>
            </a:r>
          </a:p>
          <a:p>
            <a:pPr algn="l">
              <a:lnSpc>
                <a:spcPct val="110000"/>
              </a:lnSpc>
            </a:pPr>
            <a:r>
              <a:rPr sz="1950" b="0" lang="pt-BR" dirty="0">
                <a:solidFill>
                  <a:srgbClr val="C4C4C4"/>
                </a:solidFill>
                <a:latin typeface="Arial"/>
              </a:rPr>
              <a:t>contra 0,71% de quem informa carro e CEP; fechar o gap vale 300 a 950 carros por mês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877824"/>
            <a:ext cx="11643055" cy="0"/>
          </a:xfrm>
          <a:prstGeom prst="line">
            <a:avLst/>
          </a:prstGeom>
          <a:ln w="19050">
            <a:solidFill>
              <a:srgbClr val="F0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entagon 3"/>
          <p:cNvSpPr/>
          <p:nvPr/>
        </p:nvSpPr>
        <p:spPr>
          <a:xfrm>
            <a:off x="274320" y="932688"/>
            <a:ext cx="4041648" cy="274320"/>
          </a:xfrm>
          <a:prstGeom prst="homePlate">
            <a:avLst>
              <a:gd name="adj" fmla="val 10000"/>
            </a:avLst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0" bIns="0"/>
          <a:lstStyle/>
          <a:p>
            <a:pPr algn="l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 G E N D A   D E   V A L O R   L E A D   T O   S A L E 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014984"/>
            <a:ext cx="128016" cy="128016"/>
          </a:xfrm>
          <a:prstGeom prst="rect">
            <a:avLst/>
          </a:prstGeom>
          <a:solidFill>
            <a:srgbClr val="CA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982980"/>
            <a:ext cx="96926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Alocação ideal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7568" y="1014984"/>
            <a:ext cx="128016" cy="128016"/>
          </a:xfrm>
          <a:prstGeom prst="rect">
            <a:avLst/>
          </a:prstGeom>
          <a:solidFill>
            <a:srgbClr val="E9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982980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Ideal com os dados disponíveis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71231" y="1014984"/>
            <a:ext cx="128016" cy="128016"/>
          </a:xfrm>
          <a:prstGeom prst="rect">
            <a:avLst/>
          </a:prstGeom>
          <a:solidFill>
            <a:srgbClr val="F2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1" y="9829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Grande melhoria potencial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960120"/>
            <a:ext cx="2112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60" lang="pt-BR" dirty="0">
                <a:solidFill>
                  <a:srgbClr val="C4C4C4"/>
                </a:solidFill>
                <a:latin typeface="Arial"/>
              </a:rPr>
              <a:t>/</a:t>
            </a:r>
            <a:r>
              <a:rPr sz="900" b="1" spc="60" lang="pt-BR" dirty="0">
                <a:solidFill>
                  <a:srgbClr val="C4C4C4"/>
                </a:solidFill>
                <a:latin typeface="Arial"/>
              </a:rPr>
              <a:t>P R E L I M I N A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43584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lang="pt-BR" dirty="0">
                <a:solidFill>
                  <a:srgbClr val="C4C4C4"/>
                </a:solidFill>
                <a:latin typeface="Arial"/>
              </a:rPr>
              <a:t>Conversão média dos leads por informação coletada e alocação final (% lead em venda,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" y="1600200"/>
            <a:ext cx="6583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C4C4C4"/>
                </a:solidFill>
                <a:latin typeface="Arial"/>
              </a:rPr>
              <a:t>NÍVEL DE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C4C4C4"/>
                </a:solidFill>
                <a:latin typeface="Arial"/>
              </a:rPr>
              <a:t>INFORMAÇÃO</a:t>
            </a:r>
          </a:p>
          <a:p>
            <a:pPr algn="l">
              <a:lnSpc>
                <a:spcPct val="112000"/>
              </a:lnSpc>
            </a:pPr>
            <a:r>
              <a:rPr sz="650" b="1" spc="40" lang="pt-BR" dirty="0">
                <a:solidFill>
                  <a:srgbClr val="C4C4C4"/>
                </a:solidFill>
                <a:latin typeface="Arial"/>
              </a:rPr>
              <a:t>DO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554480"/>
            <a:ext cx="1786795" cy="585216"/>
          </a:xfrm>
          <a:prstGeom prst="rect">
            <a:avLst/>
          </a:prstGeom>
          <a:solidFill>
            <a:srgbClr val="F9FAFA"/>
          </a:solidFill>
          <a:ln w="9525">
            <a:solidFill>
              <a:srgbClr val="DBE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CFDBD8"/>
                </a:solidFill>
                <a:latin typeface="Arial"/>
              </a:rPr>
              <a:t>Carro escolhido +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CFDBD8"/>
                </a:solidFill>
                <a:latin typeface="Arial"/>
              </a:rPr>
              <a:t>121k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CFDBD8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CFDBD8"/>
                </a:solidFill>
                <a:latin typeface="Arial"/>
              </a:rPr>
              <a:t>0,71%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6331" y="1554480"/>
            <a:ext cx="1727503" cy="585216"/>
          </a:xfrm>
          <a:prstGeom prst="rect">
            <a:avLst/>
          </a:prstGeom>
          <a:solidFill>
            <a:srgbClr val="FAFBFB"/>
          </a:solidFill>
          <a:ln w="9525">
            <a:solidFill>
              <a:srgbClr val="E2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D8E3E0"/>
                </a:solidFill>
                <a:latin typeface="Arial"/>
              </a:rPr>
              <a:t>Carro escolhido,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D8E3E0"/>
                </a:solidFill>
                <a:latin typeface="Arial"/>
              </a:rPr>
              <a:t>122k leads/mês · 20%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D8E3E0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D8E3E0"/>
                </a:solidFill>
                <a:latin typeface="Arial"/>
              </a:rPr>
              <a:t>0,59%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0410" y="1554480"/>
            <a:ext cx="5099349" cy="585216"/>
          </a:xfrm>
          <a:prstGeom prst="rect">
            <a:avLst/>
          </a:prstGeom>
          <a:solidFill>
            <a:srgbClr val="FAFAFA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4000"/>
              </a:lnSpc>
            </a:pPr>
            <a:r>
              <a:rPr sz="950" b="1" lang="pt-BR" dirty="0">
                <a:solidFill>
                  <a:srgbClr val="DEDEDE"/>
                </a:solidFill>
                <a:latin typeface="Arial"/>
              </a:rPr>
              <a:t>Carro não escolhido</a:t>
            </a:r>
            <a:r>
              <a:rPr sz="800" b="0" lang="pt-BR" dirty="0">
                <a:solidFill>
                  <a:srgbClr val="DEDEDE"/>
                </a:solidFill>
                <a:latin typeface="Arial"/>
              </a:rPr>
              <a:t>  com ou sem CEP</a:t>
            </a:r>
          </a:p>
          <a:p>
            <a:pPr algn="ctr">
              <a:lnSpc>
                <a:spcPct val="104000"/>
              </a:lnSpc>
            </a:pPr>
            <a:r>
              <a:rPr sz="750" b="0" lang="pt-BR" dirty="0">
                <a:solidFill>
                  <a:srgbClr val="DEDEDE"/>
                </a:solidFill>
                <a:latin typeface="Arial"/>
              </a:rPr>
              <a:t>360k leads/mês · 60%</a:t>
            </a:r>
          </a:p>
          <a:p>
            <a:pPr algn="ctr">
              <a:lnSpc>
                <a:spcPct val="104000"/>
              </a:lnSpc>
            </a:pPr>
            <a:r>
              <a:rPr sz="800" b="0" lang="pt-BR" dirty="0">
                <a:solidFill>
                  <a:srgbClr val="DEDEDE"/>
                </a:solidFill>
                <a:latin typeface="Arial"/>
              </a:rPr>
              <a:t>conversão média </a:t>
            </a:r>
            <a:r>
              <a:rPr sz="1100" b="1" lang="pt-BR" dirty="0">
                <a:solidFill>
                  <a:srgbClr val="DEDEDE"/>
                </a:solidFill>
                <a:latin typeface="Arial"/>
              </a:rPr>
              <a:t>0,41%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822960" y="2157984"/>
            <a:ext cx="8686800" cy="237744"/>
          </a:xfrm>
          <a:prstGeom prst="leftArrow">
            <a:avLst>
              <a:gd name="adj1" fmla="val 42000"/>
              <a:gd name="adj2" fmla="val 50000"/>
            </a:avLst>
          </a:prstGeom>
          <a:solidFill>
            <a:srgbClr val="F7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Alavanca 1: </a:t>
            </a:r>
            <a:r>
              <a:rPr sz="850" b="0" lang="pt-BR" dirty="0">
                <a:solidFill>
                  <a:srgbClr val="FFFFFF"/>
                </a:solidFill>
                <a:latin typeface="Arial"/>
              </a:rPr>
              <a:t>migrar leads para a esquerda; hoje 482k leads/mês (80%) chegam sem carro escolhido e/ou sem CEP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07208"/>
            <a:ext cx="526682" cy="1965960"/>
          </a:xfrm>
          <a:prstGeom prst="rect">
            <a:avLst/>
          </a:prstGeom>
          <a:solidFill>
            <a:srgbClr val="DD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6218" y="3264408"/>
            <a:ext cx="637562" cy="150876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60357" y="3241548"/>
            <a:ext cx="415801" cy="15316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2734" y="3950208"/>
            <a:ext cx="97020" cy="822959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46331" y="3104388"/>
            <a:ext cx="859323" cy="1668780"/>
          </a:xfrm>
          <a:prstGeom prst="rect">
            <a:avLst/>
          </a:prstGeom>
          <a:solidFill>
            <a:srgbClr val="F1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42230" y="3767328"/>
            <a:ext cx="831603" cy="100584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0410" y="3790188"/>
            <a:ext cx="2037428" cy="982980"/>
          </a:xfrm>
          <a:prstGeom prst="rect">
            <a:avLst/>
          </a:prstGeom>
          <a:solidFill>
            <a:srgbClr val="F1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4415" y="3813048"/>
            <a:ext cx="540542" cy="9601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61533" y="4087368"/>
            <a:ext cx="554402" cy="68580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52512" y="3813048"/>
            <a:ext cx="1857248" cy="960120"/>
          </a:xfrm>
          <a:prstGeom prst="rect">
            <a:avLst/>
          </a:prstGeom>
          <a:solidFill>
            <a:srgbClr val="F7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22960" y="4773168"/>
            <a:ext cx="86868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2606040"/>
            <a:ext cx="52668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0,86%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218" y="2953663"/>
            <a:ext cx="63756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945" y="2953663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0,67%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933" y="3623881"/>
            <a:ext cx="420624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0933" y="3633025"/>
            <a:ext cx="420624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0,36%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6331" y="2903220"/>
            <a:ext cx="85932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0,73%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230" y="3566160"/>
            <a:ext cx="831603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0410" y="3589020"/>
            <a:ext cx="20374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4415" y="3611880"/>
            <a:ext cx="54054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1533" y="3886200"/>
            <a:ext cx="554402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2512" y="3611880"/>
            <a:ext cx="185724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800" b="1" lang="pt-BR" dirty="0">
                <a:solidFill>
                  <a:srgbClr val="C4C4C4"/>
                </a:solidFill>
                <a:latin typeface="Arial"/>
              </a:rPr>
              <a:t>0,42%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" y="480060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Loja mais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próxima</a:t>
            </a:r>
          </a:p>
        </p:txBody>
      </p:sp>
      <p:sp>
        <p:nvSpPr>
          <p:cNvPr id="41" name="Oval 40"/>
          <p:cNvSpPr/>
          <p:nvPr/>
        </p:nvSpPr>
        <p:spPr>
          <a:xfrm>
            <a:off x="1017721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50639" y="488015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636419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669338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99677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235339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35339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492665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52832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52832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646331" y="4828032"/>
            <a:ext cx="85932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42230" y="4828032"/>
            <a:ext cx="83160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53" name="Oval 52"/>
          <p:cNvSpPr/>
          <p:nvPr/>
        </p:nvSpPr>
        <p:spPr>
          <a:xfrm>
            <a:off x="5360544" y="484174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393463" y="488015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686106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721768" y="4877409"/>
            <a:ext cx="65836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721768" y="4877409"/>
            <a:ext cx="65836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270154" y="484174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730581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305816" y="487740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52512" y="482803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2960" y="5047488"/>
            <a:ext cx="8686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46304" y="5074920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Loja tinha</a:t>
            </a:r>
          </a:p>
          <a:p>
            <a:pPr algn="l">
              <a:lnSpc>
                <a:spcPct val="106000"/>
              </a:lnSpc>
            </a:pPr>
            <a:r>
              <a:rPr sz="700" b="0" lang="pt-BR" dirty="0">
                <a:solidFill>
                  <a:srgbClr val="5C5C5C"/>
                </a:solidFill>
                <a:latin typeface="Arial"/>
              </a:rPr>
              <a:t>o carro</a:t>
            </a:r>
          </a:p>
        </p:txBody>
      </p:sp>
      <p:sp>
        <p:nvSpPr>
          <p:cNvPr id="64" name="Oval 63"/>
          <p:cNvSpPr/>
          <p:nvPr/>
        </p:nvSpPr>
        <p:spPr>
          <a:xfrm>
            <a:off x="1017721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050639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636419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672081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672081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2199677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232596" y="5154472"/>
            <a:ext cx="73380" cy="58979"/>
          </a:xfrm>
          <a:custGeom>
            <a:avLst/>
            <a:gdLst/>
            <a:ahLst/>
            <a:cxnLst/>
            <a:rect l="l" t="t" r="r" b="b"/>
            <a:pathLst>
              <a:path w="73380" h="58979">
                <a:moveTo>
                  <a:pt x="0" y="31547"/>
                </a:moveTo>
                <a:lnTo>
                  <a:pt x="26060" y="58979"/>
                </a:lnTo>
                <a:lnTo>
                  <a:pt x="73380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492665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2528326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528326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3007413" y="5116068"/>
            <a:ext cx="137160" cy="137160"/>
          </a:xfrm>
          <a:prstGeom prst="ellipse">
            <a:avLst/>
          </a:prstGeom>
          <a:noFill/>
          <a:ln w="9525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3040331" y="5154472"/>
            <a:ext cx="73381" cy="58979"/>
          </a:xfrm>
          <a:custGeom>
            <a:avLst/>
            <a:gdLst/>
            <a:ahLst/>
            <a:cxnLst/>
            <a:rect l="l" t="t" r="r" b="b"/>
            <a:pathLst>
              <a:path w="73381" h="58979">
                <a:moveTo>
                  <a:pt x="0" y="31547"/>
                </a:moveTo>
                <a:lnTo>
                  <a:pt x="26060" y="58979"/>
                </a:lnTo>
                <a:lnTo>
                  <a:pt x="73381" y="0"/>
                </a:lnTo>
              </a:path>
            </a:pathLst>
          </a:custGeom>
          <a:noFill/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889452" y="5116068"/>
            <a:ext cx="137160" cy="137160"/>
          </a:xfrm>
          <a:prstGeom prst="ellipse">
            <a:avLst/>
          </a:prstGeom>
          <a:noFill/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3925114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925114" y="5151729"/>
            <a:ext cx="65837" cy="65837"/>
          </a:xfrm>
          <a:prstGeom prst="line">
            <a:avLst/>
          </a:prstGeom>
          <a:ln w="1270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410410" y="5102352"/>
            <a:ext cx="203742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84415" y="5102352"/>
            <a:ext cx="54054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61533" y="5102352"/>
            <a:ext cx="55440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52512" y="5102352"/>
            <a:ext cx="18572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 lang="pt-BR" dirty="0">
                <a:solidFill>
                  <a:srgbClr val="858585"/>
                </a:solidFill>
                <a:latin typeface="Arial"/>
              </a:rPr>
              <a:t>N/A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22960" y="5321808"/>
            <a:ext cx="86868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46304" y="5367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700" b="0" lang="pt-BR" dirty="0">
                <a:solidFill>
                  <a:srgbClr val="C4C4C4"/>
                </a:solidFill>
                <a:latin typeface="Arial"/>
              </a:rPr>
              <a:t>k leads/mês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5367528"/>
            <a:ext cx="5266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86218" y="5367528"/>
            <a:ext cx="63756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46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60357" y="5367528"/>
            <a:ext cx="4158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05797" y="5367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46331" y="5367528"/>
            <a:ext cx="8593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62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42230" y="5367528"/>
            <a:ext cx="8316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10410" y="5367528"/>
            <a:ext cx="20374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147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84415" y="5367528"/>
            <a:ext cx="5405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61533" y="5367528"/>
            <a:ext cx="55440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52512" y="5367528"/>
            <a:ext cx="185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50" b="1" lang="pt-BR" dirty="0">
                <a:solidFill>
                  <a:srgbClr val="C4C4C4"/>
                </a:solidFill>
                <a:latin typeface="Arial"/>
              </a:rPr>
              <a:t>134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22960" y="2807208"/>
            <a:ext cx="1786795" cy="0"/>
          </a:xfrm>
          <a:prstGeom prst="line">
            <a:avLst/>
          </a:prstGeom>
          <a:ln w="12700">
            <a:solidFill>
              <a:srgbClr val="99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561245" y="2807208"/>
            <a:ext cx="0" cy="923544"/>
          </a:xfrm>
          <a:prstGeom prst="line">
            <a:avLst/>
          </a:prstGeom>
          <a:ln w="1587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646331" y="3104388"/>
            <a:ext cx="1727503" cy="0"/>
          </a:xfrm>
          <a:prstGeom prst="line">
            <a:avLst/>
          </a:prstGeom>
          <a:ln w="12700">
            <a:solidFill>
              <a:srgbClr val="99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958032" y="3104388"/>
            <a:ext cx="0" cy="662940"/>
          </a:xfrm>
          <a:prstGeom prst="line">
            <a:avLst/>
          </a:prstGeom>
          <a:ln w="1587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410410" y="3790188"/>
            <a:ext cx="5099350" cy="0"/>
          </a:xfrm>
          <a:prstGeom prst="line">
            <a:avLst/>
          </a:prstGeom>
          <a:ln w="12700">
            <a:solidFill>
              <a:srgbClr val="99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338734" y="3790188"/>
            <a:ext cx="0" cy="297180"/>
          </a:xfrm>
          <a:prstGeom prst="line">
            <a:avLst/>
          </a:prstGeom>
          <a:ln w="15875">
            <a:solidFill>
              <a:srgbClr val="99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4882896" y="2560320"/>
            <a:ext cx="457200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0912" y="2642615"/>
            <a:ext cx="43159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1" lang="pt-BR" dirty="0">
                <a:solidFill>
                  <a:srgbClr val="CC0000"/>
                </a:solidFill>
                <a:latin typeface="Arial"/>
              </a:rPr>
              <a:t>Com a mesma informação, a alocação muda a conversão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0912" y="2852927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escolhido + CEP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68896" y="285292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0,86% → 0,36%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67344" y="2852927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00" b="1" lang="pt-BR" dirty="0">
                <a:solidFill>
                  <a:srgbClr val="990000"/>
                </a:solidFill>
                <a:latin typeface="Arial"/>
              </a:rPr>
              <a:t>-0,50 p.p.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10912" y="305409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escolhido, sem CEP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68896" y="305409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0,73% → 0,44%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67344" y="3054096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00" b="1" lang="pt-BR" dirty="0">
                <a:solidFill>
                  <a:srgbClr val="990000"/>
                </a:solidFill>
                <a:latin typeface="Arial"/>
              </a:rPr>
              <a:t>-0,29 p.p.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10912" y="3255263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333333"/>
                </a:solidFill>
                <a:latin typeface="Arial"/>
              </a:rPr>
              <a:t>Carro não escolhido com ou sem CEP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68896" y="3255263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50" b="1" lang="pt-BR" dirty="0">
                <a:solidFill>
                  <a:srgbClr val="333333"/>
                </a:solidFill>
                <a:latin typeface="Arial"/>
              </a:rPr>
              <a:t>0,43% → 0,30%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67344" y="3255263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6000"/>
              </a:lnSpc>
            </a:pPr>
            <a:r>
              <a:rPr sz="800" b="1" lang="pt-BR" dirty="0">
                <a:solidFill>
                  <a:srgbClr val="990000"/>
                </a:solidFill>
                <a:latin typeface="Arial"/>
              </a:rPr>
              <a:t>-0,13 p.p.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02368" y="1335024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C4C4C4"/>
                </a:solidFill>
                <a:latin typeface="Arial"/>
              </a:rPr>
              <a:t>Alavancas de ganho</a:t>
            </a:r>
          </a:p>
          <a:p>
            <a:pPr algn="l">
              <a:lnSpc>
                <a:spcPct val="108000"/>
              </a:lnSpc>
            </a:pPr>
            <a:r>
              <a:rPr sz="1050" b="1" lang="pt-BR" dirty="0">
                <a:solidFill>
                  <a:srgbClr val="C4C4C4"/>
                </a:solidFill>
                <a:latin typeface="Arial"/>
              </a:rPr>
              <a:t>de conversão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802368" y="1755648"/>
            <a:ext cx="2115007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9802368" y="195681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4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C4C4C4"/>
                </a:solidFill>
                <a:latin typeface="Arial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13264" y="1929384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C4C4C4"/>
                </a:solidFill>
                <a:latin typeface="Arial"/>
              </a:rPr>
              <a:t>Aumento da </a:t>
            </a:r>
            <a:r>
              <a:rPr sz="950" b="1" lang="pt-BR" dirty="0">
                <a:solidFill>
                  <a:srgbClr val="C4C4C4"/>
                </a:solidFill>
                <a:latin typeface="Arial"/>
              </a:rPr>
              <a:t>proporção de leads com informações mínimas necessárias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C4C4C4"/>
                </a:solidFill>
                <a:latin typeface="Arial"/>
              </a:rPr>
              <a:t>quais são: carro desejado e CEP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29216" y="3072384"/>
            <a:ext cx="2240280" cy="1042415"/>
          </a:xfrm>
          <a:prstGeom prst="rect">
            <a:avLst/>
          </a:prstGeom>
          <a:noFill/>
          <a:ln w="222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802368" y="318211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CC0000"/>
                </a:solidFill>
                <a:latin typeface="Arial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13264" y="3154680"/>
            <a:ext cx="181965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lang="pt-BR" dirty="0">
                <a:solidFill>
                  <a:srgbClr val="333333"/>
                </a:solidFill>
                <a:latin typeface="Arial"/>
              </a:rPr>
              <a:t>Melhoria da </a:t>
            </a:r>
            <a:r>
              <a:rPr sz="950" b="1" lang="pt-BR" dirty="0">
                <a:solidFill>
                  <a:srgbClr val="333333"/>
                </a:solidFill>
                <a:latin typeface="Arial"/>
              </a:rPr>
              <a:t>qualidade da alocação dos leads</a:t>
            </a:r>
            <a:r>
              <a:rPr sz="950" b="0" lang="pt-BR" dirty="0">
                <a:solidFill>
                  <a:srgbClr val="333333"/>
                </a:solidFill>
                <a:latin typeface="Arial"/>
              </a:rPr>
              <a:t> com base nas preferências do cliente</a:t>
            </a:r>
          </a:p>
          <a:p>
            <a:pPr algn="l">
              <a:lnSpc>
                <a:spcPct val="116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loja mais próxima e com o carro em estoque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2960" y="5687568"/>
            <a:ext cx="11091672" cy="4572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F0B7B7"/>
                </a:solidFill>
                <a:latin typeface="Arial"/>
              </a:rPr>
              <a:t>Fechar 25% a 75% do gap até a maior conversão (+0,1 a 0,3 p.p. sobre uma conversão média de 0,46%) pode gerar</a:t>
            </a:r>
          </a:p>
          <a:p>
            <a:pPr algn="ctr">
              <a:lnSpc>
                <a:spcPct val="114000"/>
              </a:lnSpc>
            </a:pPr>
            <a:r>
              <a:rPr sz="1050" b="1" lang="pt-BR" dirty="0">
                <a:solidFill>
                  <a:srgbClr val="F0B7B7"/>
                </a:solidFill>
                <a:latin typeface="Arial"/>
              </a:rPr>
              <a:t>R$ 20 a 60M por ano, ou 300 a 950 carros adicionais por mês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616305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50" b="0" lang="pt-BR" dirty="0">
                <a:solidFill>
                  <a:srgbClr val="C4C4C4"/>
                </a:solidFill>
                <a:latin typeface="Arial"/>
              </a:rPr>
              <a:t>¹ Médias por grupo ponderadas pelo volume de leads das barras exibidas; largura das barras proporcional ao volume de leads/mês. ² Os grupos também diferem em intenção de compra: capturar o ganho exige coleta ativa da informação, não apenas segmentar os leads.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4320" y="645566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50" b="0" lang="pt-BR" dirty="0">
                <a:solidFill>
                  <a:srgbClr val="C4C4C4"/>
                </a:solidFill>
                <a:latin typeface="Arial"/>
              </a:rPr>
              <a:t>Fonte: bases internas (vendas e leads). Análises Bain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28016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lang="pt-BR" dirty="0">
                <a:solidFill>
                  <a:srgbClr val="333333"/>
                </a:solidFill>
                <a:latin typeface="Arial"/>
              </a:rPr>
              <a:t>Alavanca 1: </a:t>
            </a:r>
            <a:r>
              <a:rPr sz="1950" b="0" lang="pt-BR" dirty="0">
                <a:solidFill>
                  <a:srgbClr val="333333"/>
                </a:solidFill>
                <a:latin typeface="Arial"/>
              </a:rPr>
              <a:t>60% dos leads não informam qual carro querem; levá-los a informar</a:t>
            </a:r>
          </a:p>
          <a:p>
            <a:pPr algn="l">
              <a:lnSpc>
                <a:spcPct val="110000"/>
              </a:lnSpc>
            </a:pPr>
            <a:r>
              <a:rPr sz="1950" b="0" lang="pt-BR" dirty="0">
                <a:solidFill>
                  <a:srgbClr val="333333"/>
                </a:solidFill>
                <a:latin typeface="Arial"/>
              </a:rPr>
              <a:t>carro e CEP eleva a conversão de 0,41% para 0,71%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877824"/>
            <a:ext cx="11643055" cy="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entagon 3"/>
          <p:cNvSpPr/>
          <p:nvPr/>
        </p:nvSpPr>
        <p:spPr>
          <a:xfrm>
            <a:off x="274320" y="932688"/>
            <a:ext cx="4041648" cy="274320"/>
          </a:xfrm>
          <a:prstGeom prst="homePlate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 tIns="0" bIns="0"/>
          <a:lstStyle/>
          <a:p>
            <a:pPr algn="l">
              <a:lnSpc>
                <a:spcPct val="114000"/>
              </a:lnSpc>
            </a:pPr>
            <a:r>
              <a:rPr sz="850" b="1" lang="pt-BR" dirty="0">
                <a:solidFill>
                  <a:srgbClr val="FFFFFF"/>
                </a:solidFill>
                <a:latin typeface="Arial"/>
              </a:rPr>
              <a:t>A G E N D A   D E   V A L O R   L E A D   T O   S A L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2368" y="960120"/>
            <a:ext cx="2112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spc="60" lang="pt-BR" dirty="0">
                <a:solidFill>
                  <a:srgbClr val="CC0000"/>
                </a:solidFill>
                <a:latin typeface="Arial"/>
              </a:rPr>
              <a:t>/</a:t>
            </a:r>
            <a:r>
              <a:rPr sz="900" b="1" spc="60" lang="pt-BR" dirty="0">
                <a:solidFill>
                  <a:srgbClr val="333333"/>
                </a:solidFill>
                <a:latin typeface="Arial"/>
              </a:rPr>
              <a:t>P R E L I M I N A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43584"/>
            <a:ext cx="9052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lang="pt-BR" dirty="0">
                <a:solidFill>
                  <a:srgbClr val="5C5C5C"/>
                </a:solidFill>
                <a:latin typeface="Arial"/>
              </a:rPr>
              <a:t>Conversão média por nível de informação do lead (% lead em venda,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24759"/>
            <a:ext cx="3843209" cy="10986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0711"/>
            <a:ext cx="3843209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6000"/>
              </a:lnSpc>
            </a:pPr>
            <a:r>
              <a:rPr sz="2100" b="1" lang="pt-BR" dirty="0">
                <a:solidFill>
                  <a:srgbClr val="5C5C5C"/>
                </a:solidFill>
                <a:latin typeface="Arial"/>
              </a:rPr>
              <a:t>0,41%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87368"/>
            <a:ext cx="384320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pt-BR" dirty="0">
                <a:solidFill>
                  <a:srgbClr val="5C5C5C"/>
                </a:solidFill>
                <a:latin typeface="Arial"/>
              </a:rPr>
              <a:t>Carro não escolhido</a:t>
            </a:r>
          </a:p>
          <a:p>
            <a:pPr algn="ctr">
              <a:lnSpc>
                <a:spcPct val="108000"/>
              </a:lnSpc>
            </a:pPr>
            <a:r>
              <a:rPr sz="850" b="0" lang="pt-BR" dirty="0">
                <a:solidFill>
                  <a:srgbClr val="858585"/>
                </a:solidFill>
                <a:latin typeface="Arial"/>
              </a:rPr>
              <a:t>com ou sem CEP</a:t>
            </a:r>
          </a:p>
          <a:p>
            <a:pPr algn="ctr">
              <a:lnSpc>
                <a:spcPct val="108000"/>
              </a:lnSpc>
            </a:pPr>
            <a:r>
              <a:rPr sz="850" b="1" lang="pt-BR" dirty="0">
                <a:solidFill>
                  <a:srgbClr val="5C5C5C"/>
                </a:solidFill>
                <a:latin typeface="Arial"/>
              </a:rPr>
              <a:t>360k/mês · 60% dos leads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7609" y="2452349"/>
            <a:ext cx="1302421" cy="1571010"/>
          </a:xfrm>
          <a:prstGeom prst="rect">
            <a:avLst/>
          </a:prstGeom>
          <a:solidFill>
            <a:srgbClr val="9C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7609" y="2068301"/>
            <a:ext cx="1302421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6000"/>
              </a:lnSpc>
            </a:pPr>
            <a:r>
              <a:rPr sz="2100" b="1" lang="pt-BR" dirty="0">
                <a:solidFill>
                  <a:srgbClr val="3F7464"/>
                </a:solidFill>
                <a:latin typeface="Arial"/>
              </a:rPr>
              <a:t>0,59%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9908" y="2543789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F74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850" b="1" lang="pt-BR" dirty="0">
                <a:solidFill>
                  <a:srgbClr val="3F7464"/>
                </a:solidFill>
                <a:latin typeface="Arial"/>
              </a:rPr>
              <a:t>+0,18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7609" y="4087368"/>
            <a:ext cx="130242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pt-BR" dirty="0">
                <a:solidFill>
                  <a:srgbClr val="3F7464"/>
                </a:solidFill>
                <a:latin typeface="Arial"/>
              </a:rPr>
              <a:t>Carro escolhido</a:t>
            </a:r>
          </a:p>
          <a:p>
            <a:pPr algn="ctr">
              <a:lnSpc>
                <a:spcPct val="108000"/>
              </a:lnSpc>
            </a:pPr>
            <a:r>
              <a:rPr sz="850" b="0" lang="pt-BR" dirty="0">
                <a:solidFill>
                  <a:srgbClr val="858585"/>
                </a:solidFill>
                <a:latin typeface="Arial"/>
              </a:rPr>
              <a:t>sem CEP</a:t>
            </a:r>
          </a:p>
          <a:p>
            <a:pPr algn="ctr">
              <a:lnSpc>
                <a:spcPct val="108000"/>
              </a:lnSpc>
            </a:pPr>
            <a:r>
              <a:rPr sz="850" b="1" lang="pt-BR" dirty="0">
                <a:solidFill>
                  <a:srgbClr val="5C5C5C"/>
                </a:solidFill>
                <a:latin typeface="Arial"/>
              </a:rPr>
              <a:t>122k/mês · 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1470" y="2129905"/>
            <a:ext cx="1291745" cy="1893454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470" y="1745857"/>
            <a:ext cx="1291745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6000"/>
              </a:lnSpc>
            </a:pPr>
            <a:r>
              <a:rPr sz="2100" b="1" lang="pt-BR" dirty="0">
                <a:solidFill>
                  <a:srgbClr val="104C3E"/>
                </a:solidFill>
                <a:latin typeface="Arial"/>
              </a:rPr>
              <a:t>0,71%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8431" y="2221345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850" b="1" lang="pt-BR" dirty="0">
                <a:solidFill>
                  <a:srgbClr val="104C3E"/>
                </a:solidFill>
                <a:latin typeface="Arial"/>
              </a:rPr>
              <a:t>+0,30 p.p.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1470" y="4087368"/>
            <a:ext cx="129174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lang="pt-BR" dirty="0">
                <a:solidFill>
                  <a:srgbClr val="104C3E"/>
                </a:solidFill>
                <a:latin typeface="Arial"/>
              </a:rPr>
              <a:t>Carro escolhido</a:t>
            </a:r>
          </a:p>
          <a:p>
            <a:pPr algn="ctr">
              <a:lnSpc>
                <a:spcPct val="108000"/>
              </a:lnSpc>
            </a:pPr>
            <a:r>
              <a:rPr sz="850" b="0" lang="pt-BR" dirty="0">
                <a:solidFill>
                  <a:srgbClr val="858585"/>
                </a:solidFill>
                <a:latin typeface="Arial"/>
              </a:rPr>
              <a:t>e CEP informado</a:t>
            </a:r>
          </a:p>
          <a:p>
            <a:pPr algn="ctr">
              <a:lnSpc>
                <a:spcPct val="108000"/>
              </a:lnSpc>
            </a:pPr>
            <a:r>
              <a:rPr sz="850" b="1" lang="pt-BR" dirty="0">
                <a:solidFill>
                  <a:srgbClr val="5C5C5C"/>
                </a:solidFill>
                <a:latin typeface="Arial"/>
              </a:rPr>
              <a:t>121k/mês · 20%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4023360"/>
            <a:ext cx="6620256" cy="0"/>
          </a:xfrm>
          <a:prstGeom prst="line">
            <a:avLst/>
          </a:prstGeom>
          <a:ln w="127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822960" y="4645152"/>
            <a:ext cx="6620256" cy="310896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FFFFFF"/>
                </a:solidFill>
                <a:latin typeface="Arial"/>
              </a:rPr>
              <a:t>482k leads/mês (80%) </a:t>
            </a:r>
            <a:r>
              <a:rPr sz="950" b="0" lang="pt-BR" dirty="0">
                <a:solidFill>
                  <a:srgbClr val="FFFFFF"/>
                </a:solidFill>
                <a:latin typeface="Arial"/>
              </a:rPr>
              <a:t>a migrar para os níveis com mais informação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6620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1" lang="pt-BR" dirty="0">
                <a:solidFill>
                  <a:srgbClr val="333333"/>
                </a:solidFill>
                <a:latin typeface="Arial"/>
              </a:rPr>
              <a:t>Impacto na conversão média, por parcela dos leads migrada para "carro escolhido + CEP"¹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76672"/>
            <a:ext cx="2231136" cy="256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45720" tIns="0" bIns="0"/>
          <a:lstStyle/>
          <a:p>
            <a:pPr algn="l">
              <a:lnSpc>
                <a:spcPct val="114000"/>
              </a:lnSpc>
            </a:pPr>
            <a:r>
              <a:rPr sz="900" b="1" lang="pt-BR" dirty="0">
                <a:solidFill>
                  <a:srgbClr val="333333"/>
                </a:solidFill>
                <a:latin typeface="Arial"/>
              </a:rPr>
              <a:t>Parcela dos leads migrada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4096" y="5376672"/>
            <a:ext cx="1463040" cy="256032"/>
          </a:xfrm>
          <a:prstGeom prst="rect">
            <a:avLst/>
          </a:prstGeom>
          <a:solidFill>
            <a:srgbClr val="E7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45720" tIns="0" bIns="0"/>
          <a:lstStyle/>
          <a:p>
            <a:pPr algn="ctr">
              <a:lnSpc>
                <a:spcPct val="114000"/>
              </a:lnSpc>
            </a:pPr>
            <a:r>
              <a:rPr sz="900" b="1" lang="pt-BR" dirty="0">
                <a:solidFill>
                  <a:srgbClr val="104C3E"/>
                </a:solidFill>
                <a:latin typeface="Arial"/>
              </a:rPr>
              <a:t>10 p.p.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5376672"/>
            <a:ext cx="1463040" cy="256032"/>
          </a:xfrm>
          <a:prstGeom prst="rect">
            <a:avLst/>
          </a:prstGeom>
          <a:solidFill>
            <a:srgbClr val="E7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45720" tIns="0" bIns="0"/>
          <a:lstStyle/>
          <a:p>
            <a:pPr algn="ctr">
              <a:lnSpc>
                <a:spcPct val="114000"/>
              </a:lnSpc>
            </a:pPr>
            <a:r>
              <a:rPr sz="900" b="1" lang="pt-BR" dirty="0">
                <a:solidFill>
                  <a:srgbClr val="104C3E"/>
                </a:solidFill>
                <a:latin typeface="Arial"/>
              </a:rPr>
              <a:t>20 p.p.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0176" y="5376672"/>
            <a:ext cx="1463040" cy="256032"/>
          </a:xfrm>
          <a:prstGeom prst="rect">
            <a:avLst/>
          </a:prstGeom>
          <a:solidFill>
            <a:srgbClr val="E7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45720" tIns="0" bIns="0"/>
          <a:lstStyle/>
          <a:p>
            <a:pPr algn="ctr">
              <a:lnSpc>
                <a:spcPct val="114000"/>
              </a:lnSpc>
            </a:pPr>
            <a:r>
              <a:rPr sz="900" b="1" lang="pt-BR" dirty="0">
                <a:solidFill>
                  <a:srgbClr val="104C3E"/>
                </a:solidFill>
                <a:latin typeface="Arial"/>
              </a:rPr>
              <a:t>30 p.p.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632704"/>
            <a:ext cx="223113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45720" tIns="0" bIns="0"/>
          <a:lstStyle/>
          <a:p>
            <a:pPr algn="l">
              <a:lnSpc>
                <a:spcPct val="114000"/>
              </a:lnSpc>
            </a:pPr>
            <a:r>
              <a:rPr sz="900" b="0" lang="pt-BR" dirty="0">
                <a:solidFill>
                  <a:srgbClr val="333333"/>
                </a:solidFill>
                <a:latin typeface="Arial"/>
              </a:rPr>
              <a:t>Ganho na conversão média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5632704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100" b="1" lang="pt-BR" dirty="0">
                <a:solidFill>
                  <a:srgbClr val="CC0000"/>
                </a:solidFill>
                <a:latin typeface="Arial"/>
              </a:rPr>
              <a:t>+0,03 p.p.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7136" y="5632704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100" b="1" lang="pt-BR" dirty="0">
                <a:solidFill>
                  <a:srgbClr val="CC0000"/>
                </a:solidFill>
                <a:latin typeface="Arial"/>
              </a:rPr>
              <a:t>+0,06 p.p.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0176" y="5632704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1100" b="1" lang="pt-BR" dirty="0">
                <a:solidFill>
                  <a:srgbClr val="CC0000"/>
                </a:solidFill>
                <a:latin typeface="Arial"/>
              </a:rPr>
              <a:t>+0,09 p.p.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1389888"/>
            <a:ext cx="4215384" cy="4517136"/>
          </a:xfrm>
          <a:prstGeom prst="rect">
            <a:avLst/>
          </a:prstGeom>
          <a:solidFill>
            <a:srgbClr val="F7F9F8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1536192"/>
            <a:ext cx="39227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1" lang="pt-BR" dirty="0">
                <a:solidFill>
                  <a:srgbClr val="104C3E"/>
                </a:solidFill>
                <a:latin typeface="Arial"/>
              </a:rPr>
              <a:t>Onde a informação passa a ser capturada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45552" y="1810512"/>
            <a:ext cx="3922776" cy="0"/>
          </a:xfrm>
          <a:prstGeom prst="line">
            <a:avLst/>
          </a:prstGeom>
          <a:ln w="9525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845552" y="197510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1956816"/>
            <a:ext cx="339242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lang="pt-BR" dirty="0">
                <a:solidFill>
                  <a:srgbClr val="333333"/>
                </a:solidFill>
                <a:latin typeface="Arial"/>
              </a:rPr>
              <a:t>Site</a:t>
            </a:r>
          </a:p>
          <a:p>
            <a:pPr algn="l">
              <a:lnSpc>
                <a:spcPct val="114000"/>
              </a:lnSpc>
            </a:pPr>
            <a:r>
              <a:rPr sz="900" b="0" lang="pt-BR" dirty="0">
                <a:solidFill>
                  <a:srgbClr val="5C5C5C"/>
                </a:solidFill>
                <a:latin typeface="Arial"/>
              </a:rPr>
              <a:t>validação dos dados coletados e 2ª página com a loja de preferência</a:t>
            </a:r>
          </a:p>
          <a:p>
            <a:pPr algn="l">
              <a:lnSpc>
                <a:spcPct val="114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milestone 2.1.1 · S2 set/26 · Thais Pimenta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45552" y="2926080"/>
            <a:ext cx="392277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845552" y="310896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3090672"/>
            <a:ext cx="339242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lang="pt-BR" dirty="0">
                <a:solidFill>
                  <a:srgbClr val="333333"/>
                </a:solidFill>
                <a:latin typeface="Arial"/>
              </a:rPr>
              <a:t>Facebook e WhatsApp</a:t>
            </a:r>
          </a:p>
          <a:p>
            <a:pPr algn="l">
              <a:lnSpc>
                <a:spcPct val="114000"/>
              </a:lnSpc>
            </a:pPr>
            <a:r>
              <a:rPr sz="900" b="0" lang="pt-BR" dirty="0">
                <a:solidFill>
                  <a:srgbClr val="5C5C5C"/>
                </a:solidFill>
                <a:latin typeface="Arial"/>
              </a:rPr>
              <a:t>CEP capturado para todos os leads e 2ª página com a loja de preferência</a:t>
            </a:r>
          </a:p>
          <a:p>
            <a:pPr algn="l">
              <a:lnSpc>
                <a:spcPct val="114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milestone 2.1.2 · S4 set/26 · Thais Pimenta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45552" y="4059936"/>
            <a:ext cx="3922776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45552" y="424281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4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50" b="1" lang="pt-BR" dirty="0">
                <a:solidFill>
                  <a:srgbClr val="104C3E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736" y="4224528"/>
            <a:ext cx="3392424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lang="pt-BR" dirty="0">
                <a:solidFill>
                  <a:srgbClr val="333333"/>
                </a:solidFill>
                <a:latin typeface="Arial"/>
              </a:rPr>
              <a:t>Canais classificados</a:t>
            </a:r>
          </a:p>
          <a:p>
            <a:pPr algn="l">
              <a:lnSpc>
                <a:spcPct val="114000"/>
              </a:lnSpc>
            </a:pPr>
            <a:r>
              <a:rPr sz="900" b="0" lang="pt-BR" dirty="0">
                <a:solidFill>
                  <a:srgbClr val="5C5C5C"/>
                </a:solidFill>
                <a:latin typeface="Arial"/>
              </a:rPr>
              <a:t>CEP capturado para todos os leads</a:t>
            </a:r>
          </a:p>
          <a:p>
            <a:pPr algn="l">
              <a:lnSpc>
                <a:spcPct val="114000"/>
              </a:lnSpc>
            </a:pPr>
            <a:r>
              <a:rPr sz="800" b="0" lang="pt-BR" dirty="0">
                <a:solidFill>
                  <a:srgbClr val="858585"/>
                </a:solidFill>
                <a:latin typeface="Arial"/>
              </a:rPr>
              <a:t>milestone 2.1.3 · S3 set/26 · Thais Pimenta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45552" y="5413248"/>
            <a:ext cx="3922776" cy="420624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4000"/>
              </a:lnSpc>
            </a:pPr>
            <a:r>
              <a:rPr sz="900" b="1" lang="pt-BR" dirty="0">
                <a:solidFill>
                  <a:srgbClr val="CC0000"/>
                </a:solidFill>
                <a:latin typeface="Arial"/>
              </a:rPr>
              <a:t>Sem esses três pontos de captura, a alavanca 2 age sobre apenas 20% dos leads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16305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50" b="0" lang="pt-BR" dirty="0">
                <a:solidFill>
                  <a:srgbClr val="858585"/>
                </a:solidFill>
                <a:latin typeface="Arial"/>
              </a:rPr>
              <a:t>¹ Ganho incremental de +0,30 p.p. por lead migrado do grupo "carro não escolhido" (0,41%) para "carro escolhido + CEP" (0,71%), mantida a alocação atual; é parte do +0,1 a 0,3 p.p. total, o restante vem da alavanca 2. ² Os grupos também diferem em intenção de compra: capturar o ganho exige coleta ativa da informação, não apenas segmentar os leads.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5566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650" b="0" lang="pt-BR" dirty="0">
                <a:solidFill>
                  <a:srgbClr val="858585"/>
                </a:solidFill>
                <a:latin typeface="Arial"/>
              </a:rPr>
              <a:t>Fonte: bases internas (vendas e leads). Análises Bain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Lead to Sales: conversão por informação coletada</dc:title>
  <dc:subject/>
  <dc:creator>ConsultingInnovation@bain.com</dc:creator>
  <cp:keywords/>
  <dc:description>generated using python-pptx</dc:description>
  <cp:lastModifiedBy>ConsultingInnovation@bain.com</cp:lastModifiedBy>
  <cp:revision>1</cp:revision>
  <dcterms:created xsi:type="dcterms:W3CDTF">2013-01-27T09:14:16Z</dcterms:created>
  <dcterms:modified xsi:type="dcterms:W3CDTF">2013-01-27T09:15:58Z</dcterms:modified>
  <cp:category/>
</cp:coreProperties>
</file>