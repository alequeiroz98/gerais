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37744"/>
          <a:ext cx="11423873" cy="73990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"/>
                <a:gridCol w="7606253"/>
                <a:gridCol w="1417320"/>
                <a:gridCol w="2331720"/>
              </a:tblGrid>
              <a:tr h="739902">
                <a:tc>
                  <a:txBody>
                    <a:bodyPr/>
                    <a:lstStyle/>
                    <a:p/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Tratamento, priorização e alocação de leads (1/2)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9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Melhorar </a:t>
                      </a:r>
                      <a:r>
                        <a:rPr sz="9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a experiência dos clientes em prospecção</a:t>
                      </a:r>
                      <a:r>
                        <a:rPr sz="9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, o entendimento de suas necessidades, </a:t>
                      </a:r>
                      <a:r>
                        <a:rPr sz="9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a priorização dos leads com maior potencial de conversão</a:t>
                      </a:r>
                      <a:r>
                        <a:rPr sz="9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e </a:t>
                      </a:r>
                      <a:r>
                        <a:rPr sz="9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a alocação às estruturas de vendas com maior chance de conversão</a:t>
                      </a:r>
                      <a:r>
                        <a:rPr sz="9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48640" marR="64008" marT="91440" marB="91440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9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Priscila Martins</a:t>
                      </a:r>
                    </a:p>
                  </a:txBody>
                  <a:tcPr marL="64008" marR="64008" marT="91440" marB="91440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9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Priscila Martins, Yure Cangussu, Thais Pimenta, Luma Gomes</a:t>
                      </a:r>
                    </a:p>
                  </a:txBody>
                  <a:tcPr marL="64008" marR="64008" marT="91440" marB="91440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Oval 3"/>
          <p:cNvSpPr/>
          <p:nvPr/>
        </p:nvSpPr>
        <p:spPr>
          <a:xfrm>
            <a:off x="598932" y="309626"/>
            <a:ext cx="256032" cy="256032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8932" y="350773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lang="pt-BR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78230"/>
            <a:ext cx="2183755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0" i="0" lang="pt-BR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5905" y="1078230"/>
            <a:ext cx="2558578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1" i="0" lang="pt-BR">
                <a:solidFill>
                  <a:srgbClr val="3F7C0E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5905" y="1263396"/>
            <a:ext cx="2522002" cy="23774"/>
          </a:xfrm>
          <a:prstGeom prst="rect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62586" y="1078230"/>
            <a:ext cx="1689836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0" i="0" lang="pt-BR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0524" y="1078230"/>
            <a:ext cx="1543934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0" i="0" lang="pt-BR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2560" y="1078230"/>
            <a:ext cx="1283508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0" i="0" lang="pt-BR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34171" y="1078230"/>
            <a:ext cx="1110326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0" i="0" lang="pt-BR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1327404"/>
            <a:ext cx="11423873" cy="0"/>
          </a:xfrm>
          <a:prstGeom prst="line">
            <a:avLst/>
          </a:prstGeom>
          <a:ln w="9525">
            <a:solidFill>
              <a:srgbClr val="E2E2E2"/>
            </a:solidFill>
          </a:ln>
          <a:effectLst/>
        </p:spPr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84048" y="1455420"/>
          <a:ext cx="4169713" cy="274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93342"/>
                <a:gridCol w="187637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 lang="pt-BR">
                          <a:solidFill>
                            <a:srgbClr val="FFFFFF"/>
                          </a:solidFill>
                          <a:latin typeface="Arial"/>
                        </a:rPr>
                        <a:t>Resultados-chave</a:t>
                      </a:r>
                    </a:p>
                  </a:txBody>
                  <a:tcPr marL="365760" marR="365760" marT="45720" marB="4572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 lang="pt-BR">
                          <a:solidFill>
                            <a:srgbClr val="9FD4B8"/>
                          </a:solidFill>
                          <a:latin typeface="Arial"/>
                        </a:rPr>
                        <a:t>Histórico mensal | 2026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F4E3D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93776" y="1610868"/>
            <a:ext cx="47548" cy="73152"/>
          </a:xfrm>
          <a:prstGeom prst="rect">
            <a:avLst/>
          </a:prstGeom>
          <a:solidFill>
            <a:srgbClr val="9FD4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1441" y="1559661"/>
            <a:ext cx="47548" cy="124358"/>
          </a:xfrm>
          <a:prstGeom prst="rect">
            <a:avLst/>
          </a:prstGeom>
          <a:solidFill>
            <a:srgbClr val="9FD4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" y="1501140"/>
            <a:ext cx="47548" cy="182880"/>
          </a:xfrm>
          <a:prstGeom prst="rect">
            <a:avLst/>
          </a:prstGeom>
          <a:solidFill>
            <a:srgbClr val="9FD4B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1821180"/>
            <a:ext cx="4169713" cy="409702"/>
          </a:xfrm>
          <a:prstGeom prst="roundRect">
            <a:avLst>
              <a:gd name="adj" fmla="val 12000"/>
            </a:avLst>
          </a:prstGeom>
          <a:solidFill>
            <a:srgbClr val="E9EC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30352" y="1916303"/>
            <a:ext cx="219456" cy="120700"/>
          </a:xfrm>
          <a:custGeom>
            <a:avLst/>
            <a:gdLst/>
            <a:ahLst/>
            <a:cxnLst/>
            <a:rect l="l" t="t" r="r" b="b"/>
            <a:pathLst>
              <a:path w="219456" h="120700">
                <a:moveTo>
                  <a:pt x="0" y="0"/>
                </a:moveTo>
                <a:lnTo>
                  <a:pt x="219456" y="0"/>
                </a:lnTo>
                <a:lnTo>
                  <a:pt x="142646" y="120700"/>
                </a:lnTo>
                <a:lnTo>
                  <a:pt x="76809" y="120700"/>
                </a:lnTo>
                <a:close/>
              </a:path>
            </a:pathLst>
          </a:custGeom>
          <a:solidFill>
            <a:srgbClr val="1F4E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595" y="2037003"/>
            <a:ext cx="28968" cy="61447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1894332"/>
            <a:ext cx="3566209" cy="147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lang="pt-BR">
                <a:solidFill>
                  <a:srgbClr val="1A1A1A"/>
                </a:solidFill>
                <a:latin typeface="Arial"/>
              </a:rPr>
              <a:t>Qualidade dos leads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041525"/>
            <a:ext cx="3566209" cy="116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lang="pt-BR">
                <a:solidFill>
                  <a:srgbClr val="757575"/>
                </a:solidFill>
                <a:latin typeface="Arial"/>
              </a:rPr>
              <a:t>% de leads sem CEP (menor é melhor)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84048" y="2322322"/>
          <a:ext cx="4169706" cy="170802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50914"/>
                <a:gridCol w="364849"/>
                <a:gridCol w="364849"/>
                <a:gridCol w="364849"/>
                <a:gridCol w="364849"/>
                <a:gridCol w="364849"/>
                <a:gridCol w="364849"/>
                <a:gridCol w="364849"/>
                <a:gridCol w="364849"/>
              </a:tblGrid>
              <a:tr h="251841">
                <a:tc>
                  <a:txBody>
                    <a:bodyPr/>
                    <a:lstStyle/>
                    <a:p/>
                  </a:txBody>
                  <a:tcPr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Fev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Abr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Mai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Ago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Set*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DDE1EC"/>
                    </a:solidFill>
                  </a:tcPr>
                </a:tc>
              </a:tr>
              <a:tr h="485394"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Site</a:t>
                      </a:r>
                    </a:p>
                    <a:p>
                      <a:pPr algn="l">
                        <a:spcBef>
                          <a:spcPts val="15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757575"/>
                          </a:solidFill>
                          <a:latin typeface="Arial"/>
                        </a:rPr>
                        <a:t>% leads sem CEP</a:t>
                      </a:r>
                    </a:p>
                  </a:txBody>
                  <a:tcPr marL="256032" marR="25603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787C12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E9E9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787C12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E9E9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737C15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E8E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6E7C17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E6E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3E7C2B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D8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2E7D32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D4E9D1"/>
                    </a:solidFill>
                  </a:tcPr>
                </a:tc>
              </a:tr>
              <a:tr h="485394"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Liza</a:t>
                      </a:r>
                    </a:p>
                    <a:p>
                      <a:pPr algn="l">
                        <a:spcBef>
                          <a:spcPts val="15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757575"/>
                          </a:solidFill>
                          <a:latin typeface="Arial"/>
                        </a:rPr>
                        <a:t>% leads sem CEP</a:t>
                      </a:r>
                    </a:p>
                  </a:txBody>
                  <a:tcPr marL="256032" marR="25603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487C26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DBE9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C4A21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6D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95D14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6DD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987C05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3E9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2E7D32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D4E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3E7C2B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D8E9CF"/>
                    </a:solidFill>
                  </a:tcPr>
                </a:tc>
              </a:tr>
              <a:tr h="485394"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Chatbot</a:t>
                      </a:r>
                    </a:p>
                    <a:p>
                      <a:pPr algn="l">
                        <a:spcBef>
                          <a:spcPts val="15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757575"/>
                          </a:solidFill>
                          <a:latin typeface="Arial"/>
                        </a:rPr>
                        <a:t>% leads sem CEP</a:t>
                      </a:r>
                    </a:p>
                  </a:txBody>
                  <a:tcPr marL="256032" marR="25603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A5519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DA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B521C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D9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A5917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DC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A96012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887C0C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EEE9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2E7D32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D4E9D1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438912" y="2745353"/>
            <a:ext cx="155448" cy="96377"/>
          </a:xfrm>
          <a:prstGeom prst="rect">
            <a:avLst/>
          </a:prstGeom>
          <a:noFill/>
          <a:ln w="10795" cap="rnd">
            <a:solidFill>
              <a:srgbClr val="1A1A1A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9120" y="2767116"/>
            <a:ext cx="68397" cy="101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9120" y="2787324"/>
            <a:ext cx="115031" cy="101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9120" y="2807533"/>
            <a:ext cx="51297" cy="101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5754" y="2841731"/>
            <a:ext cx="21762" cy="279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6219" y="2869712"/>
            <a:ext cx="80832" cy="139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912" y="3224530"/>
            <a:ext cx="155448" cy="155448"/>
          </a:xfrm>
          <a:prstGeom prst="ellipse">
            <a:avLst/>
          </a:prstGeom>
          <a:solidFill>
            <a:srgbClr val="2F5B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6219" y="3254376"/>
            <a:ext cx="80832" cy="66283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515" y="3276605"/>
            <a:ext cx="20208" cy="20208"/>
          </a:xfrm>
          <a:prstGeom prst="ellipse">
            <a:avLst/>
          </a:prstGeom>
          <a:solidFill>
            <a:srgbClr val="2F5B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7548" y="3276605"/>
            <a:ext cx="20208" cy="20208"/>
          </a:xfrm>
          <a:prstGeom prst="ellipse">
            <a:avLst/>
          </a:prstGeom>
          <a:solidFill>
            <a:srgbClr val="2F5B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1195" y="3233856"/>
            <a:ext cx="10881" cy="20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7309" y="3226861"/>
            <a:ext cx="18653" cy="1865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8912" y="3709924"/>
            <a:ext cx="155448" cy="155448"/>
          </a:xfrm>
          <a:prstGeom prst="ellipse">
            <a:avLst/>
          </a:prstGeom>
          <a:solidFill>
            <a:srgbClr val="2F5B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70001" y="3741262"/>
            <a:ext cx="93268" cy="68397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479328" y="3808104"/>
            <a:ext cx="24250" cy="23318"/>
          </a:xfrm>
          <a:custGeom>
            <a:avLst/>
            <a:gdLst/>
            <a:ahLst/>
            <a:cxnLst/>
            <a:rect l="l" t="t" r="r" b="b"/>
            <a:pathLst>
              <a:path w="24250" h="23318">
                <a:moveTo>
                  <a:pt x="9327" y="0"/>
                </a:moveTo>
                <a:lnTo>
                  <a:pt x="0" y="23318"/>
                </a:lnTo>
                <a:lnTo>
                  <a:pt x="242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1142" y="3768621"/>
            <a:ext cx="13679" cy="13679"/>
          </a:xfrm>
          <a:prstGeom prst="ellipse">
            <a:avLst/>
          </a:prstGeom>
          <a:solidFill>
            <a:srgbClr val="2F5B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9796" y="3768621"/>
            <a:ext cx="13679" cy="13679"/>
          </a:xfrm>
          <a:prstGeom prst="ellipse">
            <a:avLst/>
          </a:prstGeom>
          <a:solidFill>
            <a:srgbClr val="2F5B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8450" y="3768621"/>
            <a:ext cx="13679" cy="13679"/>
          </a:xfrm>
          <a:prstGeom prst="ellipse">
            <a:avLst/>
          </a:prstGeom>
          <a:solidFill>
            <a:srgbClr val="2F5B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84048" y="4176649"/>
            <a:ext cx="4169713" cy="409702"/>
          </a:xfrm>
          <a:prstGeom prst="roundRect">
            <a:avLst>
              <a:gd name="adj" fmla="val 12000"/>
            </a:avLst>
          </a:prstGeom>
          <a:solidFill>
            <a:srgbClr val="E9EC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0352" y="4403445"/>
            <a:ext cx="57058" cy="87782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1550" y="4341997"/>
            <a:ext cx="57058" cy="14923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2749" y="4271772"/>
            <a:ext cx="57058" cy="219456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4249801"/>
            <a:ext cx="3566209" cy="147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lang="pt-BR">
                <a:solidFill>
                  <a:srgbClr val="1A1A1A"/>
                </a:solidFill>
                <a:latin typeface="Arial"/>
              </a:rPr>
              <a:t>Volume e conversão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" y="4396994"/>
            <a:ext cx="3566209" cy="116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lang="pt-BR">
                <a:solidFill>
                  <a:srgbClr val="757575"/>
                </a:solidFill>
                <a:latin typeface="Arial"/>
              </a:rPr>
              <a:t>Leads classificados e taxa de conversão (Classif. → vendas)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384048" y="4677791"/>
          <a:ext cx="4169706" cy="122262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50914"/>
                <a:gridCol w="364849"/>
                <a:gridCol w="364849"/>
                <a:gridCol w="364849"/>
                <a:gridCol w="364849"/>
                <a:gridCol w="364849"/>
                <a:gridCol w="364849"/>
                <a:gridCol w="364849"/>
                <a:gridCol w="364849"/>
              </a:tblGrid>
              <a:tr h="251841">
                <a:tc>
                  <a:txBody>
                    <a:bodyPr/>
                    <a:lstStyle/>
                    <a:p/>
                  </a:txBody>
                  <a:tcPr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Fev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Abr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Mai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Ago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Set*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DDE1EC"/>
                    </a:solidFill>
                  </a:tcPr>
                </a:tc>
              </a:tr>
              <a:tr h="485394"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Leads Classif.</a:t>
                      </a:r>
                    </a:p>
                  </a:txBody>
                  <a:tcPr marL="256032" marR="25603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B02A3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6C9CB"/>
                    </a:solidFill>
                  </a:tcPr>
                </a:tc>
              </a:tr>
              <a:tr h="485394"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Conversão</a:t>
                      </a:r>
                    </a:p>
                    <a:p>
                      <a:pPr algn="l">
                        <a:spcBef>
                          <a:spcPts val="150"/>
                        </a:spcBef>
                        <a:defRPr sz="700">
                          <a:latin typeface="Arial"/>
                        </a:defRPr>
                      </a:pPr>
                      <a:r>
                        <a:rPr sz="700" b="0" i="0" lang="pt-BR">
                          <a:solidFill>
                            <a:srgbClr val="757575"/>
                          </a:solidFill>
                          <a:latin typeface="Arial"/>
                        </a:rPr>
                        <a:t>Classif. → vendas</a:t>
                      </a:r>
                    </a:p>
                  </a:txBody>
                  <a:tcPr marL="256032" marR="256032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0,39%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0,41%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0,35%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0,31%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0,40%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0,38%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0,33%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 lang="pt-BR">
                          <a:solidFill>
                            <a:srgbClr val="B02A37"/>
                          </a:solidFill>
                          <a:latin typeface="Arial"/>
                        </a:rPr>
                        <a:t>0,18%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C9CB"/>
                    </a:solidFill>
                  </a:tcPr>
                </a:tc>
              </a:tr>
            </a:tbl>
          </a:graphicData>
        </a:graphic>
      </p:graphicFrame>
      <p:sp>
        <p:nvSpPr>
          <p:cNvPr id="49" name="Oval 48"/>
          <p:cNvSpPr/>
          <p:nvPr/>
        </p:nvSpPr>
        <p:spPr>
          <a:xfrm>
            <a:off x="442829" y="5152089"/>
            <a:ext cx="36561" cy="36561"/>
          </a:xfrm>
          <a:prstGeom prst="ellipse">
            <a:avLst/>
          </a:prstGeom>
          <a:solidFill>
            <a:srgbClr val="E06C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438912" y="5186319"/>
            <a:ext cx="44395" cy="5223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06C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45424" y="5152089"/>
            <a:ext cx="36561" cy="36561"/>
          </a:xfrm>
          <a:prstGeom prst="ellipse">
            <a:avLst/>
          </a:prstGeom>
          <a:solidFill>
            <a:srgbClr val="E06C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>
            <a:off x="541507" y="5186319"/>
            <a:ext cx="44395" cy="5223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06C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>
            <a:off x="483214" y="5168442"/>
            <a:ext cx="66842" cy="7616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87878" y="5127249"/>
            <a:ext cx="57515" cy="5751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94873" y="5134244"/>
            <a:ext cx="43525" cy="43525"/>
          </a:xfrm>
          <a:prstGeom prst="ellipse">
            <a:avLst/>
          </a:prstGeom>
          <a:solidFill>
            <a:srgbClr val="E06C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>
            <a:off x="490209" y="5175437"/>
            <a:ext cx="52852" cy="6217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06C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Donut 56"/>
          <p:cNvSpPr/>
          <p:nvPr/>
        </p:nvSpPr>
        <p:spPr>
          <a:xfrm>
            <a:off x="438912" y="5579999"/>
            <a:ext cx="155448" cy="155448"/>
          </a:xfrm>
          <a:prstGeom prst="donut">
            <a:avLst>
              <a:gd name="adj" fmla="val 13000"/>
            </a:avLst>
          </a:prstGeom>
          <a:solidFill>
            <a:srgbClr val="2F8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Donut 57"/>
          <p:cNvSpPr/>
          <p:nvPr/>
        </p:nvSpPr>
        <p:spPr>
          <a:xfrm>
            <a:off x="477773" y="5618861"/>
            <a:ext cx="77724" cy="77724"/>
          </a:xfrm>
          <a:prstGeom prst="donut">
            <a:avLst>
              <a:gd name="adj" fmla="val 22000"/>
            </a:avLst>
          </a:prstGeom>
          <a:solidFill>
            <a:srgbClr val="2F8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01091" y="5642178"/>
            <a:ext cx="31089" cy="31089"/>
          </a:xfrm>
          <a:prstGeom prst="ellipse">
            <a:avLst/>
          </a:prstGeom>
          <a:solidFill>
            <a:srgbClr val="2F8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549644"/>
            <a:ext cx="4169713" cy="2169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 lang="pt-BR">
                <a:solidFill>
                  <a:srgbClr val="757575"/>
                </a:solidFill>
                <a:latin typeface="Arial"/>
              </a:rPr>
              <a:t>Nota: considera vendas que aconteceram em até 7 dias pós geração do lead; *Inclui somente leads gerados até dia 7 de Set; Fonte: base de vendas faturadas e base de funil dos leads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718353" y="1455420"/>
          <a:ext cx="7089567" cy="274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08956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 lang="pt-BR">
                          <a:solidFill>
                            <a:srgbClr val="FFFFFF"/>
                          </a:solidFill>
                          <a:latin typeface="Arial"/>
                        </a:rPr>
                        <a:t>Status das frentes em andamento</a:t>
                      </a:r>
                    </a:p>
                  </a:txBody>
                  <a:tcPr marL="365760" marR="365760" marT="45720" marB="4572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F4E3D"/>
                    </a:solidFill>
                  </a:tcPr>
                </a:tc>
              </a:tr>
            </a:tbl>
          </a:graphicData>
        </a:graphic>
      </p:graphicFrame>
      <p:sp>
        <p:nvSpPr>
          <p:cNvPr id="62" name="Oval 61"/>
          <p:cNvSpPr/>
          <p:nvPr/>
        </p:nvSpPr>
        <p:spPr>
          <a:xfrm>
            <a:off x="4828081" y="1523085"/>
            <a:ext cx="32918" cy="32918"/>
          </a:xfrm>
          <a:prstGeom prst="ellipse">
            <a:avLst/>
          </a:prstGeom>
          <a:solidFill>
            <a:srgbClr val="9FD4B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877459" y="1528023"/>
            <a:ext cx="113385" cy="23042"/>
          </a:xfrm>
          <a:prstGeom prst="rect">
            <a:avLst/>
          </a:prstGeom>
          <a:solidFill>
            <a:srgbClr val="9FD4B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828081" y="1581607"/>
            <a:ext cx="32918" cy="32918"/>
          </a:xfrm>
          <a:prstGeom prst="ellipse">
            <a:avLst/>
          </a:prstGeom>
          <a:solidFill>
            <a:srgbClr val="9FD4B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877459" y="1586544"/>
            <a:ext cx="113385" cy="23042"/>
          </a:xfrm>
          <a:prstGeom prst="rect">
            <a:avLst/>
          </a:prstGeom>
          <a:solidFill>
            <a:srgbClr val="9FD4B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828081" y="1640128"/>
            <a:ext cx="32918" cy="32918"/>
          </a:xfrm>
          <a:prstGeom prst="ellipse">
            <a:avLst/>
          </a:prstGeom>
          <a:solidFill>
            <a:srgbClr val="9FD4B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877459" y="1645066"/>
            <a:ext cx="113385" cy="23042"/>
          </a:xfrm>
          <a:prstGeom prst="rect">
            <a:avLst/>
          </a:prstGeom>
          <a:solidFill>
            <a:srgbClr val="9FD4B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4718353" y="1821180"/>
          <a:ext cx="7089564" cy="49453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7986"/>
                <a:gridCol w="1199230"/>
                <a:gridCol w="917058"/>
                <a:gridCol w="493800"/>
                <a:gridCol w="705429"/>
                <a:gridCol w="1128687"/>
                <a:gridCol w="1128687"/>
                <a:gridCol w="1128687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ENTREGÁVEL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883158">
                <a:tc>
                  <a:txBody>
                    <a:bodyPr wrap="none"/>
                    <a:lstStyle/>
                    <a:p>
                      <a:pPr algn="l"/>
                      <a:r>
                        <a:rPr sz="7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2.1.1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Informações mínimas do cliente coletadas no site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Thais Pimenta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11/set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• </a:t>
                      </a: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Telefone válido nas principais LPs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• </a:t>
                      </a: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Pesquisa da nova tela de loja de preferência lançada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• </a:t>
                      </a: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Criar formulário padrão para todas as LPs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• </a:t>
                      </a: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Publicar a 2ª página com a loja de preferência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761238">
                <a:tc>
                  <a:txBody>
                    <a:bodyPr wrap="none"/>
                    <a:lstStyle/>
                    <a:p>
                      <a:pPr algn="l"/>
                      <a:r>
                        <a:rPr sz="7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2.1.2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Informações mínimas do cliente coletadas nos canais Meta</a:t>
                      </a:r>
                      <a:r>
                        <a:rPr sz="7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 (Facebook e WhatsApp)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João Azevedo + Isadora Barreto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11/set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Desenho do fluxo e início do desenvolv. de CEP obrigatório para geração de lead na Liza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Finalizar desenvolv. de CEP obrigatório para geração de lead na Liza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761238">
                <a:tc>
                  <a:txBody>
                    <a:bodyPr wrap="none"/>
                    <a:lstStyle/>
                    <a:p>
                      <a:pPr algn="l"/>
                      <a:r>
                        <a:rPr sz="7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2.1.3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Informações mínimas do cliente coletadas via canais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Classificados</a:t>
                      </a:r>
                      <a:r>
                        <a:rPr sz="7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: CEP capturado para todos os leads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Luma Gomes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25/set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Conversas para definição de prazos para obtenção de dados obrigatórios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Avaliar necessidade de acelerar a obtenção dos dados de CEP com os parceiros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517398">
                <a:tc>
                  <a:txBody>
                    <a:bodyPr wrap="none"/>
                    <a:lstStyle/>
                    <a:p>
                      <a:pPr algn="l"/>
                      <a:r>
                        <a:rPr sz="7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2.1.4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Revisar modelo de clusters de anúncios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25/set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Piloto de remoção de clusters de anúncios lançado na DVSUC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Avaliar resultados dos leads classificados na DVSUC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883158">
                <a:tc>
                  <a:txBody>
                    <a:bodyPr wrap="none"/>
                    <a:lstStyle/>
                    <a:p>
                      <a:pPr algn="l"/>
                      <a:r>
                        <a:rPr sz="7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2.2.1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Outras informações já disponíveis do cliente (ex.: localização por IP, cidade, etc) </a:t>
                      </a:r>
                      <a:r>
                        <a:rPr sz="75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integradas e disponíveis</a:t>
                      </a:r>
                      <a:r>
                        <a:rPr sz="7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 para todos os canais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25/set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• </a:t>
                      </a: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Mapear dados disponíveis para uso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• </a:t>
                      </a: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Integrar novos dados às bases de clientes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Alinhar prioridade e definir responsável e prazo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883158">
                <a:tc>
                  <a:txBody>
                    <a:bodyPr wrap="none"/>
                    <a:lstStyle/>
                    <a:p>
                      <a:pPr algn="l"/>
                      <a:r>
                        <a:rPr sz="7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2.3.1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Lead score evoluído com novas variáveis (score B3 de propensão a financiamento, renda presumida, etc.)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23/out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priorizado no curto prazo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latin typeface="Arial"/>
                        </a:defRPr>
                      </a:pPr>
                      <a:r>
                        <a:rPr sz="7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9" name="Oval 68"/>
          <p:cNvSpPr/>
          <p:nvPr/>
        </p:nvSpPr>
        <p:spPr>
          <a:xfrm>
            <a:off x="4839194" y="2759202"/>
            <a:ext cx="146304" cy="146304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sz="650" b="1" i="0" lang="pt-BR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70" name="Oval 69"/>
          <p:cNvSpPr/>
          <p:nvPr/>
        </p:nvSpPr>
        <p:spPr>
          <a:xfrm>
            <a:off x="4747754" y="3520440"/>
            <a:ext cx="146304" cy="146304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sz="650" b="1" i="0" lang="pt-BR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71" name="Oval 70"/>
          <p:cNvSpPr/>
          <p:nvPr/>
        </p:nvSpPr>
        <p:spPr>
          <a:xfrm>
            <a:off x="4930634" y="3520440"/>
            <a:ext cx="146304" cy="146304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sz="650" b="1" i="0" lang="pt-BR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72" name="Oval 71"/>
          <p:cNvSpPr/>
          <p:nvPr/>
        </p:nvSpPr>
        <p:spPr>
          <a:xfrm>
            <a:off x="4839194" y="4281678"/>
            <a:ext cx="146304" cy="146304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sz="650" b="1" i="0" lang="pt-BR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73" name="Oval 72"/>
          <p:cNvSpPr/>
          <p:nvPr/>
        </p:nvSpPr>
        <p:spPr>
          <a:xfrm>
            <a:off x="4839194" y="4799076"/>
            <a:ext cx="146304" cy="146304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sz="650" b="1" i="0" lang="pt-BR">
                <a:solidFill>
                  <a:srgbClr val="1A1A1A"/>
                </a:solidFill>
                <a:latin typeface="Arial"/>
              </a:rPr>
              <a:t>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237744"/>
          <a:ext cx="11423873" cy="73990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"/>
                <a:gridCol w="7606253"/>
                <a:gridCol w="1417320"/>
                <a:gridCol w="2331720"/>
              </a:tblGrid>
              <a:tr h="739902">
                <a:tc>
                  <a:txBody>
                    <a:bodyPr/>
                    <a:lstStyle/>
                    <a:p/>
                  </a:txBody>
                  <a:tcPr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Tratamento, priorização e alocação de leads (2/2)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sz="9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Melhorar </a:t>
                      </a:r>
                      <a:r>
                        <a:rPr sz="9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a experiência dos clientes em prospecção</a:t>
                      </a:r>
                      <a:r>
                        <a:rPr sz="9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, o entendimento de suas necessidades, </a:t>
                      </a:r>
                      <a:r>
                        <a:rPr sz="9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a priorização dos leads com maior potencial de conversão</a:t>
                      </a:r>
                      <a:r>
                        <a:rPr sz="9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 e </a:t>
                      </a:r>
                      <a:r>
                        <a:rPr sz="950" b="1" i="0" lang="pt-BR">
                          <a:solidFill>
                            <a:srgbClr val="6B6B6B"/>
                          </a:solidFill>
                          <a:latin typeface="Arial"/>
                        </a:rPr>
                        <a:t>a alocação às estruturas de vendas com maior chance de conversão</a:t>
                      </a:r>
                      <a:r>
                        <a:rPr sz="9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48640" marR="64008" marT="91440" marB="91440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LÍDER(ES)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9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 marT="91440" marB="91440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TIME DE TRABALHO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9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Priscila Martins, Yure Cangussu, Thais Pimenta, Luma Gomes</a:t>
                      </a:r>
                    </a:p>
                  </a:txBody>
                  <a:tcPr marL="64008" marR="64008" marT="91440" marB="91440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Oval 3"/>
          <p:cNvSpPr/>
          <p:nvPr/>
        </p:nvSpPr>
        <p:spPr>
          <a:xfrm>
            <a:off x="598932" y="309626"/>
            <a:ext cx="256032" cy="256032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8932" y="350773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lang="pt-BR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78230"/>
            <a:ext cx="2183755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0" i="0" lang="pt-BR">
                <a:solidFill>
                  <a:srgbClr val="4A4A4A"/>
                </a:solidFill>
                <a:latin typeface="Arial"/>
              </a:rPr>
              <a:t>1. Planejamento integrado mkt | vendas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5905" y="1078230"/>
            <a:ext cx="2558578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1" i="0" lang="pt-BR">
                <a:solidFill>
                  <a:srgbClr val="3F7C0E"/>
                </a:solidFill>
                <a:latin typeface="Arial"/>
              </a:rPr>
              <a:t>2. Tratamento, priorização e alocação de leads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5905" y="1263396"/>
            <a:ext cx="2522002" cy="23774"/>
          </a:xfrm>
          <a:prstGeom prst="rect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62586" y="1078230"/>
            <a:ext cx="1689836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0" i="0" lang="pt-BR">
                <a:solidFill>
                  <a:srgbClr val="4A4A4A"/>
                </a:solidFill>
                <a:latin typeface="Arial"/>
              </a:rPr>
              <a:t>3. Atendimento agêntico (Liza)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0524" y="1078230"/>
            <a:ext cx="1543934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0" i="0" lang="pt-BR">
                <a:solidFill>
                  <a:srgbClr val="4A4A4A"/>
                </a:solidFill>
                <a:latin typeface="Arial"/>
              </a:rPr>
              <a:t>4. Atendimento pela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2560" y="1078230"/>
            <a:ext cx="1283508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0" i="0" lang="pt-BR">
                <a:solidFill>
                  <a:srgbClr val="4A4A4A"/>
                </a:solidFill>
                <a:latin typeface="Arial"/>
              </a:rPr>
              <a:t>5. Atendimento em loja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34171" y="1078230"/>
            <a:ext cx="1110326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lang="pt-BR">
                <a:solidFill>
                  <a:srgbClr val="333333"/>
                </a:solidFill>
                <a:latin typeface="Arial"/>
              </a:rPr>
              <a:t/>
            </a:r>
            <a:r>
              <a:rPr sz="900" b="0" i="0" lang="pt-BR">
                <a:solidFill>
                  <a:srgbClr val="4A4A4A"/>
                </a:solidFill>
                <a:latin typeface="Arial"/>
              </a:rPr>
              <a:t>6. Geração de leads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1327404"/>
            <a:ext cx="11423873" cy="0"/>
          </a:xfrm>
          <a:prstGeom prst="line">
            <a:avLst/>
          </a:prstGeom>
          <a:ln w="9525">
            <a:solidFill>
              <a:srgbClr val="E2E2E2"/>
            </a:solidFill>
          </a:ln>
          <a:effectLst/>
        </p:spPr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84048" y="1455420"/>
          <a:ext cx="4169713" cy="274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69713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lang="pt-BR">
                          <a:solidFill>
                            <a:srgbClr val="FFFFFF"/>
                          </a:solidFill>
                          <a:latin typeface="Arial"/>
                        </a:rPr>
                        <a:t>Resultados-chave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1857756"/>
          <a:ext cx="3913681" cy="117767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3241"/>
                <a:gridCol w="337555"/>
                <a:gridCol w="337555"/>
                <a:gridCol w="337555"/>
                <a:gridCol w="337555"/>
                <a:gridCol w="337555"/>
                <a:gridCol w="337555"/>
                <a:gridCol w="337555"/>
                <a:gridCol w="337555"/>
              </a:tblGrid>
              <a:tr h="215265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4864" marR="54864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fev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abr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mai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ago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set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178689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% alocado certo</a:t>
                      </a:r>
                    </a:p>
                  </a:txBody>
                  <a:tcPr marL="54864" marR="54864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689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% alocado errado</a:t>
                      </a:r>
                    </a:p>
                  </a:txBody>
                  <a:tcPr marL="54864" marR="54864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51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% conv. média - alocado certo</a:t>
                      </a:r>
                    </a:p>
                  </a:txBody>
                  <a:tcPr marL="54864" marR="54864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2E7D32"/>
                          </a:solidFill>
                          <a:latin typeface="Arial"/>
                        </a:rPr>
                        <a:t>0,74%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D4E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37C15"/>
                          </a:solidFill>
                          <a:latin typeface="Arial"/>
                        </a:rPr>
                        <a:t>0,63%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E8E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A57C00"/>
                          </a:solidFill>
                          <a:latin typeface="Arial"/>
                        </a:rPr>
                        <a:t>0,55%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7EA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A8660E"/>
                          </a:solidFill>
                          <a:latin typeface="Arial"/>
                        </a:rPr>
                        <a:t>0,50%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6E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37C15"/>
                          </a:solidFill>
                          <a:latin typeface="Arial"/>
                        </a:rPr>
                        <a:t>0,63%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E8E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A76F08"/>
                          </a:solidFill>
                          <a:latin typeface="Arial"/>
                        </a:rPr>
                        <a:t>0,52%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6E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AB501C"/>
                          </a:solidFill>
                          <a:latin typeface="Arial"/>
                        </a:rPr>
                        <a:t>0,45%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6D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B02A37"/>
                          </a:solidFill>
                          <a:latin typeface="Arial"/>
                        </a:rPr>
                        <a:t>0,36%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6C9CB"/>
                    </a:solidFill>
                  </a:tcPr>
                </a:tc>
              </a:tr>
              <a:tr h="30251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% conv. média - alocado errado</a:t>
                      </a:r>
                    </a:p>
                  </a:txBody>
                  <a:tcPr marL="54864" marR="54864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9A7C04"/>
                          </a:solidFill>
                          <a:latin typeface="Arial"/>
                        </a:rPr>
                        <a:t>0,41%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3E9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2E7D32"/>
                          </a:solidFill>
                          <a:latin typeface="Arial"/>
                        </a:rPr>
                        <a:t>0,50%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D4E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467C27"/>
                          </a:solidFill>
                          <a:latin typeface="Arial"/>
                        </a:rPr>
                        <a:t>0,48%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DB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B02A37"/>
                          </a:solidFill>
                          <a:latin typeface="Arial"/>
                        </a:rPr>
                        <a:t>0,30%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C9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A86B0A"/>
                          </a:solidFill>
                          <a:latin typeface="Arial"/>
                        </a:rPr>
                        <a:t>0,38%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E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AC4A20"/>
                          </a:solidFill>
                          <a:latin typeface="Arial"/>
                        </a:rPr>
                        <a:t>0,34%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D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A86B0A"/>
                          </a:solidFill>
                          <a:latin typeface="Arial"/>
                        </a:rPr>
                        <a:t>0,38%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E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AC4A20"/>
                          </a:solidFill>
                          <a:latin typeface="Arial"/>
                        </a:rPr>
                        <a:t>0,34%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D6C9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84048" y="1876044"/>
            <a:ext cx="201168" cy="1141095"/>
          </a:xfrm>
          <a:prstGeom prst="roundRect">
            <a:avLst>
              <a:gd name="adj" fmla="val 8814"/>
            </a:avLst>
          </a:prstGeom>
          <a:solidFill>
            <a:srgbClr val="1F4E3D"/>
          </a:solidFill>
          <a:ln>
            <a:noFill/>
          </a:ln>
          <a:effectLst/>
        </p:spPr>
        <p:txBody>
          <a:bodyPr rtlCol="0" anchor="ctr" lIns="0" rIns="0" tIns="0" bIns="0" wrap="square" vert="vert270"/>
          <a:lstStyle/>
          <a:p>
            <a:pPr algn="ctr"/>
            <a:r>
              <a:rPr sz="750" b="1" i="0" lang="pt-BR">
                <a:solidFill>
                  <a:srgbClr val="FFFFFF"/>
                </a:solidFill>
                <a:latin typeface="Arial"/>
              </a:rPr>
              <a:t>Lojas Piloto</a:t>
            </a:r>
          </a:p>
        </p:txBody>
      </p:sp>
      <p:sp>
        <p:nvSpPr>
          <p:cNvPr id="17" name="Oval 16"/>
          <p:cNvSpPr/>
          <p:nvPr/>
        </p:nvSpPr>
        <p:spPr>
          <a:xfrm>
            <a:off x="393192" y="3081146"/>
            <a:ext cx="182880" cy="18288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sz="650" b="1" i="0" lang="pt-BR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3428619"/>
          <a:ext cx="3913681" cy="117767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3241"/>
                <a:gridCol w="337555"/>
                <a:gridCol w="337555"/>
                <a:gridCol w="337555"/>
                <a:gridCol w="337555"/>
                <a:gridCol w="337555"/>
                <a:gridCol w="337555"/>
                <a:gridCol w="337555"/>
                <a:gridCol w="337555"/>
              </a:tblGrid>
              <a:tr h="215265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4864" marR="54864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fev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abr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mai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ago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set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178689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% alocado certo</a:t>
                      </a:r>
                    </a:p>
                  </a:txBody>
                  <a:tcPr marL="54864" marR="54864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8689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% alocado errado</a:t>
                      </a:r>
                    </a:p>
                  </a:txBody>
                  <a:tcPr marL="54864" marR="54864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18288" marR="1828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51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% conv. média - alocado certo</a:t>
                      </a:r>
                    </a:p>
                  </a:txBody>
                  <a:tcPr marL="54864" marR="54864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6A7C19"/>
                          </a:solidFill>
                          <a:latin typeface="Arial"/>
                        </a:rPr>
                        <a:t>0,60%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E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2E7D32"/>
                          </a:solidFill>
                          <a:latin typeface="Arial"/>
                        </a:rPr>
                        <a:t>0,69%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D4E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A77206"/>
                          </a:solidFill>
                          <a:latin typeface="Arial"/>
                        </a:rPr>
                        <a:t>0,49%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6E6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987C05"/>
                          </a:solidFill>
                          <a:latin typeface="Arial"/>
                        </a:rPr>
                        <a:t>0,53%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3E9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347C2F"/>
                          </a:solidFill>
                          <a:latin typeface="Arial"/>
                        </a:rPr>
                        <a:t>0,68%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D5E9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987C05"/>
                          </a:solidFill>
                          <a:latin typeface="Arial"/>
                        </a:rPr>
                        <a:t>0,53%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3E9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917C08"/>
                          </a:solidFill>
                          <a:latin typeface="Arial"/>
                        </a:rPr>
                        <a:t>0,54%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1E9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B02A37"/>
                          </a:solidFill>
                          <a:latin typeface="Arial"/>
                        </a:rPr>
                        <a:t>0,33%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ECECEC"/>
                      </a:solidFill>
                    </a:lnB>
                    <a:solidFill>
                      <a:srgbClr val="F6C9CB"/>
                    </a:solidFill>
                  </a:tcPr>
                </a:tc>
              </a:tr>
              <a:tr h="30251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% conv. média - alocado errado</a:t>
                      </a:r>
                    </a:p>
                  </a:txBody>
                  <a:tcPr marL="54864" marR="54864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7E7C10"/>
                          </a:solidFill>
                          <a:latin typeface="Arial"/>
                        </a:rPr>
                        <a:t>0,41%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EBE9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2E7D32"/>
                          </a:solidFill>
                          <a:latin typeface="Arial"/>
                        </a:rPr>
                        <a:t>0,49%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D4E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A96012"/>
                          </a:solidFill>
                          <a:latin typeface="Arial"/>
                        </a:rPr>
                        <a:t>0,33%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A8670D"/>
                          </a:solidFill>
                          <a:latin typeface="Arial"/>
                        </a:rPr>
                        <a:t>0,34%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E1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877C0C"/>
                          </a:solidFill>
                          <a:latin typeface="Arial"/>
                        </a:rPr>
                        <a:t>0,40%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EEE9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567C21"/>
                          </a:solidFill>
                          <a:latin typeface="Arial"/>
                        </a:rPr>
                        <a:t>0,45%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DFE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927C08"/>
                          </a:solidFill>
                          <a:latin typeface="Arial"/>
                        </a:rPr>
                        <a:t>0,39%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1E9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 lang="pt-BR">
                          <a:solidFill>
                            <a:srgbClr val="B02A37"/>
                          </a:solidFill>
                          <a:latin typeface="Arial"/>
                        </a:rPr>
                        <a:t>0,25%</a:t>
                      </a:r>
                    </a:p>
                  </a:txBody>
                  <a:tcPr marL="18288" marR="18288" marT="45720" marB="45720" anchor="ctr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D5D5D5"/>
                      </a:solidFill>
                    </a:lnB>
                    <a:solidFill>
                      <a:srgbClr val="F6C9CB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84048" y="3446907"/>
            <a:ext cx="201168" cy="1141095"/>
          </a:xfrm>
          <a:prstGeom prst="roundRect">
            <a:avLst>
              <a:gd name="adj" fmla="val 8814"/>
            </a:avLst>
          </a:prstGeom>
          <a:solidFill>
            <a:srgbClr val="1F4E3D"/>
          </a:solidFill>
          <a:ln>
            <a:noFill/>
          </a:ln>
          <a:effectLst/>
        </p:spPr>
        <p:txBody>
          <a:bodyPr rtlCol="0" anchor="ctr" lIns="0" rIns="0" tIns="0" bIns="0" wrap="square" vert="vert270"/>
          <a:lstStyle/>
          <a:p>
            <a:pPr algn="ctr"/>
            <a:r>
              <a:rPr sz="750" b="1" i="0" lang="pt-BR">
                <a:solidFill>
                  <a:srgbClr val="FFFFFF"/>
                </a:solidFill>
                <a:latin typeface="Arial"/>
              </a:rPr>
              <a:t>Lojas Restantes</a:t>
            </a:r>
          </a:p>
        </p:txBody>
      </p:sp>
      <p:sp>
        <p:nvSpPr>
          <p:cNvPr id="20" name="Oval 19"/>
          <p:cNvSpPr/>
          <p:nvPr/>
        </p:nvSpPr>
        <p:spPr>
          <a:xfrm>
            <a:off x="393192" y="4652009"/>
            <a:ext cx="182880" cy="182880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sz="650" b="1" i="0" lang="pt-BR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549644"/>
            <a:ext cx="4169713" cy="2169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 lang="pt-BR">
                <a:solidFill>
                  <a:srgbClr val="757575"/>
                </a:solidFill>
                <a:latin typeface="Arial"/>
              </a:rPr>
              <a:t>Nota: considera vendas que aconteceram em até 7 dias pós geração do lead; *Inclui somente leads gerados até dia 7 de Set; Fonte: base de vendas faturadas e base de funil dos leads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718353" y="1455420"/>
          <a:ext cx="7089567" cy="274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089567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 lang="pt-BR">
                          <a:solidFill>
                            <a:srgbClr val="FFFFFF"/>
                          </a:solidFill>
                          <a:latin typeface="Arial"/>
                        </a:rPr>
                        <a:t>Status das frentes em andamento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49" y="1821180"/>
          <a:ext cx="6778668" cy="49453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0972"/>
                <a:gridCol w="1146640"/>
                <a:gridCol w="876843"/>
                <a:gridCol w="472146"/>
                <a:gridCol w="674494"/>
                <a:gridCol w="1079191"/>
                <a:gridCol w="1079191"/>
                <a:gridCol w="1079191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ENTREGÁVEL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519113">
                <a:tc>
                  <a:txBody>
                    <a:bodyPr wrap="none"/>
                    <a:lstStyle/>
                    <a:p>
                      <a:pPr algn="l"/>
                      <a:r>
                        <a:rPr sz="6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2.4.1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Modelo simplificado de alocação (v1.0) desenhado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28/ago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Concluído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E6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421576">
                <a:tc>
                  <a:txBody>
                    <a:bodyPr wrap="none"/>
                    <a:lstStyle/>
                    <a:p>
                      <a:pPr algn="l"/>
                      <a:r>
                        <a:rPr sz="6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2.4.2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Lojas para lançamento do piloto escolhidas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01/set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Concluído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E6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624776">
                <a:tc>
                  <a:txBody>
                    <a:bodyPr wrap="none"/>
                    <a:lstStyle/>
                    <a:p>
                      <a:pPr algn="l"/>
                      <a:r>
                        <a:rPr sz="6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2.4.3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Modelo simplificado de alocação (v1.0) desenvolvido e lançado em ~70 lojas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Yure Cangussu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01/set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Análise preliminar realizada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Ajustar desenvolvimento do piloto (TBC)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624776">
                <a:tc>
                  <a:txBody>
                    <a:bodyPr wrap="none"/>
                    <a:lstStyle/>
                    <a:p>
                      <a:pPr algn="l"/>
                      <a:r>
                        <a:rPr sz="6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2.4.4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Riscos mapeados e plano de contingência definido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11/set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Desenho dos pilotos considerando caps de leads/CV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• </a:t>
                      </a: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Mapear riscos existentes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• </a:t>
                      </a: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Estruturar planos de mitigação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624776">
                <a:tc>
                  <a:txBody>
                    <a:bodyPr wrap="none"/>
                    <a:lstStyle/>
                    <a:p>
                      <a:pPr algn="l"/>
                      <a:r>
                        <a:rPr sz="6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2.4.5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~5 pilotos do modelo robusto desenhados e lançados em 20 lojas em cada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Yure Cangussu e Clarice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18/out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Base estruturada com variáveis disponíveis para avaliar resultado histórico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Concluir o desenho dos ~5 pilotos e iniciar o desenvolvimento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624776">
                <a:tc>
                  <a:txBody>
                    <a:bodyPr wrap="none"/>
                    <a:lstStyle/>
                    <a:p>
                      <a:pPr algn="l"/>
                      <a:r>
                        <a:rPr sz="6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2.4.6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Escala do piloto de melhor conversão entre os testados para todas as lojas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Yure Cangussu e João Azevedo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13/nov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 lang="pt-BR">
                          <a:solidFill>
                            <a:srgbClr val="A30000"/>
                          </a:solidFill>
                          <a:latin typeface="Arial"/>
                        </a:rPr>
                        <a:t>Não iniciado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C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624776">
                <a:tc>
                  <a:txBody>
                    <a:bodyPr wrap="none"/>
                    <a:lstStyle/>
                    <a:p>
                      <a:pPr algn="l"/>
                      <a:r>
                        <a:rPr sz="6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2.4.7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Modelo de clusterização revisado com base nas distâncias entre lojas e novo modelo de alocação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25/set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Avaliar reclusterização com base no resultado do piloto das 70 lojas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624776">
                <a:tc>
                  <a:txBody>
                    <a:bodyPr wrap="none"/>
                    <a:lstStyle/>
                    <a:p>
                      <a:pPr algn="l"/>
                      <a:r>
                        <a:rPr sz="6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2.4.8</a:t>
                      </a:r>
                    </a:p>
                  </a:txBody>
                  <a:tcPr marL="64008" marR="64008" marT="45720" marB="45720" anchor="t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1A1A1A"/>
                          </a:solidFill>
                          <a:latin typeface="Arial"/>
                        </a:rPr>
                        <a:t>Piloto de alocação total dos leads muito frios na Liza para aquecimento do lead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João Azevedo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11/set</a:t>
                      </a:r>
                    </a:p>
                  </a:txBody>
                  <a:tcPr marL="64008" marR="64008" marT="45720" marB="4572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 lang="pt-BR">
                          <a:solidFill>
                            <a:srgbClr val="6B5700"/>
                          </a:solidFill>
                          <a:latin typeface="Arial"/>
                        </a:rPr>
                        <a:t>Em progresso</a:t>
                      </a:r>
                    </a:p>
                  </a:txBody>
                  <a:tcPr marL="36576" marR="36576" marT="45720" marB="45720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Expansão do envio de leads muito frios para a Liza em outras 100 lojas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• </a:t>
                      </a: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Avaliar resultado do piloto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• </a:t>
                      </a:r>
                      <a:r>
                        <a:rPr sz="6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Escalar para todos os leads muito frios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650">
                          <a:latin typeface="Arial"/>
                        </a:defRPr>
                      </a:pPr>
                      <a:r>
                        <a:rPr sz="6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5141583" y="3441509"/>
            <a:ext cx="146304" cy="146304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sz="650" b="1" i="0" lang="pt-BR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5141583" y="5940615"/>
            <a:ext cx="146304" cy="146304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sz="650" b="1" i="0" lang="pt-BR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5141583" y="6565392"/>
            <a:ext cx="146304" cy="146304"/>
          </a:xfrm>
          <a:prstGeom prst="ellipse">
            <a:avLst/>
          </a:prstGeom>
          <a:solidFill>
            <a:srgbClr val="78DE1F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sz="650" b="1" i="0" lang="pt-BR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18353" y="2104644"/>
            <a:ext cx="237744" cy="2135378"/>
          </a:xfrm>
          <a:prstGeom prst="roundRect">
            <a:avLst>
              <a:gd name="adj" fmla="val 5566"/>
            </a:avLst>
          </a:prstGeom>
          <a:solidFill>
            <a:srgbClr val="9FD4B8"/>
          </a:solidFill>
          <a:ln>
            <a:noFill/>
          </a:ln>
          <a:effectLst/>
        </p:spPr>
        <p:txBody>
          <a:bodyPr rtlCol="0" anchor="ctr" lIns="0" rIns="0" tIns="0" bIns="0" wrap="square" vert="vert270"/>
          <a:lstStyle/>
          <a:p>
            <a:pPr algn="ctr"/>
            <a:r>
              <a:rPr sz="650" b="1" i="0" lang="pt-BR">
                <a:solidFill>
                  <a:srgbClr val="1F4E3D"/>
                </a:solidFill>
                <a:latin typeface="Arial"/>
              </a:rPr>
              <a:t>V 1.0 do modelo de alocação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18353" y="4294886"/>
            <a:ext cx="237744" cy="2444242"/>
          </a:xfrm>
          <a:prstGeom prst="roundRect">
            <a:avLst>
              <a:gd name="adj" fmla="val 4863"/>
            </a:avLst>
          </a:prstGeom>
          <a:solidFill>
            <a:srgbClr val="9FD4B8"/>
          </a:solidFill>
          <a:ln>
            <a:noFill/>
          </a:ln>
          <a:effectLst/>
        </p:spPr>
        <p:txBody>
          <a:bodyPr rtlCol="0" anchor="ctr" lIns="0" rIns="0" tIns="0" bIns="0" wrap="square" vert="vert270"/>
          <a:lstStyle/>
          <a:p>
            <a:pPr algn="ctr"/>
            <a:r>
              <a:rPr sz="650" b="1" i="0" lang="pt-BR">
                <a:solidFill>
                  <a:srgbClr val="1F4E3D"/>
                </a:solidFill>
                <a:latin typeface="Arial"/>
              </a:rPr>
              <a:t>V 2.0 do modelo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Tratamento, priorização e alocação de leads (1/2 e 2/2)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