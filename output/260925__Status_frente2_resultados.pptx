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37744"/>
          <a:ext cx="11423873" cy="73990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7606253"/>
                <a:gridCol w="1417320"/>
                <a:gridCol w="2331720"/>
              </a:tblGrid>
              <a:tr h="739902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 (1/2)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experiência dos clientes em prospecção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o entendimento de suas necessidades,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priorização dos leads com maior potencial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alocação às estruturas de vendas com maior chance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48640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Martins, Yure Cangussu, Thais Pimenta, Luma Gomes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598932" y="309626"/>
            <a:ext cx="256032" cy="256032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" y="350773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lang="pt-BR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78230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5905" y="1078230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5905" y="1263396"/>
            <a:ext cx="2522002" cy="23774"/>
          </a:xfrm>
          <a:prstGeom prst="rect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62586" y="1078230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524" y="1078230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2560" y="1078230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34171" y="1078230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" y="1327404"/>
            <a:ext cx="11423873" cy="0"/>
          </a:xfrm>
          <a:prstGeom prst="line">
            <a:avLst/>
          </a:prstGeom>
          <a:ln w="9525">
            <a:solidFill>
              <a:srgbClr val="E2E2E2"/>
            </a:solidFill>
          </a:ln>
          <a:effectLst/>
        </p:spPr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1455420"/>
          <a:ext cx="4169713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3342"/>
                <a:gridCol w="187637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Resultados-chave</a:t>
                      </a:r>
                    </a:p>
                  </a:txBody>
                  <a:tcPr marL="365760" marR="365760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 lang="pt-BR">
                          <a:solidFill>
                            <a:srgbClr val="9FD4B8"/>
                          </a:solidFill>
                          <a:latin typeface="Arial"/>
                        </a:rPr>
                        <a:t>Histórico mensal | 2026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93776" y="1610868"/>
            <a:ext cx="47548" cy="7315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1441" y="1559661"/>
            <a:ext cx="47548" cy="124358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9107" y="1501140"/>
            <a:ext cx="47548" cy="182880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" y="1821180"/>
            <a:ext cx="4169713" cy="409702"/>
          </a:xfrm>
          <a:prstGeom prst="roundRect">
            <a:avLst>
              <a:gd name="adj" fmla="val 12000"/>
            </a:avLst>
          </a:prstGeom>
          <a:solidFill>
            <a:srgbClr val="E9EC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30352" y="1916303"/>
            <a:ext cx="219456" cy="120700"/>
          </a:xfrm>
          <a:custGeom>
            <a:avLst/>
            <a:gdLst/>
            <a:ahLst/>
            <a:cxnLst/>
            <a:rect l="l" t="t" r="r" b="b"/>
            <a:pathLst>
              <a:path w="219456" h="120700">
                <a:moveTo>
                  <a:pt x="0" y="0"/>
                </a:moveTo>
                <a:lnTo>
                  <a:pt x="219456" y="0"/>
                </a:lnTo>
                <a:lnTo>
                  <a:pt x="142646" y="120700"/>
                </a:lnTo>
                <a:lnTo>
                  <a:pt x="76809" y="120700"/>
                </a:lnTo>
                <a:close/>
              </a:path>
            </a:pathLst>
          </a:custGeom>
          <a:solidFill>
            <a:srgbClr val="1F4E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95" y="2037003"/>
            <a:ext cx="28968" cy="61447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1894332"/>
            <a:ext cx="3566209" cy="1471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Qualidade dos leads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041525"/>
            <a:ext cx="3566209" cy="116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% de leads sem CEP (menor é melhor)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84048" y="2322322"/>
          <a:ext cx="4169706" cy="170802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DDE1EC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Site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56032" marR="256032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787C12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9E9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787C12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9E9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737C15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8E9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E7C1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E6E9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E7C2B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8E9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2E7D32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4E9D1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56032" marR="256032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487C26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BE9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C4A21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6D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95D14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6DD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87C05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3E9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2E7D32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4E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3E7C2B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D8E9CF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Chatbot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56032" marR="256032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A5519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6D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B521C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6D9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A5917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6DC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96012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6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887C0C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EEE9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2E7D32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D4E9D1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38912" y="2745353"/>
            <a:ext cx="155448" cy="96377"/>
          </a:xfrm>
          <a:prstGeom prst="rect">
            <a:avLst/>
          </a:prstGeom>
          <a:noFill/>
          <a:ln w="10795" cap="rnd">
            <a:solidFill>
              <a:srgbClr val="1A1A1A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120" y="2767116"/>
            <a:ext cx="68397" cy="101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9120" y="2787324"/>
            <a:ext cx="115031" cy="101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9120" y="2807533"/>
            <a:ext cx="51297" cy="1010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5754" y="2841731"/>
            <a:ext cx="21762" cy="27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6219" y="2869712"/>
            <a:ext cx="80832" cy="1399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" y="3224530"/>
            <a:ext cx="155448" cy="155448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6219" y="3254376"/>
            <a:ext cx="80832" cy="66283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515" y="3276605"/>
            <a:ext cx="20208" cy="20208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7548" y="3276605"/>
            <a:ext cx="20208" cy="20208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1195" y="3233856"/>
            <a:ext cx="10881" cy="2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07309" y="3226861"/>
            <a:ext cx="18653" cy="1865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8912" y="3709924"/>
            <a:ext cx="155448" cy="155448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0001" y="3741262"/>
            <a:ext cx="93268" cy="68397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79328" y="3808104"/>
            <a:ext cx="24250" cy="23318"/>
          </a:xfrm>
          <a:custGeom>
            <a:avLst/>
            <a:gdLst/>
            <a:ahLst/>
            <a:cxnLst/>
            <a:rect l="l" t="t" r="r" b="b"/>
            <a:pathLst>
              <a:path w="24250" h="23318">
                <a:moveTo>
                  <a:pt x="9327" y="0"/>
                </a:moveTo>
                <a:lnTo>
                  <a:pt x="0" y="23318"/>
                </a:lnTo>
                <a:lnTo>
                  <a:pt x="2425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142" y="3768621"/>
            <a:ext cx="13679" cy="13679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09796" y="3768621"/>
            <a:ext cx="13679" cy="13679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28450" y="3768621"/>
            <a:ext cx="13679" cy="13679"/>
          </a:xfrm>
          <a:prstGeom prst="ellipse">
            <a:avLst/>
          </a:prstGeom>
          <a:solidFill>
            <a:srgbClr val="2F5BA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84048" y="4176649"/>
            <a:ext cx="4169713" cy="409702"/>
          </a:xfrm>
          <a:prstGeom prst="roundRect">
            <a:avLst>
              <a:gd name="adj" fmla="val 12000"/>
            </a:avLst>
          </a:prstGeom>
          <a:solidFill>
            <a:srgbClr val="E9ECF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0352" y="4403445"/>
            <a:ext cx="57058" cy="8778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1550" y="4341997"/>
            <a:ext cx="57058" cy="14923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2749" y="4271772"/>
            <a:ext cx="57058" cy="219456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7824" y="4249801"/>
            <a:ext cx="3566209" cy="1471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Volume e conversão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" y="4396994"/>
            <a:ext cx="3566209" cy="116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Leads classificados e taxa de conversão (Classif. → vendas)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84048" y="4677791"/>
          <a:ext cx="4169706" cy="122262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251841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DDE1EC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Classif.</a:t>
                      </a:r>
                    </a:p>
                  </a:txBody>
                  <a:tcPr marL="256032" marR="256032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0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6C9CB"/>
                    </a:solidFill>
                  </a:tcPr>
                </a:tc>
              </a:tr>
              <a:tr h="485394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Conversão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Classif. → vendas</a:t>
                      </a:r>
                    </a:p>
                  </a:txBody>
                  <a:tcPr marL="256032" marR="256032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0,35%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0,40%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0,38%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0,33%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B02A37"/>
                          </a:solidFill>
                          <a:latin typeface="Arial"/>
                        </a:rPr>
                        <a:t>0,18%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6C9CB"/>
                    </a:solidFill>
                  </a:tcPr>
                </a:tc>
              </a:tr>
            </a:tbl>
          </a:graphicData>
        </a:graphic>
      </p:graphicFrame>
      <p:sp>
        <p:nvSpPr>
          <p:cNvPr id="49" name="Oval 48"/>
          <p:cNvSpPr/>
          <p:nvPr/>
        </p:nvSpPr>
        <p:spPr>
          <a:xfrm>
            <a:off x="442829" y="5152089"/>
            <a:ext cx="36561" cy="36561"/>
          </a:xfrm>
          <a:prstGeom prst="ellipse">
            <a:avLst/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38912" y="5186319"/>
            <a:ext cx="44395" cy="5223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45424" y="5152089"/>
            <a:ext cx="36561" cy="36561"/>
          </a:xfrm>
          <a:prstGeom prst="ellipse">
            <a:avLst/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541507" y="5186319"/>
            <a:ext cx="44395" cy="5223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483214" y="5168442"/>
            <a:ext cx="66842" cy="7616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87878" y="5127249"/>
            <a:ext cx="57515" cy="575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4873" y="5134244"/>
            <a:ext cx="43525" cy="43525"/>
          </a:xfrm>
          <a:prstGeom prst="ellipse">
            <a:avLst/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90209" y="5175437"/>
            <a:ext cx="52852" cy="6217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06C3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Donut 56"/>
          <p:cNvSpPr/>
          <p:nvPr/>
        </p:nvSpPr>
        <p:spPr>
          <a:xfrm>
            <a:off x="438912" y="5579999"/>
            <a:ext cx="155448" cy="155448"/>
          </a:xfrm>
          <a:prstGeom prst="donut">
            <a:avLst>
              <a:gd name="adj" fmla="val 13000"/>
            </a:avLst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Donut 57"/>
          <p:cNvSpPr/>
          <p:nvPr/>
        </p:nvSpPr>
        <p:spPr>
          <a:xfrm>
            <a:off x="477773" y="5618861"/>
            <a:ext cx="77724" cy="77724"/>
          </a:xfrm>
          <a:prstGeom prst="donut">
            <a:avLst>
              <a:gd name="adj" fmla="val 22000"/>
            </a:avLst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01091" y="5642178"/>
            <a:ext cx="31089" cy="31089"/>
          </a:xfrm>
          <a:prstGeom prst="ellipse">
            <a:avLst/>
          </a:prstGeom>
          <a:solidFill>
            <a:srgbClr val="2F8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4048" y="6549644"/>
            <a:ext cx="4169713" cy="21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pt-BR">
                <a:solidFill>
                  <a:srgbClr val="757575"/>
                </a:solidFill>
                <a:latin typeface="Arial"/>
              </a:rPr>
              <a:t>Nota: considera vendas que aconteceram em até 7 dias pós geração do lead; *Inclui somente leads gerados até dia 7 de Set; Fonte: base de vendas faturadas e base de funil dos leads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718353" y="1455420"/>
          <a:ext cx="7089567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0895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Status das frentes em andamento</a:t>
                      </a:r>
                    </a:p>
                  </a:txBody>
                  <a:tcPr marL="365760" marR="365760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62" name="Oval 61"/>
          <p:cNvSpPr/>
          <p:nvPr/>
        </p:nvSpPr>
        <p:spPr>
          <a:xfrm>
            <a:off x="4828081" y="1523085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877459" y="1528023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828081" y="1581607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877459" y="1586544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828081" y="1640128"/>
            <a:ext cx="32918" cy="32918"/>
          </a:xfrm>
          <a:prstGeom prst="ellipse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877459" y="1645066"/>
            <a:ext cx="113385" cy="23042"/>
          </a:xfrm>
          <a:prstGeom prst="rect">
            <a:avLst/>
          </a:prstGeom>
          <a:solidFill>
            <a:srgbClr val="9FD4B8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68" name="Table 67"/>
          <p:cNvGraphicFramePr>
            <a:graphicFrameLocks noGrp="1"/>
          </p:cNvGraphicFramePr>
          <p:nvPr/>
        </p:nvGraphicFramePr>
        <p:xfrm>
          <a:off x="4718353" y="1821180"/>
          <a:ext cx="7089564" cy="49453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7986"/>
                <a:gridCol w="1199230"/>
                <a:gridCol w="917058"/>
                <a:gridCol w="493800"/>
                <a:gridCol w="705429"/>
                <a:gridCol w="1128687"/>
                <a:gridCol w="1128687"/>
                <a:gridCol w="1128687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ENTREGÁVEL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 site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 Pimenta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Telefone válido nas principais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Pesquisa da nova tela de loja de preferência lançada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Criar formulário padrão para todas as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Publicar a 2ª página com a loja de preferência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nos canais Meta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(Facebook e WhatsApp)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 + Isadora Barreto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Desenho do fluxo e início do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Finalizar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6123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via canais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Classificados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: CEP capturado para todos os leads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Conversas para definição de prazos para obtenção de dados obrigatórios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necessidade de acelerar a obtenção dos dados de CEP com os parceiros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51739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Revisar modelo de clusters de anúncios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remoção de clusters de anúncios lançado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resultados dos leads classificados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Outras informações já disponíveis do cliente (ex.: localização por IP, cidade, etc)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para todos os canais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Mapear dados disponíveis para uso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Integrar novos dados às bases de clientes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Alinhar prioridade e definir responsável e prazo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83158">
                <a:tc>
                  <a:txBody>
                    <a:bodyPr wrap="non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Lead score evoluído com novas variáveis (score B3 de propensão a financiamento, renda presumida, etc.)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23/out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priorizado no curto prazo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9" name="Oval 68"/>
          <p:cNvSpPr/>
          <p:nvPr/>
        </p:nvSpPr>
        <p:spPr>
          <a:xfrm>
            <a:off x="4839194" y="2759202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70" name="Oval 69"/>
          <p:cNvSpPr/>
          <p:nvPr/>
        </p:nvSpPr>
        <p:spPr>
          <a:xfrm>
            <a:off x="474775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71" name="Oval 70"/>
          <p:cNvSpPr/>
          <p:nvPr/>
        </p:nvSpPr>
        <p:spPr>
          <a:xfrm>
            <a:off x="4930634" y="352044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C</a:t>
            </a:r>
          </a:p>
        </p:txBody>
      </p:sp>
      <p:sp>
        <p:nvSpPr>
          <p:cNvPr id="72" name="Oval 71"/>
          <p:cNvSpPr/>
          <p:nvPr/>
        </p:nvSpPr>
        <p:spPr>
          <a:xfrm>
            <a:off x="4839194" y="4281678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  <p:sp>
        <p:nvSpPr>
          <p:cNvPr id="73" name="Oval 72"/>
          <p:cNvSpPr/>
          <p:nvPr/>
        </p:nvSpPr>
        <p:spPr>
          <a:xfrm>
            <a:off x="4839194" y="4799076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Tratamento, priorização e alocação de leads (1/2)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