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37744"/>
          <a:ext cx="11423873" cy="73990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7606253"/>
                <a:gridCol w="1417320"/>
                <a:gridCol w="2331720"/>
              </a:tblGrid>
              <a:tr h="739902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 (1/2)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experiência dos clientes em prospecção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o entendimento de suas necessidades,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priorização dos leads com maior potencial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alocação às estruturas de vendas com maior chance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48640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Martins, Yure Cangussu, Thais Pimenta, Luma Gomes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598932" y="309626"/>
            <a:ext cx="256032" cy="256032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" y="350773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lang="pt-BR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78230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5905" y="1078230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5905" y="1263396"/>
            <a:ext cx="2522002" cy="23774"/>
          </a:xfrm>
          <a:prstGeom prst="rect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62586" y="1078230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524" y="1078230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2560" y="1078230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34171" y="1078230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" y="1327404"/>
            <a:ext cx="11423873" cy="0"/>
          </a:xfrm>
          <a:prstGeom prst="line">
            <a:avLst/>
          </a:prstGeom>
          <a:ln w="9525">
            <a:solidFill>
              <a:srgbClr val="E2E2E2"/>
            </a:solidFill>
          </a:ln>
          <a:effectLst/>
        </p:spPr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1455420"/>
          <a:ext cx="4169713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3342"/>
                <a:gridCol w="187637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Resultados-chave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 lang="pt-BR">
                          <a:solidFill>
                            <a:srgbClr val="CFE8DD"/>
                          </a:solidFill>
                          <a:latin typeface="Arial"/>
                        </a:rPr>
                        <a:t>Histórico mensal | 2026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84048" y="1821180"/>
            <a:ext cx="416971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Qualidade dos leads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1977517"/>
            <a:ext cx="416971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% de leads sem CEP (menor é melhor)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84048" y="2148586"/>
          <a:ext cx="4169706" cy="170802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CFE8DD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Site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Chatbot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38912" y="2588442"/>
            <a:ext cx="118872" cy="73700"/>
          </a:xfrm>
          <a:prstGeom prst="rect">
            <a:avLst/>
          </a:prstGeom>
          <a:noFill/>
          <a:ln w="8255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4365" y="2605084"/>
            <a:ext cx="52303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4365" y="2620538"/>
            <a:ext cx="87965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4365" y="2635991"/>
            <a:ext cx="39227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0026" y="2662143"/>
            <a:ext cx="16642" cy="2139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441" y="2683540"/>
            <a:ext cx="61813" cy="10698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Gear 9 23"/>
          <p:cNvSpPr/>
          <p:nvPr/>
        </p:nvSpPr>
        <p:spPr>
          <a:xfrm>
            <a:off x="438912" y="3069082"/>
            <a:ext cx="118872" cy="118872"/>
          </a:xfrm>
          <a:prstGeom prst="gear9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7545" y="3107715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0006097">
            <a:off x="451831" y="3589246"/>
            <a:ext cx="93032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593903">
            <a:off x="451831" y="3630851"/>
            <a:ext cx="93032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8912" y="3596081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22122" y="3554476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2122" y="3637686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4002913"/>
            <a:ext cx="416971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Volume e conversão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4159249"/>
            <a:ext cx="416971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Leads classificados e taxa de conversão (Classif. → vendas)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84048" y="4330319"/>
          <a:ext cx="4169706" cy="122262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CFE8DD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Classif.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Conversão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Classif. → vendas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0,35%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0,40%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0,38%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0,33%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0,18%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</a:tr>
            </a:tbl>
          </a:graphicData>
        </a:graphic>
      </p:graphicFrame>
      <p:sp>
        <p:nvSpPr>
          <p:cNvPr id="34" name="Oval 33"/>
          <p:cNvSpPr/>
          <p:nvPr/>
        </p:nvSpPr>
        <p:spPr>
          <a:xfrm>
            <a:off x="441907" y="4809379"/>
            <a:ext cx="27958" cy="27958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438912" y="4835555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0363" y="4809379"/>
            <a:ext cx="27958" cy="27958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517367" y="4835555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473979" y="4823073"/>
            <a:ext cx="48737" cy="5586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7545" y="4791572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81705" y="4795733"/>
            <a:ext cx="33284" cy="33284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478139" y="4827234"/>
            <a:ext cx="40416" cy="47548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Donut 41"/>
          <p:cNvSpPr/>
          <p:nvPr/>
        </p:nvSpPr>
        <p:spPr>
          <a:xfrm>
            <a:off x="438912" y="5250815"/>
            <a:ext cx="118872" cy="118872"/>
          </a:xfrm>
          <a:prstGeom prst="donut">
            <a:avLst>
              <a:gd name="adj" fmla="val 13000"/>
            </a:avLst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Donut 42"/>
          <p:cNvSpPr/>
          <p:nvPr/>
        </p:nvSpPr>
        <p:spPr>
          <a:xfrm>
            <a:off x="468629" y="5280533"/>
            <a:ext cx="59436" cy="59436"/>
          </a:xfrm>
          <a:prstGeom prst="donut">
            <a:avLst>
              <a:gd name="adj" fmla="val 22000"/>
            </a:avLst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6460" y="5298363"/>
            <a:ext cx="23774" cy="23774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6549644"/>
            <a:ext cx="4169713" cy="21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pt-BR">
                <a:solidFill>
                  <a:srgbClr val="757575"/>
                </a:solidFill>
                <a:latin typeface="Arial"/>
              </a:rPr>
              <a:t>Nota: considera vendas que aconteceram em até 7 dias pós geração do lead; *Inclui somente leads gerados até dia 7 de Set; Fonte: base de vendas faturadas e base de funil dos leads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4718353" y="1455420"/>
          <a:ext cx="7089567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0895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Status das frentes em andamento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4718353" y="1821180"/>
          <a:ext cx="7089564" cy="49453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7986"/>
                <a:gridCol w="1199230"/>
                <a:gridCol w="917058"/>
                <a:gridCol w="493800"/>
                <a:gridCol w="705429"/>
                <a:gridCol w="1128687"/>
                <a:gridCol w="1128687"/>
                <a:gridCol w="1128687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ENTREGÁVEL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 site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 Pimenta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Telefone válido nas principais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Pesquisa da nova tela de loja de preferência lançada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Criar formulário padrão para todas as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Publicar a 2ª página com a loja de preferência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nos canais Meta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(Facebook e WhatsApp)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 + Isadora Barreto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Desenho do fluxo e início do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Finalizar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via canais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Classificados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: CEP capturado para todos os leads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Conversas para definição de prazos para obtenção de dados obrigatórios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necessidade de acelerar a obtenção dos dados de CEP com os parceiros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51739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Revisar modelo de clusters de anúncios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remoção de clusters de anúncios lançado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resultados dos leads classificados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Outras informações já disponíveis do cliente (ex.: localização por IP, cidade, etc)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para todos os canais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Mapear dados disponíveis para uso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Integrar novos dados às bases de clientes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Alinhar prioridade e definir responsável e prazo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Lead score evoluído com novas variáveis (score B3 de propensão a financiamento, renda presumida, etc.)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23/out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priorizado no curto prazo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8" name="Oval 47"/>
          <p:cNvSpPr/>
          <p:nvPr/>
        </p:nvSpPr>
        <p:spPr>
          <a:xfrm>
            <a:off x="4839194" y="2759202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474775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50" name="Oval 49"/>
          <p:cNvSpPr/>
          <p:nvPr/>
        </p:nvSpPr>
        <p:spPr>
          <a:xfrm>
            <a:off x="493063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C</a:t>
            </a:r>
          </a:p>
        </p:txBody>
      </p:sp>
      <p:sp>
        <p:nvSpPr>
          <p:cNvPr id="51" name="Oval 50"/>
          <p:cNvSpPr/>
          <p:nvPr/>
        </p:nvSpPr>
        <p:spPr>
          <a:xfrm>
            <a:off x="4839194" y="4281678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  <p:sp>
        <p:nvSpPr>
          <p:cNvPr id="52" name="Oval 51"/>
          <p:cNvSpPr/>
          <p:nvPr/>
        </p:nvSpPr>
        <p:spPr>
          <a:xfrm>
            <a:off x="4839194" y="4799076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Tratamento, priorização e alocação de leads (1/2)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