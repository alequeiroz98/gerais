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84048" y="237744"/>
          <a:ext cx="11423873" cy="73990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8580"/>
                <a:gridCol w="7606253"/>
                <a:gridCol w="1417320"/>
                <a:gridCol w="2331720"/>
              </a:tblGrid>
              <a:tr h="739902">
                <a:tc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78DE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 lang="pt-BR">
                          <a:solidFill>
                            <a:srgbClr val="1A1A1A"/>
                          </a:solidFill>
                          <a:latin typeface="Arial"/>
                        </a:rPr>
                        <a:t>Tratamento, priorização e alocação de leads (1/2)</a:t>
                      </a:r>
                    </a:p>
                    <a:p>
                      <a:pPr>
                        <a:spcBef>
                          <a:spcPts val="300"/>
                        </a:spcBef>
                      </a:pPr>
                      <a:r>
                        <a:rPr sz="9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Melhorar </a:t>
                      </a:r>
                      <a:r>
                        <a:rPr sz="950" b="1" i="0" lang="pt-BR">
                          <a:solidFill>
                            <a:srgbClr val="6B6B6B"/>
                          </a:solidFill>
                          <a:latin typeface="Arial"/>
                        </a:rPr>
                        <a:t>a experiência dos clientes em prospecção</a:t>
                      </a:r>
                      <a:r>
                        <a:rPr sz="9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, o entendimento de suas necessidades, </a:t>
                      </a:r>
                      <a:r>
                        <a:rPr sz="950" b="1" i="0" lang="pt-BR">
                          <a:solidFill>
                            <a:srgbClr val="6B6B6B"/>
                          </a:solidFill>
                          <a:latin typeface="Arial"/>
                        </a:rPr>
                        <a:t>a priorização dos leads com maior potencial de conversão</a:t>
                      </a:r>
                      <a:r>
                        <a:rPr sz="9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 e </a:t>
                      </a:r>
                      <a:r>
                        <a:rPr sz="950" b="1" i="0" lang="pt-BR">
                          <a:solidFill>
                            <a:srgbClr val="6B6B6B"/>
                          </a:solidFill>
                          <a:latin typeface="Arial"/>
                        </a:rPr>
                        <a:t>a alocação às estruturas de vendas com maior chance de conversão</a:t>
                      </a:r>
                      <a:r>
                        <a:rPr sz="9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.</a:t>
                      </a:r>
                    </a:p>
                  </a:txBody>
                  <a:tcPr marL="548640" marR="64008" marT="91440" marB="91440" anchor="t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LÍDER(ES)</a:t>
                      </a:r>
                    </a:p>
                    <a:p>
                      <a:pPr>
                        <a:spcBef>
                          <a:spcPts val="200"/>
                        </a:spcBef>
                      </a:pPr>
                      <a:r>
                        <a:rPr sz="9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Priscila Martins</a:t>
                      </a:r>
                    </a:p>
                  </a:txBody>
                  <a:tcPr marL="64008" marR="64008" marT="91440" marB="91440" anchor="t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TIME DE TRABALHO</a:t>
                      </a:r>
                    </a:p>
                    <a:p>
                      <a:pPr>
                        <a:spcBef>
                          <a:spcPts val="200"/>
                        </a:spcBef>
                      </a:pPr>
                      <a:r>
                        <a:rPr sz="9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Priscila Martins, Yure Cangussu, Thais Pimenta, Luma Gomes</a:t>
                      </a:r>
                    </a:p>
                  </a:txBody>
                  <a:tcPr marL="64008" marR="64008" marT="91440" marB="91440" anchor="t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4" name="Oval 3"/>
          <p:cNvSpPr/>
          <p:nvPr/>
        </p:nvSpPr>
        <p:spPr>
          <a:xfrm>
            <a:off x="598932" y="309626"/>
            <a:ext cx="256032" cy="256032"/>
          </a:xfrm>
          <a:prstGeom prst="ellipse">
            <a:avLst/>
          </a:prstGeom>
          <a:solidFill>
            <a:srgbClr val="78DE1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8932" y="350773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 lang="pt-BR">
                <a:solidFill>
                  <a:srgbClr val="1A1A1A"/>
                </a:solidFill>
                <a:latin typeface="Arial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078230"/>
            <a:ext cx="2183755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0" i="0" lang="pt-BR">
                <a:solidFill>
                  <a:srgbClr val="4A4A4A"/>
                </a:solidFill>
                <a:latin typeface="Arial"/>
              </a:rPr>
              <a:t>1. Planejamento integrado mkt | vendas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85905" y="1078230"/>
            <a:ext cx="2558578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1" i="0" lang="pt-BR">
                <a:solidFill>
                  <a:srgbClr val="3F7C0E"/>
                </a:solidFill>
                <a:latin typeface="Arial"/>
              </a:rPr>
              <a:t>2. Tratamento, priorização e alocação de leads</a:t>
            </a:r>
          </a:p>
        </p:txBody>
      </p:sp>
      <p:sp>
        <p:nvSpPr>
          <p:cNvPr id="8" name="Rectangle 7"/>
          <p:cNvSpPr/>
          <p:nvPr/>
        </p:nvSpPr>
        <p:spPr>
          <a:xfrm>
            <a:off x="2785905" y="1263396"/>
            <a:ext cx="2522002" cy="23774"/>
          </a:xfrm>
          <a:prstGeom prst="rect">
            <a:avLst/>
          </a:prstGeom>
          <a:solidFill>
            <a:srgbClr val="78DE1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62586" y="1078230"/>
            <a:ext cx="1689836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0" i="0" lang="pt-BR">
                <a:solidFill>
                  <a:srgbClr val="4A4A4A"/>
                </a:solidFill>
                <a:latin typeface="Arial"/>
              </a:rPr>
              <a:t>3. Atendimento agêntico (Liza)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524" y="1078230"/>
            <a:ext cx="1543934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0" i="0" lang="pt-BR">
                <a:solidFill>
                  <a:srgbClr val="4A4A4A"/>
                </a:solidFill>
                <a:latin typeface="Arial"/>
              </a:rPr>
              <a:t>4. Atendimento pela Central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2560" y="1078230"/>
            <a:ext cx="1283508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0" i="0" lang="pt-BR">
                <a:solidFill>
                  <a:srgbClr val="4A4A4A"/>
                </a:solidFill>
                <a:latin typeface="Arial"/>
              </a:rPr>
              <a:t>5. Atendimento em loja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34171" y="1078230"/>
            <a:ext cx="1110326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0" i="0" lang="pt-BR">
                <a:solidFill>
                  <a:srgbClr val="4A4A4A"/>
                </a:solidFill>
                <a:latin typeface="Arial"/>
              </a:rPr>
              <a:t>6. Geração de leads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84048" y="1327404"/>
            <a:ext cx="11423873" cy="0"/>
          </a:xfrm>
          <a:prstGeom prst="line">
            <a:avLst/>
          </a:prstGeom>
          <a:ln w="9525">
            <a:solidFill>
              <a:srgbClr val="E2E2E2"/>
            </a:solidFill>
          </a:ln>
          <a:effectLst/>
        </p:spPr>
      </p:cxn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84048" y="1455420"/>
          <a:ext cx="4169713" cy="2743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93342"/>
                <a:gridCol w="187637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 lang="pt-BR">
                          <a:solidFill>
                            <a:srgbClr val="FFFFFF"/>
                          </a:solidFill>
                          <a:latin typeface="Arial"/>
                        </a:rPr>
                        <a:t>Resultados-chave</a:t>
                      </a:r>
                    </a:p>
                  </a:txBody>
                  <a:tcPr marL="365760" marR="365760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 lang="pt-BR">
                          <a:solidFill>
                            <a:srgbClr val="9FD4B8"/>
                          </a:solidFill>
                          <a:latin typeface="Arial"/>
                        </a:rPr>
                        <a:t>Histórico mensal | 2026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F4E3D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493776" y="1610868"/>
            <a:ext cx="47548" cy="73152"/>
          </a:xfrm>
          <a:prstGeom prst="rect">
            <a:avLst/>
          </a:prstGeom>
          <a:solidFill>
            <a:srgbClr val="9FD4B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1441" y="1559661"/>
            <a:ext cx="47548" cy="124358"/>
          </a:xfrm>
          <a:prstGeom prst="rect">
            <a:avLst/>
          </a:prstGeom>
          <a:solidFill>
            <a:srgbClr val="9FD4B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9107" y="1501140"/>
            <a:ext cx="47548" cy="182880"/>
          </a:xfrm>
          <a:prstGeom prst="rect">
            <a:avLst/>
          </a:prstGeom>
          <a:solidFill>
            <a:srgbClr val="9FD4B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84048" y="1821180"/>
            <a:ext cx="4169713" cy="409702"/>
          </a:xfrm>
          <a:prstGeom prst="roundRect">
            <a:avLst>
              <a:gd name="adj" fmla="val 12000"/>
            </a:avLst>
          </a:prstGeom>
          <a:solidFill>
            <a:srgbClr val="E9ECF4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30352" y="1916303"/>
            <a:ext cx="219456" cy="120700"/>
          </a:xfrm>
          <a:custGeom>
            <a:avLst/>
            <a:gdLst/>
            <a:ahLst/>
            <a:cxnLst/>
            <a:rect l="l" t="t" r="r" b="b"/>
            <a:pathLst>
              <a:path w="219456" h="120700">
                <a:moveTo>
                  <a:pt x="0" y="0"/>
                </a:moveTo>
                <a:lnTo>
                  <a:pt x="219456" y="0"/>
                </a:lnTo>
                <a:lnTo>
                  <a:pt x="142646" y="120700"/>
                </a:lnTo>
                <a:lnTo>
                  <a:pt x="76809" y="120700"/>
                </a:lnTo>
                <a:close/>
              </a:path>
            </a:pathLst>
          </a:custGeom>
          <a:solidFill>
            <a:srgbClr val="1F4E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5595" y="2037003"/>
            <a:ext cx="28968" cy="61447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1894332"/>
            <a:ext cx="3566209" cy="1471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lang="pt-BR">
                <a:solidFill>
                  <a:srgbClr val="1A1A1A"/>
                </a:solidFill>
                <a:latin typeface="Arial"/>
              </a:rPr>
              <a:t>Qualidade dos leads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" y="2041525"/>
            <a:ext cx="3566209" cy="1162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 lang="pt-BR">
                <a:solidFill>
                  <a:srgbClr val="757575"/>
                </a:solidFill>
                <a:latin typeface="Arial"/>
              </a:rPr>
              <a:t>% de leads sem CEP (menor é melhor)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84048" y="2322322"/>
          <a:ext cx="4169706" cy="1708023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50914"/>
                <a:gridCol w="364849"/>
                <a:gridCol w="364849"/>
                <a:gridCol w="364849"/>
                <a:gridCol w="364849"/>
                <a:gridCol w="364849"/>
                <a:gridCol w="364849"/>
                <a:gridCol w="364849"/>
                <a:gridCol w="364849"/>
              </a:tblGrid>
              <a:tr h="251841">
                <a:tc>
                  <a:txBody>
                    <a:bodyPr/>
                    <a:lstStyle/>
                    <a:p/>
                  </a:txBody>
                  <a:tcPr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Fev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Mar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Abr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Mai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Jun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Jul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Ago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Set*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DDE1EC"/>
                    </a:solidFill>
                  </a:tcPr>
                </a:tc>
              </a:tr>
              <a:tr h="485394">
                <a:tc>
                  <a:txBody>
                    <a:bodyPr wrap="square"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Site</a:t>
                      </a:r>
                    </a:p>
                    <a:p>
                      <a:pPr algn="l">
                        <a:spcBef>
                          <a:spcPts val="150"/>
                        </a:spcBef>
                        <a:defRPr sz="700">
                          <a:latin typeface="Arial"/>
                        </a:defRPr>
                      </a:pPr>
                      <a:r>
                        <a:rPr sz="700" b="0" i="0" lang="pt-BR">
                          <a:solidFill>
                            <a:srgbClr val="757575"/>
                          </a:solidFill>
                          <a:latin typeface="Arial"/>
                        </a:rPr>
                        <a:t>% leads sem CEP</a:t>
                      </a:r>
                    </a:p>
                  </a:txBody>
                  <a:tcPr marL="219456" marR="219456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616300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ECECEC"/>
                      </a:solidFill>
                    </a:lnB>
                    <a:solidFill>
                      <a:srgbClr val="E9ECA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616300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ECECEC"/>
                      </a:solidFill>
                    </a:lnB>
                    <a:solidFill>
                      <a:srgbClr val="E9ECA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5A6300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ECECEC"/>
                      </a:solidFill>
                    </a:lnB>
                    <a:solidFill>
                      <a:srgbClr val="E6ECB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536300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ECECEC"/>
                      </a:solidFill>
                    </a:lnB>
                    <a:solidFill>
                      <a:srgbClr val="E4EC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146100"/>
                          </a:solidFill>
                          <a:latin typeface="Arial"/>
                        </a:rPr>
                        <a:t>13%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ECECEC"/>
                      </a:solidFill>
                    </a:lnB>
                    <a:solidFill>
                      <a:srgbClr val="CDEE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006100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ECECEC"/>
                      </a:solidFill>
                    </a:lnB>
                    <a:solidFill>
                      <a:srgbClr val="C6EFCE"/>
                    </a:solidFill>
                  </a:tcPr>
                </a:tc>
              </a:tr>
              <a:tr h="485394">
                <a:tc>
                  <a:txBody>
                    <a:bodyPr wrap="square"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Liza</a:t>
                      </a:r>
                    </a:p>
                    <a:p>
                      <a:pPr algn="l">
                        <a:spcBef>
                          <a:spcPts val="150"/>
                        </a:spcBef>
                        <a:defRPr sz="700">
                          <a:latin typeface="Arial"/>
                        </a:defRPr>
                      </a:pPr>
                      <a:r>
                        <a:rPr sz="700" b="0" i="0" lang="pt-BR">
                          <a:solidFill>
                            <a:srgbClr val="757575"/>
                          </a:solidFill>
                          <a:latin typeface="Arial"/>
                        </a:rPr>
                        <a:t>% leads sem CEP</a:t>
                      </a:r>
                    </a:p>
                  </a:txBody>
                  <a:tcPr marL="219456" marR="219456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226100"/>
                          </a:solidFill>
                          <a:latin typeface="Arial"/>
                        </a:rPr>
                        <a:t>54%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ECECEC"/>
                      </a:solidFill>
                    </a:lnB>
                    <a:solidFill>
                      <a:srgbClr val="D2EE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9C2803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ECECEC"/>
                      </a:solidFill>
                    </a:lnB>
                    <a:solidFill>
                      <a:srgbClr val="FFD5B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9C3E02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ECECEC"/>
                      </a:solidFill>
                    </a:lnB>
                    <a:solidFill>
                      <a:srgbClr val="FFDDA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8A6400"/>
                          </a:solidFill>
                          <a:latin typeface="Arial"/>
                        </a:rPr>
                        <a:t>69%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ECECEC"/>
                      </a:solidFill>
                    </a:lnB>
                    <a:solidFill>
                      <a:srgbClr val="F8EB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006100"/>
                          </a:solidFill>
                          <a:latin typeface="Arial"/>
                        </a:rPr>
                        <a:t>49%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ECECEC"/>
                      </a:solidFill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146100"/>
                          </a:solidFill>
                          <a:latin typeface="Arial"/>
                        </a:rPr>
                        <a:t>52%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ECECEC"/>
                      </a:solidFill>
                    </a:lnB>
                    <a:solidFill>
                      <a:srgbClr val="CDEEC7"/>
                    </a:solidFill>
                  </a:tcPr>
                </a:tc>
              </a:tr>
              <a:tr h="485394">
                <a:tc>
                  <a:txBody>
                    <a:bodyPr wrap="square"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Chatbot</a:t>
                      </a:r>
                    </a:p>
                    <a:p>
                      <a:pPr algn="l">
                        <a:spcBef>
                          <a:spcPts val="150"/>
                        </a:spcBef>
                        <a:defRPr sz="700">
                          <a:latin typeface="Arial"/>
                        </a:defRPr>
                      </a:pPr>
                      <a:r>
                        <a:rPr sz="700" b="0" i="0" lang="pt-BR">
                          <a:solidFill>
                            <a:srgbClr val="757575"/>
                          </a:solidFill>
                          <a:latin typeface="Arial"/>
                        </a:rPr>
                        <a:t>% leads sem CEP</a:t>
                      </a:r>
                    </a:p>
                  </a:txBody>
                  <a:tcPr marL="219456" marR="219456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9C3502"/>
                          </a:solidFill>
                          <a:latin typeface="Arial"/>
                        </a:rPr>
                        <a:t>57%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D5D5D5"/>
                      </a:solidFill>
                    </a:lnB>
                    <a:solidFill>
                      <a:srgbClr val="FFDA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9C3103"/>
                          </a:solidFill>
                          <a:latin typeface="Arial"/>
                        </a:rPr>
                        <a:t>58%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D5D5D5"/>
                      </a:solidFill>
                    </a:lnB>
                    <a:solidFill>
                      <a:srgbClr val="FFD8B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9C3A02"/>
                          </a:solidFill>
                          <a:latin typeface="Arial"/>
                        </a:rPr>
                        <a:t>56%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D5D5D5"/>
                      </a:solidFill>
                    </a:lnB>
                    <a:solidFill>
                      <a:srgbClr val="FFDBB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9C4301"/>
                          </a:solidFill>
                          <a:latin typeface="Arial"/>
                        </a:rPr>
                        <a:t>54%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D5D5D5"/>
                      </a:solidFill>
                    </a:lnB>
                    <a:solidFill>
                      <a:srgbClr val="FFDFA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756400"/>
                          </a:solidFill>
                          <a:latin typeface="Arial"/>
                        </a:rPr>
                        <a:t>41%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D5D5D5"/>
                      </a:solidFill>
                    </a:lnB>
                    <a:solidFill>
                      <a:srgbClr val="F1EBA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006100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D5D5D5"/>
                      </a:solidFill>
                    </a:lnB>
                    <a:solidFill>
                      <a:srgbClr val="C6EFCE"/>
                    </a:solidFill>
                  </a:tcPr>
                </a:tc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438912" y="2762178"/>
            <a:ext cx="118872" cy="73700"/>
          </a:xfrm>
          <a:prstGeom prst="rect">
            <a:avLst/>
          </a:prstGeom>
          <a:noFill/>
          <a:ln w="8255" cap="rnd">
            <a:solidFill>
              <a:srgbClr val="1A1A1A"/>
            </a:solidFill>
            <a:round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4365" y="2778820"/>
            <a:ext cx="52303" cy="7726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4365" y="2794274"/>
            <a:ext cx="87965" cy="7726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4365" y="2809727"/>
            <a:ext cx="39227" cy="7726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90026" y="2835879"/>
            <a:ext cx="16642" cy="21396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7441" y="2857276"/>
            <a:ext cx="61813" cy="1069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Gear 9 29"/>
          <p:cNvSpPr/>
          <p:nvPr/>
        </p:nvSpPr>
        <p:spPr>
          <a:xfrm>
            <a:off x="438912" y="3242818"/>
            <a:ext cx="118872" cy="118872"/>
          </a:xfrm>
          <a:prstGeom prst="gear9">
            <a:avLst/>
          </a:prstGeom>
          <a:solidFill>
            <a:srgbClr val="2F5B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77545" y="3281451"/>
            <a:ext cx="41605" cy="4160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 rot="20006097">
            <a:off x="451831" y="3762982"/>
            <a:ext cx="93032" cy="7726"/>
          </a:xfrm>
          <a:prstGeom prst="rect">
            <a:avLst/>
          </a:prstGeom>
          <a:solidFill>
            <a:srgbClr val="2F5B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 rot="1593903">
            <a:off x="451831" y="3804587"/>
            <a:ext cx="93032" cy="7726"/>
          </a:xfrm>
          <a:prstGeom prst="rect">
            <a:avLst/>
          </a:prstGeom>
          <a:solidFill>
            <a:srgbClr val="2F5B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38912" y="3769817"/>
            <a:ext cx="35661" cy="35661"/>
          </a:xfrm>
          <a:prstGeom prst="ellipse">
            <a:avLst/>
          </a:prstGeom>
          <a:solidFill>
            <a:srgbClr val="2F5B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22122" y="3728212"/>
            <a:ext cx="35661" cy="35661"/>
          </a:xfrm>
          <a:prstGeom prst="ellipse">
            <a:avLst/>
          </a:prstGeom>
          <a:solidFill>
            <a:srgbClr val="2F5B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22122" y="3811422"/>
            <a:ext cx="35661" cy="35661"/>
          </a:xfrm>
          <a:prstGeom prst="ellipse">
            <a:avLst/>
          </a:prstGeom>
          <a:solidFill>
            <a:srgbClr val="2F5B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84048" y="4176649"/>
            <a:ext cx="4169713" cy="409702"/>
          </a:xfrm>
          <a:prstGeom prst="roundRect">
            <a:avLst>
              <a:gd name="adj" fmla="val 12000"/>
            </a:avLst>
          </a:prstGeom>
          <a:solidFill>
            <a:srgbClr val="E9ECF4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30352" y="4403445"/>
            <a:ext cx="57058" cy="87782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1550" y="4341997"/>
            <a:ext cx="57058" cy="14923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92749" y="4271772"/>
            <a:ext cx="57058" cy="219456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7824" y="4249801"/>
            <a:ext cx="3566209" cy="1471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lang="pt-BR">
                <a:solidFill>
                  <a:srgbClr val="1A1A1A"/>
                </a:solidFill>
                <a:latin typeface="Arial"/>
              </a:rPr>
              <a:t>Volume e conversão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7824" y="4396994"/>
            <a:ext cx="3566209" cy="1162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 lang="pt-BR">
                <a:solidFill>
                  <a:srgbClr val="757575"/>
                </a:solidFill>
                <a:latin typeface="Arial"/>
              </a:rPr>
              <a:t>Leads classificados e taxa de conversão (Classif. → vendas)</a:t>
            </a:r>
          </a:p>
        </p:txBody>
      </p: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384048" y="4677791"/>
          <a:ext cx="4169706" cy="122262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50914"/>
                <a:gridCol w="364849"/>
                <a:gridCol w="364849"/>
                <a:gridCol w="364849"/>
                <a:gridCol w="364849"/>
                <a:gridCol w="364849"/>
                <a:gridCol w="364849"/>
                <a:gridCol w="364849"/>
                <a:gridCol w="364849"/>
              </a:tblGrid>
              <a:tr h="251841">
                <a:tc>
                  <a:txBody>
                    <a:bodyPr/>
                    <a:lstStyle/>
                    <a:p/>
                  </a:txBody>
                  <a:tcPr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Fev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Mar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Abr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Mai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Jun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Jul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Ago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Set*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DDE1EC"/>
                    </a:solidFill>
                  </a:tcPr>
                </a:tc>
              </a:tr>
              <a:tr h="485394">
                <a:tc>
                  <a:txBody>
                    <a:bodyPr wrap="square"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Leads Classif.</a:t>
                      </a:r>
                    </a:p>
                  </a:txBody>
                  <a:tcPr marL="219456" marR="219456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9C000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ECECEC"/>
                      </a:solidFill>
                    </a:lnB>
                    <a:solidFill>
                      <a:srgbClr val="FFC7CE"/>
                    </a:solidFill>
                  </a:tcPr>
                </a:tc>
              </a:tr>
              <a:tr h="485394">
                <a:tc>
                  <a:txBody>
                    <a:bodyPr wrap="square"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Conversão</a:t>
                      </a:r>
                    </a:p>
                    <a:p>
                      <a:pPr algn="l">
                        <a:spcBef>
                          <a:spcPts val="150"/>
                        </a:spcBef>
                        <a:defRPr sz="700">
                          <a:latin typeface="Arial"/>
                        </a:defRPr>
                      </a:pPr>
                      <a:r>
                        <a:rPr sz="700" b="0" i="0" lang="pt-BR">
                          <a:solidFill>
                            <a:srgbClr val="757575"/>
                          </a:solidFill>
                          <a:latin typeface="Arial"/>
                        </a:rPr>
                        <a:t>Classif. → vendas</a:t>
                      </a:r>
                    </a:p>
                  </a:txBody>
                  <a:tcPr marL="219456" marR="219456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0,39%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0,41%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0,35%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0,31%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0,40%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0,38%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0,33%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9C0006"/>
                          </a:solidFill>
                          <a:latin typeface="Arial"/>
                        </a:rPr>
                        <a:t>0,18%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D5D5D5"/>
                      </a:solidFill>
                    </a:lnB>
                    <a:solidFill>
                      <a:srgbClr val="FFC7CE"/>
                    </a:solidFill>
                  </a:tcPr>
                </a:tc>
              </a:tr>
            </a:tbl>
          </a:graphicData>
        </a:graphic>
      </p:graphicFrame>
      <p:sp>
        <p:nvSpPr>
          <p:cNvPr id="44" name="Oval 43"/>
          <p:cNvSpPr/>
          <p:nvPr/>
        </p:nvSpPr>
        <p:spPr>
          <a:xfrm>
            <a:off x="441907" y="5156851"/>
            <a:ext cx="27958" cy="27958"/>
          </a:xfrm>
          <a:prstGeom prst="ellipse">
            <a:avLst/>
          </a:prstGeom>
          <a:noFill/>
          <a:ln w="7594" cap="rnd">
            <a:solidFill>
              <a:srgbClr val="E06C3C"/>
            </a:solidFill>
            <a:round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38912" y="5183027"/>
            <a:ext cx="33949" cy="39940"/>
          </a:xfrm>
          <a:prstGeom prst="round2SameRect">
            <a:avLst>
              <a:gd name="adj1" fmla="val 50000"/>
              <a:gd name="adj2" fmla="val 0"/>
            </a:avLst>
          </a:prstGeom>
          <a:noFill/>
          <a:ln w="7594" cap="rnd">
            <a:solidFill>
              <a:srgbClr val="E06C3C"/>
            </a:solidFill>
            <a:round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520363" y="5156851"/>
            <a:ext cx="27958" cy="27958"/>
          </a:xfrm>
          <a:prstGeom prst="ellipse">
            <a:avLst/>
          </a:prstGeom>
          <a:noFill/>
          <a:ln w="7594" cap="rnd">
            <a:solidFill>
              <a:srgbClr val="E06C3C"/>
            </a:solidFill>
            <a:round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17367" y="5183027"/>
            <a:ext cx="33949" cy="39940"/>
          </a:xfrm>
          <a:prstGeom prst="round2SameRect">
            <a:avLst>
              <a:gd name="adj1" fmla="val 50000"/>
              <a:gd name="adj2" fmla="val 0"/>
            </a:avLst>
          </a:prstGeom>
          <a:noFill/>
          <a:ln w="7594" cap="rnd">
            <a:solidFill>
              <a:srgbClr val="E06C3C"/>
            </a:solidFill>
            <a:round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473979" y="5170545"/>
            <a:ext cx="48737" cy="55869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77545" y="5139044"/>
            <a:ext cx="41605" cy="4160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81705" y="5143205"/>
            <a:ext cx="33284" cy="33284"/>
          </a:xfrm>
          <a:prstGeom prst="ellipse">
            <a:avLst/>
          </a:prstGeom>
          <a:noFill/>
          <a:ln w="7594" cap="rnd">
            <a:solidFill>
              <a:srgbClr val="E06C3C"/>
            </a:solidFill>
            <a:round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478139" y="5174706"/>
            <a:ext cx="40416" cy="47548"/>
          </a:xfrm>
          <a:prstGeom prst="round2SameRect">
            <a:avLst>
              <a:gd name="adj1" fmla="val 50000"/>
              <a:gd name="adj2" fmla="val 0"/>
            </a:avLst>
          </a:prstGeom>
          <a:noFill/>
          <a:ln w="7594" cap="rnd">
            <a:solidFill>
              <a:srgbClr val="E06C3C"/>
            </a:solidFill>
            <a:round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Donut 51"/>
          <p:cNvSpPr/>
          <p:nvPr/>
        </p:nvSpPr>
        <p:spPr>
          <a:xfrm>
            <a:off x="438912" y="5598287"/>
            <a:ext cx="118872" cy="118872"/>
          </a:xfrm>
          <a:prstGeom prst="donut">
            <a:avLst>
              <a:gd name="adj" fmla="val 13000"/>
            </a:avLst>
          </a:prstGeom>
          <a:solidFill>
            <a:srgbClr val="2F8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Donut 52"/>
          <p:cNvSpPr/>
          <p:nvPr/>
        </p:nvSpPr>
        <p:spPr>
          <a:xfrm>
            <a:off x="468629" y="5628005"/>
            <a:ext cx="59436" cy="59436"/>
          </a:xfrm>
          <a:prstGeom prst="donut">
            <a:avLst>
              <a:gd name="adj" fmla="val 22000"/>
            </a:avLst>
          </a:prstGeom>
          <a:solidFill>
            <a:srgbClr val="2F8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86460" y="5645835"/>
            <a:ext cx="23774" cy="23774"/>
          </a:xfrm>
          <a:prstGeom prst="ellipse">
            <a:avLst/>
          </a:prstGeom>
          <a:solidFill>
            <a:srgbClr val="2F8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84048" y="6549644"/>
            <a:ext cx="4169713" cy="2169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 lang="pt-BR">
                <a:solidFill>
                  <a:srgbClr val="757575"/>
                </a:solidFill>
                <a:latin typeface="Arial"/>
              </a:rPr>
              <a:t>Nota: considera vendas que aconteceram em até 7 dias pós geração do lead; *Inclui somente leads gerados até dia 7 de Set; Fonte: base de vendas faturadas e base de funil dos leads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4718353" y="1455420"/>
          <a:ext cx="7089567" cy="2743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7089567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 lang="pt-BR">
                          <a:solidFill>
                            <a:srgbClr val="FFFFFF"/>
                          </a:solidFill>
                          <a:latin typeface="Arial"/>
                        </a:rPr>
                        <a:t>Status das frentes em andamento</a:t>
                      </a:r>
                    </a:p>
                  </a:txBody>
                  <a:tcPr marL="365760" marR="365760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F4E3D"/>
                    </a:solidFill>
                  </a:tcPr>
                </a:tc>
              </a:tr>
            </a:tbl>
          </a:graphicData>
        </a:graphic>
      </p:graphicFrame>
      <p:sp>
        <p:nvSpPr>
          <p:cNvPr id="57" name="Oval 56"/>
          <p:cNvSpPr/>
          <p:nvPr/>
        </p:nvSpPr>
        <p:spPr>
          <a:xfrm>
            <a:off x="4828081" y="1523085"/>
            <a:ext cx="32918" cy="32918"/>
          </a:xfrm>
          <a:prstGeom prst="ellipse">
            <a:avLst/>
          </a:prstGeom>
          <a:solidFill>
            <a:srgbClr val="9FD4B8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877459" y="1528023"/>
            <a:ext cx="113385" cy="23042"/>
          </a:xfrm>
          <a:prstGeom prst="rect">
            <a:avLst/>
          </a:prstGeom>
          <a:solidFill>
            <a:srgbClr val="9FD4B8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828081" y="1581607"/>
            <a:ext cx="32918" cy="32918"/>
          </a:xfrm>
          <a:prstGeom prst="ellipse">
            <a:avLst/>
          </a:prstGeom>
          <a:solidFill>
            <a:srgbClr val="9FD4B8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877459" y="1586544"/>
            <a:ext cx="113385" cy="23042"/>
          </a:xfrm>
          <a:prstGeom prst="rect">
            <a:avLst/>
          </a:prstGeom>
          <a:solidFill>
            <a:srgbClr val="9FD4B8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828081" y="1640128"/>
            <a:ext cx="32918" cy="32918"/>
          </a:xfrm>
          <a:prstGeom prst="ellipse">
            <a:avLst/>
          </a:prstGeom>
          <a:solidFill>
            <a:srgbClr val="9FD4B8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877459" y="1645066"/>
            <a:ext cx="113385" cy="23042"/>
          </a:xfrm>
          <a:prstGeom prst="rect">
            <a:avLst/>
          </a:prstGeom>
          <a:solidFill>
            <a:srgbClr val="9FD4B8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4718353" y="1821180"/>
          <a:ext cx="7089564" cy="49453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87986"/>
                <a:gridCol w="1199230"/>
                <a:gridCol w="917058"/>
                <a:gridCol w="493800"/>
                <a:gridCol w="705429"/>
                <a:gridCol w="1128687"/>
                <a:gridCol w="1128687"/>
                <a:gridCol w="1128687"/>
              </a:tblGrid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6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ENTREGÁVEL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RESPONSÁVEL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PRAZO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PROGRESSO RECENTE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PRÓXIMOS PASSOS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PONTOS A ESCALAR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883158">
                <a:tc>
                  <a:txBody>
                    <a:bodyPr wrap="none"/>
                    <a:lstStyle/>
                    <a:p>
                      <a:pPr algn="l"/>
                      <a:r>
                        <a:rPr sz="7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2.1.1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1" i="0" lang="pt-BR">
                          <a:solidFill>
                            <a:srgbClr val="1A1A1A"/>
                          </a:solidFill>
                          <a:latin typeface="Arial"/>
                        </a:rPr>
                        <a:t>Informações mínimas do cliente coletadas no site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Thais Pimenta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11/set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 i="0" lang="pt-BR">
                          <a:solidFill>
                            <a:srgbClr val="6B5700"/>
                          </a:solidFill>
                          <a:latin typeface="Arial"/>
                        </a:rPr>
                        <a:t>Em progresso</a:t>
                      </a:r>
                    </a:p>
                  </a:txBody>
                  <a:tcPr marL="36576" marR="36576" marT="45720" marB="45720" anchor="ctr">
                    <a:lnL w="31750" cap="flat" cmpd="sng" algn="ctr">
                      <a:solidFill>
                        <a:srgbClr val="FFFFFF"/>
                      </a:solidFill>
                    </a:lnL>
                    <a:lnR w="31750" cap="flat" cmpd="sng" algn="ctr">
                      <a:solidFill>
                        <a:srgbClr val="FFFFFF"/>
                      </a:solidFill>
                    </a:lnR>
                    <a:lnT w="31750" cap="flat" cmpd="sng" algn="ctr">
                      <a:solidFill>
                        <a:srgbClr val="FFFFFF"/>
                      </a:solidFill>
                    </a:lnT>
                    <a:lnB w="31750" cap="flat" cmpd="sng" algn="ctr">
                      <a:solidFill>
                        <a:srgbClr val="FFFFFF"/>
                      </a:solidFill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• </a:t>
                      </a: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Telefone válido nas principais LPs</a:t>
                      </a:r>
                    </a:p>
                    <a:p>
                      <a:pPr algn="l">
                        <a:spcBef>
                          <a:spcPts val="200"/>
                        </a:spcBef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• </a:t>
                      </a: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Pesquisa da nova tela de loja de preferência lançada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• </a:t>
                      </a: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Criar formulário padrão para todas as LPs</a:t>
                      </a:r>
                    </a:p>
                    <a:p>
                      <a:pPr algn="l">
                        <a:spcBef>
                          <a:spcPts val="200"/>
                        </a:spcBef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• </a:t>
                      </a: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Publicar a 2ª página com a loja de preferência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</a:tr>
              <a:tr h="761238">
                <a:tc>
                  <a:txBody>
                    <a:bodyPr wrap="none"/>
                    <a:lstStyle/>
                    <a:p>
                      <a:pPr algn="l"/>
                      <a:r>
                        <a:rPr sz="7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2.1.2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1" i="0" lang="pt-BR">
                          <a:solidFill>
                            <a:srgbClr val="1A1A1A"/>
                          </a:solidFill>
                          <a:latin typeface="Arial"/>
                        </a:rPr>
                        <a:t>Informações mínimas do cliente coletadas nos canais Meta</a:t>
                      </a:r>
                      <a:r>
                        <a:rPr sz="750" b="0" i="0" lang="pt-BR">
                          <a:solidFill>
                            <a:srgbClr val="1A1A1A"/>
                          </a:solidFill>
                          <a:latin typeface="Arial"/>
                        </a:rPr>
                        <a:t> (Facebook e WhatsApp)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João Azevedo + Isadora Barreto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11/set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 i="0" lang="pt-BR">
                          <a:solidFill>
                            <a:srgbClr val="6B5700"/>
                          </a:solidFill>
                          <a:latin typeface="Arial"/>
                        </a:rPr>
                        <a:t>Em progresso</a:t>
                      </a:r>
                    </a:p>
                  </a:txBody>
                  <a:tcPr marL="36576" marR="36576" marT="45720" marB="45720" anchor="ctr">
                    <a:lnL w="31750" cap="flat" cmpd="sng" algn="ctr">
                      <a:solidFill>
                        <a:srgbClr val="FFFFFF"/>
                      </a:solidFill>
                    </a:lnL>
                    <a:lnR w="31750" cap="flat" cmpd="sng" algn="ctr">
                      <a:solidFill>
                        <a:srgbClr val="FFFFFF"/>
                      </a:solidFill>
                    </a:lnR>
                    <a:lnT w="31750" cap="flat" cmpd="sng" algn="ctr">
                      <a:solidFill>
                        <a:srgbClr val="FFFFFF"/>
                      </a:solidFill>
                    </a:lnT>
                    <a:lnB w="31750" cap="flat" cmpd="sng" algn="ctr">
                      <a:solidFill>
                        <a:srgbClr val="FFFFFF"/>
                      </a:solidFill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Desenho do fluxo e início do desenvolv. de CEP obrigatório para geração de lead na Liza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Finalizar desenvolv. de CEP obrigatório para geração de lead na Liza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</a:tr>
              <a:tr h="761238">
                <a:tc>
                  <a:txBody>
                    <a:bodyPr wrap="none"/>
                    <a:lstStyle/>
                    <a:p>
                      <a:pPr algn="l"/>
                      <a:r>
                        <a:rPr sz="7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2.1.3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1A1A1A"/>
                          </a:solidFill>
                          <a:latin typeface="Arial"/>
                        </a:rPr>
                        <a:t>Informações mínimas do cliente coletadas via canais </a:t>
                      </a:r>
                      <a:r>
                        <a:rPr sz="750" b="1" i="0" lang="pt-BR">
                          <a:solidFill>
                            <a:srgbClr val="1A1A1A"/>
                          </a:solidFill>
                          <a:latin typeface="Arial"/>
                        </a:rPr>
                        <a:t>Classificados</a:t>
                      </a:r>
                      <a:r>
                        <a:rPr sz="750" b="0" i="0" lang="pt-BR">
                          <a:solidFill>
                            <a:srgbClr val="1A1A1A"/>
                          </a:solidFill>
                          <a:latin typeface="Arial"/>
                        </a:rPr>
                        <a:t>: CEP capturado para todos os leads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Luma Gomes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25/set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 i="0" lang="pt-BR">
                          <a:solidFill>
                            <a:srgbClr val="6B5700"/>
                          </a:solidFill>
                          <a:latin typeface="Arial"/>
                        </a:rPr>
                        <a:t>Em progresso</a:t>
                      </a:r>
                    </a:p>
                  </a:txBody>
                  <a:tcPr marL="36576" marR="36576" marT="45720" marB="45720" anchor="ctr">
                    <a:lnL w="31750" cap="flat" cmpd="sng" algn="ctr">
                      <a:solidFill>
                        <a:srgbClr val="FFFFFF"/>
                      </a:solidFill>
                    </a:lnL>
                    <a:lnR w="31750" cap="flat" cmpd="sng" algn="ctr">
                      <a:solidFill>
                        <a:srgbClr val="FFFFFF"/>
                      </a:solidFill>
                    </a:lnR>
                    <a:lnT w="31750" cap="flat" cmpd="sng" algn="ctr">
                      <a:solidFill>
                        <a:srgbClr val="FFFFFF"/>
                      </a:solidFill>
                    </a:lnT>
                    <a:lnB w="31750" cap="flat" cmpd="sng" algn="ctr">
                      <a:solidFill>
                        <a:srgbClr val="FFFFFF"/>
                      </a:solidFill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Conversas para definição de prazos para obtenção de dados obrigatórios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Avaliar necessidade de acelerar a obtenção dos dados de CEP com os parceiros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</a:tr>
              <a:tr h="517398">
                <a:tc>
                  <a:txBody>
                    <a:bodyPr wrap="none"/>
                    <a:lstStyle/>
                    <a:p>
                      <a:pPr algn="l"/>
                      <a:r>
                        <a:rPr sz="7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2.1.4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1A1A1A"/>
                          </a:solidFill>
                          <a:latin typeface="Arial"/>
                        </a:rPr>
                        <a:t>Revisar modelo de clusters de anúncios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João Azevedo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25/set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 i="0" lang="pt-BR">
                          <a:solidFill>
                            <a:srgbClr val="6B5700"/>
                          </a:solidFill>
                          <a:latin typeface="Arial"/>
                        </a:rPr>
                        <a:t>Em progresso</a:t>
                      </a:r>
                    </a:p>
                  </a:txBody>
                  <a:tcPr marL="36576" marR="36576" marT="45720" marB="45720" anchor="ctr">
                    <a:lnL w="31750" cap="flat" cmpd="sng" algn="ctr">
                      <a:solidFill>
                        <a:srgbClr val="FFFFFF"/>
                      </a:solidFill>
                    </a:lnL>
                    <a:lnR w="31750" cap="flat" cmpd="sng" algn="ctr">
                      <a:solidFill>
                        <a:srgbClr val="FFFFFF"/>
                      </a:solidFill>
                    </a:lnR>
                    <a:lnT w="31750" cap="flat" cmpd="sng" algn="ctr">
                      <a:solidFill>
                        <a:srgbClr val="FFFFFF"/>
                      </a:solidFill>
                    </a:lnT>
                    <a:lnB w="31750" cap="flat" cmpd="sng" algn="ctr">
                      <a:solidFill>
                        <a:srgbClr val="FFFFFF"/>
                      </a:solidFill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Piloto de remoção de clusters de anúncios lançado na DVSUC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Avaliar resultados dos leads classificados na DVSUC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</a:tr>
              <a:tr h="883158">
                <a:tc>
                  <a:txBody>
                    <a:bodyPr wrap="none"/>
                    <a:lstStyle/>
                    <a:p>
                      <a:pPr algn="l"/>
                      <a:r>
                        <a:rPr sz="7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2.2.1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1A1A1A"/>
                          </a:solidFill>
                          <a:latin typeface="Arial"/>
                        </a:rPr>
                        <a:t>Outras informações já disponíveis do cliente (ex.: localização por IP, cidade, etc) </a:t>
                      </a:r>
                      <a:r>
                        <a:rPr sz="750" b="1" i="0" lang="pt-BR">
                          <a:solidFill>
                            <a:srgbClr val="1A1A1A"/>
                          </a:solidFill>
                          <a:latin typeface="Arial"/>
                        </a:rPr>
                        <a:t>integradas e disponíveis</a:t>
                      </a:r>
                      <a:r>
                        <a:rPr sz="750" b="0" i="0" lang="pt-BR">
                          <a:solidFill>
                            <a:srgbClr val="1A1A1A"/>
                          </a:solidFill>
                          <a:latin typeface="Arial"/>
                        </a:rPr>
                        <a:t> para todos os canais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25/set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 i="0" lang="pt-BR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36576" marR="36576" marT="45720" marB="45720" anchor="ctr">
                    <a:lnL w="31750" cap="flat" cmpd="sng" algn="ctr">
                      <a:solidFill>
                        <a:srgbClr val="FFFFFF"/>
                      </a:solidFill>
                    </a:lnL>
                    <a:lnR w="31750" cap="flat" cmpd="sng" algn="ctr">
                      <a:solidFill>
                        <a:srgbClr val="FFFFFF"/>
                      </a:solidFill>
                    </a:lnR>
                    <a:lnT w="31750" cap="flat" cmpd="sng" algn="ctr">
                      <a:solidFill>
                        <a:srgbClr val="FFFFFF"/>
                      </a:solidFill>
                    </a:lnT>
                    <a:lnB w="3175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• </a:t>
                      </a: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Mapear dados disponíveis para uso</a:t>
                      </a:r>
                    </a:p>
                    <a:p>
                      <a:pPr algn="l">
                        <a:spcBef>
                          <a:spcPts val="200"/>
                        </a:spcBef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• </a:t>
                      </a: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Integrar novos dados às bases de clientes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Alinhar prioridade e definir responsável e prazo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</a:tr>
              <a:tr h="883158">
                <a:tc>
                  <a:txBody>
                    <a:bodyPr wrap="none"/>
                    <a:lstStyle/>
                    <a:p>
                      <a:pPr algn="l"/>
                      <a:r>
                        <a:rPr sz="7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2.3.1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1A1A1A"/>
                          </a:solidFill>
                          <a:latin typeface="Arial"/>
                        </a:rPr>
                        <a:t>Lead score evoluído com novas variáveis (score B3 de propensão a financiamento, renda presumida, etc.)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João Azevedo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23/out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 i="0" lang="pt-BR">
                          <a:solidFill>
                            <a:srgbClr val="A30000"/>
                          </a:solidFill>
                          <a:latin typeface="Arial"/>
                        </a:rPr>
                        <a:t>Não priorizado no curto prazo</a:t>
                      </a:r>
                    </a:p>
                  </a:txBody>
                  <a:tcPr marL="36576" marR="36576" marT="45720" marB="45720" anchor="ctr">
                    <a:lnL w="31750" cap="flat" cmpd="sng" algn="ctr">
                      <a:solidFill>
                        <a:srgbClr val="FFFFFF"/>
                      </a:solidFill>
                    </a:lnL>
                    <a:lnR w="31750" cap="flat" cmpd="sng" algn="ctr">
                      <a:solidFill>
                        <a:srgbClr val="FFFFFF"/>
                      </a:solidFill>
                    </a:lnR>
                    <a:lnT w="31750" cap="flat" cmpd="sng" algn="ctr">
                      <a:solidFill>
                        <a:srgbClr val="FFFFFF"/>
                      </a:solidFill>
                    </a:lnT>
                    <a:lnB w="3175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4" name="Oval 63"/>
          <p:cNvSpPr/>
          <p:nvPr/>
        </p:nvSpPr>
        <p:spPr>
          <a:xfrm>
            <a:off x="4839194" y="2759202"/>
            <a:ext cx="146304" cy="146304"/>
          </a:xfrm>
          <a:prstGeom prst="ellipse">
            <a:avLst/>
          </a:prstGeom>
          <a:solidFill>
            <a:srgbClr val="78DE1F"/>
          </a:solidFill>
          <a:ln>
            <a:noFill/>
          </a:ln>
          <a:effectLst/>
        </p:spPr>
        <p:txBody>
          <a:bodyPr rtlCol="0" anchor="ctr" lIns="0" rIns="0" tIns="0" bIns="0" wrap="none"/>
          <a:lstStyle/>
          <a:p>
            <a:pPr algn="ctr"/>
            <a:r>
              <a:rPr sz="650" b="1" i="0" lang="pt-BR">
                <a:solidFill>
                  <a:srgbClr val="1A1A1A"/>
                </a:solidFill>
                <a:latin typeface="Arial"/>
              </a:rPr>
              <a:t>A</a:t>
            </a:r>
          </a:p>
        </p:txBody>
      </p:sp>
      <p:sp>
        <p:nvSpPr>
          <p:cNvPr id="65" name="Oval 64"/>
          <p:cNvSpPr/>
          <p:nvPr/>
        </p:nvSpPr>
        <p:spPr>
          <a:xfrm>
            <a:off x="4747754" y="3520440"/>
            <a:ext cx="146304" cy="146304"/>
          </a:xfrm>
          <a:prstGeom prst="ellipse">
            <a:avLst/>
          </a:prstGeom>
          <a:solidFill>
            <a:srgbClr val="78DE1F"/>
          </a:solidFill>
          <a:ln>
            <a:noFill/>
          </a:ln>
          <a:effectLst/>
        </p:spPr>
        <p:txBody>
          <a:bodyPr rtlCol="0" anchor="ctr" lIns="0" rIns="0" tIns="0" bIns="0" wrap="none"/>
          <a:lstStyle/>
          <a:p>
            <a:pPr algn="ctr"/>
            <a:r>
              <a:rPr sz="650" b="1" i="0" lang="pt-BR">
                <a:solidFill>
                  <a:srgbClr val="1A1A1A"/>
                </a:solidFill>
                <a:latin typeface="Arial"/>
              </a:rPr>
              <a:t>B</a:t>
            </a:r>
          </a:p>
        </p:txBody>
      </p:sp>
      <p:sp>
        <p:nvSpPr>
          <p:cNvPr id="66" name="Oval 65"/>
          <p:cNvSpPr/>
          <p:nvPr/>
        </p:nvSpPr>
        <p:spPr>
          <a:xfrm>
            <a:off x="4930634" y="3520440"/>
            <a:ext cx="146304" cy="146304"/>
          </a:xfrm>
          <a:prstGeom prst="ellipse">
            <a:avLst/>
          </a:prstGeom>
          <a:solidFill>
            <a:srgbClr val="78DE1F"/>
          </a:solidFill>
          <a:ln>
            <a:noFill/>
          </a:ln>
          <a:effectLst/>
        </p:spPr>
        <p:txBody>
          <a:bodyPr rtlCol="0" anchor="ctr" lIns="0" rIns="0" tIns="0" bIns="0" wrap="none"/>
          <a:lstStyle/>
          <a:p>
            <a:pPr algn="ctr"/>
            <a:r>
              <a:rPr sz="650" b="1" i="0" lang="pt-BR">
                <a:solidFill>
                  <a:srgbClr val="1A1A1A"/>
                </a:solidFill>
                <a:latin typeface="Arial"/>
              </a:rPr>
              <a:t>C</a:t>
            </a:r>
          </a:p>
        </p:txBody>
      </p:sp>
      <p:sp>
        <p:nvSpPr>
          <p:cNvPr id="67" name="Oval 66"/>
          <p:cNvSpPr/>
          <p:nvPr/>
        </p:nvSpPr>
        <p:spPr>
          <a:xfrm>
            <a:off x="4839194" y="4281678"/>
            <a:ext cx="146304" cy="146304"/>
          </a:xfrm>
          <a:prstGeom prst="ellipse">
            <a:avLst/>
          </a:prstGeom>
          <a:solidFill>
            <a:srgbClr val="78DE1F"/>
          </a:solidFill>
          <a:ln>
            <a:noFill/>
          </a:ln>
          <a:effectLst/>
        </p:spPr>
        <p:txBody>
          <a:bodyPr rtlCol="0" anchor="ctr" lIns="0" rIns="0" tIns="0" bIns="0" wrap="none"/>
          <a:lstStyle/>
          <a:p>
            <a:pPr algn="ctr"/>
            <a:r>
              <a:rPr sz="650" b="1" i="0" lang="pt-BR">
                <a:solidFill>
                  <a:srgbClr val="1A1A1A"/>
                </a:solidFill>
                <a:latin typeface="Arial"/>
              </a:rPr>
              <a:t>D</a:t>
            </a:r>
          </a:p>
        </p:txBody>
      </p:sp>
      <p:sp>
        <p:nvSpPr>
          <p:cNvPr id="68" name="Oval 67"/>
          <p:cNvSpPr/>
          <p:nvPr/>
        </p:nvSpPr>
        <p:spPr>
          <a:xfrm>
            <a:off x="4839194" y="4799076"/>
            <a:ext cx="146304" cy="146304"/>
          </a:xfrm>
          <a:prstGeom prst="ellipse">
            <a:avLst/>
          </a:prstGeom>
          <a:solidFill>
            <a:srgbClr val="78DE1F"/>
          </a:solidFill>
          <a:ln>
            <a:noFill/>
          </a:ln>
          <a:effectLst/>
        </p:spPr>
        <p:txBody>
          <a:bodyPr rtlCol="0" anchor="ctr" lIns="0" rIns="0" tIns="0" bIns="0" wrap="none"/>
          <a:lstStyle/>
          <a:p>
            <a:pPr algn="ctr"/>
            <a:r>
              <a:rPr sz="650" b="1" i="0" lang="pt-BR">
                <a:solidFill>
                  <a:srgbClr val="1A1A1A"/>
                </a:solidFill>
                <a:latin typeface="Arial"/>
              </a:rPr>
              <a:t>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Tratamento, priorização e alocação de leads (1/2)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