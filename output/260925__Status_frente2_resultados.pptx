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84048" y="237744"/>
          <a:ext cx="11423873" cy="73990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68580"/>
                <a:gridCol w="7606253"/>
                <a:gridCol w="1417320"/>
                <a:gridCol w="2331720"/>
              </a:tblGrid>
              <a:tr h="739902">
                <a:tc>
                  <a:txBody>
                    <a:bodyPr/>
                    <a:lstStyle/>
                    <a:p/>
                  </a:txBody>
                  <a:tcPr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78DE1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Tratamento, priorização e alocação de leads (1/2)</a:t>
                      </a:r>
                    </a:p>
                    <a:p>
                      <a:pPr>
                        <a:spcBef>
                          <a:spcPts val="300"/>
                        </a:spcBef>
                      </a:pP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Melhorar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experiência dos clientes em prospecção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, o entendimento de suas necessidades,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priorização dos leads com maior potencial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 e </a:t>
                      </a:r>
                      <a:r>
                        <a:rPr sz="950" b="1" i="0" lang="pt-BR">
                          <a:solidFill>
                            <a:srgbClr val="6B6B6B"/>
                          </a:solidFill>
                          <a:latin typeface="Arial"/>
                        </a:rPr>
                        <a:t>a alocação às estruturas de vendas com maior chance de conversão</a:t>
                      </a:r>
                      <a:r>
                        <a:rPr sz="950" b="0" i="0" lang="pt-BR">
                          <a:solidFill>
                            <a:srgbClr val="6B6B6B"/>
                          </a:solidFill>
                          <a:latin typeface="Arial"/>
                        </a:rPr>
                        <a:t>.</a:t>
                      </a:r>
                    </a:p>
                  </a:txBody>
                  <a:tcPr marL="548640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LÍDER(ES)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TIME DE TRABALHO</a:t>
                      </a:r>
                    </a:p>
                    <a:p>
                      <a:pPr>
                        <a:spcBef>
                          <a:spcPts val="200"/>
                        </a:spcBef>
                      </a:pPr>
                      <a:r>
                        <a:rPr sz="9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Priscila Martins, Yure Cangussu, Thais Pimenta, Luma Gomes</a:t>
                      </a:r>
                    </a:p>
                  </a:txBody>
                  <a:tcPr marL="64008" marR="64008" marT="91440" marB="91440" anchor="t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4" name="Oval 3"/>
          <p:cNvSpPr/>
          <p:nvPr/>
        </p:nvSpPr>
        <p:spPr>
          <a:xfrm>
            <a:off x="598932" y="309626"/>
            <a:ext cx="256032" cy="256032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8932" y="350773"/>
            <a:ext cx="2560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 lang="pt-BR">
                <a:solidFill>
                  <a:srgbClr val="1A1A1A"/>
                </a:solidFill>
                <a:latin typeface="Arial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1078230"/>
            <a:ext cx="2183755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1. Planejamento integrado mkt | vendas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5905" y="1078230"/>
            <a:ext cx="255857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1" i="0" lang="pt-BR">
                <a:solidFill>
                  <a:srgbClr val="3F7C0E"/>
                </a:solidFill>
                <a:latin typeface="Arial"/>
              </a:rPr>
              <a:t>2. Tratamento, priorização e alocação de leads</a:t>
            </a:r>
          </a:p>
        </p:txBody>
      </p:sp>
      <p:sp>
        <p:nvSpPr>
          <p:cNvPr id="8" name="Rectangle 7"/>
          <p:cNvSpPr/>
          <p:nvPr/>
        </p:nvSpPr>
        <p:spPr>
          <a:xfrm>
            <a:off x="2785905" y="1263396"/>
            <a:ext cx="2522002" cy="23774"/>
          </a:xfrm>
          <a:prstGeom prst="rect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62586" y="1078230"/>
            <a:ext cx="168983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3. Atendimento agêntico (Liza)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524" y="1078230"/>
            <a:ext cx="1543934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4. Atendimento pela Central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2560" y="1078230"/>
            <a:ext cx="1283508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5. Atendimento em loja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34171" y="1078230"/>
            <a:ext cx="1110326" cy="1943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 lang="pt-BR">
                <a:solidFill>
                  <a:srgbClr val="333333"/>
                </a:solidFill>
                <a:latin typeface="Arial"/>
              </a:rPr>
              <a:t/>
            </a:r>
            <a:r>
              <a:rPr sz="900" b="0" i="0" lang="pt-BR">
                <a:solidFill>
                  <a:srgbClr val="4A4A4A"/>
                </a:solidFill>
                <a:latin typeface="Arial"/>
              </a:rPr>
              <a:t>6. Geração de leads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84048" y="1327404"/>
            <a:ext cx="11423873" cy="0"/>
          </a:xfrm>
          <a:prstGeom prst="line">
            <a:avLst/>
          </a:prstGeom>
          <a:ln w="9525">
            <a:solidFill>
              <a:srgbClr val="E2E2E2"/>
            </a:solidFill>
          </a:ln>
          <a:effectLst/>
        </p:spPr>
      </p:cxn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84048" y="1455420"/>
          <a:ext cx="4169713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3342"/>
                <a:gridCol w="1876371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Resultados-chave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 lang="pt-BR">
                          <a:solidFill>
                            <a:srgbClr val="CFE8DD"/>
                          </a:solidFill>
                          <a:latin typeface="Arial"/>
                        </a:rPr>
                        <a:t>Histórico mensal | 2026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84048" y="1821180"/>
            <a:ext cx="416971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Qualidade dos leads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1977517"/>
            <a:ext cx="416971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% de leads sem CEP (menor é melhor)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384048" y="2148586"/>
          <a:ext cx="4169706" cy="7498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187452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CFE8D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Site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006100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C6EFCE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Liza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85%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69%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49%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52%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Chatbot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% leads sem CEP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-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57%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56%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54%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41%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EB9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6500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EB9C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438912" y="2375082"/>
            <a:ext cx="118872" cy="73700"/>
          </a:xfrm>
          <a:prstGeom prst="rect">
            <a:avLst/>
          </a:prstGeom>
          <a:noFill/>
          <a:ln w="8255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4365" y="2391724"/>
            <a:ext cx="52303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4365" y="2407178"/>
            <a:ext cx="87965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4365" y="2422631"/>
            <a:ext cx="39227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0026" y="2448783"/>
            <a:ext cx="16642" cy="2139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7441" y="2470180"/>
            <a:ext cx="61813" cy="10698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Gear 9 23"/>
          <p:cNvSpPr/>
          <p:nvPr/>
        </p:nvSpPr>
        <p:spPr>
          <a:xfrm>
            <a:off x="438912" y="2557780"/>
            <a:ext cx="118872" cy="118872"/>
          </a:xfrm>
          <a:prstGeom prst="gear9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77545" y="2596413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0006097">
            <a:off x="451831" y="2780002"/>
            <a:ext cx="93032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1593903">
            <a:off x="451831" y="2821607"/>
            <a:ext cx="93032" cy="7726"/>
          </a:xfrm>
          <a:prstGeom prst="rect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8912" y="2786837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22122" y="2745232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2122" y="2828442"/>
            <a:ext cx="35661" cy="35661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4048" y="3044698"/>
            <a:ext cx="416971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 lang="pt-BR">
                <a:solidFill>
                  <a:srgbClr val="1A1A1A"/>
                </a:solidFill>
                <a:latin typeface="Arial"/>
              </a:rPr>
              <a:t>Volume e conversão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" y="3201035"/>
            <a:ext cx="416971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 i="0" lang="pt-BR">
                <a:solidFill>
                  <a:srgbClr val="757575"/>
                </a:solidFill>
                <a:latin typeface="Arial"/>
              </a:rPr>
              <a:t>Leads classificados e taxa de conversão (Classif. → vendas)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84048" y="3372104"/>
          <a:ext cx="4169706" cy="56235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250914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  <a:gridCol w="364849"/>
              </a:tblGrid>
              <a:tr h="187452">
                <a:tc>
                  <a:txBody>
                    <a:bodyPr/>
                    <a:lstStyle/>
                    <a:p/>
                  </a:txBody>
                  <a:tcPr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Fev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Abr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Mai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Ago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Set*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CFE8DD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Leads Classif.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ECECEC"/>
                      </a:solidFill>
                    </a:lnB>
                    <a:solidFill>
                      <a:srgbClr val="FFC7CE"/>
                    </a:solidFill>
                  </a:tcPr>
                </a:tc>
              </a:tr>
              <a:tr h="187452">
                <a:tc>
                  <a:txBody>
                    <a:bodyPr wrap="square"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rPr sz="800" b="1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Conversão</a:t>
                      </a:r>
                    </a:p>
                    <a:p>
                      <a:pPr algn="l">
                        <a:spcBef>
                          <a:spcPts val="150"/>
                        </a:spcBef>
                        <a:defRPr sz="700">
                          <a:latin typeface="Arial"/>
                        </a:defRPr>
                      </a:pPr>
                      <a:r>
                        <a:rPr sz="700" b="0" i="0" lang="pt-BR">
                          <a:solidFill>
                            <a:srgbClr val="757575"/>
                          </a:solidFill>
                          <a:latin typeface="Arial"/>
                        </a:rPr>
                        <a:t>Classif. → vendas</a:t>
                      </a:r>
                    </a:p>
                  </a:txBody>
                  <a:tcPr marL="219456" marR="219456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0,39%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0,35%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0,31%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0,40%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0,38%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0,33%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 i="0" lang="pt-BR">
                          <a:solidFill>
                            <a:srgbClr val="9C0006"/>
                          </a:solidFill>
                          <a:latin typeface="Arial"/>
                        </a:rPr>
                        <a:t>0,18%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solidFill>
                        <a:srgbClr val="FFFFFF"/>
                      </a:solidFill>
                    </a:lnL>
                    <a:lnR w="12700" cap="flat" cmpd="sng" algn="ctr">
                      <a:solidFill>
                        <a:srgbClr val="FFFFFF"/>
                      </a:solidFill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D5D5D5"/>
                      </a:solidFill>
                    </a:lnB>
                    <a:solidFill>
                      <a:srgbClr val="FFC7CE"/>
                    </a:solidFill>
                  </a:tcPr>
                </a:tc>
              </a:tr>
            </a:tbl>
          </a:graphicData>
        </a:graphic>
      </p:graphicFrame>
      <p:sp>
        <p:nvSpPr>
          <p:cNvPr id="34" name="Oval 33"/>
          <p:cNvSpPr/>
          <p:nvPr/>
        </p:nvSpPr>
        <p:spPr>
          <a:xfrm>
            <a:off x="441907" y="3637804"/>
            <a:ext cx="27958" cy="27958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 Same Side Corner Rectangle 34"/>
          <p:cNvSpPr/>
          <p:nvPr/>
        </p:nvSpPr>
        <p:spPr>
          <a:xfrm>
            <a:off x="438912" y="3663980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20363" y="3637804"/>
            <a:ext cx="27958" cy="27958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 Same Side Corner Rectangle 36"/>
          <p:cNvSpPr/>
          <p:nvPr/>
        </p:nvSpPr>
        <p:spPr>
          <a:xfrm>
            <a:off x="517367" y="3663980"/>
            <a:ext cx="33949" cy="39940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ound Same Side Corner Rectangle 37"/>
          <p:cNvSpPr/>
          <p:nvPr/>
        </p:nvSpPr>
        <p:spPr>
          <a:xfrm>
            <a:off x="473979" y="3651498"/>
            <a:ext cx="48737" cy="55869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77545" y="3619997"/>
            <a:ext cx="41605" cy="4160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81705" y="3624158"/>
            <a:ext cx="33284" cy="33284"/>
          </a:xfrm>
          <a:prstGeom prst="ellipse">
            <a:avLst/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Round Same Side Corner Rectangle 40"/>
          <p:cNvSpPr/>
          <p:nvPr/>
        </p:nvSpPr>
        <p:spPr>
          <a:xfrm>
            <a:off x="478139" y="3655659"/>
            <a:ext cx="40416" cy="47548"/>
          </a:xfrm>
          <a:prstGeom prst="round2SameRect">
            <a:avLst>
              <a:gd name="adj1" fmla="val 50000"/>
              <a:gd name="adj2" fmla="val 0"/>
            </a:avLst>
          </a:prstGeom>
          <a:noFill/>
          <a:ln w="7594" cap="rnd">
            <a:solidFill>
              <a:srgbClr val="3F7C0E"/>
            </a:solidFill>
            <a:round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Donut 41"/>
          <p:cNvSpPr/>
          <p:nvPr/>
        </p:nvSpPr>
        <p:spPr>
          <a:xfrm>
            <a:off x="438912" y="3781298"/>
            <a:ext cx="118872" cy="118872"/>
          </a:xfrm>
          <a:prstGeom prst="donut">
            <a:avLst>
              <a:gd name="adj" fmla="val 13000"/>
            </a:avLst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Donut 42"/>
          <p:cNvSpPr/>
          <p:nvPr/>
        </p:nvSpPr>
        <p:spPr>
          <a:xfrm>
            <a:off x="468629" y="3811015"/>
            <a:ext cx="59436" cy="59436"/>
          </a:xfrm>
          <a:prstGeom prst="donut">
            <a:avLst>
              <a:gd name="adj" fmla="val 22000"/>
            </a:avLst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86460" y="3828846"/>
            <a:ext cx="23774" cy="23774"/>
          </a:xfrm>
          <a:prstGeom prst="ellipse">
            <a:avLst/>
          </a:prstGeom>
          <a:solidFill>
            <a:srgbClr val="3F7C0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4048" y="6549644"/>
            <a:ext cx="4169713" cy="2169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 i="0" lang="pt-BR">
                <a:solidFill>
                  <a:srgbClr val="757575"/>
                </a:solidFill>
                <a:latin typeface="Arial"/>
              </a:rPr>
              <a:t>Nota: considera vendas que aconteceram em até 7 dias pós geração do lead; *Inclui somente leads gerados até dia 7 de Set; Fonte: base de vendas faturadas e base de funil dos leads</a:t>
            </a:r>
          </a:p>
        </p:txBody>
      </p:sp>
      <p:graphicFrame>
        <p:nvGraphicFramePr>
          <p:cNvPr id="46" name="Table 45"/>
          <p:cNvGraphicFramePr>
            <a:graphicFrameLocks noGrp="1"/>
          </p:cNvGraphicFramePr>
          <p:nvPr/>
        </p:nvGraphicFramePr>
        <p:xfrm>
          <a:off x="4718353" y="1455420"/>
          <a:ext cx="7089567" cy="2743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708956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50" b="1" i="0" lang="pt-BR">
                          <a:solidFill>
                            <a:srgbClr val="FFFFFF"/>
                          </a:solidFill>
                          <a:latin typeface="Arial"/>
                        </a:rPr>
                        <a:t>Status das frentes em andamento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noFill/>
                    </a:lnB>
                    <a:solidFill>
                      <a:srgbClr val="1F4E3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7" name="Table 46"/>
          <p:cNvGraphicFramePr>
            <a:graphicFrameLocks noGrp="1"/>
          </p:cNvGraphicFramePr>
          <p:nvPr/>
        </p:nvGraphicFramePr>
        <p:xfrm>
          <a:off x="4718353" y="1821180"/>
          <a:ext cx="7089565" cy="49453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09523"/>
                <a:gridCol w="1437074"/>
                <a:gridCol w="773809"/>
                <a:gridCol w="405328"/>
                <a:gridCol w="736961"/>
                <a:gridCol w="1142290"/>
                <a:gridCol w="1142290"/>
                <a:gridCol w="1142290"/>
              </a:tblGrid>
              <a:tr h="256032"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ENTREGÁVEL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RESPONSÁVEL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PRAZO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PROGRESSO RECENTE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PRÓXIMOS PASSOS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PONTOS A ESCALAR</a:t>
                      </a:r>
                    </a:p>
                  </a:txBody>
                  <a:tcPr marL="64008" marR="64008" marT="45720" marB="4572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1A1A1A"/>
                      </a:solidFill>
                    </a:lnB>
                    <a:solidFill>
                      <a:srgbClr val="F7F7F7"/>
                    </a:solidFill>
                  </a:tcPr>
                </a:tc>
              </a:tr>
              <a:tr h="94411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 site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Thais Pimenta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Telefone válido nas principais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Pesquisa da nova tela de loja de preferência lançada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Criar formulário padrão para todas as LPs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Publicar a 2ª página com a loja de preferência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2219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2.1.2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nos canais Meta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(Facebook e WhatsApp)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 + Isadora Barreto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11/set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Desenho do fluxo e início do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Finalizar desenvolv. de CEP obrigatório para geração de lead na Liza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2219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2.1.3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Informações mínimas do cliente coletadas via canais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Classificados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: CEP capturado para todos os leads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Luma Gomes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Conversas para definição de prazos para obtenção de dados obrigatórios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necessidade de acelerar a obtenção dos dados de CEP com os parceiros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57835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2.1.4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Revisar modelo de clusters de anúncios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6B5700"/>
                          </a:solidFill>
                          <a:latin typeface="Arial"/>
                        </a:rPr>
                        <a:t>Em progresso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FF8E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Piloto de remoção de clusters de anúncios lançado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Avaliar resultados dos leads classificados na DVSUC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82219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2.2.1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Outras informações já disponíveis do cliente (ex.: localização por IP, cidade, etc) </a:t>
                      </a:r>
                      <a:r>
                        <a:rPr sz="750" b="1" i="0" lang="pt-BR">
                          <a:solidFill>
                            <a:srgbClr val="1A1A1A"/>
                          </a:solidFill>
                          <a:latin typeface="Arial"/>
                        </a:rPr>
                        <a:t>integradas e disponíveis</a:t>
                      </a: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 para todos os canais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TBD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25/set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iniciado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Mapear dados disponíveis para uso</a:t>
                      </a:r>
                    </a:p>
                    <a:p>
                      <a:pPr algn="l">
                        <a:spcBef>
                          <a:spcPts val="200"/>
                        </a:spcBef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• </a:t>
                      </a: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Integrar novos dados às bases de clientes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Alinhar prioridade e definir responsável e prazo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ECECEC"/>
                      </a:solidFill>
                    </a:lnB>
                    <a:noFill/>
                  </a:tcPr>
                </a:tc>
              </a:tr>
              <a:tr h="700278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 lang="pt-BR">
                          <a:solidFill>
                            <a:srgbClr val="757575"/>
                          </a:solidFill>
                          <a:latin typeface="Arial"/>
                        </a:rPr>
                        <a:t>2.3.1</a:t>
                      </a:r>
                    </a:p>
                  </a:txBody>
                  <a:tcPr marL="64008" marR="64008" marT="45720" marB="45720" anchor="t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1A1A1A"/>
                          </a:solidFill>
                          <a:latin typeface="Arial"/>
                        </a:rPr>
                        <a:t>Lead score evoluído com novas variáveis (score B3 de propensão a financiamento, renda presumida, etc.)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João Azevedo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 i="0" lang="pt-BR">
                          <a:solidFill>
                            <a:srgbClr val="333333"/>
                          </a:solidFill>
                          <a:latin typeface="Arial"/>
                        </a:rPr>
                        <a:t>23/out</a:t>
                      </a:r>
                    </a:p>
                  </a:txBody>
                  <a:tcPr marL="64008" marR="64008" marT="45720" marB="45720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00" b="1" i="0" lang="pt-BR">
                          <a:solidFill>
                            <a:srgbClr val="A30000"/>
                          </a:solidFill>
                          <a:latin typeface="Arial"/>
                        </a:rPr>
                        <a:t>Não priorizado no curto prazo</a:t>
                      </a:r>
                    </a:p>
                  </a:txBody>
                  <a:tcPr marL="36576" marR="36576" marT="45720" marB="45720" anchor="ctr">
                    <a:lnL w="31750" cap="flat" cmpd="sng" algn="ctr">
                      <a:solidFill>
                        <a:srgbClr val="FFFFFF"/>
                      </a:solidFill>
                    </a:lnL>
                    <a:lnR w="31750" cap="flat" cmpd="sng" algn="ctr">
                      <a:solidFill>
                        <a:srgbClr val="FFFFFF"/>
                      </a:solidFill>
                    </a:lnR>
                    <a:lnT w="31750" cap="flat" cmpd="sng" algn="ctr">
                      <a:solidFill>
                        <a:srgbClr val="FFFFFF"/>
                      </a:solidFill>
                    </a:lnT>
                    <a:lnB w="31750" cap="flat" cmpd="sng" algn="ctr">
                      <a:solidFill>
                        <a:srgbClr val="FFFFFF"/>
                      </a:solidFill>
                    </a:lnB>
                    <a:solidFill>
                      <a:srgbClr val="FCEA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>
                          <a:latin typeface="Arial"/>
                        </a:defRPr>
                      </a:pPr>
                      <a:r>
                        <a:rPr sz="750" b="0" i="0" lang="pt-BR">
                          <a:solidFill>
                            <a:srgbClr val="828282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64008" marR="64008" marT="36576" marB="36576" anchor="ctr">
                    <a:lnL w="6350" cap="flat" cmpd="sng" algn="ctr">
                      <a:noFill/>
                    </a:lnL>
                    <a:lnR w="6350" cap="flat" cmpd="sng" algn="ctr">
                      <a:noFill/>
                    </a:lnR>
                    <a:lnT w="6350" cap="flat" cmpd="sng" algn="ctr">
                      <a:noFill/>
                    </a:lnT>
                    <a:lnB w="6350" cap="flat" cmpd="sng" algn="ctr">
                      <a:solidFill>
                        <a:srgbClr val="D5D5D5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48" name="Oval 47"/>
          <p:cNvSpPr/>
          <p:nvPr/>
        </p:nvSpPr>
        <p:spPr>
          <a:xfrm>
            <a:off x="4799963" y="2820162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A</a:t>
            </a:r>
          </a:p>
        </p:txBody>
      </p:sp>
      <p:sp>
        <p:nvSpPr>
          <p:cNvPr id="49" name="Oval 48"/>
          <p:cNvSpPr/>
          <p:nvPr/>
        </p:nvSpPr>
        <p:spPr>
          <a:xfrm>
            <a:off x="4708523" y="364236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B</a:t>
            </a:r>
          </a:p>
        </p:txBody>
      </p:sp>
      <p:sp>
        <p:nvSpPr>
          <p:cNvPr id="50" name="Oval 49"/>
          <p:cNvSpPr/>
          <p:nvPr/>
        </p:nvSpPr>
        <p:spPr>
          <a:xfrm>
            <a:off x="4891403" y="3642360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C</a:t>
            </a:r>
          </a:p>
        </p:txBody>
      </p:sp>
      <p:sp>
        <p:nvSpPr>
          <p:cNvPr id="51" name="Oval 50"/>
          <p:cNvSpPr/>
          <p:nvPr/>
        </p:nvSpPr>
        <p:spPr>
          <a:xfrm>
            <a:off x="4799963" y="4464558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  <p:sp>
        <p:nvSpPr>
          <p:cNvPr id="52" name="Oval 51"/>
          <p:cNvSpPr/>
          <p:nvPr/>
        </p:nvSpPr>
        <p:spPr>
          <a:xfrm>
            <a:off x="4799963" y="5042916"/>
            <a:ext cx="146304" cy="146304"/>
          </a:xfrm>
          <a:prstGeom prst="ellipse">
            <a:avLst/>
          </a:prstGeom>
          <a:solidFill>
            <a:srgbClr val="78DE1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650" b="1" i="0" lang="pt-BR">
                <a:solidFill>
                  <a:srgbClr val="1A1A1A"/>
                </a:solidFill>
                <a:latin typeface="Arial"/>
              </a:rPr>
              <a:t>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Tratamento, priorização e alocação de leads (1/2)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