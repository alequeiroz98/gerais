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lang="pt-BR" dirty="0" spc="180">
                <a:solidFill>
                  <a:srgbClr val="8C8C8C"/>
                </a:solidFill>
                <a:latin typeface="Arial"/>
              </a:rPr>
              <a:t>LEAD QUENTE  |  NOSSA PROPOSTA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lang="pt-BR" dirty="0">
                <a:solidFill>
                  <a:srgbClr val="000000"/>
                </a:solidFill>
                <a:latin typeface="Arial"/>
              </a:rPr>
              <a:t>Converter o lead quente exige rodar quatro passos: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28116"/>
            <a:ext cx="1118585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lang="pt-BR" dirty="0">
                <a:solidFill>
                  <a:srgbClr val="CC0000"/>
                </a:solidFill>
                <a:latin typeface="Arial"/>
              </a:rPr>
              <a:t>comunicar, priorizar, avisar da consequência e realocar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35024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lang="pt-BR" dirty="0">
                <a:solidFill>
                  <a:srgbClr val="555555"/>
                </a:solidFill>
                <a:latin typeface="Arial"/>
              </a:rPr>
              <a:t>Pré-requisito: o número existe e é nominal – leads quentes recebidos, conversão e tempo até o primeiro contato por divisional, loja e CV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10512"/>
            <a:ext cx="2563291" cy="39502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2029967"/>
            <a:ext cx="420624" cy="420624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 lang="pt-BR" dirty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2048256"/>
            <a:ext cx="163060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lang="pt-BR" dirty="0">
                <a:solidFill>
                  <a:srgbClr val="000000"/>
                </a:solidFill>
                <a:latin typeface="Arial"/>
              </a:rPr>
              <a:t>Comunicar</a:t>
            </a:r>
          </a:p>
          <a:p>
            <a:pPr algn="l">
              <a:lnSpc>
                <a:spcPct val="110000"/>
              </a:lnSpc>
            </a:pPr>
            <a:r>
              <a:rPr sz="1450" b="1" lang="pt-BR" dirty="0">
                <a:solidFill>
                  <a:srgbClr val="000000"/>
                </a:solidFill>
                <a:latin typeface="Arial"/>
              </a:rPr>
              <a:t>divisionais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2926080"/>
            <a:ext cx="21243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37160" indent="-137160">
              <a:lnSpc>
                <a:spcPct val="118000"/>
              </a:lnSpc>
              <a:buFont typeface="Arial"/>
              <a:buChar char="•"/>
            </a:pPr>
            <a:r>
              <a:rPr sz="1000" b="0" lang="pt-BR" dirty="0">
                <a:solidFill>
                  <a:srgbClr val="262626"/>
                </a:solidFill>
                <a:latin typeface="Arial"/>
              </a:rPr>
              <a:t>Glauco leva o número aos divisionais: leads quentes recebidos e conversão por regional</a:t>
            </a:r>
          </a:p>
          <a:p>
            <a:pPr algn="l" marL="137160" indent="-137160">
              <a:lnSpc>
                <a:spcPct val="118000"/>
              </a:lnSpc>
              <a:spcBef>
                <a:spcPts val="1080"/>
              </a:spcBef>
              <a:buFont typeface="Arial"/>
              <a:buChar char="•"/>
            </a:pPr>
            <a:r>
              <a:rPr sz="1000" b="0" lang="pt-BR" dirty="0">
                <a:solidFill>
                  <a:srgbClr val="262626"/>
                </a:solidFill>
                <a:latin typeface="Arial"/>
              </a:rPr>
              <a:t>Ranking nominal explícito: quem está bem e quem está mal</a:t>
            </a:r>
          </a:p>
          <a:p>
            <a:pPr algn="l" marL="137160" indent="-137160">
              <a:lnSpc>
                <a:spcPct val="118000"/>
              </a:lnSpc>
              <a:spcBef>
                <a:spcPts val="1080"/>
              </a:spcBef>
              <a:buFont typeface="Arial"/>
              <a:buChar char="•"/>
            </a:pPr>
            <a:r>
              <a:rPr sz="1000" b="0" lang="pt-BR" dirty="0">
                <a:solidFill>
                  <a:srgbClr val="262626"/>
                </a:solidFill>
                <a:latin typeface="Arial"/>
              </a:rPr>
              <a:t>Mensagem única: o acompanhamento passa a ser semanal</a:t>
            </a:r>
          </a:p>
        </p:txBody>
      </p:sp>
      <p:sp>
        <p:nvSpPr>
          <p:cNvPr id="10" name="Oval 9"/>
          <p:cNvSpPr/>
          <p:nvPr/>
        </p:nvSpPr>
        <p:spPr>
          <a:xfrm>
            <a:off x="823142" y="4811024"/>
            <a:ext cx="145938" cy="145938"/>
          </a:xfrm>
          <a:prstGeom prst="ellipse">
            <a:avLst/>
          </a:prstGeom>
          <a:noFill/>
          <a:ln w="25095" cap="rnd">
            <a:solidFill>
              <a:srgbClr val="CC0000"/>
            </a:solidFill>
            <a:round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750173" y="4995184"/>
            <a:ext cx="291876" cy="152887"/>
          </a:xfrm>
          <a:prstGeom prst="round2SameRect">
            <a:avLst>
              <a:gd name="adj1" fmla="val 50000"/>
              <a:gd name="adj2" fmla="val 0"/>
            </a:avLst>
          </a:prstGeom>
          <a:noFill/>
          <a:ln w="25095" cap="rnd">
            <a:solidFill>
              <a:srgbClr val="CC0000"/>
            </a:solidFill>
            <a:round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4773168"/>
            <a:ext cx="168546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1" lang="pt-BR" dirty="0">
                <a:solidFill>
                  <a:srgbClr val="262626"/>
                </a:solidFill>
                <a:latin typeface="Arial"/>
              </a:rPr>
              <a:t>Dono: </a:t>
            </a:r>
            <a:r>
              <a:rPr sz="1000" b="0" lang="pt-BR" dirty="0">
                <a:solidFill>
                  <a:srgbClr val="262626"/>
                </a:solidFill>
                <a:latin typeface="Arial"/>
              </a:rPr>
              <a:t>Glauco</a:t>
            </a:r>
          </a:p>
          <a:p>
            <a:pPr algn="l">
              <a:lnSpc>
                <a:spcPct val="128000"/>
              </a:lnSpc>
              <a:spcBef>
                <a:spcPts val="432"/>
              </a:spcBef>
            </a:pPr>
            <a:r>
              <a:rPr sz="1000" b="1" lang="pt-BR" dirty="0">
                <a:solidFill>
                  <a:srgbClr val="262626"/>
                </a:solidFill>
                <a:latin typeface="Arial"/>
              </a:rPr>
              <a:t>Prazo: </a:t>
            </a:r>
            <a:r>
              <a:rPr sz="1000" b="0" lang="pt-BR" dirty="0">
                <a:solidFill>
                  <a:srgbClr val="262626"/>
                </a:solidFill>
                <a:latin typeface="Arial"/>
              </a:rPr>
              <a:t>Semana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77107" y="1810512"/>
            <a:ext cx="2563291" cy="39502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59987" y="2029967"/>
            <a:ext cx="420624" cy="420624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 lang="pt-BR" dirty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26915" y="2048256"/>
            <a:ext cx="163060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lang="pt-BR" dirty="0">
                <a:solidFill>
                  <a:srgbClr val="000000"/>
                </a:solidFill>
                <a:latin typeface="Arial"/>
              </a:rPr>
              <a:t>Priorizar</a:t>
            </a:r>
          </a:p>
          <a:p>
            <a:pPr algn="l">
              <a:lnSpc>
                <a:spcPct val="110000"/>
              </a:lnSpc>
            </a:pPr>
            <a:r>
              <a:rPr sz="1450" b="1" lang="pt-BR" dirty="0">
                <a:solidFill>
                  <a:srgbClr val="000000"/>
                </a:solidFill>
                <a:latin typeface="Arial"/>
              </a:rPr>
              <a:t>na ponta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6563" y="2926080"/>
            <a:ext cx="21243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37160" indent="-137160">
              <a:lnSpc>
                <a:spcPct val="118000"/>
              </a:lnSpc>
              <a:buFont typeface="Arial"/>
              <a:buChar char="•"/>
            </a:pPr>
            <a:r>
              <a:rPr sz="1000" b="0" lang="pt-BR" dirty="0">
                <a:solidFill>
                  <a:srgbClr val="262626"/>
                </a:solidFill>
                <a:latin typeface="Arial"/>
              </a:rPr>
              <a:t>Cascata completa: divisional para regional, regional para GV, GV para CV</a:t>
            </a:r>
          </a:p>
          <a:p>
            <a:pPr algn="l" marL="137160" indent="-137160">
              <a:lnSpc>
                <a:spcPct val="118000"/>
              </a:lnSpc>
              <a:spcBef>
                <a:spcPts val="1080"/>
              </a:spcBef>
              <a:buFont typeface="Arial"/>
              <a:buChar char="•"/>
            </a:pPr>
            <a:r>
              <a:rPr sz="1000" b="0" lang="pt-BR" dirty="0">
                <a:solidFill>
                  <a:srgbClr val="262626"/>
                </a:solidFill>
                <a:latin typeface="Arial"/>
              </a:rPr>
              <a:t>Cada CV recebe a lista nominal dos leads quentes do dia</a:t>
            </a:r>
          </a:p>
          <a:p>
            <a:pPr algn="l" marL="137160" indent="-137160">
              <a:lnSpc>
                <a:spcPct val="118000"/>
              </a:lnSpc>
              <a:spcBef>
                <a:spcPts val="1080"/>
              </a:spcBef>
              <a:buFont typeface="Arial"/>
              <a:buChar char="•"/>
            </a:pPr>
            <a:r>
              <a:rPr sz="1000" b="0" lang="pt-BR" dirty="0">
                <a:solidFill>
                  <a:srgbClr val="262626"/>
                </a:solidFill>
                <a:latin typeface="Arial"/>
              </a:rPr>
              <a:t>Instrução única: ligar em 100% da lista no mesmo dia</a:t>
            </a:r>
          </a:p>
        </p:txBody>
      </p:sp>
      <p:sp>
        <p:nvSpPr>
          <p:cNvPr id="17" name="Oval 16"/>
          <p:cNvSpPr/>
          <p:nvPr/>
        </p:nvSpPr>
        <p:spPr>
          <a:xfrm>
            <a:off x="3605320" y="4929095"/>
            <a:ext cx="81725" cy="81725"/>
          </a:xfrm>
          <a:prstGeom prst="ellipse">
            <a:avLst/>
          </a:prstGeom>
          <a:noFill/>
          <a:ln w="22199" cap="rnd">
            <a:solidFill>
              <a:srgbClr val="CC0000"/>
            </a:solidFill>
            <a:round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3596563" y="5005608"/>
            <a:ext cx="99238" cy="116750"/>
          </a:xfrm>
          <a:prstGeom prst="round2SameRect">
            <a:avLst>
              <a:gd name="adj1" fmla="val 50000"/>
              <a:gd name="adj2" fmla="val 0"/>
            </a:avLst>
          </a:prstGeom>
          <a:noFill/>
          <a:ln w="22199" cap="rnd">
            <a:solidFill>
              <a:srgbClr val="CC0000"/>
            </a:solidFill>
            <a:round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34651" y="4929095"/>
            <a:ext cx="81725" cy="81725"/>
          </a:xfrm>
          <a:prstGeom prst="ellipse">
            <a:avLst/>
          </a:prstGeom>
          <a:noFill/>
          <a:ln w="22199" cap="rnd">
            <a:solidFill>
              <a:srgbClr val="CC0000"/>
            </a:solidFill>
            <a:round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3825895" y="5005608"/>
            <a:ext cx="99238" cy="116750"/>
          </a:xfrm>
          <a:prstGeom prst="round2SameRect">
            <a:avLst>
              <a:gd name="adj1" fmla="val 50000"/>
              <a:gd name="adj2" fmla="val 0"/>
            </a:avLst>
          </a:prstGeom>
          <a:noFill/>
          <a:ln w="22199" cap="rnd">
            <a:solidFill>
              <a:srgbClr val="CC0000"/>
            </a:solidFill>
            <a:round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>
            <a:off x="3699068" y="4969123"/>
            <a:ext cx="142463" cy="16331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709492" y="4877043"/>
            <a:ext cx="121615" cy="121615"/>
          </a:xfrm>
          <a:prstGeom prst="ellipse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721653" y="4889205"/>
            <a:ext cx="97292" cy="97292"/>
          </a:xfrm>
          <a:prstGeom prst="ellipse">
            <a:avLst/>
          </a:prstGeom>
          <a:noFill/>
          <a:ln w="22199" cap="rnd">
            <a:solidFill>
              <a:srgbClr val="CC0000"/>
            </a:solidFill>
            <a:round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>
            <a:off x="3711229" y="4981285"/>
            <a:ext cx="118140" cy="138988"/>
          </a:xfrm>
          <a:prstGeom prst="round2SameRect">
            <a:avLst>
              <a:gd name="adj1" fmla="val 50000"/>
              <a:gd name="adj2" fmla="val 0"/>
            </a:avLst>
          </a:prstGeom>
          <a:noFill/>
          <a:ln w="22199" cap="rnd">
            <a:solidFill>
              <a:srgbClr val="CC0000"/>
            </a:solidFill>
            <a:round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72051" y="4773168"/>
            <a:ext cx="168546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1" lang="pt-BR" dirty="0">
                <a:solidFill>
                  <a:srgbClr val="262626"/>
                </a:solidFill>
                <a:latin typeface="Arial"/>
              </a:rPr>
              <a:t>Dono: </a:t>
            </a:r>
            <a:r>
              <a:rPr sz="1000" b="0" lang="pt-BR" dirty="0">
                <a:solidFill>
                  <a:srgbClr val="262626"/>
                </a:solidFill>
                <a:latin typeface="Arial"/>
              </a:rPr>
              <a:t>Regionais e GVs</a:t>
            </a:r>
          </a:p>
          <a:p>
            <a:pPr algn="l">
              <a:lnSpc>
                <a:spcPct val="128000"/>
              </a:lnSpc>
              <a:spcBef>
                <a:spcPts val="432"/>
              </a:spcBef>
            </a:pPr>
            <a:r>
              <a:rPr sz="1000" b="1" lang="pt-BR" dirty="0">
                <a:solidFill>
                  <a:srgbClr val="262626"/>
                </a:solidFill>
                <a:latin typeface="Arial"/>
              </a:rPr>
              <a:t>Prazo: </a:t>
            </a:r>
            <a:r>
              <a:rPr sz="1000" b="0" lang="pt-BR" dirty="0">
                <a:solidFill>
                  <a:srgbClr val="262626"/>
                </a:solidFill>
                <a:latin typeface="Arial"/>
              </a:rPr>
              <a:t>Semanas 1 e 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51295" y="1810512"/>
            <a:ext cx="2563291" cy="39502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34175" y="2029967"/>
            <a:ext cx="420624" cy="420624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 lang="pt-BR" dirty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01103" y="2048256"/>
            <a:ext cx="163060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lang="pt-BR" dirty="0">
                <a:solidFill>
                  <a:srgbClr val="000000"/>
                </a:solidFill>
                <a:latin typeface="Arial"/>
              </a:rPr>
              <a:t>Avisar da</a:t>
            </a:r>
          </a:p>
          <a:p>
            <a:pPr algn="l">
              <a:lnSpc>
                <a:spcPct val="110000"/>
              </a:lnSpc>
            </a:pPr>
            <a:r>
              <a:rPr sz="1450" b="1" lang="pt-BR" dirty="0">
                <a:solidFill>
                  <a:srgbClr val="000000"/>
                </a:solidFill>
                <a:latin typeface="Arial"/>
              </a:rPr>
              <a:t>consequência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0751" y="2926080"/>
            <a:ext cx="21243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37160" indent="-137160">
              <a:lnSpc>
                <a:spcPct val="118000"/>
              </a:lnSpc>
              <a:buFont typeface="Arial"/>
              <a:buChar char="•"/>
            </a:pPr>
            <a:r>
              <a:rPr sz="1000" b="0" lang="pt-BR" dirty="0">
                <a:solidFill>
                  <a:srgbClr val="262626"/>
                </a:solidFill>
                <a:latin typeface="Arial"/>
              </a:rPr>
              <a:t>Regra comunicada antes de valer: não converter lead quente reduz o volume recebido</a:t>
            </a:r>
          </a:p>
          <a:p>
            <a:pPr algn="l" marL="137160" indent="-137160">
              <a:lnSpc>
                <a:spcPct val="118000"/>
              </a:lnSpc>
              <a:spcBef>
                <a:spcPts val="1080"/>
              </a:spcBef>
              <a:buFont typeface="Arial"/>
              <a:buChar char="•"/>
            </a:pPr>
            <a:r>
              <a:rPr sz="1000" b="0" lang="pt-BR" dirty="0">
                <a:solidFill>
                  <a:srgbClr val="262626"/>
                </a:solidFill>
                <a:latin typeface="Arial"/>
              </a:rPr>
              <a:t>Conversão por CV acompanhada semana a semana</a:t>
            </a:r>
          </a:p>
          <a:p>
            <a:pPr algn="l" marL="137160" indent="-137160">
              <a:lnSpc>
                <a:spcPct val="118000"/>
              </a:lnSpc>
              <a:spcBef>
                <a:spcPts val="1080"/>
              </a:spcBef>
              <a:buFont typeface="Arial"/>
              <a:buChar char="•"/>
            </a:pPr>
            <a:r>
              <a:rPr sz="1000" b="0" lang="pt-BR" dirty="0">
                <a:solidFill>
                  <a:srgbClr val="262626"/>
                </a:solidFill>
                <a:latin typeface="Arial"/>
              </a:rPr>
              <a:t>Sem surpresa: aviso formal antes do primeiro corte</a:t>
            </a:r>
          </a:p>
        </p:txBody>
      </p:sp>
      <p:sp>
        <p:nvSpPr>
          <p:cNvPr id="30" name="Oval 29"/>
          <p:cNvSpPr/>
          <p:nvPr/>
        </p:nvSpPr>
        <p:spPr>
          <a:xfrm>
            <a:off x="6571518" y="4811024"/>
            <a:ext cx="145938" cy="145938"/>
          </a:xfrm>
          <a:prstGeom prst="ellipse">
            <a:avLst/>
          </a:prstGeom>
          <a:noFill/>
          <a:ln w="25095" cap="rnd">
            <a:solidFill>
              <a:srgbClr val="CC0000"/>
            </a:solidFill>
            <a:round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>
            <a:off x="6498549" y="4995184"/>
            <a:ext cx="291876" cy="152887"/>
          </a:xfrm>
          <a:prstGeom prst="round2SameRect">
            <a:avLst>
              <a:gd name="adj1" fmla="val 50000"/>
              <a:gd name="adj2" fmla="val 0"/>
            </a:avLst>
          </a:prstGeom>
          <a:noFill/>
          <a:ln w="25095" cap="rnd">
            <a:solidFill>
              <a:srgbClr val="CC0000"/>
            </a:solidFill>
            <a:round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6239" y="4773168"/>
            <a:ext cx="168546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1" lang="pt-BR" dirty="0">
                <a:solidFill>
                  <a:srgbClr val="262626"/>
                </a:solidFill>
                <a:latin typeface="Arial"/>
              </a:rPr>
              <a:t>Dono: </a:t>
            </a:r>
            <a:r>
              <a:rPr sz="1000" b="0" lang="pt-BR" dirty="0">
                <a:solidFill>
                  <a:srgbClr val="262626"/>
                </a:solidFill>
                <a:latin typeface="Arial"/>
              </a:rPr>
              <a:t>Glauco e GVs</a:t>
            </a:r>
          </a:p>
          <a:p>
            <a:pPr algn="l">
              <a:lnSpc>
                <a:spcPct val="128000"/>
              </a:lnSpc>
              <a:spcBef>
                <a:spcPts val="432"/>
              </a:spcBef>
            </a:pPr>
            <a:r>
              <a:rPr sz="1000" b="1" lang="pt-BR" dirty="0">
                <a:solidFill>
                  <a:srgbClr val="262626"/>
                </a:solidFill>
                <a:latin typeface="Arial"/>
              </a:rPr>
              <a:t>Prazo: </a:t>
            </a:r>
            <a:r>
              <a:rPr sz="1000" b="0" lang="pt-BR" dirty="0">
                <a:solidFill>
                  <a:srgbClr val="262626"/>
                </a:solidFill>
                <a:latin typeface="Arial"/>
              </a:rPr>
              <a:t>Semana 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25483" y="1810512"/>
            <a:ext cx="2563291" cy="39502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308363" y="2029967"/>
            <a:ext cx="420624" cy="420624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 lang="pt-BR" dirty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291" y="2048256"/>
            <a:ext cx="163060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lang="pt-BR" dirty="0">
                <a:solidFill>
                  <a:srgbClr val="000000"/>
                </a:solidFill>
                <a:latin typeface="Arial"/>
              </a:rPr>
              <a:t>Realocar</a:t>
            </a:r>
          </a:p>
          <a:p>
            <a:pPr algn="l">
              <a:lnSpc>
                <a:spcPct val="110000"/>
              </a:lnSpc>
            </a:pPr>
            <a:r>
              <a:rPr sz="1450" b="1" lang="pt-BR" dirty="0">
                <a:solidFill>
                  <a:srgbClr val="000000"/>
                </a:solidFill>
                <a:latin typeface="Arial"/>
              </a:rPr>
              <a:t>o lead quente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44939" y="2926080"/>
            <a:ext cx="21243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37160" indent="-137160">
              <a:lnSpc>
                <a:spcPct val="118000"/>
              </a:lnSpc>
              <a:buFont typeface="Arial"/>
              <a:buChar char="•"/>
            </a:pPr>
            <a:r>
              <a:rPr sz="1000" b="0" lang="pt-BR" dirty="0">
                <a:solidFill>
                  <a:srgbClr val="262626"/>
                </a:solidFill>
                <a:latin typeface="Arial"/>
              </a:rPr>
              <a:t>Alocação à loja segue o critério do cliente, como hoje</a:t>
            </a:r>
          </a:p>
          <a:p>
            <a:pPr algn="l" marL="137160" indent="-137160">
              <a:lnSpc>
                <a:spcPct val="118000"/>
              </a:lnSpc>
              <a:spcBef>
                <a:spcPts val="1080"/>
              </a:spcBef>
              <a:buFont typeface="Arial"/>
              <a:buChar char="•"/>
            </a:pPr>
            <a:r>
              <a:rPr sz="1000" b="0" lang="pt-BR" dirty="0">
                <a:solidFill>
                  <a:srgbClr val="262626"/>
                </a:solidFill>
                <a:latin typeface="Arial"/>
              </a:rPr>
              <a:t>Dentro da loja, o mix de quente, morno e frio segue a performance do CV</a:t>
            </a:r>
          </a:p>
          <a:p>
            <a:pPr algn="l" marL="137160" indent="-137160">
              <a:lnSpc>
                <a:spcPct val="118000"/>
              </a:lnSpc>
              <a:spcBef>
                <a:spcPts val="1080"/>
              </a:spcBef>
              <a:buFont typeface="Arial"/>
              <a:buChar char="•"/>
            </a:pPr>
            <a:r>
              <a:rPr sz="1000" b="0" lang="pt-BR" dirty="0">
                <a:solidFill>
                  <a:srgbClr val="262626"/>
                </a:solidFill>
                <a:latin typeface="Arial"/>
              </a:rPr>
              <a:t>Lead quente não tratado no prazo é realocado para quem atende</a:t>
            </a:r>
          </a:p>
        </p:txBody>
      </p:sp>
      <p:sp>
        <p:nvSpPr>
          <p:cNvPr id="37" name="Oval 36"/>
          <p:cNvSpPr/>
          <p:nvPr/>
        </p:nvSpPr>
        <p:spPr>
          <a:xfrm>
            <a:off x="9353695" y="4929095"/>
            <a:ext cx="81725" cy="81725"/>
          </a:xfrm>
          <a:prstGeom prst="ellipse">
            <a:avLst/>
          </a:prstGeom>
          <a:noFill/>
          <a:ln w="22199" cap="rnd">
            <a:solidFill>
              <a:srgbClr val="CC0000"/>
            </a:solidFill>
            <a:round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>
            <a:off x="9344939" y="5005608"/>
            <a:ext cx="99238" cy="116750"/>
          </a:xfrm>
          <a:prstGeom prst="round2SameRect">
            <a:avLst>
              <a:gd name="adj1" fmla="val 50000"/>
              <a:gd name="adj2" fmla="val 0"/>
            </a:avLst>
          </a:prstGeom>
          <a:noFill/>
          <a:ln w="22199" cap="rnd">
            <a:solidFill>
              <a:srgbClr val="CC0000"/>
            </a:solidFill>
            <a:round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583027" y="4929095"/>
            <a:ext cx="81725" cy="81725"/>
          </a:xfrm>
          <a:prstGeom prst="ellipse">
            <a:avLst/>
          </a:prstGeom>
          <a:noFill/>
          <a:ln w="22199" cap="rnd">
            <a:solidFill>
              <a:srgbClr val="CC0000"/>
            </a:solidFill>
            <a:round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9574270" y="5005608"/>
            <a:ext cx="99238" cy="116750"/>
          </a:xfrm>
          <a:prstGeom prst="round2SameRect">
            <a:avLst>
              <a:gd name="adj1" fmla="val 50000"/>
              <a:gd name="adj2" fmla="val 0"/>
            </a:avLst>
          </a:prstGeom>
          <a:noFill/>
          <a:ln w="22199" cap="rnd">
            <a:solidFill>
              <a:srgbClr val="CC0000"/>
            </a:solidFill>
            <a:round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9447443" y="4969123"/>
            <a:ext cx="142463" cy="16331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457867" y="4877043"/>
            <a:ext cx="121615" cy="121615"/>
          </a:xfrm>
          <a:prstGeom prst="ellipse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470029" y="4889205"/>
            <a:ext cx="97292" cy="97292"/>
          </a:xfrm>
          <a:prstGeom prst="ellipse">
            <a:avLst/>
          </a:prstGeom>
          <a:noFill/>
          <a:ln w="22199" cap="rnd">
            <a:solidFill>
              <a:srgbClr val="CC0000"/>
            </a:solidFill>
            <a:round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9459605" y="4981285"/>
            <a:ext cx="118140" cy="138988"/>
          </a:xfrm>
          <a:prstGeom prst="round2SameRect">
            <a:avLst>
              <a:gd name="adj1" fmla="val 50000"/>
              <a:gd name="adj2" fmla="val 0"/>
            </a:avLst>
          </a:prstGeom>
          <a:noFill/>
          <a:ln w="22199" cap="rnd">
            <a:solidFill>
              <a:srgbClr val="CC0000"/>
            </a:solidFill>
            <a:round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20427" y="4773168"/>
            <a:ext cx="168546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1" lang="pt-BR" dirty="0">
                <a:solidFill>
                  <a:srgbClr val="262626"/>
                </a:solidFill>
                <a:latin typeface="Arial"/>
              </a:rPr>
              <a:t>Dono: </a:t>
            </a:r>
            <a:r>
              <a:rPr sz="1000" b="0" lang="pt-BR" dirty="0">
                <a:solidFill>
                  <a:srgbClr val="262626"/>
                </a:solidFill>
                <a:latin typeface="Arial"/>
              </a:rPr>
              <a:t>L2S e comercial</a:t>
            </a:r>
          </a:p>
          <a:p>
            <a:pPr algn="l">
              <a:lnSpc>
                <a:spcPct val="128000"/>
              </a:lnSpc>
              <a:spcBef>
                <a:spcPts val="432"/>
              </a:spcBef>
            </a:pPr>
            <a:r>
              <a:rPr sz="1000" b="1" lang="pt-BR" dirty="0">
                <a:solidFill>
                  <a:srgbClr val="262626"/>
                </a:solidFill>
                <a:latin typeface="Arial"/>
              </a:rPr>
              <a:t>Prazo: </a:t>
            </a:r>
            <a:r>
              <a:rPr sz="1000" b="0" lang="pt-BR" dirty="0">
                <a:solidFill>
                  <a:srgbClr val="262626"/>
                </a:solidFill>
                <a:latin typeface="Arial"/>
              </a:rPr>
              <a:t>Semanas 3 e 4, em piloto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5888736"/>
            <a:ext cx="11185855" cy="4754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12648" y="5971032"/>
            <a:ext cx="310896" cy="310896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700" b="1" lang="pt-BR" dirty="0">
                <a:solidFill>
                  <a:srgbClr val="FFFFFF"/>
                </a:solidFill>
                <a:latin typeface="Arial"/>
              </a:rPr>
              <a:t>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9848" y="5888736"/>
            <a:ext cx="10490911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lang="pt-BR" dirty="0">
                <a:solidFill>
                  <a:srgbClr val="000000"/>
                </a:solidFill>
                <a:latin typeface="Arial"/>
              </a:rPr>
              <a:t>Lead quente passa a ser mérito, não direito:</a:t>
            </a:r>
            <a:r>
              <a:rPr sz="1200" b="0" lang="pt-BR" dirty="0">
                <a:solidFill>
                  <a:srgbClr val="000000"/>
                </a:solidFill>
                <a:latin typeface="Arial"/>
              </a:rPr>
              <a:t> quem converte recebe mais, quem não converte recebe menos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6382512"/>
            <a:ext cx="11185855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6473952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lang="pt-BR" dirty="0">
                <a:solidFill>
                  <a:srgbClr val="8C8C8C"/>
                </a:solidFill>
                <a:latin typeface="Arial"/>
              </a:rPr>
              <a:t>Fonte: </a:t>
            </a:r>
            <a:r>
              <a:rPr sz="850" b="0" lang="pt-BR" dirty="0">
                <a:solidFill>
                  <a:srgbClr val="8C8C8C"/>
                </a:solidFill>
                <a:latin typeface="Arial"/>
              </a:rPr>
              <a:t>análise Bain; discussão com liderança comercial Localiza Seminovos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lang="pt-BR" dirty="0">
                <a:solidFill>
                  <a:srgbClr val="8C8C8C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lang="pt-BR" dirty="0" spc="180">
                <a:solidFill>
                  <a:srgbClr val="8C8C8C"/>
                </a:solidFill>
                <a:latin typeface="Arial"/>
              </a:rPr>
              <a:t>F&amp;I MULTIBANCO  |  VISÃO GERAL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lang="pt-BR" dirty="0">
                <a:solidFill>
                  <a:srgbClr val="000000"/>
                </a:solidFill>
                <a:latin typeface="Arial"/>
              </a:rPr>
              <a:t>Entregar a plataforma de F&amp;I multibanco depende de cinco frentes,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28116"/>
            <a:ext cx="1118585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lang="pt-BR" dirty="0">
                <a:solidFill>
                  <a:srgbClr val="CC0000"/>
                </a:solidFill>
                <a:latin typeface="Arial"/>
              </a:rPr>
              <a:t>iniciadas por um piloto com lojistas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783080" cy="786384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18000"/>
              </a:lnSpc>
            </a:pPr>
            <a:r>
              <a:rPr sz="1300" b="1" lang="pt-BR" dirty="0">
                <a:solidFill>
                  <a:srgbClr val="FFFFFF"/>
                </a:solidFill>
                <a:latin typeface="Arial"/>
              </a:rPr>
              <a:t>Ambição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1353312"/>
            <a:ext cx="9311335" cy="786384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353312"/>
            <a:ext cx="8762695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 lang="pt-BR" dirty="0">
                <a:solidFill>
                  <a:srgbClr val="262626"/>
                </a:solidFill>
                <a:latin typeface="Arial"/>
              </a:rPr>
              <a:t>Plataforma de F&amp;I multibanco e ponta a ponta que faz o lojista vender mais, com simulação e envio de ficha em um só fluxo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1783080" cy="1298448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18000"/>
              </a:lnSpc>
            </a:pPr>
            <a:r>
              <a:rPr sz="1300" b="1" lang="pt-BR" dirty="0">
                <a:solidFill>
                  <a:srgbClr val="262626"/>
                </a:solidFill>
                <a:latin typeface="Arial"/>
              </a:rPr>
              <a:t>Valor para...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2286000"/>
            <a:ext cx="2994050" cy="12984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05191" y="2608900"/>
            <a:ext cx="77424" cy="77424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2596896" y="2681386"/>
            <a:ext cx="94014" cy="11060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22452" y="2608900"/>
            <a:ext cx="77424" cy="77424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2814157" y="2681386"/>
            <a:ext cx="94014" cy="11060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>
            <a:off x="2690713" y="2643530"/>
            <a:ext cx="141549" cy="1613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700588" y="2556296"/>
            <a:ext cx="121798" cy="121798"/>
          </a:xfrm>
          <a:prstGeom prst="ellipse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15402" y="2571109"/>
            <a:ext cx="92171" cy="92171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>
            <a:off x="2705526" y="2658343"/>
            <a:ext cx="111922" cy="13167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2468880"/>
            <a:ext cx="213451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lang="pt-BR" dirty="0">
                <a:solidFill>
                  <a:srgbClr val="000000"/>
                </a:solidFill>
                <a:latin typeface="Arial"/>
              </a:rPr>
              <a:t>Lojista e seu cliente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4096" y="2907792"/>
            <a:ext cx="21345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lang="pt-BR" dirty="0">
                <a:solidFill>
                  <a:srgbClr val="262626"/>
                </a:solidFill>
                <a:latin typeface="Arial"/>
              </a:rPr>
              <a:t>Mais aprovação, menos retrabalho e resposta em minutos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36082" y="2286000"/>
            <a:ext cx="2994050" cy="12984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5755538" y="2553005"/>
            <a:ext cx="329184" cy="177759"/>
          </a:xfrm>
          <a:custGeom>
            <a:avLst/>
            <a:gdLst/>
            <a:ahLst/>
            <a:cxnLst/>
            <a:rect l="l" t="t" r="r" b="b"/>
            <a:pathLst>
              <a:path w="329184" h="177759">
                <a:moveTo>
                  <a:pt x="0" y="138257"/>
                </a:moveTo>
                <a:lnTo>
                  <a:pt x="9876" y="85588"/>
                </a:lnTo>
                <a:lnTo>
                  <a:pt x="65837" y="75712"/>
                </a:lnTo>
                <a:lnTo>
                  <a:pt x="108631" y="0"/>
                </a:lnTo>
                <a:lnTo>
                  <a:pt x="220554" y="0"/>
                </a:lnTo>
                <a:lnTo>
                  <a:pt x="266639" y="75712"/>
                </a:lnTo>
                <a:lnTo>
                  <a:pt x="319309" y="92171"/>
                </a:lnTo>
                <a:lnTo>
                  <a:pt x="329184" y="138257"/>
                </a:lnTo>
                <a:lnTo>
                  <a:pt x="329184" y="177759"/>
                </a:lnTo>
                <a:lnTo>
                  <a:pt x="0" y="177759"/>
                </a:lnTo>
                <a:close/>
              </a:path>
            </a:pathLst>
          </a:cu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95040" y="2687970"/>
            <a:ext cx="85587" cy="85587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20716" y="2713646"/>
            <a:ext cx="34235" cy="34235"/>
          </a:xfrm>
          <a:prstGeom prst="ellipse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59632" y="2687970"/>
            <a:ext cx="85587" cy="85587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985308" y="2713646"/>
            <a:ext cx="34235" cy="34235"/>
          </a:xfrm>
          <a:prstGeom prst="ellipse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2738" y="2468880"/>
            <a:ext cx="213451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lang="pt-BR" dirty="0">
                <a:solidFill>
                  <a:srgbClr val="000000"/>
                </a:solidFill>
                <a:latin typeface="Arial"/>
              </a:rPr>
              <a:t>Localiza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2738" y="2907792"/>
            <a:ext cx="21345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lang="pt-BR" dirty="0">
                <a:solidFill>
                  <a:srgbClr val="262626"/>
                </a:solidFill>
                <a:latin typeface="Arial"/>
              </a:rPr>
              <a:t>Mais penetração de F&amp;I e relação mais forte com a rede de lojistas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94724" y="2286000"/>
            <a:ext cx="2994050" cy="12984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8914181" y="2487168"/>
            <a:ext cx="329184" cy="85588"/>
          </a:xfrm>
          <a:custGeom>
            <a:avLst/>
            <a:gdLst/>
            <a:ahLst/>
            <a:cxnLst/>
            <a:rect l="l" t="t" r="r" b="b"/>
            <a:pathLst>
              <a:path w="329184" h="85588">
                <a:moveTo>
                  <a:pt x="164592" y="0"/>
                </a:moveTo>
                <a:lnTo>
                  <a:pt x="329184" y="85588"/>
                </a:lnTo>
                <a:lnTo>
                  <a:pt x="0" y="85588"/>
                </a:lnTo>
                <a:close/>
              </a:path>
            </a:pathLst>
          </a:cu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20764" y="2579339"/>
            <a:ext cx="316016" cy="23042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47099" y="2615549"/>
            <a:ext cx="36210" cy="138257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27749" y="2615549"/>
            <a:ext cx="36210" cy="138257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08399" y="2615549"/>
            <a:ext cx="36210" cy="138257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89049" y="2615549"/>
            <a:ext cx="36210" cy="138257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27348" y="2760390"/>
            <a:ext cx="302849" cy="23042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914180" y="2790017"/>
            <a:ext cx="329184" cy="26334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71380" y="2468880"/>
            <a:ext cx="213451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lang="pt-BR" dirty="0">
                <a:solidFill>
                  <a:srgbClr val="000000"/>
                </a:solidFill>
                <a:latin typeface="Arial"/>
              </a:rPr>
              <a:t>Banco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1380" y="2907792"/>
            <a:ext cx="21345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lang="pt-BR" dirty="0">
                <a:solidFill>
                  <a:srgbClr val="262626"/>
                </a:solidFill>
                <a:latin typeface="Arial"/>
              </a:rPr>
              <a:t>Originação qualificada com custo de aquisição menor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3803904"/>
            <a:ext cx="11185855" cy="20116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Left Arrow 39"/>
          <p:cNvSpPr/>
          <p:nvPr/>
        </p:nvSpPr>
        <p:spPr>
          <a:xfrm>
            <a:off x="448056" y="3726180"/>
            <a:ext cx="512064" cy="173736"/>
          </a:xfrm>
          <a:prstGeom prst="leftArrow">
            <a:avLst>
              <a:gd name="adj1" fmla="val 50000"/>
              <a:gd name="adj2" fmla="val 42000"/>
            </a:avLst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06424" y="3666744"/>
            <a:ext cx="2858334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25296" y="3680460"/>
            <a:ext cx="285833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lang="pt-BR" dirty="0">
                <a:solidFill>
                  <a:srgbClr val="CC0000"/>
                </a:solidFill>
                <a:latin typeface="Arial"/>
              </a:rPr>
              <a:t>cinco frentes, escaladas em ondas</a:t>
            </a:r>
          </a:p>
        </p:txBody>
      </p:sp>
      <p:sp>
        <p:nvSpPr>
          <p:cNvPr id="43" name="Oval 42"/>
          <p:cNvSpPr/>
          <p:nvPr/>
        </p:nvSpPr>
        <p:spPr>
          <a:xfrm>
            <a:off x="630936" y="4078224"/>
            <a:ext cx="365760" cy="365760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 lang="pt-BR" dirty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4" name="Freeform 43"/>
          <p:cNvSpPr/>
          <p:nvPr/>
        </p:nvSpPr>
        <p:spPr>
          <a:xfrm>
            <a:off x="649224" y="4645152"/>
            <a:ext cx="347472" cy="90343"/>
          </a:xfrm>
          <a:custGeom>
            <a:avLst/>
            <a:gdLst/>
            <a:ahLst/>
            <a:cxnLst/>
            <a:rect l="l" t="t" r="r" b="b"/>
            <a:pathLst>
              <a:path w="347472" h="90343">
                <a:moveTo>
                  <a:pt x="173736" y="0"/>
                </a:moveTo>
                <a:lnTo>
                  <a:pt x="347472" y="90343"/>
                </a:lnTo>
                <a:lnTo>
                  <a:pt x="0" y="90343"/>
                </a:lnTo>
                <a:close/>
              </a:path>
            </a:pathLst>
          </a:cu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6173" y="4742444"/>
            <a:ext cx="333573" cy="24323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83971" y="4780666"/>
            <a:ext cx="38221" cy="14593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69101" y="4780666"/>
            <a:ext cx="38221" cy="14593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54232" y="4780666"/>
            <a:ext cx="38221" cy="14593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39363" y="4780666"/>
            <a:ext cx="38221" cy="14593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3122" y="4933553"/>
            <a:ext cx="319674" cy="24323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9224" y="4964826"/>
            <a:ext cx="347472" cy="27797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0936" y="5120640"/>
            <a:ext cx="190798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lang="pt-BR" dirty="0">
                <a:solidFill>
                  <a:srgbClr val="000000"/>
                </a:solidFill>
                <a:latin typeface="Arial"/>
              </a:rPr>
              <a:t>Bancos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" y="5559552"/>
            <a:ext cx="1907987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lang="pt-BR" dirty="0">
                <a:solidFill>
                  <a:srgbClr val="262626"/>
                </a:solidFill>
                <a:latin typeface="Arial"/>
              </a:rPr>
              <a:t>Integrar em ondas, dos bancos menores aos maiores, à medida que a proposta de valor se confirma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35519" y="4133087"/>
            <a:ext cx="9144" cy="210312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868107" y="4078224"/>
            <a:ext cx="365760" cy="365760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 lang="pt-BR" dirty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6" name="Gear 9 55"/>
          <p:cNvSpPr/>
          <p:nvPr/>
        </p:nvSpPr>
        <p:spPr>
          <a:xfrm>
            <a:off x="2886395" y="4645152"/>
            <a:ext cx="347472" cy="347472"/>
          </a:xfrm>
          <a:prstGeom prst="gear9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999323" y="4758080"/>
            <a:ext cx="121615" cy="12161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868107" y="5120640"/>
            <a:ext cx="190798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lang="pt-BR" dirty="0">
                <a:solidFill>
                  <a:srgbClr val="000000"/>
                </a:solidFill>
                <a:latin typeface="Arial"/>
              </a:rPr>
              <a:t>Tecnologia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68107" y="5559552"/>
            <a:ext cx="1907987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lang="pt-BR" dirty="0">
                <a:solidFill>
                  <a:srgbClr val="262626"/>
                </a:solidFill>
                <a:latin typeface="Arial"/>
              </a:rPr>
              <a:t>APIs para simulação via Corban do lojista e envio da ficha a múltiplos bancos em um único disparo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72690" y="4133087"/>
            <a:ext cx="9144" cy="210312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105278" y="4078224"/>
            <a:ext cx="365760" cy="365760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 lang="pt-BR" dirty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123566" y="4659050"/>
            <a:ext cx="347472" cy="215432"/>
          </a:xfrm>
          <a:prstGeom prst="rect">
            <a:avLst/>
          </a:prstGeom>
          <a:noFill/>
          <a:ln w="24130" cap="rnd">
            <a:solidFill>
              <a:srgbClr val="CC0000"/>
            </a:solidFill>
            <a:round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168737" y="4707696"/>
            <a:ext cx="152887" cy="22585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168737" y="4752868"/>
            <a:ext cx="257129" cy="22585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168737" y="4798039"/>
            <a:ext cx="114665" cy="22585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272979" y="4874483"/>
            <a:ext cx="48646" cy="62544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206959" y="4937028"/>
            <a:ext cx="180685" cy="31272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105278" y="5120640"/>
            <a:ext cx="190798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lang="pt-BR" dirty="0">
                <a:solidFill>
                  <a:srgbClr val="000000"/>
                </a:solidFill>
                <a:latin typeface="Arial"/>
              </a:rPr>
              <a:t>Interface</a:t>
            </a:r>
          </a:p>
          <a:p>
            <a:pPr algn="l">
              <a:lnSpc>
                <a:spcPct val="112000"/>
              </a:lnSpc>
            </a:pPr>
            <a:r>
              <a:rPr sz="1250" b="1" lang="pt-BR" dirty="0">
                <a:solidFill>
                  <a:srgbClr val="000000"/>
                </a:solidFill>
                <a:latin typeface="Arial"/>
              </a:rPr>
              <a:t>da plataforma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05278" y="5559552"/>
            <a:ext cx="1907987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lang="pt-BR" dirty="0">
                <a:solidFill>
                  <a:srgbClr val="262626"/>
                </a:solidFill>
                <a:latin typeface="Arial"/>
              </a:rPr>
              <a:t>Melhoria contínua guiada pelo uso do vendedor, com ciclos curtos de release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209861" y="4133087"/>
            <a:ext cx="9144" cy="210312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342449" y="4078224"/>
            <a:ext cx="365760" cy="365760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 lang="pt-BR" dirty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72" name="Oval 71"/>
          <p:cNvSpPr/>
          <p:nvPr/>
        </p:nvSpPr>
        <p:spPr>
          <a:xfrm>
            <a:off x="7369493" y="4773647"/>
            <a:ext cx="81725" cy="81725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3" name="Round Same Side Corner Rectangle 72"/>
          <p:cNvSpPr/>
          <p:nvPr/>
        </p:nvSpPr>
        <p:spPr>
          <a:xfrm>
            <a:off x="7360737" y="4850160"/>
            <a:ext cx="99238" cy="11675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598824" y="4773647"/>
            <a:ext cx="81725" cy="81725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5" name="Round Same Side Corner Rectangle 74"/>
          <p:cNvSpPr/>
          <p:nvPr/>
        </p:nvSpPr>
        <p:spPr>
          <a:xfrm>
            <a:off x="7590068" y="4850160"/>
            <a:ext cx="99238" cy="11675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6" name="Round Same Side Corner Rectangle 75"/>
          <p:cNvSpPr/>
          <p:nvPr/>
        </p:nvSpPr>
        <p:spPr>
          <a:xfrm>
            <a:off x="7459766" y="4810201"/>
            <a:ext cx="149412" cy="17026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470190" y="4718121"/>
            <a:ext cx="128564" cy="1285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485827" y="4733757"/>
            <a:ext cx="97292" cy="97292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9" name="Round Same Side Corner Rectangle 78"/>
          <p:cNvSpPr/>
          <p:nvPr/>
        </p:nvSpPr>
        <p:spPr>
          <a:xfrm>
            <a:off x="7475402" y="4825837"/>
            <a:ext cx="118140" cy="13898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342449" y="5120640"/>
            <a:ext cx="190798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lang="pt-BR" dirty="0">
                <a:solidFill>
                  <a:srgbClr val="000000"/>
                </a:solidFill>
                <a:latin typeface="Arial"/>
              </a:rPr>
              <a:t>Lojistas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42449" y="5559552"/>
            <a:ext cx="1907987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lang="pt-BR" dirty="0">
                <a:solidFill>
                  <a:srgbClr val="262626"/>
                </a:solidFill>
                <a:latin typeface="Arial"/>
              </a:rPr>
              <a:t>Piloto em pequena escala para provar a proposta de valor e, confirmada, escalar por onda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447032" y="4133087"/>
            <a:ext cx="9144" cy="210312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579620" y="4078224"/>
            <a:ext cx="365760" cy="365760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 lang="pt-BR" dirty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84" name="Rectangle 83"/>
          <p:cNvSpPr/>
          <p:nvPr/>
        </p:nvSpPr>
        <p:spPr>
          <a:xfrm rot="20006097">
            <a:off x="9635674" y="4746787"/>
            <a:ext cx="271939" cy="22585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 rot="1593903">
            <a:off x="9635674" y="4868402"/>
            <a:ext cx="271939" cy="22585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597908" y="4766767"/>
            <a:ext cx="104241" cy="104241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841138" y="4645152"/>
            <a:ext cx="104241" cy="104241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841138" y="4888382"/>
            <a:ext cx="104241" cy="104241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579620" y="5120640"/>
            <a:ext cx="190798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lang="pt-BR" dirty="0">
                <a:solidFill>
                  <a:srgbClr val="000000"/>
                </a:solidFill>
                <a:latin typeface="Arial"/>
              </a:rPr>
              <a:t>Ecossistema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579620" y="5559552"/>
            <a:ext cx="1907987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lang="pt-BR" dirty="0">
                <a:solidFill>
                  <a:srgbClr val="262626"/>
                </a:solidFill>
                <a:latin typeface="Arial"/>
              </a:rPr>
              <a:t>Novos serviços e integração com Valoriza depois que o núcleo estiver estável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02920" y="6382512"/>
            <a:ext cx="11185855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02920" y="6473952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lang="pt-BR" dirty="0">
                <a:solidFill>
                  <a:srgbClr val="8C8C8C"/>
                </a:solidFill>
                <a:latin typeface="Arial"/>
              </a:rPr>
              <a:t>Fonte: </a:t>
            </a:r>
            <a:r>
              <a:rPr sz="850" b="0" lang="pt-BR" dirty="0">
                <a:solidFill>
                  <a:srgbClr val="8C8C8C"/>
                </a:solidFill>
                <a:latin typeface="Arial"/>
              </a:rPr>
              <a:t>análise Bain. Preliminar, para discussão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lang="pt-BR" dirty="0">
                <a:solidFill>
                  <a:srgbClr val="8C8C8C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lang="pt-BR" dirty="0" spc="180">
                <a:solidFill>
                  <a:srgbClr val="8C8C8C"/>
                </a:solidFill>
                <a:latin typeface="Arial"/>
              </a:rPr>
              <a:t>F&amp;I MULTIBANCO  |  PLANO DE EXECUÇÃO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lang="pt-BR" dirty="0">
                <a:solidFill>
                  <a:srgbClr val="000000"/>
                </a:solidFill>
                <a:latin typeface="Arial"/>
              </a:rPr>
              <a:t>As cinco frentes têm entregável, ponto de partida, destino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28116"/>
            <a:ext cx="1118585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lang="pt-BR" dirty="0">
                <a:solidFill>
                  <a:srgbClr val="CC0000"/>
                </a:solidFill>
                <a:latin typeface="Arial"/>
              </a:rPr>
              <a:t>e prazo explícitos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54480"/>
          <a:ext cx="11274552" cy="444398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03504"/>
                <a:gridCol w="1700784"/>
                <a:gridCol w="2377440"/>
                <a:gridCol w="2377440"/>
                <a:gridCol w="2788920"/>
                <a:gridCol w="1426464"/>
              </a:tblGrid>
              <a:tr h="51206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6000"/>
                        </a:lnSpc>
                      </a:pPr>
                      <a:r>
                        <a:rPr sz="1150" b="1" lang="pt-BR" dirty="0">
                          <a:solidFill>
                            <a:srgbClr val="262626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146304" marR="146304" marT="54864" marB="54864" anchor="ctr">
                    <a:solidFill>
                      <a:srgbClr val="E6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150" b="1" lang="pt-BR" dirty="0">
                          <a:solidFill>
                            <a:srgbClr val="262626"/>
                          </a:solidFill>
                          <a:latin typeface="Arial"/>
                        </a:rPr>
                        <a:t>Frente</a:t>
                      </a:r>
                    </a:p>
                  </a:txBody>
                  <a:tcPr marL="146304" marR="146304" marT="54864" marB="54864" anchor="ctr">
                    <a:solidFill>
                      <a:srgbClr val="E6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150" b="1" lang="pt-BR" dirty="0">
                          <a:solidFill>
                            <a:srgbClr val="262626"/>
                          </a:solidFill>
                          <a:latin typeface="Arial"/>
                        </a:rPr>
                        <a:t>Entregável</a:t>
                      </a:r>
                    </a:p>
                  </a:txBody>
                  <a:tcPr marL="146304" marR="146304" marT="54864" marB="54864" anchor="ctr">
                    <a:solidFill>
                      <a:srgbClr val="E6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150" b="1" lang="pt-BR" dirty="0">
                          <a:solidFill>
                            <a:srgbClr val="262626"/>
                          </a:solidFill>
                          <a:latin typeface="Arial"/>
                        </a:rPr>
                        <a:t>Onde estamos</a:t>
                      </a:r>
                    </a:p>
                  </a:txBody>
                  <a:tcPr marL="146304" marR="146304" marT="54864" marB="54864" anchor="ctr">
                    <a:solidFill>
                      <a:srgbClr val="E6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150" b="1" lang="pt-BR" dirty="0">
                          <a:solidFill>
                            <a:srgbClr val="262626"/>
                          </a:solidFill>
                          <a:latin typeface="Arial"/>
                        </a:rPr>
                        <a:t>Onde queremos chegar</a:t>
                      </a:r>
                    </a:p>
                  </a:txBody>
                  <a:tcPr marL="146304" marR="146304" marT="54864" marB="54864" anchor="ctr">
                    <a:solidFill>
                      <a:srgbClr val="E6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6000"/>
                        </a:lnSpc>
                      </a:pPr>
                      <a:r>
                        <a:rPr sz="1150" b="1" lang="pt-BR" dirty="0">
                          <a:solidFill>
                            <a:srgbClr val="262626"/>
                          </a:solidFill>
                          <a:latin typeface="Arial"/>
                        </a:rPr>
                        <a:t>Quando</a:t>
                      </a:r>
                    </a:p>
                  </a:txBody>
                  <a:tcPr marL="146304" marR="146304" marT="54864" marB="54864" anchor="ctr">
                    <a:solidFill>
                      <a:srgbClr val="E6E6E6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6000"/>
                        </a:lnSpc>
                      </a:pPr>
                      <a:r>
                        <a:rPr sz="1100" b="0" lang="pt-BR" dirty="0">
                          <a:solidFill>
                            <a:srgbClr val="26262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46304" marR="14630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100" b="1" lang="pt-BR" dirty="0">
                          <a:solidFill>
                            <a:srgbClr val="000000"/>
                          </a:solidFill>
                          <a:latin typeface="Arial"/>
                        </a:rPr>
                        <a:t>Bancos</a:t>
                      </a:r>
                    </a:p>
                  </a:txBody>
                  <a:tcPr marL="146304" marR="14630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100" b="0" lang="pt-BR" dirty="0">
                          <a:solidFill>
                            <a:srgbClr val="262626"/>
                          </a:solidFill>
                          <a:latin typeface="Arial"/>
                        </a:rPr>
                        <a:t>Bancos integrados</a:t>
                      </a:r>
                    </a:p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100" b="0" lang="pt-BR" dirty="0">
                          <a:solidFill>
                            <a:srgbClr val="262626"/>
                          </a:solidFill>
                          <a:latin typeface="Arial"/>
                        </a:rPr>
                        <a:t>em cascata</a:t>
                      </a:r>
                    </a:p>
                  </a:txBody>
                  <a:tcPr marL="146304" marR="14630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100" b="0" lang="pt-BR" dirty="0">
                          <a:solidFill>
                            <a:srgbClr val="262626"/>
                          </a:solidFill>
                          <a:latin typeface="Arial"/>
                        </a:rPr>
                        <a:t>1 banco conectado,</a:t>
                      </a:r>
                    </a:p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100" b="0" lang="pt-BR" dirty="0">
                          <a:solidFill>
                            <a:srgbClr val="262626"/>
                          </a:solidFill>
                          <a:latin typeface="Arial"/>
                        </a:rPr>
                        <a:t>envio manual</a:t>
                      </a:r>
                    </a:p>
                  </a:txBody>
                  <a:tcPr marL="146304" marR="14630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100" b="0" lang="pt-BR" dirty="0">
                          <a:solidFill>
                            <a:srgbClr val="262626"/>
                          </a:solidFill>
                          <a:latin typeface="Arial"/>
                        </a:rPr>
                        <a:t>4 a 5 bancos em</a:t>
                      </a:r>
                    </a:p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100" b="0" lang="pt-BR" dirty="0">
                          <a:solidFill>
                            <a:srgbClr val="262626"/>
                          </a:solidFill>
                          <a:latin typeface="Arial"/>
                        </a:rPr>
                        <a:t>cascata automática</a:t>
                      </a:r>
                    </a:p>
                  </a:txBody>
                  <a:tcPr marL="146304" marR="14630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6000"/>
                        </a:lnSpc>
                      </a:pPr>
                      <a:r>
                        <a:rPr sz="1100" b="0" lang="pt-BR" dirty="0">
                          <a:solidFill>
                            <a:srgbClr val="262626"/>
                          </a:solidFill>
                          <a:latin typeface="Arial"/>
                        </a:rPr>
                        <a:t>2T26</a:t>
                      </a:r>
                    </a:p>
                  </a:txBody>
                  <a:tcPr marL="146304" marR="146304" marT="54864" marB="54864" anchor="ctr">
                    <a:solidFill>
                      <a:srgbClr val="F4F4F4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6000"/>
                        </a:lnSpc>
                      </a:pPr>
                      <a:r>
                        <a:rPr sz="1100" b="0" lang="pt-BR" dirty="0">
                          <a:solidFill>
                            <a:srgbClr val="26262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46304" marR="146304" marT="54864" marB="54864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100" b="1" lang="pt-BR" dirty="0">
                          <a:solidFill>
                            <a:srgbClr val="000000"/>
                          </a:solidFill>
                          <a:latin typeface="Arial"/>
                        </a:rPr>
                        <a:t>Tecnologia</a:t>
                      </a:r>
                    </a:p>
                  </a:txBody>
                  <a:tcPr marL="146304" marR="146304" marT="54864" marB="54864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100" b="0" lang="pt-BR" dirty="0">
                          <a:solidFill>
                            <a:srgbClr val="262626"/>
                          </a:solidFill>
                          <a:latin typeface="Arial"/>
                        </a:rPr>
                        <a:t>APIs de simulação</a:t>
                      </a:r>
                    </a:p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100" b="0" lang="pt-BR" dirty="0">
                          <a:solidFill>
                            <a:srgbClr val="262626"/>
                          </a:solidFill>
                          <a:latin typeface="Arial"/>
                        </a:rPr>
                        <a:t>e envio de ficha</a:t>
                      </a:r>
                    </a:p>
                  </a:txBody>
                  <a:tcPr marL="146304" marR="146304" marT="54864" marB="54864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100" b="0" lang="pt-BR" dirty="0">
                          <a:solidFill>
                            <a:srgbClr val="262626"/>
                          </a:solidFill>
                          <a:latin typeface="Arial"/>
                        </a:rPr>
                        <a:t>Simulação via Corban,</a:t>
                      </a:r>
                    </a:p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100" b="0" lang="pt-BR" dirty="0">
                          <a:solidFill>
                            <a:srgbClr val="262626"/>
                          </a:solidFill>
                          <a:latin typeface="Arial"/>
                        </a:rPr>
                        <a:t>ficha manual</a:t>
                      </a:r>
                    </a:p>
                  </a:txBody>
                  <a:tcPr marL="146304" marR="146304" marT="54864" marB="54864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100" b="0" lang="pt-BR" dirty="0">
                          <a:solidFill>
                            <a:srgbClr val="262626"/>
                          </a:solidFill>
                          <a:latin typeface="Arial"/>
                        </a:rPr>
                        <a:t>Disparo único para</a:t>
                      </a:r>
                    </a:p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100" b="0" lang="pt-BR" dirty="0">
                          <a:solidFill>
                            <a:srgbClr val="262626"/>
                          </a:solidFill>
                          <a:latin typeface="Arial"/>
                        </a:rPr>
                        <a:t>múltiplos bancos</a:t>
                      </a:r>
                    </a:p>
                  </a:txBody>
                  <a:tcPr marL="146304" marR="146304" marT="54864" marB="54864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6000"/>
                        </a:lnSpc>
                      </a:pPr>
                      <a:r>
                        <a:rPr sz="1100" b="0" lang="pt-BR" dirty="0">
                          <a:solidFill>
                            <a:srgbClr val="262626"/>
                          </a:solidFill>
                          <a:latin typeface="Arial"/>
                        </a:rPr>
                        <a:t>2T26</a:t>
                      </a:r>
                    </a:p>
                  </a:txBody>
                  <a:tcPr marL="146304" marR="146304" marT="54864" marB="54864" anchor="ctr">
                    <a:solidFill>
                      <a:srgbClr val="F4F4F4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6000"/>
                        </a:lnSpc>
                      </a:pPr>
                      <a:r>
                        <a:rPr sz="1100" b="0" lang="pt-BR" dirty="0">
                          <a:solidFill>
                            <a:srgbClr val="26262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46304" marR="14630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100" b="1" lang="pt-BR" dirty="0">
                          <a:solidFill>
                            <a:srgbClr val="000000"/>
                          </a:solidFill>
                          <a:latin typeface="Arial"/>
                        </a:rPr>
                        <a:t>Interface da</a:t>
                      </a:r>
                    </a:p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100" b="1" lang="pt-BR" dirty="0">
                          <a:solidFill>
                            <a:srgbClr val="000000"/>
                          </a:solidFill>
                          <a:latin typeface="Arial"/>
                        </a:rPr>
                        <a:t>plataforma</a:t>
                      </a:r>
                    </a:p>
                  </a:txBody>
                  <a:tcPr marL="146304" marR="14630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100" b="0" lang="pt-BR" dirty="0">
                          <a:solidFill>
                            <a:srgbClr val="262626"/>
                          </a:solidFill>
                          <a:latin typeface="Arial"/>
                        </a:rPr>
                        <a:t>Jornada do vendedor</a:t>
                      </a:r>
                    </a:p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100" b="0" lang="pt-BR" dirty="0">
                          <a:solidFill>
                            <a:srgbClr val="262626"/>
                          </a:solidFill>
                          <a:latin typeface="Arial"/>
                        </a:rPr>
                        <a:t>ponta a ponta</a:t>
                      </a:r>
                    </a:p>
                  </a:txBody>
                  <a:tcPr marL="146304" marR="14630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100" b="0" lang="pt-BR" dirty="0">
                          <a:solidFill>
                            <a:srgbClr val="262626"/>
                          </a:solidFill>
                          <a:latin typeface="Arial"/>
                        </a:rPr>
                        <a:t>Versão inicial em uso</a:t>
                      </a:r>
                    </a:p>
                  </a:txBody>
                  <a:tcPr marL="146304" marR="14630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100" b="0" lang="pt-BR" dirty="0">
                          <a:solidFill>
                            <a:srgbClr val="262626"/>
                          </a:solidFill>
                          <a:latin typeface="Arial"/>
                        </a:rPr>
                        <a:t>Release contínuo</a:t>
                      </a:r>
                    </a:p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100" b="0" lang="pt-BR" dirty="0">
                          <a:solidFill>
                            <a:srgbClr val="262626"/>
                          </a:solidFill>
                          <a:latin typeface="Arial"/>
                        </a:rPr>
                        <a:t>guiado pelo uso</a:t>
                      </a:r>
                    </a:p>
                  </a:txBody>
                  <a:tcPr marL="146304" marR="14630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6000"/>
                        </a:lnSpc>
                      </a:pPr>
                      <a:r>
                        <a:rPr sz="1100" b="0" lang="pt-BR" dirty="0">
                          <a:solidFill>
                            <a:srgbClr val="262626"/>
                          </a:solidFill>
                          <a:latin typeface="Arial"/>
                        </a:rPr>
                        <a:t>Contínuo</a:t>
                      </a:r>
                    </a:p>
                  </a:txBody>
                  <a:tcPr marL="146304" marR="146304" marT="54864" marB="54864" anchor="ctr">
                    <a:solidFill>
                      <a:srgbClr val="F4F4F4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6000"/>
                        </a:lnSpc>
                      </a:pPr>
                      <a:r>
                        <a:rPr sz="1100" b="0" lang="pt-BR" dirty="0">
                          <a:solidFill>
                            <a:srgbClr val="26262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46304" marR="146304" marT="54864" marB="54864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100" b="1" lang="pt-BR" dirty="0">
                          <a:solidFill>
                            <a:srgbClr val="000000"/>
                          </a:solidFill>
                          <a:latin typeface="Arial"/>
                        </a:rPr>
                        <a:t>Lojistas</a:t>
                      </a:r>
                    </a:p>
                  </a:txBody>
                  <a:tcPr marL="146304" marR="146304" marT="54864" marB="54864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100" b="0" lang="pt-BR" dirty="0">
                          <a:solidFill>
                            <a:srgbClr val="262626"/>
                          </a:solidFill>
                          <a:latin typeface="Arial"/>
                        </a:rPr>
                        <a:t>Piloto e plano</a:t>
                      </a:r>
                    </a:p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100" b="0" lang="pt-BR" dirty="0">
                          <a:solidFill>
                            <a:srgbClr val="262626"/>
                          </a:solidFill>
                          <a:latin typeface="Arial"/>
                        </a:rPr>
                        <a:t>de escala</a:t>
                      </a:r>
                    </a:p>
                  </a:txBody>
                  <a:tcPr marL="146304" marR="146304" marT="54864" marB="54864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100" b="0" lang="pt-BR" dirty="0">
                          <a:solidFill>
                            <a:srgbClr val="262626"/>
                          </a:solidFill>
                          <a:latin typeface="Arial"/>
                        </a:rPr>
                        <a:t>Amostra do piloto</a:t>
                      </a:r>
                    </a:p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100" b="0" lang="pt-BR" dirty="0">
                          <a:solidFill>
                            <a:srgbClr val="262626"/>
                          </a:solidFill>
                          <a:latin typeface="Arial"/>
                        </a:rPr>
                        <a:t>em definição</a:t>
                      </a:r>
                    </a:p>
                  </a:txBody>
                  <a:tcPr marL="146304" marR="146304" marT="54864" marB="54864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100" b="0" lang="pt-BR" dirty="0">
                          <a:solidFill>
                            <a:srgbClr val="262626"/>
                          </a:solidFill>
                          <a:latin typeface="Arial"/>
                        </a:rPr>
                        <a:t>Piloto provado e</a:t>
                      </a:r>
                    </a:p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100" b="0" lang="pt-BR" dirty="0">
                          <a:solidFill>
                            <a:srgbClr val="262626"/>
                          </a:solidFill>
                          <a:latin typeface="Arial"/>
                        </a:rPr>
                        <a:t>escala por onda</a:t>
                      </a:r>
                    </a:p>
                  </a:txBody>
                  <a:tcPr marL="146304" marR="146304" marT="54864" marB="54864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6000"/>
                        </a:lnSpc>
                      </a:pPr>
                      <a:r>
                        <a:rPr sz="1100" b="0" lang="pt-BR" dirty="0">
                          <a:solidFill>
                            <a:srgbClr val="262626"/>
                          </a:solidFill>
                          <a:latin typeface="Arial"/>
                        </a:rPr>
                        <a:t>1T26</a:t>
                      </a:r>
                    </a:p>
                  </a:txBody>
                  <a:tcPr marL="146304" marR="146304" marT="54864" marB="54864" anchor="ctr">
                    <a:solidFill>
                      <a:srgbClr val="F4F4F4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6000"/>
                        </a:lnSpc>
                      </a:pPr>
                      <a:r>
                        <a:rPr sz="1100" b="0" lang="pt-BR" dirty="0">
                          <a:solidFill>
                            <a:srgbClr val="26262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46304" marR="14630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100" b="1" lang="pt-BR" dirty="0">
                          <a:solidFill>
                            <a:srgbClr val="000000"/>
                          </a:solidFill>
                          <a:latin typeface="Arial"/>
                        </a:rPr>
                        <a:t>Ecossistema</a:t>
                      </a:r>
                    </a:p>
                  </a:txBody>
                  <a:tcPr marL="146304" marR="14630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100" b="0" lang="pt-BR" dirty="0">
                          <a:solidFill>
                            <a:srgbClr val="262626"/>
                          </a:solidFill>
                          <a:latin typeface="Arial"/>
                        </a:rPr>
                        <a:t>Integração com</a:t>
                      </a:r>
                    </a:p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100" b="0" lang="pt-BR" dirty="0">
                          <a:solidFill>
                            <a:srgbClr val="262626"/>
                          </a:solidFill>
                          <a:latin typeface="Arial"/>
                        </a:rPr>
                        <a:t>Valoriza e novos serviços</a:t>
                      </a:r>
                    </a:p>
                  </a:txBody>
                  <a:tcPr marL="146304" marR="14630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100" b="0" lang="pt-BR" dirty="0">
                          <a:solidFill>
                            <a:srgbClr val="262626"/>
                          </a:solidFill>
                          <a:latin typeface="Arial"/>
                        </a:rPr>
                        <a:t>Escopo em discussão</a:t>
                      </a:r>
                    </a:p>
                  </a:txBody>
                  <a:tcPr marL="146304" marR="14630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100" b="0" lang="pt-BR" dirty="0">
                          <a:solidFill>
                            <a:srgbClr val="262626"/>
                          </a:solidFill>
                          <a:latin typeface="Arial"/>
                        </a:rPr>
                        <a:t>Oferta ampliada na</a:t>
                      </a:r>
                    </a:p>
                    <a:p>
                      <a:pPr algn="l">
                        <a:lnSpc>
                          <a:spcPct val="116000"/>
                        </a:lnSpc>
                      </a:pPr>
                      <a:r>
                        <a:rPr sz="1100" b="0" lang="pt-BR" dirty="0">
                          <a:solidFill>
                            <a:srgbClr val="262626"/>
                          </a:solidFill>
                          <a:latin typeface="Arial"/>
                        </a:rPr>
                        <a:t>mesma jornada</a:t>
                      </a:r>
                    </a:p>
                  </a:txBody>
                  <a:tcPr marL="146304" marR="146304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6000"/>
                        </a:lnSpc>
                      </a:pPr>
                      <a:r>
                        <a:rPr sz="1100" b="0" lang="pt-BR" dirty="0">
                          <a:solidFill>
                            <a:srgbClr val="262626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146304" marR="146304" marT="54864" marB="54864" anchor="ctr"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2066543"/>
            <a:ext cx="11274552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0936" y="2286000"/>
            <a:ext cx="347472" cy="347472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lang="pt-BR" dirty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52927"/>
            <a:ext cx="11274552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0936" y="3072384"/>
            <a:ext cx="347472" cy="347472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lang="pt-BR" dirty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639311"/>
            <a:ext cx="11274552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0936" y="3858767"/>
            <a:ext cx="347472" cy="347472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lang="pt-BR" dirty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425696"/>
            <a:ext cx="11274552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0936" y="4645151"/>
            <a:ext cx="347472" cy="347472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lang="pt-BR" dirty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212079"/>
            <a:ext cx="11274552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936" y="5431535"/>
            <a:ext cx="347472" cy="347472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50" b="1" lang="pt-BR" dirty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998464"/>
            <a:ext cx="11274552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6382512"/>
            <a:ext cx="11185855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lang="pt-BR" dirty="0">
                <a:solidFill>
                  <a:srgbClr val="8C8C8C"/>
                </a:solidFill>
                <a:latin typeface="Arial"/>
              </a:rPr>
              <a:t>Fonte: </a:t>
            </a:r>
            <a:r>
              <a:rPr sz="850" b="0" lang="pt-BR" dirty="0">
                <a:solidFill>
                  <a:srgbClr val="8C8C8C"/>
                </a:solidFill>
                <a:latin typeface="Arial"/>
              </a:rPr>
              <a:t>análise Bain. Conteúdo preliminar, para preenchimento com os donos de cada frente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lang="pt-BR" dirty="0">
                <a:solidFill>
                  <a:srgbClr val="8C8C8C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lang="pt-BR" dirty="0" spc="180">
                <a:solidFill>
                  <a:srgbClr val="8C8C8C"/>
                </a:solidFill>
                <a:latin typeface="Arial"/>
              </a:rPr>
              <a:t>L2S  |  LEAD QUENTE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585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lang="pt-BR" dirty="0">
                <a:solidFill>
                  <a:srgbClr val="000000"/>
                </a:solidFill>
                <a:latin typeface="Arial"/>
              </a:rPr>
              <a:t>Converter o lead quente exige rodar quatro passos: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28116"/>
            <a:ext cx="1118585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lang="pt-BR" dirty="0">
                <a:solidFill>
                  <a:srgbClr val="CC0000"/>
                </a:solidFill>
                <a:latin typeface="Arial"/>
              </a:rPr>
              <a:t>comunicar, priorizar, avisar da consequência e realocar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35024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lang="pt-BR" dirty="0">
                <a:solidFill>
                  <a:srgbClr val="555555"/>
                </a:solidFill>
                <a:latin typeface="Arial"/>
              </a:rPr>
              <a:t>Pré-requisito: o número existe e é nominal: leads quentes recebidos, conversão e tempo até o primeiro contato por divisional, loja e CV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01952"/>
            <a:ext cx="2522143" cy="804672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35391" y="2350008"/>
            <a:ext cx="118872" cy="18288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04555" y="2221992"/>
            <a:ext cx="118872" cy="310896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73719" y="2075688"/>
            <a:ext cx="118872" cy="4572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02336" y="1737360"/>
            <a:ext cx="420624" cy="420624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 lang="pt-BR" dirty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34639"/>
            <a:ext cx="233926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lang="pt-BR" dirty="0">
                <a:solidFill>
                  <a:srgbClr val="000000"/>
                </a:solidFill>
                <a:latin typeface="Arial"/>
              </a:rPr>
              <a:t>Comunicar</a:t>
            </a:r>
          </a:p>
          <a:p>
            <a:pPr algn="l">
              <a:lnSpc>
                <a:spcPct val="110000"/>
              </a:lnSpc>
            </a:pPr>
            <a:r>
              <a:rPr sz="1350" b="1" lang="pt-BR" dirty="0">
                <a:solidFill>
                  <a:srgbClr val="000000"/>
                </a:solidFill>
                <a:latin typeface="Arial"/>
              </a:rPr>
              <a:t>divisionais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74720"/>
            <a:ext cx="23392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37160" indent="-137160">
              <a:lnSpc>
                <a:spcPct val="118000"/>
              </a:lnSpc>
              <a:buFont typeface="Arial"/>
              <a:buChar char="•"/>
            </a:pPr>
            <a:r>
              <a:rPr sz="950" b="0" lang="pt-BR" dirty="0">
                <a:solidFill>
                  <a:srgbClr val="262626"/>
                </a:solidFill>
                <a:latin typeface="Arial"/>
              </a:rPr>
              <a:t>Glauco leva o número aos divisionais: leads quentes recebidos e conversão por regional</a:t>
            </a:r>
          </a:p>
          <a:p>
            <a:pPr algn="l" marL="137160" indent="-137160">
              <a:lnSpc>
                <a:spcPct val="118000"/>
              </a:lnSpc>
              <a:spcBef>
                <a:spcPts val="1008"/>
              </a:spcBef>
              <a:buFont typeface="Arial"/>
              <a:buChar char="•"/>
            </a:pPr>
            <a:r>
              <a:rPr sz="950" b="0" lang="pt-BR" dirty="0">
                <a:solidFill>
                  <a:srgbClr val="262626"/>
                </a:solidFill>
                <a:latin typeface="Arial"/>
              </a:rPr>
              <a:t>Ranking nominal explícito: quem está bem e quem está mal</a:t>
            </a:r>
          </a:p>
          <a:p>
            <a:pPr algn="l" marL="137160" indent="-137160">
              <a:lnSpc>
                <a:spcPct val="118000"/>
              </a:lnSpc>
              <a:spcBef>
                <a:spcPts val="1008"/>
              </a:spcBef>
              <a:buFont typeface="Arial"/>
              <a:buChar char="•"/>
            </a:pPr>
            <a:r>
              <a:rPr sz="950" b="0" lang="pt-BR" dirty="0">
                <a:solidFill>
                  <a:srgbClr val="262626"/>
                </a:solidFill>
                <a:latin typeface="Arial"/>
              </a:rPr>
              <a:t>Mensagem única: o acompanhamento passa a ser semanal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120640"/>
            <a:ext cx="233926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lang="pt-BR" dirty="0">
                <a:solidFill>
                  <a:srgbClr val="262626"/>
                </a:solidFill>
                <a:latin typeface="Arial"/>
              </a:rPr>
              <a:t>Dono: </a:t>
            </a:r>
            <a:r>
              <a:rPr sz="950" b="0" lang="pt-BR" dirty="0">
                <a:solidFill>
                  <a:srgbClr val="262626"/>
                </a:solidFill>
                <a:latin typeface="Arial"/>
              </a:rPr>
              <a:t>Glauco</a:t>
            </a:r>
          </a:p>
          <a:p>
            <a:pPr algn="l">
              <a:lnSpc>
                <a:spcPct val="128000"/>
              </a:lnSpc>
              <a:spcBef>
                <a:spcPts val="432"/>
              </a:spcBef>
            </a:pPr>
            <a:r>
              <a:rPr sz="950" b="1" lang="pt-BR" dirty="0">
                <a:solidFill>
                  <a:srgbClr val="262626"/>
                </a:solidFill>
                <a:latin typeface="Arial"/>
              </a:rPr>
              <a:t>Prazo: </a:t>
            </a:r>
            <a:r>
              <a:rPr sz="950" b="0" lang="pt-BR" dirty="0">
                <a:solidFill>
                  <a:srgbClr val="262626"/>
                </a:solidFill>
                <a:latin typeface="Arial"/>
              </a:rPr>
              <a:t>Semana 1</a:t>
            </a:r>
          </a:p>
        </p:txBody>
      </p:sp>
      <p:sp>
        <p:nvSpPr>
          <p:cNvPr id="14" name="Chevron 13"/>
          <p:cNvSpPr/>
          <p:nvPr/>
        </p:nvSpPr>
        <p:spPr>
          <a:xfrm>
            <a:off x="3107359" y="2176272"/>
            <a:ext cx="219456" cy="256032"/>
          </a:xfrm>
          <a:prstGeom prst="chevron">
            <a:avLst>
              <a:gd name="adj" fmla="val 50000"/>
            </a:avLst>
          </a:prstGeom>
          <a:solidFill>
            <a:srgbClr val="B4B4B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90823" y="1901952"/>
            <a:ext cx="2522143" cy="804672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4817" y="2244760"/>
            <a:ext cx="107533" cy="107533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>
            <a:off x="4423295" y="2345436"/>
            <a:ext cx="130576" cy="15361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736569" y="2244760"/>
            <a:ext cx="107533" cy="107533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>
            <a:off x="4725047" y="2345436"/>
            <a:ext cx="130576" cy="15361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4553597" y="2292858"/>
            <a:ext cx="196596" cy="22402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AEA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67313" y="2171700"/>
            <a:ext cx="169164" cy="169164"/>
          </a:xfrm>
          <a:prstGeom prst="ellipse">
            <a:avLst/>
          </a:prstGeom>
          <a:solidFill>
            <a:srgbClr val="EAEA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87887" y="2192274"/>
            <a:ext cx="128016" cy="128016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4574171" y="2313432"/>
            <a:ext cx="155448" cy="182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290239" y="1737360"/>
            <a:ext cx="420624" cy="420624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 lang="pt-BR" dirty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82263" y="2834639"/>
            <a:ext cx="233926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lang="pt-BR" dirty="0">
                <a:solidFill>
                  <a:srgbClr val="000000"/>
                </a:solidFill>
                <a:latin typeface="Arial"/>
              </a:rPr>
              <a:t>Priorizar</a:t>
            </a:r>
          </a:p>
          <a:p>
            <a:pPr algn="l">
              <a:lnSpc>
                <a:spcPct val="110000"/>
              </a:lnSpc>
            </a:pPr>
            <a:r>
              <a:rPr sz="1350" b="1" lang="pt-BR" dirty="0">
                <a:solidFill>
                  <a:srgbClr val="000000"/>
                </a:solidFill>
                <a:latin typeface="Arial"/>
              </a:rPr>
              <a:t>na ponta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82263" y="3474720"/>
            <a:ext cx="23392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37160" indent="-137160">
              <a:lnSpc>
                <a:spcPct val="118000"/>
              </a:lnSpc>
              <a:buFont typeface="Arial"/>
              <a:buChar char="•"/>
            </a:pPr>
            <a:r>
              <a:rPr sz="950" b="0" lang="pt-BR" dirty="0">
                <a:solidFill>
                  <a:srgbClr val="262626"/>
                </a:solidFill>
                <a:latin typeface="Arial"/>
              </a:rPr>
              <a:t>Cascata completa: divisional para regional, regional para GV, GV para CV</a:t>
            </a:r>
          </a:p>
          <a:p>
            <a:pPr algn="l" marL="137160" indent="-137160">
              <a:lnSpc>
                <a:spcPct val="118000"/>
              </a:lnSpc>
              <a:spcBef>
                <a:spcPts val="1008"/>
              </a:spcBef>
              <a:buFont typeface="Arial"/>
              <a:buChar char="•"/>
            </a:pPr>
            <a:r>
              <a:rPr sz="950" b="0" lang="pt-BR" dirty="0">
                <a:solidFill>
                  <a:srgbClr val="262626"/>
                </a:solidFill>
                <a:latin typeface="Arial"/>
              </a:rPr>
              <a:t>Cada CV recebe a lista nominal dos leads quentes do dia</a:t>
            </a:r>
          </a:p>
          <a:p>
            <a:pPr algn="l" marL="137160" indent="-137160">
              <a:lnSpc>
                <a:spcPct val="118000"/>
              </a:lnSpc>
              <a:spcBef>
                <a:spcPts val="1008"/>
              </a:spcBef>
              <a:buFont typeface="Arial"/>
              <a:buChar char="•"/>
            </a:pPr>
            <a:r>
              <a:rPr sz="950" b="0" lang="pt-BR" dirty="0">
                <a:solidFill>
                  <a:srgbClr val="262626"/>
                </a:solidFill>
                <a:latin typeface="Arial"/>
              </a:rPr>
              <a:t>Instrução única: ligar em 100% da lista no mesmo dia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82263" y="5120640"/>
            <a:ext cx="233926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lang="pt-BR" dirty="0">
                <a:solidFill>
                  <a:srgbClr val="262626"/>
                </a:solidFill>
                <a:latin typeface="Arial"/>
              </a:rPr>
              <a:t>Dono: </a:t>
            </a:r>
            <a:r>
              <a:rPr sz="950" b="0" lang="pt-BR" dirty="0">
                <a:solidFill>
                  <a:srgbClr val="262626"/>
                </a:solidFill>
                <a:latin typeface="Arial"/>
              </a:rPr>
              <a:t>Regionais e GVs</a:t>
            </a:r>
          </a:p>
          <a:p>
            <a:pPr algn="l">
              <a:lnSpc>
                <a:spcPct val="128000"/>
              </a:lnSpc>
              <a:spcBef>
                <a:spcPts val="432"/>
              </a:spcBef>
            </a:pPr>
            <a:r>
              <a:rPr sz="950" b="1" lang="pt-BR" dirty="0">
                <a:solidFill>
                  <a:srgbClr val="262626"/>
                </a:solidFill>
                <a:latin typeface="Arial"/>
              </a:rPr>
              <a:t>Prazo: </a:t>
            </a:r>
            <a:r>
              <a:rPr sz="950" b="0" lang="pt-BR" dirty="0">
                <a:solidFill>
                  <a:srgbClr val="262626"/>
                </a:solidFill>
                <a:latin typeface="Arial"/>
              </a:rPr>
              <a:t>Semanas 1 e 2</a:t>
            </a:r>
          </a:p>
        </p:txBody>
      </p:sp>
      <p:sp>
        <p:nvSpPr>
          <p:cNvPr id="28" name="Chevron 27"/>
          <p:cNvSpPr/>
          <p:nvPr/>
        </p:nvSpPr>
        <p:spPr>
          <a:xfrm>
            <a:off x="5995263" y="2176272"/>
            <a:ext cx="219456" cy="256032"/>
          </a:xfrm>
          <a:prstGeom prst="chevron">
            <a:avLst>
              <a:gd name="adj" fmla="val 50000"/>
            </a:avLst>
          </a:prstGeom>
          <a:solidFill>
            <a:srgbClr val="B4B4B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78727" y="1901952"/>
            <a:ext cx="2522143" cy="804672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Isosceles Triangle 29"/>
          <p:cNvSpPr/>
          <p:nvPr/>
        </p:nvSpPr>
        <p:spPr>
          <a:xfrm>
            <a:off x="7320343" y="2103120"/>
            <a:ext cx="438912" cy="393192"/>
          </a:xfrm>
          <a:prstGeom prst="triangle">
            <a:avLst>
              <a:gd name="adj" fmla="val 50000"/>
            </a:avLst>
          </a:prstGeom>
          <a:noFill/>
          <a:ln w="33020" cap="rnd">
            <a:solidFill>
              <a:srgbClr val="CC0000"/>
            </a:solidFill>
            <a:round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23797" y="2258568"/>
            <a:ext cx="32004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522425" y="2391156"/>
            <a:ext cx="34747" cy="34747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178143" y="1737360"/>
            <a:ext cx="420624" cy="420624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 lang="pt-BR" dirty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0167" y="2834639"/>
            <a:ext cx="233926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lang="pt-BR" dirty="0">
                <a:solidFill>
                  <a:srgbClr val="000000"/>
                </a:solidFill>
                <a:latin typeface="Arial"/>
              </a:rPr>
              <a:t>Avisar da</a:t>
            </a:r>
          </a:p>
          <a:p>
            <a:pPr algn="l">
              <a:lnSpc>
                <a:spcPct val="110000"/>
              </a:lnSpc>
            </a:pPr>
            <a:r>
              <a:rPr sz="1350" b="1" lang="pt-BR" dirty="0">
                <a:solidFill>
                  <a:srgbClr val="000000"/>
                </a:solidFill>
                <a:latin typeface="Arial"/>
              </a:rPr>
              <a:t>consequência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70167" y="3474720"/>
            <a:ext cx="23392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37160" indent="-137160">
              <a:lnSpc>
                <a:spcPct val="118000"/>
              </a:lnSpc>
              <a:buFont typeface="Arial"/>
              <a:buChar char="•"/>
            </a:pPr>
            <a:r>
              <a:rPr sz="950" b="0" lang="pt-BR" dirty="0">
                <a:solidFill>
                  <a:srgbClr val="262626"/>
                </a:solidFill>
                <a:latin typeface="Arial"/>
              </a:rPr>
              <a:t>Regra comunicada antes de valer: não converter lead quente reduz o volume recebido</a:t>
            </a:r>
          </a:p>
          <a:p>
            <a:pPr algn="l" marL="137160" indent="-137160">
              <a:lnSpc>
                <a:spcPct val="118000"/>
              </a:lnSpc>
              <a:spcBef>
                <a:spcPts val="1008"/>
              </a:spcBef>
              <a:buFont typeface="Arial"/>
              <a:buChar char="•"/>
            </a:pPr>
            <a:r>
              <a:rPr sz="950" b="0" lang="pt-BR" dirty="0">
                <a:solidFill>
                  <a:srgbClr val="262626"/>
                </a:solidFill>
                <a:latin typeface="Arial"/>
              </a:rPr>
              <a:t>Conversão por CV acompanhada semana a semana</a:t>
            </a:r>
          </a:p>
          <a:p>
            <a:pPr algn="l" marL="137160" indent="-137160">
              <a:lnSpc>
                <a:spcPct val="118000"/>
              </a:lnSpc>
              <a:spcBef>
                <a:spcPts val="1008"/>
              </a:spcBef>
              <a:buFont typeface="Arial"/>
              <a:buChar char="•"/>
            </a:pPr>
            <a:r>
              <a:rPr sz="950" b="0" lang="pt-BR" dirty="0">
                <a:solidFill>
                  <a:srgbClr val="262626"/>
                </a:solidFill>
                <a:latin typeface="Arial"/>
              </a:rPr>
              <a:t>Sem surpresa: aviso formal antes do primeiro corte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0167" y="5120640"/>
            <a:ext cx="233926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lang="pt-BR" dirty="0">
                <a:solidFill>
                  <a:srgbClr val="262626"/>
                </a:solidFill>
                <a:latin typeface="Arial"/>
              </a:rPr>
              <a:t>Dono: </a:t>
            </a:r>
            <a:r>
              <a:rPr sz="950" b="0" lang="pt-BR" dirty="0">
                <a:solidFill>
                  <a:srgbClr val="262626"/>
                </a:solidFill>
                <a:latin typeface="Arial"/>
              </a:rPr>
              <a:t>Glauco e GVs</a:t>
            </a:r>
          </a:p>
          <a:p>
            <a:pPr algn="l">
              <a:lnSpc>
                <a:spcPct val="128000"/>
              </a:lnSpc>
              <a:spcBef>
                <a:spcPts val="432"/>
              </a:spcBef>
            </a:pPr>
            <a:r>
              <a:rPr sz="950" b="1" lang="pt-BR" dirty="0">
                <a:solidFill>
                  <a:srgbClr val="262626"/>
                </a:solidFill>
                <a:latin typeface="Arial"/>
              </a:rPr>
              <a:t>Prazo: </a:t>
            </a:r>
            <a:r>
              <a:rPr sz="950" b="0" lang="pt-BR" dirty="0">
                <a:solidFill>
                  <a:srgbClr val="262626"/>
                </a:solidFill>
                <a:latin typeface="Arial"/>
              </a:rPr>
              <a:t>Semana 2</a:t>
            </a:r>
          </a:p>
        </p:txBody>
      </p:sp>
      <p:sp>
        <p:nvSpPr>
          <p:cNvPr id="37" name="Chevron 36"/>
          <p:cNvSpPr/>
          <p:nvPr/>
        </p:nvSpPr>
        <p:spPr>
          <a:xfrm>
            <a:off x="8883167" y="2176272"/>
            <a:ext cx="219456" cy="256032"/>
          </a:xfrm>
          <a:prstGeom prst="chevron">
            <a:avLst>
              <a:gd name="adj" fmla="val 50000"/>
            </a:avLst>
          </a:prstGeom>
          <a:solidFill>
            <a:srgbClr val="B4B4B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66631" y="1901952"/>
            <a:ext cx="2522143" cy="804672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Block Arc 38"/>
          <p:cNvSpPr/>
          <p:nvPr/>
        </p:nvSpPr>
        <p:spPr>
          <a:xfrm>
            <a:off x="10221963" y="2098548"/>
            <a:ext cx="411480" cy="411480"/>
          </a:xfrm>
          <a:prstGeom prst="blockArc">
            <a:avLst>
              <a:gd name="adj1" fmla="val 1500000"/>
              <a:gd name="adj2" fmla="val 9300000"/>
              <a:gd name="adj3" fmla="val 17000"/>
            </a:avLst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10227140" y="2319620"/>
            <a:ext cx="69769" cy="106667"/>
          </a:xfrm>
          <a:custGeom>
            <a:avLst/>
            <a:gdLst/>
            <a:ahLst/>
            <a:cxnLst/>
            <a:rect l="l" t="t" r="r" b="b"/>
            <a:pathLst>
              <a:path w="69769" h="106667">
                <a:moveTo>
                  <a:pt x="0" y="0"/>
                </a:moveTo>
                <a:lnTo>
                  <a:pt x="69769" y="82795"/>
                </a:lnTo>
                <a:lnTo>
                  <a:pt x="18577" y="106667"/>
                </a:lnTo>
                <a:close/>
              </a:path>
            </a:pathLst>
          </a:cu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Block Arc 40"/>
          <p:cNvSpPr/>
          <p:nvPr/>
        </p:nvSpPr>
        <p:spPr>
          <a:xfrm>
            <a:off x="10221963" y="2098548"/>
            <a:ext cx="411480" cy="411480"/>
          </a:xfrm>
          <a:prstGeom prst="blockArc">
            <a:avLst>
              <a:gd name="adj1" fmla="val 12300000"/>
              <a:gd name="adj2" fmla="val 20100000"/>
              <a:gd name="adj3" fmla="val 17000"/>
            </a:avLst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10558497" y="2182289"/>
            <a:ext cx="69770" cy="106667"/>
          </a:xfrm>
          <a:custGeom>
            <a:avLst/>
            <a:gdLst/>
            <a:ahLst/>
            <a:cxnLst/>
            <a:rect l="l" t="t" r="r" b="b"/>
            <a:pathLst>
              <a:path w="69770" h="106667">
                <a:moveTo>
                  <a:pt x="69770" y="106667"/>
                </a:moveTo>
                <a:lnTo>
                  <a:pt x="0" y="23872"/>
                </a:lnTo>
                <a:lnTo>
                  <a:pt x="51192" y="0"/>
                </a:lnTo>
                <a:close/>
              </a:path>
            </a:pathLst>
          </a:cu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066047" y="1737360"/>
            <a:ext cx="420624" cy="420624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 lang="pt-BR" dirty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58071" y="2834639"/>
            <a:ext cx="233926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lang="pt-BR" dirty="0">
                <a:solidFill>
                  <a:srgbClr val="000000"/>
                </a:solidFill>
                <a:latin typeface="Arial"/>
              </a:rPr>
              <a:t>Realocar</a:t>
            </a:r>
          </a:p>
          <a:p>
            <a:pPr algn="l">
              <a:lnSpc>
                <a:spcPct val="110000"/>
              </a:lnSpc>
            </a:pPr>
            <a:r>
              <a:rPr sz="1350" b="1" lang="pt-BR" dirty="0">
                <a:solidFill>
                  <a:srgbClr val="000000"/>
                </a:solidFill>
                <a:latin typeface="Arial"/>
              </a:rPr>
              <a:t>o lead quente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58071" y="3474720"/>
            <a:ext cx="23392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37160" indent="-137160">
              <a:lnSpc>
                <a:spcPct val="118000"/>
              </a:lnSpc>
              <a:buFont typeface="Arial"/>
              <a:buChar char="•"/>
            </a:pPr>
            <a:r>
              <a:rPr sz="950" b="0" lang="pt-BR" dirty="0">
                <a:solidFill>
                  <a:srgbClr val="262626"/>
                </a:solidFill>
                <a:latin typeface="Arial"/>
              </a:rPr>
              <a:t>Alocação à loja segue o critério do cliente, como hoje</a:t>
            </a:r>
          </a:p>
          <a:p>
            <a:pPr algn="l" marL="137160" indent="-137160">
              <a:lnSpc>
                <a:spcPct val="118000"/>
              </a:lnSpc>
              <a:spcBef>
                <a:spcPts val="1008"/>
              </a:spcBef>
              <a:buFont typeface="Arial"/>
              <a:buChar char="•"/>
            </a:pPr>
            <a:r>
              <a:rPr sz="950" b="0" lang="pt-BR" dirty="0">
                <a:solidFill>
                  <a:srgbClr val="262626"/>
                </a:solidFill>
                <a:latin typeface="Arial"/>
              </a:rPr>
              <a:t>Dentro da loja, o mix de quente, morno e frio segue a performance do CV</a:t>
            </a:r>
          </a:p>
          <a:p>
            <a:pPr algn="l" marL="137160" indent="-137160">
              <a:lnSpc>
                <a:spcPct val="118000"/>
              </a:lnSpc>
              <a:spcBef>
                <a:spcPts val="1008"/>
              </a:spcBef>
              <a:buFont typeface="Arial"/>
              <a:buChar char="•"/>
            </a:pPr>
            <a:r>
              <a:rPr sz="950" b="0" lang="pt-BR" dirty="0">
                <a:solidFill>
                  <a:srgbClr val="262626"/>
                </a:solidFill>
                <a:latin typeface="Arial"/>
              </a:rPr>
              <a:t>Lead quente não tratado no prazo é realocado para quem atende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58071" y="5120640"/>
            <a:ext cx="233926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lang="pt-BR" dirty="0">
                <a:solidFill>
                  <a:srgbClr val="262626"/>
                </a:solidFill>
                <a:latin typeface="Arial"/>
              </a:rPr>
              <a:t>Dono: </a:t>
            </a:r>
            <a:r>
              <a:rPr sz="950" b="0" lang="pt-BR" dirty="0">
                <a:solidFill>
                  <a:srgbClr val="262626"/>
                </a:solidFill>
                <a:latin typeface="Arial"/>
              </a:rPr>
              <a:t>L2S e comercial</a:t>
            </a:r>
          </a:p>
          <a:p>
            <a:pPr algn="l">
              <a:lnSpc>
                <a:spcPct val="128000"/>
              </a:lnSpc>
              <a:spcBef>
                <a:spcPts val="432"/>
              </a:spcBef>
            </a:pPr>
            <a:r>
              <a:rPr sz="950" b="1" lang="pt-BR" dirty="0">
                <a:solidFill>
                  <a:srgbClr val="262626"/>
                </a:solidFill>
                <a:latin typeface="Arial"/>
              </a:rPr>
              <a:t>Prazo: </a:t>
            </a:r>
            <a:r>
              <a:rPr sz="950" b="0" lang="pt-BR" dirty="0">
                <a:solidFill>
                  <a:srgbClr val="262626"/>
                </a:solidFill>
                <a:latin typeface="Arial"/>
              </a:rPr>
              <a:t>Semanas 3 e 4, em piloto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5907024"/>
            <a:ext cx="11185855" cy="457200"/>
          </a:xfrm>
          <a:prstGeom prst="rect">
            <a:avLst/>
          </a:prstGeom>
          <a:solidFill>
            <a:srgbClr val="FBEF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Donut 47"/>
          <p:cNvSpPr/>
          <p:nvPr/>
        </p:nvSpPr>
        <p:spPr>
          <a:xfrm>
            <a:off x="679216" y="6012728"/>
            <a:ext cx="76078" cy="81930"/>
          </a:xfrm>
          <a:prstGeom prst="donut">
            <a:avLst>
              <a:gd name="adj" fmla="val 24000"/>
            </a:avLst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Donut 48"/>
          <p:cNvSpPr/>
          <p:nvPr/>
        </p:nvSpPr>
        <p:spPr>
          <a:xfrm>
            <a:off x="872337" y="6012728"/>
            <a:ext cx="76078" cy="81930"/>
          </a:xfrm>
          <a:prstGeom prst="donut">
            <a:avLst>
              <a:gd name="adj" fmla="val 24000"/>
            </a:avLst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731886" y="5989320"/>
            <a:ext cx="163860" cy="146304"/>
          </a:xfrm>
          <a:custGeom>
            <a:avLst/>
            <a:gdLst/>
            <a:ahLst/>
            <a:cxnLst/>
            <a:rect l="l" t="t" r="r" b="b"/>
            <a:pathLst>
              <a:path w="163860" h="146304">
                <a:moveTo>
                  <a:pt x="0" y="0"/>
                </a:moveTo>
                <a:lnTo>
                  <a:pt x="163860" y="0"/>
                </a:lnTo>
                <a:lnTo>
                  <a:pt x="140452" y="111191"/>
                </a:lnTo>
                <a:lnTo>
                  <a:pt x="105339" y="146304"/>
                </a:lnTo>
                <a:lnTo>
                  <a:pt x="58521" y="146304"/>
                </a:lnTo>
                <a:lnTo>
                  <a:pt x="23408" y="111191"/>
                </a:lnTo>
                <a:close/>
              </a:path>
            </a:pathLst>
          </a:cu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96259" y="6135624"/>
            <a:ext cx="35112" cy="58521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9442" y="6194145"/>
            <a:ext cx="128747" cy="26334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20181" y="6229258"/>
            <a:ext cx="187269" cy="32186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06424" y="5907024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lang="pt-BR" dirty="0">
                <a:solidFill>
                  <a:srgbClr val="CC0000"/>
                </a:solidFill>
                <a:latin typeface="Arial"/>
              </a:rPr>
              <a:t>Lead quente passa a ser mérito, não direito: quem converte recebe mais, quem não converte recebe menos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6382512"/>
            <a:ext cx="11185855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6473952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lang="pt-BR" dirty="0">
                <a:solidFill>
                  <a:srgbClr val="8C8C8C"/>
                </a:solidFill>
                <a:latin typeface="Arial"/>
              </a:rPr>
              <a:t>Fonte: </a:t>
            </a:r>
            <a:r>
              <a:rPr sz="850" b="0" lang="pt-BR" dirty="0">
                <a:solidFill>
                  <a:srgbClr val="8C8C8C"/>
                </a:solidFill>
                <a:latin typeface="Arial"/>
              </a:rPr>
              <a:t>análise Bain; discussão com liderança comercial Localiza Seminovos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77879" y="6473952"/>
            <a:ext cx="310896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lang="pt-BR" dirty="0">
                <a:solidFill>
                  <a:srgbClr val="8C8C8C"/>
                </a:solidFill>
                <a:latin typeface="Arial"/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40135" y="6473952"/>
            <a:ext cx="146304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lang="pt-BR" dirty="0">
                <a:solidFill>
                  <a:srgbClr val="B4B4B4"/>
                </a:solidFill>
                <a:latin typeface="Arial"/>
              </a:rPr>
              <a:t>|</a:t>
            </a:r>
          </a:p>
        </p:txBody>
      </p:sp>
      <p:sp>
        <p:nvSpPr>
          <p:cNvPr id="59" name="Oval 58"/>
          <p:cNvSpPr/>
          <p:nvPr/>
        </p:nvSpPr>
        <p:spPr>
          <a:xfrm>
            <a:off x="10865815" y="6487668"/>
            <a:ext cx="141732" cy="141732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09336" y="6473952"/>
            <a:ext cx="116503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1" lang="pt-BR" dirty="0" spc="60">
                <a:solidFill>
                  <a:srgbClr val="000000"/>
                </a:solidFill>
                <a:latin typeface="Arial"/>
              </a:rPr>
              <a:t>BAIN &amp; COMPANY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lang="pt-BR" dirty="0" spc="180">
                <a:solidFill>
                  <a:srgbClr val="CC0000"/>
                </a:solidFill>
                <a:latin typeface="Arial"/>
              </a:rPr>
              <a:t>F&amp;I MULTIBANCO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93776"/>
            <a:ext cx="11185855" cy="10972"/>
          </a:xfrm>
          <a:prstGeom prst="rect">
            <a:avLst/>
          </a:prstGeom>
          <a:solidFill>
            <a:srgbClr val="E6B3B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18585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lang="pt-BR" dirty="0">
                <a:solidFill>
                  <a:srgbClr val="000000"/>
                </a:solidFill>
                <a:latin typeface="Arial"/>
              </a:rPr>
              <a:t>Entregar a plataforma de F&amp;I multibanco depende de cinco frentes,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2708"/>
            <a:ext cx="1118585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lang="pt-BR" dirty="0">
                <a:solidFill>
                  <a:srgbClr val="CC0000"/>
                </a:solidFill>
                <a:latin typeface="Arial"/>
              </a:rPr>
              <a:t>iniciadas por um piloto com lojistas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lang="pt-BR" dirty="0">
                <a:solidFill>
                  <a:srgbClr val="CC0000"/>
                </a:solidFill>
                <a:latin typeface="Arial"/>
              </a:rPr>
              <a:t>Ambição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55648"/>
            <a:ext cx="11185855" cy="713232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onut 7"/>
          <p:cNvSpPr/>
          <p:nvPr/>
        </p:nvSpPr>
        <p:spPr>
          <a:xfrm>
            <a:off x="740664" y="1911095"/>
            <a:ext cx="402336" cy="402336"/>
          </a:xfrm>
          <a:prstGeom prst="donut">
            <a:avLst>
              <a:gd name="adj" fmla="val 13000"/>
            </a:avLst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onut 8"/>
          <p:cNvSpPr/>
          <p:nvPr/>
        </p:nvSpPr>
        <p:spPr>
          <a:xfrm>
            <a:off x="841248" y="2011679"/>
            <a:ext cx="201168" cy="201168"/>
          </a:xfrm>
          <a:prstGeom prst="donut">
            <a:avLst>
              <a:gd name="adj" fmla="val 22000"/>
            </a:avLst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01598" y="2072030"/>
            <a:ext cx="80467" cy="80467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62456" y="1755648"/>
            <a:ext cx="10125151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 lang="pt-BR" dirty="0">
                <a:solidFill>
                  <a:srgbClr val="262626"/>
                </a:solidFill>
                <a:latin typeface="Arial"/>
              </a:rPr>
              <a:t>Plataforma de F&amp;I multibanco e ponta a ponta que faz o lojista vender mais, com simulação e envio de ficha em um só fluxo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33472"/>
            <a:ext cx="3606698" cy="10972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0210" y="2913033"/>
            <a:ext cx="73122" cy="73122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>
            <a:off x="722376" y="2981492"/>
            <a:ext cx="88791" cy="10446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5401" y="2913033"/>
            <a:ext cx="73122" cy="73122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927567" y="2981492"/>
            <a:ext cx="88791" cy="10446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>
            <a:off x="810981" y="2945739"/>
            <a:ext cx="133685" cy="15233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0308" y="2863352"/>
            <a:ext cx="115031" cy="115031"/>
          </a:xfrm>
          <a:prstGeom prst="ellipse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4298" y="2877342"/>
            <a:ext cx="87050" cy="87050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824971" y="2959729"/>
            <a:ext cx="105704" cy="12435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9576" y="2798064"/>
            <a:ext cx="274716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lang="pt-BR" dirty="0">
                <a:solidFill>
                  <a:srgbClr val="000000"/>
                </a:solidFill>
                <a:latin typeface="Arial"/>
              </a:rPr>
              <a:t>Lojista e seu cliente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3236976"/>
            <a:ext cx="316778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lang="pt-BR" dirty="0">
                <a:solidFill>
                  <a:srgbClr val="262626"/>
                </a:solidFill>
                <a:latin typeface="Arial"/>
              </a:rPr>
              <a:t>Mais aprovação, menos retrabalho e resposta em minutos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2498" y="2633472"/>
            <a:ext cx="3606698" cy="10972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511954" y="2860243"/>
            <a:ext cx="310896" cy="167884"/>
          </a:xfrm>
          <a:custGeom>
            <a:avLst/>
            <a:gdLst/>
            <a:ahLst/>
            <a:cxnLst/>
            <a:rect l="l" t="t" r="r" b="b"/>
            <a:pathLst>
              <a:path w="310896" h="167884">
                <a:moveTo>
                  <a:pt x="0" y="130577"/>
                </a:moveTo>
                <a:lnTo>
                  <a:pt x="9327" y="80833"/>
                </a:lnTo>
                <a:lnTo>
                  <a:pt x="62180" y="71506"/>
                </a:lnTo>
                <a:lnTo>
                  <a:pt x="102596" y="0"/>
                </a:lnTo>
                <a:lnTo>
                  <a:pt x="208301" y="0"/>
                </a:lnTo>
                <a:lnTo>
                  <a:pt x="251826" y="71506"/>
                </a:lnTo>
                <a:lnTo>
                  <a:pt x="301570" y="87051"/>
                </a:lnTo>
                <a:lnTo>
                  <a:pt x="310896" y="130577"/>
                </a:lnTo>
                <a:lnTo>
                  <a:pt x="310896" y="167884"/>
                </a:lnTo>
                <a:lnTo>
                  <a:pt x="0" y="167884"/>
                </a:lnTo>
                <a:close/>
              </a:path>
            </a:pathLst>
          </a:cu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49261" y="2987710"/>
            <a:ext cx="80832" cy="80832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73511" y="3011960"/>
            <a:ext cx="32333" cy="32333"/>
          </a:xfrm>
          <a:prstGeom prst="ellipse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704709" y="2987710"/>
            <a:ext cx="80832" cy="80832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28959" y="3011960"/>
            <a:ext cx="32333" cy="32333"/>
          </a:xfrm>
          <a:prstGeom prst="ellipse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69154" y="2798064"/>
            <a:ext cx="274716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lang="pt-BR" dirty="0">
                <a:solidFill>
                  <a:srgbClr val="000000"/>
                </a:solidFill>
                <a:latin typeface="Arial"/>
              </a:rPr>
              <a:t>Localiza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11954" y="3236976"/>
            <a:ext cx="316778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lang="pt-BR" dirty="0">
                <a:solidFill>
                  <a:srgbClr val="262626"/>
                </a:solidFill>
                <a:latin typeface="Arial"/>
              </a:rPr>
              <a:t>Mais penetração de F&amp;I e relação mais forte com a rede de lojistas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82076" y="2633472"/>
            <a:ext cx="3606698" cy="10972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8301533" y="2798064"/>
            <a:ext cx="310896" cy="80833"/>
          </a:xfrm>
          <a:custGeom>
            <a:avLst/>
            <a:gdLst/>
            <a:ahLst/>
            <a:cxnLst/>
            <a:rect l="l" t="t" r="r" b="b"/>
            <a:pathLst>
              <a:path w="310896" h="80833">
                <a:moveTo>
                  <a:pt x="155448" y="0"/>
                </a:moveTo>
                <a:lnTo>
                  <a:pt x="310896" y="80833"/>
                </a:lnTo>
                <a:lnTo>
                  <a:pt x="0" y="80833"/>
                </a:lnTo>
                <a:close/>
              </a:path>
            </a:pathLst>
          </a:cu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07750" y="2885114"/>
            <a:ext cx="298460" cy="21762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32622" y="2919313"/>
            <a:ext cx="34198" cy="130576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08791" y="2919313"/>
            <a:ext cx="34198" cy="130576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484961" y="2919313"/>
            <a:ext cx="34198" cy="130576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561130" y="2919313"/>
            <a:ext cx="34198" cy="130576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13968" y="3056107"/>
            <a:ext cx="286024" cy="21762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01532" y="3084088"/>
            <a:ext cx="310896" cy="24871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58732" y="2798064"/>
            <a:ext cx="274716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lang="pt-BR" dirty="0">
                <a:solidFill>
                  <a:srgbClr val="000000"/>
                </a:solidFill>
                <a:latin typeface="Arial"/>
              </a:rPr>
              <a:t>Banco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01532" y="3236976"/>
            <a:ext cx="316778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lang="pt-BR" dirty="0">
                <a:solidFill>
                  <a:srgbClr val="262626"/>
                </a:solidFill>
                <a:latin typeface="Arial"/>
              </a:rPr>
              <a:t>Originação qualificada com custo de aquisição menor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3877056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lang="pt-BR" dirty="0">
                <a:solidFill>
                  <a:srgbClr val="CC0000"/>
                </a:solidFill>
                <a:latin typeface="Arial"/>
              </a:rPr>
              <a:t>Como: </a:t>
            </a:r>
            <a:r>
              <a:rPr sz="1250" b="1" lang="pt-BR" dirty="0">
                <a:solidFill>
                  <a:srgbClr val="CC0000"/>
                </a:solidFill>
                <a:latin typeface="Arial"/>
              </a:rPr>
              <a:t>cinco frentes, escaladas em ondas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4187952"/>
            <a:ext cx="2105497" cy="4572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4360" y="4251960"/>
            <a:ext cx="329184" cy="329184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lang="pt-BR" dirty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" y="4187952"/>
            <a:ext cx="152028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lang="pt-BR" dirty="0">
                <a:solidFill>
                  <a:srgbClr val="000000"/>
                </a:solidFill>
                <a:latin typeface="Arial"/>
              </a:rPr>
              <a:t>Bancos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645152"/>
            <a:ext cx="2105497" cy="694944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363645" y="4800600"/>
            <a:ext cx="384048" cy="99852"/>
          </a:xfrm>
          <a:custGeom>
            <a:avLst/>
            <a:gdLst/>
            <a:ahLst/>
            <a:cxnLst/>
            <a:rect l="l" t="t" r="r" b="b"/>
            <a:pathLst>
              <a:path w="384048" h="99852">
                <a:moveTo>
                  <a:pt x="192024" y="0"/>
                </a:moveTo>
                <a:lnTo>
                  <a:pt x="384048" y="99852"/>
                </a:lnTo>
                <a:lnTo>
                  <a:pt x="0" y="99852"/>
                </a:lnTo>
                <a:close/>
              </a:path>
            </a:pathLst>
          </a:cu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371325" y="4908133"/>
            <a:ext cx="368686" cy="26883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02049" y="4950378"/>
            <a:ext cx="42245" cy="1613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496141" y="4950378"/>
            <a:ext cx="42245" cy="1613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590233" y="4950378"/>
            <a:ext cx="42245" cy="1613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684324" y="4950378"/>
            <a:ext cx="42245" cy="1613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379006" y="5119359"/>
            <a:ext cx="353324" cy="26883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63644" y="5153924"/>
            <a:ext cx="384048" cy="30723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21208" y="5468112"/>
            <a:ext cx="205063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lang="pt-BR" dirty="0">
                <a:solidFill>
                  <a:srgbClr val="262626"/>
                </a:solidFill>
                <a:latin typeface="Arial"/>
              </a:rPr>
              <a:t>Integrar em ondas, dos bancos menores aos maiores, à medida que a proposta de valor se confirma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73009" y="4187952"/>
            <a:ext cx="2105497" cy="4572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864449" y="4251960"/>
            <a:ext cx="329184" cy="329184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lang="pt-BR" dirty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66785" y="4187952"/>
            <a:ext cx="152028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lang="pt-BR" dirty="0">
                <a:solidFill>
                  <a:srgbClr val="000000"/>
                </a:solidFill>
                <a:latin typeface="Arial"/>
              </a:rPr>
              <a:t>Tecnologia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73009" y="4645152"/>
            <a:ext cx="2105497" cy="694944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0" name="Gear 9 59"/>
          <p:cNvSpPr/>
          <p:nvPr/>
        </p:nvSpPr>
        <p:spPr>
          <a:xfrm>
            <a:off x="3633734" y="4800600"/>
            <a:ext cx="384048" cy="384048"/>
          </a:xfrm>
          <a:prstGeom prst="gear9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758549" y="4925415"/>
            <a:ext cx="134416" cy="134416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91297" y="5468112"/>
            <a:ext cx="205063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lang="pt-BR" dirty="0">
                <a:solidFill>
                  <a:srgbClr val="262626"/>
                </a:solidFill>
                <a:latin typeface="Arial"/>
              </a:rPr>
              <a:t>APIs para simulação via Corban do lojista e envio da ficha a múltiplos bancos em um único disparo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43098" y="4187952"/>
            <a:ext cx="2105497" cy="4572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5134538" y="4251960"/>
            <a:ext cx="329184" cy="329184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lang="pt-BR" dirty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36874" y="4187952"/>
            <a:ext cx="152028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lang="pt-BR" dirty="0">
                <a:solidFill>
                  <a:srgbClr val="000000"/>
                </a:solidFill>
                <a:latin typeface="Arial"/>
              </a:rPr>
              <a:t>Interface da plataforma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43098" y="4645152"/>
            <a:ext cx="2105497" cy="694944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903823" y="4815961"/>
            <a:ext cx="384048" cy="238109"/>
          </a:xfrm>
          <a:prstGeom prst="rect">
            <a:avLst/>
          </a:prstGeom>
          <a:noFill/>
          <a:ln w="26670" cap="rnd">
            <a:solidFill>
              <a:srgbClr val="CC0000"/>
            </a:solidFill>
            <a:round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953749" y="4869728"/>
            <a:ext cx="168981" cy="24963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53749" y="4919654"/>
            <a:ext cx="284195" cy="24963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953749" y="4969581"/>
            <a:ext cx="126735" cy="24963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68964" y="5054071"/>
            <a:ext cx="53766" cy="691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995995" y="5123200"/>
            <a:ext cx="199704" cy="34564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061386" y="5468112"/>
            <a:ext cx="205063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lang="pt-BR" dirty="0">
                <a:solidFill>
                  <a:srgbClr val="262626"/>
                </a:solidFill>
                <a:latin typeface="Arial"/>
              </a:rPr>
              <a:t>Melhoria contínua guiada pelo uso do vendedor, com ciclos curtos de release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13188" y="4187952"/>
            <a:ext cx="2105497" cy="4572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404628" y="4251960"/>
            <a:ext cx="329184" cy="329184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lang="pt-BR" dirty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06964" y="4187952"/>
            <a:ext cx="152028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lang="pt-BR" dirty="0">
                <a:solidFill>
                  <a:srgbClr val="000000"/>
                </a:solidFill>
                <a:latin typeface="Arial"/>
              </a:rPr>
              <a:t>Lojistas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3188" y="4645152"/>
            <a:ext cx="2105497" cy="694944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183591" y="4942620"/>
            <a:ext cx="90328" cy="90328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9" name="Round Same Side Corner Rectangle 78"/>
          <p:cNvSpPr/>
          <p:nvPr/>
        </p:nvSpPr>
        <p:spPr>
          <a:xfrm>
            <a:off x="8173913" y="5027188"/>
            <a:ext cx="109684" cy="129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437062" y="4942620"/>
            <a:ext cx="90328" cy="90328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1" name="Round Same Side Corner Rectangle 80"/>
          <p:cNvSpPr/>
          <p:nvPr/>
        </p:nvSpPr>
        <p:spPr>
          <a:xfrm>
            <a:off x="8427384" y="5027188"/>
            <a:ext cx="109684" cy="129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2" name="Round Same Side Corner Rectangle 81"/>
          <p:cNvSpPr/>
          <p:nvPr/>
        </p:nvSpPr>
        <p:spPr>
          <a:xfrm>
            <a:off x="8283366" y="4983022"/>
            <a:ext cx="165140" cy="18818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294888" y="4881250"/>
            <a:ext cx="142097" cy="142097"/>
          </a:xfrm>
          <a:prstGeom prst="ellipse">
            <a:avLst/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312170" y="4898532"/>
            <a:ext cx="107533" cy="107533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5" name="Round Same Side Corner Rectangle 84"/>
          <p:cNvSpPr/>
          <p:nvPr/>
        </p:nvSpPr>
        <p:spPr>
          <a:xfrm>
            <a:off x="8300648" y="5000304"/>
            <a:ext cx="130576" cy="15361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331476" y="5468112"/>
            <a:ext cx="205063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lang="pt-BR" dirty="0">
                <a:solidFill>
                  <a:srgbClr val="262626"/>
                </a:solidFill>
                <a:latin typeface="Arial"/>
              </a:rPr>
              <a:t>Piloto em pequena escala para provar a proposta de valor e, confirmada, escalar por onda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583277" y="4187952"/>
            <a:ext cx="2105497" cy="4572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674717" y="4251960"/>
            <a:ext cx="329184" cy="329184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250" b="1" lang="pt-BR" dirty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077053" y="4187952"/>
            <a:ext cx="152028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lang="pt-BR" dirty="0">
                <a:solidFill>
                  <a:srgbClr val="000000"/>
                </a:solidFill>
                <a:latin typeface="Arial"/>
              </a:rPr>
              <a:t>Ecossistema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583277" y="4645152"/>
            <a:ext cx="2105497" cy="694944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 rot="20006097">
            <a:off x="10485743" y="4912934"/>
            <a:ext cx="300565" cy="24963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 rot="1593903">
            <a:off x="10485743" y="5047350"/>
            <a:ext cx="300565" cy="24963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444002" y="4935016"/>
            <a:ext cx="115214" cy="115214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712836" y="4800600"/>
            <a:ext cx="115214" cy="115214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712836" y="5069433"/>
            <a:ext cx="115214" cy="115214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601565" y="5468112"/>
            <a:ext cx="205063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lang="pt-BR" dirty="0">
                <a:solidFill>
                  <a:srgbClr val="262626"/>
                </a:solidFill>
                <a:latin typeface="Arial"/>
              </a:rPr>
              <a:t>Novos serviços e integração com Valoriza depois que o núcleo estiver estável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02920" y="6382512"/>
            <a:ext cx="11185855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02920" y="6473952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lang="pt-BR" dirty="0">
                <a:solidFill>
                  <a:srgbClr val="8C8C8C"/>
                </a:solidFill>
                <a:latin typeface="Arial"/>
              </a:rPr>
              <a:t>Fonte: </a:t>
            </a:r>
            <a:r>
              <a:rPr sz="850" b="0" lang="pt-BR" dirty="0">
                <a:solidFill>
                  <a:srgbClr val="8C8C8C"/>
                </a:solidFill>
                <a:latin typeface="Arial"/>
              </a:rPr>
              <a:t>análise Bain. Preliminar, para discussão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377879" y="6473952"/>
            <a:ext cx="310896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 lang="pt-BR" dirty="0">
                <a:solidFill>
                  <a:srgbClr val="8C8C8C"/>
                </a:solidFill>
                <a:latin typeface="Arial"/>
              </a:rP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140135" y="6473952"/>
            <a:ext cx="146304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lang="pt-BR" dirty="0">
                <a:solidFill>
                  <a:srgbClr val="B4B4B4"/>
                </a:solidFill>
                <a:latin typeface="Arial"/>
              </a:rPr>
              <a:t>|</a:t>
            </a:r>
          </a:p>
        </p:txBody>
      </p:sp>
      <p:sp>
        <p:nvSpPr>
          <p:cNvPr id="101" name="Oval 100"/>
          <p:cNvSpPr/>
          <p:nvPr/>
        </p:nvSpPr>
        <p:spPr>
          <a:xfrm>
            <a:off x="10865815" y="6487668"/>
            <a:ext cx="141732" cy="141732"/>
          </a:xfrm>
          <a:prstGeom prst="ellipse">
            <a:avLst/>
          </a:prstGeom>
          <a:solidFill>
            <a:srgbClr val="CC0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609336" y="6473952"/>
            <a:ext cx="116503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1" lang="pt-BR" dirty="0" spc="60">
                <a:solidFill>
                  <a:srgbClr val="000000"/>
                </a:solidFill>
                <a:latin typeface="Arial"/>
              </a:rPr>
              <a:t>BAIN &amp; COMPANY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 quente e F&amp;I multibanco</dc:title>
  <dc:subject/>
  <dc:creator>ConsultingInnovation@bain.com</dc:creator>
  <cp:keywords/>
  <dc:description>generated using python-pptx</dc:description>
  <cp:lastModifiedBy>ConsultingInnovation@bain.com</cp:lastModifiedBy>
  <cp:revision>1</cp:revision>
  <dcterms:created xsi:type="dcterms:W3CDTF">2013-01-27T09:14:16Z</dcterms:created>
  <dcterms:modified xsi:type="dcterms:W3CDTF">2013-01-27T09:15:58Z</dcterms:modified>
  <cp:category/>
</cp:coreProperties>
</file>