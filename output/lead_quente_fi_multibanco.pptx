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858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lang="pt-BR" dirty="0" spc="170">
                <a:solidFill>
                  <a:srgbClr val="858585"/>
                </a:solidFill>
                <a:latin typeface="Arial"/>
              </a:rPr>
              <a:t>LEAD QUENTE  |  NOSSA PROPOSTA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pt-BR" dirty="0">
                <a:solidFill>
                  <a:srgbClr val="000000"/>
                </a:solidFill>
                <a:latin typeface="Arial"/>
              </a:rPr>
              <a:t>Converter o lead quente exige rodar quatro passos: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7532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pt-BR" dirty="0">
                <a:solidFill>
                  <a:srgbClr val="CC0000"/>
                </a:solidFill>
                <a:latin typeface="Arial"/>
              </a:rPr>
              <a:t>comunicar, priorizar, avisar da consequência e realocar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lang="pt-BR" dirty="0">
                <a:solidFill>
                  <a:srgbClr val="5C5C5C"/>
                </a:solidFill>
                <a:latin typeface="Arial"/>
              </a:rPr>
              <a:t>Pré-requisito: o número existe e é nominal – leads quentes recebidos, conversão e tempo até o primeiro contato por divisional, loja e CV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47088"/>
            <a:ext cx="2645587" cy="39136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2048256"/>
            <a:ext cx="384048" cy="38404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50" b="1" i="0" lang="pt-BR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7864" y="2048256"/>
            <a:ext cx="17677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Comunicar</a:t>
            </a:r>
          </a:p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divisionais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852928"/>
            <a:ext cx="22432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8016" indent="-128016">
              <a:lnSpc>
                <a:spcPct val="116000"/>
              </a:lnSpc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Glauco leva o número aos divisionais: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leads quentes recebidos e conversão por regional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Ranking nominal explícito: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quem está bem e quem está mal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Mensagem única: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o acompanhamento passa a ser semanal</a:t>
            </a:r>
          </a:p>
        </p:txBody>
      </p:sp>
      <p:sp>
        <p:nvSpPr>
          <p:cNvPr id="10" name="Oval 9"/>
          <p:cNvSpPr/>
          <p:nvPr/>
        </p:nvSpPr>
        <p:spPr>
          <a:xfrm>
            <a:off x="797356" y="5035417"/>
            <a:ext cx="124358" cy="124358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735177" y="5190865"/>
            <a:ext cx="248716" cy="143012"/>
          </a:xfrm>
          <a:prstGeom prst="round2SameRect">
            <a:avLst>
              <a:gd name="adj1" fmla="val 45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5010912"/>
            <a:ext cx="18043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Dono: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Glauco</a:t>
            </a:r>
          </a:p>
          <a:p>
            <a:pPr algn="l">
              <a:lnSpc>
                <a:spcPct val="125000"/>
              </a:lnSpc>
              <a:spcBef>
                <a:spcPts val="360"/>
              </a:spcBef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Prazo: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Semana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9675" y="1847088"/>
            <a:ext cx="2645587" cy="39136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2555" y="2048256"/>
            <a:ext cx="384048" cy="38404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50" b="1" i="0" lang="pt-BR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4619" y="2048256"/>
            <a:ext cx="17677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Priorizar</a:t>
            </a:r>
          </a:p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na ponta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0843" y="2852928"/>
            <a:ext cx="22432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8016" indent="-128016">
              <a:lnSpc>
                <a:spcPct val="116000"/>
              </a:lnSpc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Cascata completa: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divisional para regional, regional para GV, GV para CV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Cada CV recebe a lista nominal dos leads quentes do dia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Instrução única: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ligar em 100% da lista no mesmo dia</a:t>
            </a:r>
          </a:p>
        </p:txBody>
      </p:sp>
      <p:sp>
        <p:nvSpPr>
          <p:cNvPr id="17" name="Oval 16"/>
          <p:cNvSpPr/>
          <p:nvPr/>
        </p:nvSpPr>
        <p:spPr>
          <a:xfrm>
            <a:off x="3560201" y="5134220"/>
            <a:ext cx="72190" cy="72190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550843" y="5197083"/>
            <a:ext cx="90905" cy="10694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64320" y="5103815"/>
            <a:ext cx="83941" cy="83941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3653439" y="5178430"/>
            <a:ext cx="105704" cy="12435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65393" y="5134220"/>
            <a:ext cx="72190" cy="72190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3756035" y="5197083"/>
            <a:ext cx="90905" cy="10694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8043" y="5010912"/>
            <a:ext cx="18043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Dono: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Regionais e GVs</a:t>
            </a:r>
          </a:p>
          <a:p>
            <a:pPr algn="l">
              <a:lnSpc>
                <a:spcPct val="125000"/>
              </a:lnSpc>
              <a:spcBef>
                <a:spcPts val="360"/>
              </a:spcBef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Prazo: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Semanas 1 e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1847088"/>
            <a:ext cx="2645587" cy="39136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79311" y="2048256"/>
            <a:ext cx="384048" cy="38404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50" b="1" i="0" lang="pt-BR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1375" y="2048256"/>
            <a:ext cx="17677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Avisar da</a:t>
            </a:r>
          </a:p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consequência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7599" y="2852928"/>
            <a:ext cx="22432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8016" indent="-128016">
              <a:lnSpc>
                <a:spcPct val="116000"/>
              </a:lnSpc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Regra comunicada antes de valer: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não converter lead quente reduz o volume recebido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Conversão por CV acompanhada semana a semana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Sem surpresa: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aviso formal antes do primeiro corte</a:t>
            </a:r>
          </a:p>
        </p:txBody>
      </p:sp>
      <p:sp>
        <p:nvSpPr>
          <p:cNvPr id="28" name="Oval 27"/>
          <p:cNvSpPr/>
          <p:nvPr/>
        </p:nvSpPr>
        <p:spPr>
          <a:xfrm>
            <a:off x="6490868" y="5035417"/>
            <a:ext cx="124358" cy="124358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428689" y="5190865"/>
            <a:ext cx="248716" cy="143012"/>
          </a:xfrm>
          <a:prstGeom prst="round2SameRect">
            <a:avLst>
              <a:gd name="adj1" fmla="val 45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5010912"/>
            <a:ext cx="18043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Dono: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Glauco e GVs</a:t>
            </a:r>
          </a:p>
          <a:p>
            <a:pPr algn="l">
              <a:lnSpc>
                <a:spcPct val="125000"/>
              </a:lnSpc>
              <a:spcBef>
                <a:spcPts val="360"/>
              </a:spcBef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Prazo: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Semana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43187" y="1847088"/>
            <a:ext cx="2645587" cy="39136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26067" y="2048256"/>
            <a:ext cx="384048" cy="38404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50" b="1" i="0" lang="pt-BR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131" y="2048256"/>
            <a:ext cx="17677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Realocar</a:t>
            </a:r>
          </a:p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o lead quente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4355" y="2852928"/>
            <a:ext cx="22432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8016" indent="-128016">
              <a:lnSpc>
                <a:spcPct val="116000"/>
              </a:lnSpc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Alocação à loja segue o critério do cliente, como hoje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Dentro da loja, o mix de quente, morno e frio segue a performance do CV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Lead quente não tratado no prazo é realocado para quem atende</a:t>
            </a:r>
          </a:p>
        </p:txBody>
      </p:sp>
      <p:sp>
        <p:nvSpPr>
          <p:cNvPr id="35" name="Oval 34"/>
          <p:cNvSpPr/>
          <p:nvPr/>
        </p:nvSpPr>
        <p:spPr>
          <a:xfrm>
            <a:off x="9253713" y="5134220"/>
            <a:ext cx="72190" cy="72190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9244355" y="5197083"/>
            <a:ext cx="90905" cy="10694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357832" y="5103815"/>
            <a:ext cx="83941" cy="83941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9346951" y="5178430"/>
            <a:ext cx="105704" cy="12435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458904" y="5134220"/>
            <a:ext cx="72190" cy="72190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9449546" y="5197083"/>
            <a:ext cx="90905" cy="10694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1555" y="5010912"/>
            <a:ext cx="18043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Dono: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L2S e comercial</a:t>
            </a:r>
          </a:p>
          <a:p>
            <a:pPr algn="l">
              <a:lnSpc>
                <a:spcPct val="125000"/>
              </a:lnSpc>
              <a:spcBef>
                <a:spcPts val="360"/>
              </a:spcBef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Prazo: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Semanas 3 e 4, em piloto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943600"/>
            <a:ext cx="11185855" cy="42062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94360" y="6016752"/>
            <a:ext cx="274320" cy="27432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 lang="pt-BR" dirty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984" y="5943600"/>
            <a:ext cx="1054577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 lang="pt-BR" dirty="0">
                <a:solidFill>
                  <a:srgbClr val="000000"/>
                </a:solidFill>
                <a:latin typeface="Arial"/>
              </a:rPr>
              <a:t>Lead quente passa a ser mérito, não direito:</a:t>
            </a:r>
            <a:r>
              <a:rPr sz="1050" b="0" i="0" lang="pt-BR" dirty="0">
                <a:solidFill>
                  <a:srgbClr val="000000"/>
                </a:solidFill>
                <a:latin typeface="Arial"/>
              </a:rPr>
              <a:t> quem converte recebe mais, quem não converte recebe menos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6327648"/>
            <a:ext cx="11185855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 lang="pt-BR" dirty="0">
                <a:solidFill>
                  <a:srgbClr val="858585"/>
                </a:solidFill>
                <a:latin typeface="Arial"/>
              </a:rPr>
              <a:t>Fonte: </a:t>
            </a:r>
            <a:r>
              <a:rPr sz="750" b="0" i="0" lang="pt-BR" dirty="0">
                <a:solidFill>
                  <a:srgbClr val="858585"/>
                </a:solidFill>
                <a:latin typeface="Arial"/>
              </a:rPr>
              <a:t>análise Bain; discussão com liderança comercial Localiza Seminovos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0" i="0" lang="pt-BR" dirty="0">
                <a:solidFill>
                  <a:srgbClr val="858585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858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lang="pt-BR" dirty="0" spc="170">
                <a:solidFill>
                  <a:srgbClr val="858585"/>
                </a:solidFill>
                <a:latin typeface="Arial"/>
              </a:rPr>
              <a:t>F&amp;I MULTIBANCO  |  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pt-BR" dirty="0">
                <a:solidFill>
                  <a:srgbClr val="000000"/>
                </a:solidFill>
                <a:latin typeface="Arial"/>
              </a:rPr>
              <a:t>Entregar a plataforma de F&amp;I multibanco depende de cinco frentes,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7532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pt-BR" dirty="0">
                <a:solidFill>
                  <a:srgbClr val="CC0000"/>
                </a:solidFill>
                <a:latin typeface="Arial"/>
              </a:rPr>
              <a:t>iniciadas por um piloto com lojistas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1783080" cy="7315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sz="1200" b="1" i="0" lang="pt-BR" dirty="0">
                <a:solidFill>
                  <a:srgbClr val="FFFFFF"/>
                </a:solidFill>
                <a:latin typeface="Arial"/>
              </a:rPr>
              <a:t>Ambição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39" y="1280160"/>
            <a:ext cx="9311335" cy="7315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39" y="1280160"/>
            <a:ext cx="8808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 i="0" lang="pt-BR" dirty="0">
                <a:solidFill>
                  <a:srgbClr val="333333"/>
                </a:solidFill>
                <a:latin typeface="Arial"/>
              </a:rPr>
              <a:t>Plataforma de F&amp;I multibanco e ponta a ponta que faz o lojista vender mais, com simulação e envio de ficha em um só fluxo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57984"/>
            <a:ext cx="1783080" cy="12252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</a:pPr>
            <a:r>
              <a:rPr sz="1200" b="1" i="0" lang="pt-BR" dirty="0">
                <a:solidFill>
                  <a:srgbClr val="333333"/>
                </a:solidFill>
                <a:latin typeface="Arial"/>
              </a:rPr>
              <a:t>Valor para...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39" y="2157984"/>
            <a:ext cx="2994050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87965" y="2445884"/>
            <a:ext cx="72190" cy="72190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2578608" y="2508747"/>
            <a:ext cx="90905" cy="10694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2085" y="2415479"/>
            <a:ext cx="83941" cy="83941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2681203" y="2490094"/>
            <a:ext cx="105704" cy="12435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93157" y="2445884"/>
            <a:ext cx="72190" cy="72190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2783799" y="2508747"/>
            <a:ext cx="90905" cy="10694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2322576"/>
            <a:ext cx="217109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Lojista e seu cliente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706624"/>
            <a:ext cx="217109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lang="pt-BR" dirty="0">
                <a:solidFill>
                  <a:srgbClr val="333333"/>
                </a:solidFill>
                <a:latin typeface="Arial"/>
              </a:rPr>
              <a:t>Mais aprovação, menos retrabalho e resposta em minutos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6082" y="2157984"/>
            <a:ext cx="2994050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5805647" y="2384389"/>
            <a:ext cx="174101" cy="99486"/>
          </a:xfrm>
          <a:prstGeom prst="round2SameRect">
            <a:avLst>
              <a:gd name="adj1" fmla="val 42000"/>
              <a:gd name="adj2" fmla="val 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5737250" y="2477658"/>
            <a:ext cx="310896" cy="80832"/>
          </a:xfrm>
          <a:prstGeom prst="round2SameRect">
            <a:avLst>
              <a:gd name="adj1" fmla="val 34000"/>
              <a:gd name="adj2" fmla="val 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77666" y="2533619"/>
            <a:ext cx="74615" cy="74615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33114" y="2533619"/>
            <a:ext cx="74615" cy="74615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99429" y="2555382"/>
            <a:ext cx="31089" cy="3108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54877" y="2555382"/>
            <a:ext cx="31089" cy="3108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6162" y="2322576"/>
            <a:ext cx="217109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Localiza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6162" y="2706624"/>
            <a:ext cx="217109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lang="pt-BR" dirty="0">
                <a:solidFill>
                  <a:srgbClr val="333333"/>
                </a:solidFill>
                <a:latin typeface="Arial"/>
              </a:rPr>
              <a:t>Mais penetração de F&amp;I e relação mais forte com a rede de lojistas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94724" y="2157984"/>
            <a:ext cx="2994050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>
            <a:off x="8902110" y="2353299"/>
            <a:ext cx="298460" cy="80832"/>
          </a:xfrm>
          <a:prstGeom prst="triangle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33200" y="2452786"/>
            <a:ext cx="31089" cy="130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07815" y="2452786"/>
            <a:ext cx="31089" cy="130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82430" y="2452786"/>
            <a:ext cx="31089" cy="130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57045" y="2452786"/>
            <a:ext cx="31089" cy="130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95892" y="2602016"/>
            <a:ext cx="310896" cy="4041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34804" y="2322576"/>
            <a:ext cx="217109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Banco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804" y="2706624"/>
            <a:ext cx="217109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lang="pt-BR" dirty="0">
                <a:solidFill>
                  <a:srgbClr val="333333"/>
                </a:solidFill>
                <a:latin typeface="Arial"/>
              </a:rPr>
              <a:t>Originação qualificada com custo de aquisição menor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675887"/>
            <a:ext cx="11185855" cy="1828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Left Arrow 36"/>
          <p:cNvSpPr/>
          <p:nvPr/>
        </p:nvSpPr>
        <p:spPr>
          <a:xfrm>
            <a:off x="448056" y="3607307"/>
            <a:ext cx="475488" cy="155448"/>
          </a:xfrm>
          <a:prstGeom prst="leftArrow">
            <a:avLst>
              <a:gd name="adj1" fmla="val 50000"/>
              <a:gd name="adj2" fmla="val 420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9848" y="3557015"/>
            <a:ext cx="2630399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79576" y="3570731"/>
            <a:ext cx="26303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lang="pt-BR" dirty="0">
                <a:solidFill>
                  <a:srgbClr val="CC0000"/>
                </a:solidFill>
                <a:latin typeface="Arial"/>
              </a:rPr>
              <a:t>cinco frentes, escaladas em ondas</a:t>
            </a:r>
          </a:p>
        </p:txBody>
      </p:sp>
      <p:sp>
        <p:nvSpPr>
          <p:cNvPr id="40" name="Oval 39"/>
          <p:cNvSpPr/>
          <p:nvPr/>
        </p:nvSpPr>
        <p:spPr>
          <a:xfrm>
            <a:off x="630936" y="3968496"/>
            <a:ext cx="329184" cy="329184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pt-BR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1" name="Isosceles Triangle 40"/>
          <p:cNvSpPr/>
          <p:nvPr/>
        </p:nvSpPr>
        <p:spPr>
          <a:xfrm>
            <a:off x="655441" y="4492995"/>
            <a:ext cx="298460" cy="80832"/>
          </a:xfrm>
          <a:prstGeom prst="triangle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6531" y="4592482"/>
            <a:ext cx="31089" cy="130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1146" y="4592482"/>
            <a:ext cx="31089" cy="130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35761" y="4592482"/>
            <a:ext cx="31089" cy="130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0376" y="4592482"/>
            <a:ext cx="31089" cy="13057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9224" y="4741712"/>
            <a:ext cx="310896" cy="4041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" y="4901183"/>
            <a:ext cx="19079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Bancos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" y="5358383"/>
            <a:ext cx="190798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Integrar em ondas, dos bancos menores aos maiores, à medida que a proposta de valor se confirma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35519" y="4023359"/>
            <a:ext cx="9144" cy="21031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868107" y="3968496"/>
            <a:ext cx="329184" cy="329184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pt-BR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1" name="Gear 9 50"/>
          <p:cNvSpPr/>
          <p:nvPr/>
        </p:nvSpPr>
        <p:spPr>
          <a:xfrm>
            <a:off x="2886395" y="4480560"/>
            <a:ext cx="310896" cy="310896"/>
          </a:xfrm>
          <a:prstGeom prst="gear9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988990" y="4583155"/>
            <a:ext cx="105704" cy="1057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8107" y="4901183"/>
            <a:ext cx="19079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Tecnologia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68107" y="5358383"/>
            <a:ext cx="190798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APIs para simulação via Corban do lojista e envio da ficha a múltiplos bancos em um único disparo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72690" y="4023359"/>
            <a:ext cx="9144" cy="21031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105278" y="3968496"/>
            <a:ext cx="329184" cy="329184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pt-BR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3566" y="4499213"/>
            <a:ext cx="310896" cy="192755"/>
          </a:xfrm>
          <a:prstGeom prst="rect">
            <a:avLst/>
          </a:prstGeom>
          <a:noFill/>
          <a:ln w="2032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60873" y="4542739"/>
            <a:ext cx="149230" cy="1865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160873" y="4586264"/>
            <a:ext cx="223845" cy="1865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60873" y="4629790"/>
            <a:ext cx="111922" cy="1865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60360" y="4691969"/>
            <a:ext cx="37307" cy="5596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191963" y="4747930"/>
            <a:ext cx="174101" cy="2798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05278" y="4901183"/>
            <a:ext cx="19079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Interface</a:t>
            </a:r>
          </a:p>
          <a:p>
            <a:pPr algn="l">
              <a:lnSpc>
                <a:spcPct val="112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da plataforma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05278" y="5358383"/>
            <a:ext cx="190798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Melhoria contínua guiada pelo uso do vendedor, com ciclos curtos de release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09861" y="4023359"/>
            <a:ext cx="9144" cy="21031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342449" y="3968496"/>
            <a:ext cx="329184" cy="329184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pt-BR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7" name="Oval 66"/>
          <p:cNvSpPr/>
          <p:nvPr/>
        </p:nvSpPr>
        <p:spPr>
          <a:xfrm>
            <a:off x="7370095" y="4585580"/>
            <a:ext cx="72190" cy="72190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Round Same Side Corner Rectangle 67"/>
          <p:cNvSpPr/>
          <p:nvPr/>
        </p:nvSpPr>
        <p:spPr>
          <a:xfrm>
            <a:off x="7360737" y="4648443"/>
            <a:ext cx="90905" cy="10694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474214" y="4555175"/>
            <a:ext cx="83941" cy="83941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Round Same Side Corner Rectangle 69"/>
          <p:cNvSpPr/>
          <p:nvPr/>
        </p:nvSpPr>
        <p:spPr>
          <a:xfrm>
            <a:off x="7463332" y="4629790"/>
            <a:ext cx="105704" cy="12435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575286" y="4585580"/>
            <a:ext cx="72190" cy="72190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Round Same Side Corner Rectangle 71"/>
          <p:cNvSpPr/>
          <p:nvPr/>
        </p:nvSpPr>
        <p:spPr>
          <a:xfrm>
            <a:off x="7565928" y="4648443"/>
            <a:ext cx="90905" cy="10694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42449" y="4901183"/>
            <a:ext cx="19079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Lojistas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42449" y="5358383"/>
            <a:ext cx="190798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Piloto em pequena escala para provar a proposta de valor e, confirmada, escalar por onda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447032" y="4023359"/>
            <a:ext cx="9144" cy="21031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579620" y="3968496"/>
            <a:ext cx="329184" cy="329184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pt-BR" dirty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7" name="Rectangle 76"/>
          <p:cNvSpPr/>
          <p:nvPr/>
        </p:nvSpPr>
        <p:spPr>
          <a:xfrm rot="19680000">
            <a:off x="9653869" y="4555175"/>
            <a:ext cx="192755" cy="1399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 rot="1920000">
            <a:off x="9653869" y="4698187"/>
            <a:ext cx="192755" cy="1399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821753" y="4480560"/>
            <a:ext cx="87050" cy="8705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597908" y="4592482"/>
            <a:ext cx="87050" cy="8705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821753" y="4704405"/>
            <a:ext cx="87050" cy="8705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579620" y="4901183"/>
            <a:ext cx="19079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Ecossistema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79620" y="5358383"/>
            <a:ext cx="190798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Novos serviços e integração com Valoriza depois que o núcleo estiver estável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6327648"/>
            <a:ext cx="11185855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 lang="pt-BR" dirty="0">
                <a:solidFill>
                  <a:srgbClr val="858585"/>
                </a:solidFill>
                <a:latin typeface="Arial"/>
              </a:rPr>
              <a:t>Fonte: </a:t>
            </a:r>
            <a:r>
              <a:rPr sz="750" b="0" i="0" lang="pt-BR" dirty="0">
                <a:solidFill>
                  <a:srgbClr val="858585"/>
                </a:solidFill>
                <a:latin typeface="Arial"/>
              </a:rPr>
              <a:t>análise Bain. Preliminar, para discussão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0" i="0" lang="pt-BR" dirty="0">
                <a:solidFill>
                  <a:srgbClr val="8585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858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lang="pt-BR" dirty="0" spc="170">
                <a:solidFill>
                  <a:srgbClr val="858585"/>
                </a:solidFill>
                <a:latin typeface="Arial"/>
              </a:rPr>
              <a:t>F&amp;I MULTIBANCO  |  PLANO DE EXECUÇÃO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pt-BR" dirty="0">
                <a:solidFill>
                  <a:srgbClr val="000000"/>
                </a:solidFill>
                <a:latin typeface="Arial"/>
              </a:rPr>
              <a:t>As cinco frentes têm entregável, ponto de partida, destino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7532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pt-BR" dirty="0">
                <a:solidFill>
                  <a:srgbClr val="CC0000"/>
                </a:solidFill>
                <a:latin typeface="Arial"/>
              </a:rPr>
              <a:t>e prazo explícitos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81328"/>
          <a:ext cx="11183112" cy="44988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6928"/>
                <a:gridCol w="1627632"/>
                <a:gridCol w="2395728"/>
                <a:gridCol w="2395728"/>
                <a:gridCol w="2816352"/>
                <a:gridCol w="1380744"/>
              </a:tblGrid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50" b="1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128016" marR="128016" marT="54864" marB="54864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50" b="1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Frente</a:t>
                      </a:r>
                    </a:p>
                  </a:txBody>
                  <a:tcPr marL="128016" marR="128016" marT="54864" marB="54864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50" b="1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Entregável</a:t>
                      </a:r>
                    </a:p>
                  </a:txBody>
                  <a:tcPr marL="128016" marR="128016" marT="54864" marB="54864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50" b="1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Onde estamos</a:t>
                      </a:r>
                    </a:p>
                  </a:txBody>
                  <a:tcPr marL="128016" marR="128016" marT="54864" marB="54864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50" b="1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Onde queremos chegar</a:t>
                      </a:r>
                    </a:p>
                  </a:txBody>
                  <a:tcPr marL="128016" marR="128016" marT="54864" marB="54864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50" b="1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Quando</a:t>
                      </a:r>
                    </a:p>
                  </a:txBody>
                  <a:tcPr marL="128016" marR="128016" marT="54864" marB="54864" anchor="ctr">
                    <a:solidFill>
                      <a:srgbClr val="E8E8E8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1" i="0" lang="pt-BR" dirty="0">
                          <a:solidFill>
                            <a:srgbClr val="000000"/>
                          </a:solidFill>
                          <a:latin typeface="Arial"/>
                        </a:rPr>
                        <a:t>Bancos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Bancos integrados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em cascata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1 banco conectado,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envio manual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4 a 5 bancos em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cascata automática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2T26</a:t>
                      </a:r>
                    </a:p>
                  </a:txBody>
                  <a:tcPr marL="128016" marR="128016" marT="54864" marB="54864" anchor="ctr">
                    <a:solidFill>
                      <a:srgbClr val="F4F4F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28016" marR="128016" marT="54864" marB="54864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1" i="0" lang="pt-BR" dirty="0">
                          <a:solidFill>
                            <a:srgbClr val="000000"/>
                          </a:solidFill>
                          <a:latin typeface="Arial"/>
                        </a:rPr>
                        <a:t>Tecnologia</a:t>
                      </a:r>
                    </a:p>
                  </a:txBody>
                  <a:tcPr marL="128016" marR="128016" marT="54864" marB="54864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APIs de simulação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e envio de ficha</a:t>
                      </a:r>
                    </a:p>
                  </a:txBody>
                  <a:tcPr marL="128016" marR="128016" marT="54864" marB="54864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Simulação via Corban,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ficha manual</a:t>
                      </a:r>
                    </a:p>
                  </a:txBody>
                  <a:tcPr marL="128016" marR="128016" marT="54864" marB="54864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Disparo único para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múltiplos bancos</a:t>
                      </a:r>
                    </a:p>
                  </a:txBody>
                  <a:tcPr marL="128016" marR="128016" marT="54864" marB="54864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2T26</a:t>
                      </a:r>
                    </a:p>
                  </a:txBody>
                  <a:tcPr marL="128016" marR="128016" marT="54864" marB="54864" anchor="ctr">
                    <a:solidFill>
                      <a:srgbClr val="F4F4F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1" i="0" lang="pt-BR" dirty="0">
                          <a:solidFill>
                            <a:srgbClr val="000000"/>
                          </a:solidFill>
                          <a:latin typeface="Arial"/>
                        </a:rPr>
                        <a:t>Interface da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1" i="0" lang="pt-BR" dirty="0">
                          <a:solidFill>
                            <a:srgbClr val="000000"/>
                          </a:solidFill>
                          <a:latin typeface="Arial"/>
                        </a:rPr>
                        <a:t>plataforma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Jornada do vendedor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ponta a ponta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Versão inicial em uso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Release contínuo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guiado pelo uso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Contínuo</a:t>
                      </a:r>
                    </a:p>
                  </a:txBody>
                  <a:tcPr marL="128016" marR="128016" marT="54864" marB="54864" anchor="ctr">
                    <a:solidFill>
                      <a:srgbClr val="F4F4F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28016" marR="128016" marT="54864" marB="54864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1" i="0" lang="pt-BR" dirty="0">
                          <a:solidFill>
                            <a:srgbClr val="000000"/>
                          </a:solidFill>
                          <a:latin typeface="Arial"/>
                        </a:rPr>
                        <a:t>Lojistas</a:t>
                      </a:r>
                    </a:p>
                  </a:txBody>
                  <a:tcPr marL="128016" marR="128016" marT="54864" marB="54864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Piloto e plano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de escala</a:t>
                      </a:r>
                    </a:p>
                  </a:txBody>
                  <a:tcPr marL="128016" marR="128016" marT="54864" marB="54864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Amostra do piloto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em definição</a:t>
                      </a:r>
                    </a:p>
                  </a:txBody>
                  <a:tcPr marL="128016" marR="128016" marT="54864" marB="54864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Piloto provado e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escala por onda</a:t>
                      </a:r>
                    </a:p>
                  </a:txBody>
                  <a:tcPr marL="128016" marR="128016" marT="54864" marB="54864" anchor="ctr"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1T26</a:t>
                      </a:r>
                    </a:p>
                  </a:txBody>
                  <a:tcPr marL="128016" marR="128016" marT="54864" marB="54864" anchor="ctr">
                    <a:solidFill>
                      <a:srgbClr val="F4F4F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1" i="0" lang="pt-BR" dirty="0">
                          <a:solidFill>
                            <a:srgbClr val="000000"/>
                          </a:solidFill>
                          <a:latin typeface="Arial"/>
                        </a:rPr>
                        <a:t>Ecossistema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Integração com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Valoriza e novos serviços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Escopo em discussão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Oferta ampliada na</a:t>
                      </a:r>
                    </a:p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mesma jornada</a:t>
                      </a:r>
                    </a:p>
                  </a:txBody>
                  <a:tcPr marL="128016" marR="128016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6000"/>
                        </a:lnSpc>
                      </a:pPr>
                      <a:r>
                        <a:rPr sz="1000" b="0" i="0" lang="pt-BR" dirty="0">
                          <a:solidFill>
                            <a:srgbClr val="333333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128016" marR="128016" marT="54864" marB="54864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1956816"/>
            <a:ext cx="11183111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194560"/>
            <a:ext cx="329184" cy="329184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pt-BR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61488"/>
            <a:ext cx="11183111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" y="2999232"/>
            <a:ext cx="329184" cy="329184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pt-BR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566160"/>
            <a:ext cx="11183111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3803904"/>
            <a:ext cx="329184" cy="329184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pt-BR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370832"/>
            <a:ext cx="11183111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608576"/>
            <a:ext cx="329184" cy="329184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pt-BR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175504"/>
            <a:ext cx="11183111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1792" y="5413248"/>
            <a:ext cx="329184" cy="329184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pt-BR" dirty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980176"/>
            <a:ext cx="11183111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85855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 lang="pt-BR" dirty="0">
                <a:solidFill>
                  <a:srgbClr val="858585"/>
                </a:solidFill>
                <a:latin typeface="Arial"/>
              </a:rPr>
              <a:t>Fonte: </a:t>
            </a:r>
            <a:r>
              <a:rPr sz="750" b="0" i="0" lang="pt-BR" dirty="0">
                <a:solidFill>
                  <a:srgbClr val="858585"/>
                </a:solidFill>
                <a:latin typeface="Arial"/>
              </a:rPr>
              <a:t>análise Bain. Conteúdo preliminar, para preenchimento com os donos de cada frente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0" i="0" lang="pt-BR" dirty="0">
                <a:solidFill>
                  <a:srgbClr val="8585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858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lang="pt-BR" dirty="0" spc="170">
                <a:solidFill>
                  <a:srgbClr val="858585"/>
                </a:solidFill>
                <a:latin typeface="Arial"/>
              </a:rPr>
              <a:t>L2S  |  LEAD QUENTE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pt-BR" dirty="0">
                <a:solidFill>
                  <a:srgbClr val="000000"/>
                </a:solidFill>
                <a:latin typeface="Arial"/>
              </a:rPr>
              <a:t>Converter o lead quente exige rodar quatro passos: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7532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pt-BR" dirty="0">
                <a:solidFill>
                  <a:srgbClr val="CC0000"/>
                </a:solidFill>
                <a:latin typeface="Arial"/>
              </a:rPr>
              <a:t>comunicar, priorizar, avisar da consequência e realocar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lang="pt-BR" dirty="0">
                <a:solidFill>
                  <a:srgbClr val="5C5C5C"/>
                </a:solidFill>
                <a:latin typeface="Arial"/>
              </a:rPr>
              <a:t>Pré-requisito: o número existe e é nominal: leads quentes recebidos, conversão e tempo até o primeiro contato por divisional, loja e CV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2563291" cy="93268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10829" y="2432669"/>
            <a:ext cx="83393" cy="1459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25495" y="2328428"/>
            <a:ext cx="83393" cy="250179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40161" y="2231136"/>
            <a:ext cx="83393" cy="347472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0624" y="1828800"/>
            <a:ext cx="384048" cy="38404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50" b="1" i="0" lang="pt-BR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35808"/>
            <a:ext cx="23804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Comunicar</a:t>
            </a:r>
          </a:p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divisionais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23804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8016" indent="-128016">
              <a:lnSpc>
                <a:spcPct val="116000"/>
              </a:lnSpc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Glauco leva o número aos divisionais: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leads quentes recebidos e conversão por regional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Ranking nominal explícito: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quem está bem e quem está mal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Mensagem única: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o acompanhamento passa a ser semanal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75504"/>
            <a:ext cx="2380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Dono: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Glauco</a:t>
            </a:r>
          </a:p>
          <a:p>
            <a:pPr algn="l">
              <a:lnSpc>
                <a:spcPct val="125000"/>
              </a:lnSpc>
              <a:spcBef>
                <a:spcPts val="360"/>
              </a:spcBef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Prazo: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Semana 1</a:t>
            </a:r>
          </a:p>
        </p:txBody>
      </p:sp>
      <p:sp>
        <p:nvSpPr>
          <p:cNvPr id="14" name="Chevron 13"/>
          <p:cNvSpPr/>
          <p:nvPr/>
        </p:nvSpPr>
        <p:spPr>
          <a:xfrm>
            <a:off x="3121075" y="2359152"/>
            <a:ext cx="201168" cy="237744"/>
          </a:xfrm>
          <a:prstGeom prst="chevron">
            <a:avLst>
              <a:gd name="adj" fmla="val 50000"/>
            </a:avLst>
          </a:prstGeom>
          <a:solidFill>
            <a:srgbClr val="B4B4B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7107" y="2011680"/>
            <a:ext cx="2563291" cy="93268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95476" y="2348512"/>
            <a:ext cx="80682" cy="80682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4485017" y="2418770"/>
            <a:ext cx="101600" cy="119530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11844" y="2314529"/>
            <a:ext cx="93817" cy="93817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4599683" y="2397922"/>
            <a:ext cx="118140" cy="13898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24808" y="2348512"/>
            <a:ext cx="80682" cy="80682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4714349" y="2418770"/>
            <a:ext cx="101600" cy="119530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294811" y="1828800"/>
            <a:ext cx="384048" cy="38404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50" b="1" i="0" lang="pt-BR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8547" y="3035808"/>
            <a:ext cx="23804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Priorizar</a:t>
            </a:r>
          </a:p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na ponta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8547" y="3657600"/>
            <a:ext cx="23804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8016" indent="-128016">
              <a:lnSpc>
                <a:spcPct val="116000"/>
              </a:lnSpc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Cascata completa: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divisional para regional, regional para GV, GV para CV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Cada CV recebe a lista nominal dos leads quentes do dia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Instrução única: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ligar em 100% da lista no mesmo 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8547" y="5175504"/>
            <a:ext cx="2380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Dono: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Regionais e GVs</a:t>
            </a:r>
          </a:p>
          <a:p>
            <a:pPr algn="l">
              <a:lnSpc>
                <a:spcPct val="125000"/>
              </a:lnSpc>
              <a:spcBef>
                <a:spcPts val="360"/>
              </a:spcBef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Prazo: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Semanas 1 e 2</a:t>
            </a:r>
          </a:p>
        </p:txBody>
      </p:sp>
      <p:sp>
        <p:nvSpPr>
          <p:cNvPr id="26" name="Chevron 25"/>
          <p:cNvSpPr/>
          <p:nvPr/>
        </p:nvSpPr>
        <p:spPr>
          <a:xfrm>
            <a:off x="5995263" y="2359152"/>
            <a:ext cx="201168" cy="237744"/>
          </a:xfrm>
          <a:prstGeom prst="chevron">
            <a:avLst>
              <a:gd name="adj" fmla="val 50000"/>
            </a:avLst>
          </a:prstGeom>
          <a:solidFill>
            <a:srgbClr val="B4B4B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1295" y="2011680"/>
            <a:ext cx="2563291" cy="93268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>
            <a:off x="7359205" y="2251984"/>
            <a:ext cx="347472" cy="305775"/>
          </a:xfrm>
          <a:prstGeom prst="triangle">
            <a:avLst>
              <a:gd name="adj" fmla="val 50000"/>
            </a:avLst>
          </a:prstGeom>
          <a:noFill/>
          <a:ln w="2032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22517" y="2363175"/>
            <a:ext cx="20848" cy="97292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22517" y="2481315"/>
            <a:ext cx="20848" cy="2432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168999" y="1828800"/>
            <a:ext cx="384048" cy="38404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50" b="1" i="0" lang="pt-BR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2735" y="3035808"/>
            <a:ext cx="23804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Avisar da</a:t>
            </a:r>
          </a:p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consequência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2735" y="3657600"/>
            <a:ext cx="23804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8016" indent="-128016">
              <a:lnSpc>
                <a:spcPct val="116000"/>
              </a:lnSpc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Regra comunicada antes de valer: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não converter lead quente reduz o volume recebido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Conversão por CV acompanhada semana a semana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Sem surpresa: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aviso formal antes do primeiro corte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2735" y="5175504"/>
            <a:ext cx="2380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Dono: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Glauco e GVs</a:t>
            </a:r>
          </a:p>
          <a:p>
            <a:pPr algn="l">
              <a:lnSpc>
                <a:spcPct val="125000"/>
              </a:lnSpc>
              <a:spcBef>
                <a:spcPts val="360"/>
              </a:spcBef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Prazo: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Semana 2</a:t>
            </a:r>
          </a:p>
        </p:txBody>
      </p:sp>
      <p:sp>
        <p:nvSpPr>
          <p:cNvPr id="35" name="Chevron 34"/>
          <p:cNvSpPr/>
          <p:nvPr/>
        </p:nvSpPr>
        <p:spPr>
          <a:xfrm>
            <a:off x="8869451" y="2359152"/>
            <a:ext cx="201168" cy="237744"/>
          </a:xfrm>
          <a:prstGeom prst="chevron">
            <a:avLst>
              <a:gd name="adj" fmla="val 50000"/>
            </a:avLst>
          </a:prstGeom>
          <a:solidFill>
            <a:srgbClr val="B4B4B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25483" y="2011680"/>
            <a:ext cx="2563291" cy="93268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Circular Arrow 36"/>
          <p:cNvSpPr/>
          <p:nvPr/>
        </p:nvSpPr>
        <p:spPr>
          <a:xfrm>
            <a:off x="10233393" y="2231136"/>
            <a:ext cx="347472" cy="347472"/>
          </a:xfrm>
          <a:prstGeom prst="circularArrow">
            <a:avLst>
              <a:gd name="adj1" fmla="val 10000"/>
              <a:gd name="adj2" fmla="val 470000000000"/>
              <a:gd name="adj3" fmla="val 120000000000"/>
              <a:gd name="adj4" fmla="val 1050000000000"/>
              <a:gd name="adj5" fmla="val 55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043187" y="1828800"/>
            <a:ext cx="384048" cy="38404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450" b="1" i="0" lang="pt-BR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6923" y="3035808"/>
            <a:ext cx="23804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Realocar</a:t>
            </a:r>
          </a:p>
          <a:p>
            <a:pPr algn="l">
              <a:lnSpc>
                <a:spcPct val="110000"/>
              </a:lnSpc>
            </a:pPr>
            <a:r>
              <a:rPr sz="1350" b="1" i="0" lang="pt-BR" dirty="0">
                <a:solidFill>
                  <a:srgbClr val="000000"/>
                </a:solidFill>
                <a:latin typeface="Arial"/>
              </a:rPr>
              <a:t>o lead quente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6923" y="3657600"/>
            <a:ext cx="23804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8016" indent="-128016">
              <a:lnSpc>
                <a:spcPct val="116000"/>
              </a:lnSpc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Alocação à loja segue o critério do cliente, como hoje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Dentro da loja, o mix de quente, morno e frio segue a performance do CV</a:t>
            </a:r>
          </a:p>
          <a:p>
            <a:pPr algn="l" marL="128016" indent="-128016">
              <a:lnSpc>
                <a:spcPct val="116000"/>
              </a:lnSpc>
              <a:spcBef>
                <a:spcPts val="936"/>
              </a:spcBef>
              <a:buFont typeface="Arial"/>
              <a:buChar char="•"/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Lead quente não tratado no prazo é realocado para quem atende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6923" y="5175504"/>
            <a:ext cx="2380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Dono: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L2S e comercial</a:t>
            </a:r>
          </a:p>
          <a:p>
            <a:pPr algn="l">
              <a:lnSpc>
                <a:spcPct val="125000"/>
              </a:lnSpc>
              <a:spcBef>
                <a:spcPts val="360"/>
              </a:spcBef>
            </a:pPr>
            <a:r>
              <a:rPr sz="950" b="1" i="0" lang="pt-BR" dirty="0">
                <a:solidFill>
                  <a:srgbClr val="333333"/>
                </a:solidFill>
                <a:latin typeface="Arial"/>
              </a:rPr>
              <a:t>Prazo: </a:t>
            </a:r>
            <a:r>
              <a:rPr sz="950" b="0" i="0" lang="pt-BR" dirty="0">
                <a:solidFill>
                  <a:srgbClr val="333333"/>
                </a:solidFill>
                <a:latin typeface="Arial"/>
              </a:rPr>
              <a:t>Semanas 3 e 4, em piloto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907024"/>
            <a:ext cx="11185855" cy="438912"/>
          </a:xfrm>
          <a:prstGeom prst="rect">
            <a:avLst/>
          </a:prstGeom>
          <a:solidFill>
            <a:srgbClr val="FAECE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Donut 42"/>
          <p:cNvSpPr/>
          <p:nvPr/>
        </p:nvSpPr>
        <p:spPr>
          <a:xfrm>
            <a:off x="654710" y="6005779"/>
            <a:ext cx="71323" cy="82296"/>
          </a:xfrm>
          <a:prstGeom prst="donut">
            <a:avLst>
              <a:gd name="adj" fmla="val 220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Donut 43"/>
          <p:cNvSpPr/>
          <p:nvPr/>
        </p:nvSpPr>
        <p:spPr>
          <a:xfrm>
            <a:off x="846734" y="6005779"/>
            <a:ext cx="71323" cy="82296"/>
          </a:xfrm>
          <a:prstGeom prst="donut">
            <a:avLst>
              <a:gd name="adj" fmla="val 220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rapezoid 44"/>
          <p:cNvSpPr/>
          <p:nvPr/>
        </p:nvSpPr>
        <p:spPr>
          <a:xfrm rot="10800000">
            <a:off x="715060" y="5994806"/>
            <a:ext cx="142646" cy="131673"/>
          </a:xfrm>
          <a:prstGeom prst="trapezoid">
            <a:avLst>
              <a:gd name="adj" fmla="val 200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2668" y="6126480"/>
            <a:ext cx="27432" cy="6035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6033" y="6186830"/>
            <a:ext cx="120700" cy="2468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4088" y="6217005"/>
            <a:ext cx="164592" cy="30175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9848" y="5907024"/>
            <a:ext cx="10490911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 lang="pt-BR" dirty="0">
                <a:solidFill>
                  <a:srgbClr val="CC0000"/>
                </a:solidFill>
                <a:latin typeface="Arial"/>
              </a:rPr>
              <a:t>Lead quente passa a ser mérito, não direito: quem converte recebe mais, quem não converte recebe menos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6327648"/>
            <a:ext cx="11185855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 lang="pt-BR" dirty="0">
                <a:solidFill>
                  <a:srgbClr val="858585"/>
                </a:solidFill>
                <a:latin typeface="Arial"/>
              </a:rPr>
              <a:t>Fonte: </a:t>
            </a:r>
            <a:r>
              <a:rPr sz="750" b="0" i="0" lang="pt-BR" dirty="0">
                <a:solidFill>
                  <a:srgbClr val="858585"/>
                </a:solidFill>
                <a:latin typeface="Arial"/>
              </a:rPr>
              <a:t>análise Bain; discussão com liderança comercial Localiza Seminovos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77879" y="6419088"/>
            <a:ext cx="3108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0" i="0" lang="pt-BR" dirty="0">
                <a:solidFill>
                  <a:srgbClr val="858585"/>
                </a:solidFill>
                <a:latin typeface="Arial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8423" y="6419088"/>
            <a:ext cx="12801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 lang="pt-BR" dirty="0">
                <a:solidFill>
                  <a:srgbClr val="B4B4B4"/>
                </a:solidFill>
                <a:latin typeface="Arial"/>
              </a:rPr>
              <a:t>|</a:t>
            </a:r>
          </a:p>
        </p:txBody>
      </p:sp>
      <p:sp>
        <p:nvSpPr>
          <p:cNvPr id="54" name="Oval 53"/>
          <p:cNvSpPr/>
          <p:nvPr/>
        </p:nvSpPr>
        <p:spPr>
          <a:xfrm>
            <a:off x="10902391" y="6423659"/>
            <a:ext cx="132588" cy="13258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19822" y="6414516"/>
            <a:ext cx="109112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lang="pt-BR" dirty="0" spc="60">
                <a:solidFill>
                  <a:srgbClr val="000000"/>
                </a:solidFill>
                <a:latin typeface="Arial"/>
              </a:rPr>
              <a:t>BAIN &amp; COMPANY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1858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lang="pt-BR" dirty="0" spc="170">
                <a:solidFill>
                  <a:srgbClr val="CC0000"/>
                </a:solidFill>
                <a:latin typeface="Arial"/>
              </a:rPr>
              <a:t>F&amp;I MULTIBANCO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11185855" cy="10972"/>
          </a:xfrm>
          <a:prstGeom prst="rect">
            <a:avLst/>
          </a:prstGeom>
          <a:solidFill>
            <a:srgbClr val="E9B8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pt-BR" dirty="0">
                <a:solidFill>
                  <a:srgbClr val="000000"/>
                </a:solidFill>
                <a:latin typeface="Arial"/>
              </a:rPr>
              <a:t>Entregar a plataforma de F&amp;I multibanco depende de cinco frentes,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73836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pt-BR" dirty="0">
                <a:solidFill>
                  <a:srgbClr val="CC0000"/>
                </a:solidFill>
                <a:latin typeface="Arial"/>
              </a:rPr>
              <a:t>iniciadas por um piloto com lojistas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lang="pt-BR" dirty="0">
                <a:solidFill>
                  <a:srgbClr val="CC0000"/>
                </a:solidFill>
                <a:latin typeface="Arial"/>
              </a:rPr>
              <a:t>Ambição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185855" cy="658368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onut 7"/>
          <p:cNvSpPr/>
          <p:nvPr/>
        </p:nvSpPr>
        <p:spPr>
          <a:xfrm>
            <a:off x="722376" y="1810512"/>
            <a:ext cx="365760" cy="365760"/>
          </a:xfrm>
          <a:prstGeom prst="donut">
            <a:avLst>
              <a:gd name="adj" fmla="val 120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onut 8"/>
          <p:cNvSpPr/>
          <p:nvPr/>
        </p:nvSpPr>
        <p:spPr>
          <a:xfrm>
            <a:off x="817473" y="1905609"/>
            <a:ext cx="175564" cy="175564"/>
          </a:xfrm>
          <a:prstGeom prst="donut">
            <a:avLst>
              <a:gd name="adj" fmla="val 220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5995" y="1964131"/>
            <a:ext cx="58521" cy="58521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07592" y="1664208"/>
            <a:ext cx="1018001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lang="pt-BR" dirty="0">
                <a:solidFill>
                  <a:srgbClr val="333333"/>
                </a:solidFill>
                <a:latin typeface="Arial"/>
              </a:rPr>
              <a:t>Plataforma de F&amp;I multibanco e ponta a ponta que faz o lojista vender mais, com simulação e envio de ficha em um só fluxo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23744"/>
            <a:ext cx="3606698" cy="106070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2895" y="2768890"/>
            <a:ext cx="67943" cy="67943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704088" y="2828056"/>
            <a:ext cx="85558" cy="100657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0889" y="2740273"/>
            <a:ext cx="79004" cy="79004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00648" y="2810499"/>
            <a:ext cx="99486" cy="117043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06016" y="2768890"/>
            <a:ext cx="67943" cy="67943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897209" y="2828056"/>
            <a:ext cx="85558" cy="100657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2670048"/>
            <a:ext cx="28203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Lojista e seu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3072384"/>
            <a:ext cx="32043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lang="pt-BR" dirty="0">
                <a:solidFill>
                  <a:srgbClr val="333333"/>
                </a:solidFill>
                <a:latin typeface="Arial"/>
              </a:rPr>
              <a:t>Mais aprovação, menos retrabalho e resposta em minutos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2498" y="2523744"/>
            <a:ext cx="3606698" cy="106070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558040" y="2711013"/>
            <a:ext cx="163860" cy="93634"/>
          </a:xfrm>
          <a:prstGeom prst="round2SameRect">
            <a:avLst>
              <a:gd name="adj1" fmla="val 42000"/>
              <a:gd name="adj2" fmla="val 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4493666" y="2798795"/>
            <a:ext cx="292608" cy="76078"/>
          </a:xfrm>
          <a:prstGeom prst="round2SameRect">
            <a:avLst>
              <a:gd name="adj1" fmla="val 34000"/>
              <a:gd name="adj2" fmla="val 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31705" y="2851464"/>
            <a:ext cx="70225" cy="70225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78009" y="2851464"/>
            <a:ext cx="70225" cy="70225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52187" y="2871947"/>
            <a:ext cx="29260" cy="292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98491" y="2871947"/>
            <a:ext cx="29260" cy="292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6002" y="2670048"/>
            <a:ext cx="28203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Localiza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3666" y="3072384"/>
            <a:ext cx="32043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lang="pt-BR" dirty="0">
                <a:solidFill>
                  <a:srgbClr val="333333"/>
                </a:solidFill>
                <a:latin typeface="Arial"/>
              </a:rPr>
              <a:t>Mais penetração de F&amp;I e relação mais forte com a rede de lojistas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82076" y="2523744"/>
            <a:ext cx="3606698" cy="106070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>
            <a:off x="8289096" y="2681752"/>
            <a:ext cx="280903" cy="76078"/>
          </a:xfrm>
          <a:prstGeom prst="triangle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18357" y="2775386"/>
            <a:ext cx="29260" cy="122895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88583" y="2775386"/>
            <a:ext cx="29260" cy="122895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58809" y="2775386"/>
            <a:ext cx="29260" cy="122895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29035" y="2775386"/>
            <a:ext cx="29260" cy="122895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83244" y="2915838"/>
            <a:ext cx="292608" cy="38039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5580" y="2670048"/>
            <a:ext cx="28203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lang="pt-BR" dirty="0">
                <a:solidFill>
                  <a:srgbClr val="000000"/>
                </a:solidFill>
                <a:latin typeface="Arial"/>
              </a:rPr>
              <a:t>Banco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3244" y="3072384"/>
            <a:ext cx="32043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lang="pt-BR" dirty="0">
                <a:solidFill>
                  <a:srgbClr val="333333"/>
                </a:solidFill>
                <a:latin typeface="Arial"/>
              </a:rPr>
              <a:t>Originação qualificada com custo de aquisição menor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730752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 lang="pt-BR" dirty="0">
                <a:solidFill>
                  <a:srgbClr val="CC0000"/>
                </a:solidFill>
                <a:latin typeface="Arial"/>
              </a:rPr>
              <a:t>Como: </a:t>
            </a:r>
            <a:r>
              <a:rPr sz="1150" b="1" i="0" lang="pt-BR" dirty="0">
                <a:solidFill>
                  <a:srgbClr val="CC0000"/>
                </a:solidFill>
                <a:latin typeface="Arial"/>
              </a:rPr>
              <a:t>cinco frentes, escaladas em ondas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059936"/>
            <a:ext cx="2105497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4360" y="4123944"/>
            <a:ext cx="292608" cy="29260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150" b="1" i="0" lang="pt-BR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059936"/>
            <a:ext cx="155685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 lang="pt-BR" dirty="0">
                <a:solidFill>
                  <a:srgbClr val="000000"/>
                </a:solidFill>
                <a:latin typeface="Arial"/>
              </a:rPr>
              <a:t>Bancos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480560"/>
            <a:ext cx="2105497" cy="6766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>
            <a:off x="1388882" y="4640762"/>
            <a:ext cx="333573" cy="90342"/>
          </a:xfrm>
          <a:prstGeom prst="triangle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23629" y="4751953"/>
            <a:ext cx="34747" cy="1459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07022" y="4751953"/>
            <a:ext cx="34747" cy="1459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590415" y="4751953"/>
            <a:ext cx="34747" cy="1459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673809" y="4751953"/>
            <a:ext cx="34747" cy="1459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381932" y="4918740"/>
            <a:ext cx="347472" cy="4517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" y="5303520"/>
            <a:ext cx="2050633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Integrar em ondas, dos bancos menores aos maiores, à medida que a proposta de valor se confirma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73009" y="4059936"/>
            <a:ext cx="2105497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864449" y="4123944"/>
            <a:ext cx="292608" cy="29260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150" b="1" i="0" lang="pt-BR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30209" y="4059936"/>
            <a:ext cx="155685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 lang="pt-BR" dirty="0">
                <a:solidFill>
                  <a:srgbClr val="000000"/>
                </a:solidFill>
                <a:latin typeface="Arial"/>
              </a:rPr>
              <a:t>Tecnologia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73009" y="4480560"/>
            <a:ext cx="2105497" cy="6766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Gear 9 54"/>
          <p:cNvSpPr/>
          <p:nvPr/>
        </p:nvSpPr>
        <p:spPr>
          <a:xfrm>
            <a:off x="3652022" y="4626864"/>
            <a:ext cx="347472" cy="347472"/>
          </a:xfrm>
          <a:prstGeom prst="gear9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766687" y="4741529"/>
            <a:ext cx="118140" cy="1181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91297" y="5303520"/>
            <a:ext cx="2050633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APIs para simulação via Corban do lojista e envio da ficha a múltiplos bancos em um único disparo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43098" y="4059936"/>
            <a:ext cx="2105497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134538" y="4123944"/>
            <a:ext cx="292608" cy="29260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150" b="1" i="0" lang="pt-BR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00298" y="4059936"/>
            <a:ext cx="155685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 lang="pt-BR" dirty="0">
                <a:solidFill>
                  <a:srgbClr val="000000"/>
                </a:solidFill>
                <a:latin typeface="Arial"/>
              </a:rPr>
              <a:t>Interface da plataforma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43098" y="4480560"/>
            <a:ext cx="2105497" cy="6766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22111" y="4647712"/>
            <a:ext cx="347472" cy="215432"/>
          </a:xfrm>
          <a:prstGeom prst="rect">
            <a:avLst/>
          </a:prstGeom>
          <a:noFill/>
          <a:ln w="2032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63808" y="4696358"/>
            <a:ext cx="166786" cy="2084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963808" y="4745004"/>
            <a:ext cx="250179" cy="2084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963808" y="4793650"/>
            <a:ext cx="125089" cy="2084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74999" y="4863144"/>
            <a:ext cx="41696" cy="62544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998555" y="4925689"/>
            <a:ext cx="194584" cy="31272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61386" y="5303520"/>
            <a:ext cx="2050633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Melhoria contínua guiada pelo uso do vendedor, com ciclos curtos de release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3188" y="4059936"/>
            <a:ext cx="2105497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404628" y="4123944"/>
            <a:ext cx="292608" cy="29260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150" b="1" i="0" lang="pt-BR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0388" y="4059936"/>
            <a:ext cx="155685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 lang="pt-BR" dirty="0">
                <a:solidFill>
                  <a:srgbClr val="000000"/>
                </a:solidFill>
                <a:latin typeface="Arial"/>
              </a:rPr>
              <a:t>Lojistas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3188" y="4480560"/>
            <a:ext cx="2105497" cy="6766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202659" y="4744240"/>
            <a:ext cx="80682" cy="80682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Round Same Side Corner Rectangle 73"/>
          <p:cNvSpPr/>
          <p:nvPr/>
        </p:nvSpPr>
        <p:spPr>
          <a:xfrm>
            <a:off x="8192201" y="4814498"/>
            <a:ext cx="101600" cy="119530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19028" y="4710257"/>
            <a:ext cx="93817" cy="93817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Round Same Side Corner Rectangle 75"/>
          <p:cNvSpPr/>
          <p:nvPr/>
        </p:nvSpPr>
        <p:spPr>
          <a:xfrm>
            <a:off x="8306866" y="4793650"/>
            <a:ext cx="118140" cy="138988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431991" y="4744240"/>
            <a:ext cx="80682" cy="80682"/>
          </a:xfrm>
          <a:prstGeom prst="ellipse">
            <a:avLst/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8" name="Round Same Side Corner Rectangle 77"/>
          <p:cNvSpPr/>
          <p:nvPr/>
        </p:nvSpPr>
        <p:spPr>
          <a:xfrm>
            <a:off x="8421532" y="4814498"/>
            <a:ext cx="101600" cy="119530"/>
          </a:xfrm>
          <a:prstGeom prst="round2SameRect">
            <a:avLst>
              <a:gd name="adj1" fmla="val 48000"/>
              <a:gd name="adj2" fmla="val 0"/>
            </a:avLst>
          </a:prstGeom>
          <a:noFill/>
          <a:ln w="19050">
            <a:solidFill>
              <a:srgbClr val="CC000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31476" y="5303520"/>
            <a:ext cx="2050633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Piloto em pequena escala para provar a proposta de valor e, confirmada, escalar por onda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583277" y="4059936"/>
            <a:ext cx="2105497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74717" y="4123944"/>
            <a:ext cx="292608" cy="29260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150" b="1" i="0" lang="pt-BR" dirty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0477" y="4059936"/>
            <a:ext cx="155685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 lang="pt-BR" dirty="0">
                <a:solidFill>
                  <a:srgbClr val="000000"/>
                </a:solidFill>
                <a:latin typeface="Arial"/>
              </a:rPr>
              <a:t>Ecossistema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583277" y="4480560"/>
            <a:ext cx="2105497" cy="67665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 rot="19680000">
            <a:off x="10524835" y="4710257"/>
            <a:ext cx="215432" cy="1563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 rot="1920000">
            <a:off x="10524835" y="4870094"/>
            <a:ext cx="215432" cy="15636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0712470" y="4626864"/>
            <a:ext cx="97292" cy="97292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462290" y="4751953"/>
            <a:ext cx="97292" cy="97292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712470" y="4877043"/>
            <a:ext cx="97292" cy="97292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601565" y="5303520"/>
            <a:ext cx="2050633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 lang="pt-BR" dirty="0">
                <a:solidFill>
                  <a:srgbClr val="333333"/>
                </a:solidFill>
                <a:latin typeface="Arial"/>
              </a:rPr>
              <a:t>Novos serviços e integração com Valoriza depois que o núcleo estiver estável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6327648"/>
            <a:ext cx="11185855" cy="731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 lang="pt-BR" dirty="0">
                <a:solidFill>
                  <a:srgbClr val="858585"/>
                </a:solidFill>
                <a:latin typeface="Arial"/>
              </a:rPr>
              <a:t>Fonte: </a:t>
            </a:r>
            <a:r>
              <a:rPr sz="750" b="0" i="0" lang="pt-BR" dirty="0">
                <a:solidFill>
                  <a:srgbClr val="858585"/>
                </a:solidFill>
                <a:latin typeface="Arial"/>
              </a:rPr>
              <a:t>análise Bain. Preliminar, para discussão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377879" y="6419088"/>
            <a:ext cx="3108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0" i="0" lang="pt-BR" dirty="0">
                <a:solidFill>
                  <a:srgbClr val="858585"/>
                </a:solidFill>
                <a:latin typeface="Arial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58423" y="6419088"/>
            <a:ext cx="12801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 lang="pt-BR" dirty="0">
                <a:solidFill>
                  <a:srgbClr val="B4B4B4"/>
                </a:solidFill>
                <a:latin typeface="Arial"/>
              </a:rPr>
              <a:t>|</a:t>
            </a:r>
          </a:p>
        </p:txBody>
      </p:sp>
      <p:sp>
        <p:nvSpPr>
          <p:cNvPr id="94" name="Oval 93"/>
          <p:cNvSpPr/>
          <p:nvPr/>
        </p:nvSpPr>
        <p:spPr>
          <a:xfrm>
            <a:off x="10902391" y="6423659"/>
            <a:ext cx="132588" cy="132588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719822" y="6414516"/>
            <a:ext cx="109112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 lang="pt-BR" dirty="0" spc="60">
                <a:solidFill>
                  <a:srgbClr val="000000"/>
                </a:solidFill>
                <a:latin typeface="Arial"/>
              </a:rPr>
              <a:t>BAIN &amp; 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quente e F&amp;I multibanco</dc:title>
  <dc:subject/>
  <dc:creator>ConsultingInnovation@bain.com</dc:creator>
  <cp:keywords/>
  <dc:description>generated using python-pptx</dc:description>
  <cp:lastModifiedBy>ConsultingInnovation@bain.com</cp:lastModifiedBy>
  <cp:revision>1</cp:revision>
  <dcterms:created xsi:type="dcterms:W3CDTF">2013-01-27T09:14:16Z</dcterms:created>
  <dcterms:modified xsi:type="dcterms:W3CDTF">2013-01-27T09:15:58Z</dcterms:modified>
  <cp:category/>
</cp:coreProperties>
</file>