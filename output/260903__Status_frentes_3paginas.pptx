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873" cy="232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>
                <a:latin typeface="Arial"/>
              </a:defRPr>
            </a:pPr>
            <a:r>
              <a:rPr sz="1500" b="1" i="0" lang="pt-BR">
                <a:solidFill>
                  <a:srgbClr val="1A1A1A"/>
                </a:solidFill>
                <a:latin typeface="Arial"/>
              </a:rPr>
              <a:t>Acompanhamento das 4 frentes de F&amp;I:</a:t>
            </a:r>
            <a:r>
              <a:rPr sz="1500" b="0" i="0" lang="pt-BR">
                <a:solidFill>
                  <a:srgbClr val="1A1A1A"/>
                </a:solidFill>
                <a:latin typeface="Arial"/>
              </a:rPr>
              <a:t> 3 de 10 entregáveis concluídos, 2 fora do plano e 3 travados em terceiros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98169"/>
            <a:ext cx="11423873" cy="2194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384048" y="702411"/>
            <a:ext cx="1449800" cy="237744"/>
          </a:xfrm>
          <a:prstGeom prst="homePlate">
            <a:avLst>
              <a:gd name="adj" fmla="val 10000"/>
            </a:avLst>
          </a:prstGeom>
          <a:solidFill>
            <a:srgbClr val="343432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>
              <a:defRPr sz="800">
                <a:latin typeface="Arial"/>
              </a:defRPr>
            </a:pPr>
            <a:r>
              <a:rPr sz="800" b="1" i="0" lang="pt-BR">
                <a:solidFill>
                  <a:srgbClr val="FFFFFF"/>
                </a:solidFill>
                <a:latin typeface="Arial"/>
              </a:rPr>
              <a:t>ACOMPANHAMENTO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9880" y="69326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>
                <a:latin typeface="Arial"/>
              </a:defRPr>
            </a:pPr>
            <a:r>
              <a:rPr sz="1100" b="1" i="0" lang="pt-BR">
                <a:solidFill>
                  <a:srgbClr val="146A3D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4200" y="738987"/>
            <a:ext cx="51237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Concluído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3149" y="738987"/>
            <a:ext cx="11137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1" i="0" lang="pt-BR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5688" y="69326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4C8E14"/>
                </a:solidFill>
                <a:latin typeface="Arial"/>
              </a:rPr>
              <a:t>• • 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8" y="738987"/>
            <a:ext cx="150652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dentro do plano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3106" y="738987"/>
            <a:ext cx="11137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1" i="0" lang="pt-BR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5645" y="69326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01F1F"/>
                </a:solidFill>
                <a:latin typeface="Arial"/>
              </a:rPr>
              <a:t>• • 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9965" y="738987"/>
            <a:ext cx="1393507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fora do plano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0049" y="738987"/>
            <a:ext cx="11137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1" i="0" lang="pt-BR">
                <a:solidFill>
                  <a:srgbClr val="CC0000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2588" y="69326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28E00"/>
                </a:solidFill>
                <a:latin typeface="Arial"/>
              </a:rPr>
              <a:t>• • 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6908" y="738987"/>
            <a:ext cx="112795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Bloqueado em terceiros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1434" y="738987"/>
            <a:ext cx="11137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1" i="0" lang="pt-BR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9201" y="738987"/>
            <a:ext cx="1188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>
                <a:latin typeface="Arial"/>
              </a:defRPr>
            </a:pPr>
            <a:r>
              <a:rPr sz="800" b="1" i="0" lang="pt-BR">
                <a:solidFill>
                  <a:srgbClr val="1A1A1A"/>
                </a:solidFill>
                <a:latin typeface="Arial"/>
              </a:rPr>
              <a:t>/ PRELIMINAR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84048" y="1031595"/>
          <a:ext cx="11423869" cy="53874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51"/>
                <a:gridCol w="1645037"/>
                <a:gridCol w="2266496"/>
                <a:gridCol w="1142387"/>
                <a:gridCol w="2175105"/>
                <a:gridCol w="2175105"/>
                <a:gridCol w="1937488"/>
              </a:tblGrid>
              <a:tr h="24892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FRENTE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O QUE PRECISAVA SER FEITO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418556">
                <a:tc rowSpan="3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0708F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40708F"/>
                          </a:solidFill>
                          <a:latin typeface="Arial"/>
                        </a:rPr>
                        <a:t>1.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Simulador de pré-análise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RESP. 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Sônia e Ricardo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VALOR 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R$ 29–74 M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Desenhar plano de comunicação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10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Concluído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no prazo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Formato, data, participantes e duração definidos para cada conversa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Implementar o plano de comunicação a partir de 08/set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56732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Ajustar tela do simulador</a:t>
                      </a: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(textos e card de crédito parcial)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  <a:r>
                        <a:rPr sz="800" b="0" i="0" lang="pt-BR">
                          <a:solidFill>
                            <a:srgbClr val="CC0000"/>
                          </a:solidFill>
                          <a:latin typeface="Arial"/>
                        </a:rPr>
                        <a:t>   prazo em redefinição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9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fora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Desenvolvimentos preliminares concluídos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Implementar os ajustes observados durante a visita em loja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Avaliar dificuldade e prazos para implementar todas as melhorias mapeadas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56732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Selecionar lojas do piloto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10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Concluído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no prazo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Lojas selecionadas nas regionais Nordeste, MG, CO, ES e RJ;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75 lojas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escolhidas para 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539460">
                <a:tc rowSpan="2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8C3A6B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8C3A6B"/>
                          </a:solidFill>
                          <a:latin typeface="Arial"/>
                        </a:rPr>
                        <a:t>2.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Modelo de distribuição de fichas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RESP. 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Sandra Reis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VALOR 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R$ 24–52 M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Iniciar modelo escalável em 2 lojas</a:t>
                      </a: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(VCGRU e VCSJS)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01/set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10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Concluído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no prazo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implementado na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VCGRU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na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VCSJS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Expandir gradualmente para as demais lojas que já fazem parte do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394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Implantar sistema de reanálise nos modelos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25/set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9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dentro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418556">
                <a:tc rowSpan="3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9C8226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9C8226"/>
                          </a:solidFill>
                          <a:latin typeface="Arial"/>
                        </a:rPr>
                        <a:t>3.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Ecossistema de F&amp;I para lojistas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RESP. 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Thiago Lopes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VALOR 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Integrar o PAN no FAS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9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Bloqueado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prazo a definir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Definir quem fará o desenvolvimento: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internamente ou do lado do PAN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394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Finalizar os desenvolvimentos de tecnologia necessários do VW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9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Bloqueado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prazo a definir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Garantir que os nossos desenvolvimentos sejam priorizados junto ao VW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394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Resolver as inconsistências nas ofertas do Bradesco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9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Bloqueado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prazo a definir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Garantir que os problemas de instabilidade sejam resolvidos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437352">
                <a:tc rowSpan="2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595959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595959"/>
                          </a:solidFill>
                          <a:latin typeface="Arial"/>
                        </a:rPr>
                        <a:t>4.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Gestão integrada do ciclo de crédito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RESP. 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Bárbara Gabrielle e Lucas Ávila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VALOR 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Levantar os dados de Bradesco e VW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9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dentro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928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Criar score de crédito Localiza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>
                          <a:latin typeface="Arial"/>
                        </a:defRPr>
                      </a:pPr>
                      <a:r>
                        <a:rPr sz="9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fora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Acessos concedidos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bases entendidas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Estruturar as bases, treinar o modelo e fazer backtest com dados históricos para avaliar dispersão e acurácia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4048" y="6547104"/>
            <a:ext cx="8314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Lead to Sales — Aceleração Seminovos e plano de escalada de F&amp;I (preliminar) · Ref.: 03/set/26 · TBD = prazo não acordado; TBC = valor a confirmar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8961" y="6547104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>
                <a:latin typeface="Arial"/>
              </a:defRPr>
            </a:pPr>
            <a:r>
              <a:rPr sz="800" b="0" i="0" lang="pt-BR">
                <a:solidFill>
                  <a:srgbClr val="757575"/>
                </a:solidFill>
                <a:latin typeface="Arial"/>
              </a:rPr>
              <a:t>Classificação da Informação: INTERNA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5041" y="65471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>
                <a:latin typeface="Arial"/>
              </a:defRPr>
            </a:pPr>
            <a:r>
              <a:rPr sz="800" b="1" i="0" lang="pt-BR">
                <a:solidFill>
                  <a:srgbClr val="33333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873" cy="232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>
                <a:latin typeface="Arial"/>
              </a:defRPr>
            </a:pPr>
            <a:r>
              <a:rPr sz="1500" b="1" i="0" lang="pt-BR">
                <a:solidFill>
                  <a:srgbClr val="1A1A1A"/>
                </a:solidFill>
                <a:latin typeface="Arial"/>
              </a:rPr>
              <a:t>3 dos 10 marcos concluídos; simulador e score de crédito fora do plano e 3 integrações com parceiros sem prazo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62178"/>
            <a:ext cx="3657600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>
                <a:latin typeface="Arial"/>
              </a:defRPr>
            </a:pPr>
            <a:r>
              <a:rPr sz="1150" b="1" i="0" lang="pt-BR">
                <a:solidFill>
                  <a:srgbClr val="1A1A1A"/>
                </a:solidFill>
                <a:latin typeface="Arial"/>
              </a:rPr>
              <a:t>Status das quatro frentes  |  posição de 03/set/26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4563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>
                <a:latin typeface="Arial"/>
              </a:defRPr>
            </a:pPr>
            <a:r>
              <a:rPr sz="1100" b="1" i="0" lang="pt-BR">
                <a:solidFill>
                  <a:srgbClr val="146A3D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7171" y="694182"/>
            <a:ext cx="54894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Concluído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577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4C8E14"/>
                </a:solidFill>
                <a:latin typeface="Arial"/>
              </a:rPr>
              <a:t>• • 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8185" y="694182"/>
            <a:ext cx="1543097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dentro do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0738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28E00"/>
                </a:solidFill>
                <a:latin typeface="Arial"/>
              </a:rPr>
              <a:t>• • 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346" y="694182"/>
            <a:ext cx="1322427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com riscos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5230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01F1F"/>
                </a:solidFill>
                <a:latin typeface="Arial"/>
              </a:rPr>
              <a:t>• • 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7838" y="694182"/>
            <a:ext cx="143008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fora do plano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968374"/>
          <a:ext cx="11423870" cy="54781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214"/>
                <a:gridCol w="2558064"/>
                <a:gridCol w="699326"/>
                <a:gridCol w="607310"/>
                <a:gridCol w="2493652"/>
                <a:gridCol w="2493652"/>
                <a:gridCol w="2493652"/>
              </a:tblGrid>
              <a:tr h="24892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O QUE PRECISAVA SER FEITO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1.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Simulador de pré-análise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2 concluídos</a:t>
                      </a:r>
                      <a:r>
                        <a:rPr sz="8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 •   </a:t>
                      </a:r>
                      <a:r>
                        <a:rPr sz="8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1 fora do plano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5604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Desenhar plano de comunicação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02/set/26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50">
                          <a:latin typeface="Arial"/>
                        </a:defRPr>
                      </a:pPr>
                      <a:r>
                        <a:rPr sz="11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Plano de comunicação desenhado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formato, data, participantes e duração definidos para cada conversa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Ajustar tela do simulador, textos e cards de crédito parcial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02/set/26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Desenvolvimentos preliminares concluídos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Implementar ajustes observados durante visita em loja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Avaliar dificuldade e prazos para implementar todas as melhorias mapeadas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Selecionar lojas do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02/set/26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50">
                          <a:latin typeface="Arial"/>
                        </a:defRPr>
                      </a:pPr>
                      <a:r>
                        <a:rPr sz="11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Lojas selecionadas nas regionais Nordeste, MG, CO, ES e RJ;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75 lojas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escolhidas para 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2.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Modelo de distribuição de fichas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1 concluído</a:t>
                      </a:r>
                      <a:r>
                        <a:rPr sz="8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 •   </a:t>
                      </a:r>
                      <a:r>
                        <a:rPr sz="8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1 no plano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Iniciar modelo escalável em duas lojas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01/set/26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50">
                          <a:latin typeface="Arial"/>
                        </a:defRPr>
                      </a:pPr>
                      <a:r>
                        <a:rPr sz="11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implementado na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VCGRU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na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VCSCJS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Expandir gradualmente para as outras lojas que já fazem parte do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29696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Implementar sistema de reanálise nos modelos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25/set/26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3.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Ecossistema de financiamento para lojistas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3 com riscos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Integrar o PAN no FAS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Definir quem fará o desenvolvimento: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internamente ou do lado do PAN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Finalizar desenvolvimentos de tecnologia necessários do VOX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Garantir que nossos desenvolvimentos de tecnologia sejam priorizados com o VOX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Resolver inconsistência nas ofertas do Bradesco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Garantir que os problemas de instabilidade sejam resolvidos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4.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Gestão integrada do ciclo de crédito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1 no plano</a:t>
                      </a:r>
                      <a:r>
                        <a:rPr sz="8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 •   </a:t>
                      </a:r>
                      <a:r>
                        <a:rPr sz="8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1 fora do plano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696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Obter dados de Bradesco e VOX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5604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Criar score de crédito Localiza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Acessos concedidos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bases entendidas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Estruturação e consolidação das bases, treinamento do modelo e backtest com dados históricos para avaliar a acurácia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547104"/>
            <a:ext cx="114238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757575"/>
                </a:solidFill>
                <a:latin typeface="Arial"/>
              </a:rPr>
              <a:t>Nota: prazos em TBD dependem de definição conjunta com os parceiros (PAN, VOX e Bradesco). NA = não aplicável no ciclo atual.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873" cy="232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>
                <a:latin typeface="Arial"/>
              </a:defRPr>
            </a:pPr>
            <a:r>
              <a:rPr sz="1500" b="1" i="0" lang="pt-BR">
                <a:solidFill>
                  <a:srgbClr val="1A1A1A"/>
                </a:solidFill>
                <a:latin typeface="Arial"/>
              </a:rPr>
              <a:t>3 dos 10 marcos concluídos;</a:t>
            </a:r>
            <a:r>
              <a:rPr sz="1500" b="0" i="0" lang="pt-BR">
                <a:solidFill>
                  <a:srgbClr val="1A1A1A"/>
                </a:solidFill>
                <a:latin typeface="Arial"/>
              </a:rPr>
              <a:t> 2 estão fora do plano por falta de prazo e 3 parados em PAN, VW e Bradesco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98169"/>
            <a:ext cx="11423873" cy="2194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720699"/>
            <a:ext cx="4206240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>
                <a:latin typeface="Arial"/>
              </a:defRPr>
            </a:pPr>
            <a:r>
              <a:rPr sz="1150" b="1" i="0" lang="pt-BR">
                <a:solidFill>
                  <a:srgbClr val="1A1A1A"/>
                </a:solidFill>
                <a:latin typeface="Arial"/>
              </a:rPr>
              <a:t>Status das quatro frentes de F&amp;I  |  posição de 03/set/26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71612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>
                <a:latin typeface="Arial"/>
              </a:defRPr>
            </a:pPr>
            <a:r>
              <a:rPr sz="1100" b="1" i="0" lang="pt-BR">
                <a:solidFill>
                  <a:srgbClr val="146A3D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761847"/>
            <a:ext cx="51237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Concluído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1885" y="71612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4C8E14"/>
                </a:solidFill>
                <a:latin typeface="Arial"/>
              </a:rPr>
              <a:t>• • 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6205" y="761847"/>
            <a:ext cx="46157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No plano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5523" y="71612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28E00"/>
                </a:solidFill>
                <a:latin typeface="Arial"/>
              </a:rPr>
              <a:t>• • 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843" y="761847"/>
            <a:ext cx="94717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Parado em parceiro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4761" y="716127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01F1F"/>
                </a:solidFill>
                <a:latin typeface="Arial"/>
              </a:rPr>
              <a:t>• • 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9081" y="761847"/>
            <a:ext cx="681847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Fora do plano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4048" y="999464"/>
          <a:ext cx="11423871" cy="428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521"/>
                <a:gridCol w="1902432"/>
                <a:gridCol w="2412840"/>
                <a:gridCol w="649611"/>
                <a:gridCol w="1132179"/>
                <a:gridCol w="2598444"/>
                <a:gridCol w="2644844"/>
              </a:tblGrid>
              <a:tr h="24892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FRENTE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O QUE PRECISAVA SER FEITO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36576" marB="36576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91950">
                <a:tc rowSpan="3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0708F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l">
                        <a:defRPr sz="950">
                          <a:latin typeface="Arial"/>
                        </a:defRPr>
                      </a:pPr>
                      <a:r>
                        <a:rPr sz="950" b="1" i="0" lang="pt-BR">
                          <a:solidFill>
                            <a:srgbClr val="40708F"/>
                          </a:solidFill>
                          <a:latin typeface="Arial"/>
                        </a:rPr>
                        <a:t>1. </a:t>
                      </a:r>
                      <a:r>
                        <a:rPr sz="9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Simulador de pré-análise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Sônia e Ricardo</a:t>
                      </a:r>
                      <a:r>
                        <a:rPr sz="7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• 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R$ 29–74 M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2 concluído</a:t>
                      </a:r>
                      <a:r>
                        <a:rPr sz="7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•  </a:t>
                      </a:r>
                      <a:r>
                        <a:rPr sz="7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1 fora do plano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Desenhar plano de comunicação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Concluído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no prazo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Formato, data, participantes e duração definidos para cada conversa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Implementar o plano a partir de 08/set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39195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Ajustar tela do simulador, textos e cards de crédito parcial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CC0000"/>
                          </a:solidFill>
                          <a:latin typeface="Arial"/>
                        </a:rPr>
                        <a:t>vencido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fora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Desenvolvimentos preliminares concluídos, mas a visita em loja mapeou </a:t>
                      </a: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melhorias adicionais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Dimensionar o esforço das melhorias e repactuar o prazo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39195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Selecionar lojas do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Concluído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no prazo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75 lojas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escolhidas nas regionais Nordeste, MG, CO, ES e RJ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Iniciar a escalada da expansão em 08/set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427510">
                <a:tc rowSpan="2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8C3A6B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>
                        <a:defRPr sz="950">
                          <a:latin typeface="Arial"/>
                        </a:defRPr>
                      </a:pPr>
                      <a:r>
                        <a:rPr sz="950" b="1" i="0" lang="pt-BR">
                          <a:solidFill>
                            <a:srgbClr val="8C3A6B"/>
                          </a:solidFill>
                          <a:latin typeface="Arial"/>
                        </a:rPr>
                        <a:t>2. </a:t>
                      </a:r>
                      <a:r>
                        <a:rPr sz="9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Modelo de distribuição de fichas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Sandra Reis</a:t>
                      </a:r>
                      <a:r>
                        <a:rPr sz="7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• 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R$ 24–52 M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1 concluído</a:t>
                      </a:r>
                      <a:r>
                        <a:rPr sz="7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•  </a:t>
                      </a:r>
                      <a:r>
                        <a:rPr sz="7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1 no plano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Iniciar modelo escalável em 2 lojas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01/set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Concluído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no prazo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rodando na </a:t>
                      </a: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VCGRU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na </a:t>
                      </a: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VCSJS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Expandir para as demais lojas do piloto e medir o resultado do novo sistema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2751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Implantar sistema de reanálise nos modelos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25/set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dentro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Não iniciado, dentro da janela do prazo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Detalhar o escopo até 11/set para preservar a data de 25/set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367058">
                <a:tc rowSpan="3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9C8226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l">
                        <a:defRPr sz="950">
                          <a:latin typeface="Arial"/>
                        </a:defRPr>
                      </a:pPr>
                      <a:r>
                        <a:rPr sz="950" b="1" i="0" lang="pt-BR">
                          <a:solidFill>
                            <a:srgbClr val="9C8226"/>
                          </a:solidFill>
                          <a:latin typeface="Arial"/>
                        </a:rPr>
                        <a:t>3. </a:t>
                      </a:r>
                      <a:r>
                        <a:rPr sz="9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Ecossistema de F&amp;I para lojistas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Thiago Lopes</a:t>
                      </a:r>
                      <a:r>
                        <a:rPr sz="7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• 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TBC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3 parado em parceiro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Integrar o PAN no FAS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Bloqueado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prazo a definir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Sem avanço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: escopo de desenvolvimento não definido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Definir o responsável pelo desenvolvimento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39195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Finalizar desenvolvimentos de tecnologia do VW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Bloqueado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prazo a definir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Sem avanço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: demanda na fila de priorização do parceiro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Priorizar a nossa demanda junto ao VW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39195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Resolver inconsistências nas ofertas do Bradesco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Bloqueado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prazo a definir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Instabilidade recorrente nas ofertas apresentadas em loja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Cobrar plano de correção do Bradesco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415064">
                <a:tc rowSpan="2"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595959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>
                        <a:defRPr sz="950">
                          <a:latin typeface="Arial"/>
                        </a:defRPr>
                      </a:pPr>
                      <a:r>
                        <a:rPr sz="950" b="1" i="0" lang="pt-BR">
                          <a:solidFill>
                            <a:srgbClr val="595959"/>
                          </a:solidFill>
                          <a:latin typeface="Arial"/>
                        </a:rPr>
                        <a:t>4. </a:t>
                      </a:r>
                      <a:r>
                        <a:rPr sz="9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Gestão integrada do ciclo de crédito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Bárbara Gabrielle e Lucas Ávila</a:t>
                      </a:r>
                      <a:r>
                        <a:rPr sz="7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• 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TBC</a:t>
                      </a:r>
                    </a:p>
                    <a:p>
                      <a:pPr algn="l">
                        <a:spcBef>
                          <a:spcPts val="250"/>
                        </a:spcBef>
                        <a:defRPr sz="700">
                          <a:latin typeface="Arial"/>
                        </a:defRPr>
                      </a:pPr>
                      <a:r>
                        <a:rPr sz="7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1 no plano</a:t>
                      </a:r>
                      <a:r>
                        <a:rPr sz="7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•  </a:t>
                      </a:r>
                      <a:r>
                        <a:rPr sz="7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1 fora do plano</a:t>
                      </a:r>
                    </a:p>
                  </a:txBody>
                  <a:tcPr marL="109728" marR="109728" marT="91440" marB="36576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Levantar os dados de Bradesco e VW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02/set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dentro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Coleta em andamento com os dois parceiros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Fechar a base consolidada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39956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Criar score de crédito Localiza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CC0000"/>
                          </a:solidFill>
                          <a:latin typeface="Arial"/>
                        </a:rPr>
                        <a:t>sem data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 </a:t>
                      </a:r>
                      <a:r>
                        <a:rPr sz="7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Em andamento</a:t>
                      </a:r>
                    </a:p>
                    <a:p>
                      <a:pPr algn="ctr">
                        <a:spcBef>
                          <a:spcPts val="1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fora do plano</a:t>
                      </a:r>
                    </a:p>
                  </a:txBody>
                  <a:tcPr marL="27432" marR="27432" marT="36576" marB="36576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Acessos concedidos</a:t>
                      </a: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bases entendidas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Estruturar as bases, treinar o modelo e fazer backtest para medir a acurácia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4048" y="5468112"/>
            <a:ext cx="114238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rPr sz="1000" b="1" i="0" lang="pt-BR">
                <a:solidFill>
                  <a:srgbClr val="1A1A1A"/>
                </a:solidFill>
                <a:latin typeface="Arial"/>
              </a:rPr>
              <a:t>Decisões pedidas nesta reunião</a:t>
            </a:r>
            <a:r>
              <a:rPr sz="1000" b="0" i="0" lang="pt-BR">
                <a:solidFill>
                  <a:srgbClr val="6B6B6B"/>
                </a:solidFill>
                <a:latin typeface="Arial"/>
              </a:rPr>
              <a:t>   as três frentes que dependem de uma definição desta reunião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5705856"/>
          <a:ext cx="11423872" cy="7132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982"/>
                <a:gridCol w="2397261"/>
                <a:gridCol w="6546368"/>
                <a:gridCol w="2397261"/>
              </a:tblGrid>
              <a:tr h="23774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070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Simulador de pré-análise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Aprovar o escopo das melhorias mapeadas em loja e repactuar a data do ajuste de tela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Sônia e Ricardo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9C82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Ecossistema de F&amp;I para lojistas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Definir se o desenvolvimento do PAN é interno ou do parceiro e escalar a priorização com VW e Bradesco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Thiago Lopes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Gestão integrada do ciclo de crédito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Acordar a data de entrega do score de crédito Localiza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Bárbara Gabrielle e Lucas Ávila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noFill/>
                    </a:lnL>
                    <a:lnR w="19050" cap="flat" cmpd="sng" algn="ctr">
                      <a:noFill/>
                    </a:lnR>
                    <a:lnT w="1905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4048" y="6547104"/>
            <a:ext cx="83149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757575"/>
                </a:solidFill>
                <a:latin typeface="Arial"/>
              </a:rPr>
              <a:t>Fonte: memorando Lead to Sales — Aceleração Seminovos e plano de escalada de F&amp;I (preliminar) · TBD = prazo não acordado; TBC = valor a confirmar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8961" y="6547104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>
                <a:latin typeface="Arial"/>
              </a:defRPr>
            </a:pPr>
            <a:r>
              <a:rPr sz="800" b="0" i="0" lang="pt-BR">
                <a:solidFill>
                  <a:srgbClr val="757575"/>
                </a:solidFill>
                <a:latin typeface="Arial"/>
              </a:rPr>
              <a:t>Classificação da Informação: INTERNA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5041" y="65471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>
                <a:latin typeface="Arial"/>
              </a:defRPr>
            </a:pPr>
            <a:r>
              <a:rPr sz="800" b="1" i="0" lang="pt-BR">
                <a:solidFill>
                  <a:srgbClr val="33333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das quatro frentes de F&amp;I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