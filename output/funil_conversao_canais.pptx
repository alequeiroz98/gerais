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55448"/>
            <a:ext cx="9921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800" b="0" lang="pt-BR">
                <a:solidFill>
                  <a:srgbClr val="333333"/>
                </a:solidFill>
                <a:latin typeface="Arial"/>
              </a:rPr>
              <a:t>Conversão lead→venda cai ~10% no consolidado (0,75%→0,68%) e segue 0,26 p.p. abaixo da meta de 0,94%: só a Central avança, Liza perde conversão ao escalar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87000" y="484632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lang="pt-BR">
                <a:solidFill>
                  <a:srgbClr val="858585"/>
                </a:solidFill>
                <a:latin typeface="Arial"/>
              </a:rPr>
              <a:t>/ P R E L I M I N A 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40312" cy="0"/>
          </a:xfrm>
          <a:prstGeom prst="line">
            <a:avLst/>
          </a:prstGeom>
          <a:ln w="28575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914400"/>
          <a:ext cx="11644407" cy="480974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89888"/>
                <a:gridCol w="412851"/>
                <a:gridCol w="412851"/>
                <a:gridCol w="412851"/>
                <a:gridCol w="412851"/>
                <a:gridCol w="412851"/>
                <a:gridCol w="412851"/>
                <a:gridCol w="412851"/>
                <a:gridCol w="412851"/>
                <a:gridCol w="412851"/>
                <a:gridCol w="64008"/>
                <a:gridCol w="356158"/>
                <a:gridCol w="356158"/>
                <a:gridCol w="356158"/>
                <a:gridCol w="356158"/>
                <a:gridCol w="356158"/>
                <a:gridCol w="356158"/>
                <a:gridCol w="356158"/>
                <a:gridCol w="356158"/>
                <a:gridCol w="356158"/>
                <a:gridCol w="64008"/>
                <a:gridCol w="356158"/>
                <a:gridCol w="356158"/>
                <a:gridCol w="356158"/>
                <a:gridCol w="356158"/>
                <a:gridCol w="356158"/>
                <a:gridCol w="356158"/>
                <a:gridCol w="356158"/>
                <a:gridCol w="356158"/>
                <a:gridCol w="356158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Funil lead → venda</a:t>
                      </a:r>
                    </a:p>
                  </a:txBody>
                  <a:tcPr marL="36576" marR="36576" marT="45720" marB="36576" anchor="b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gridSpan="9"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FFFFFF"/>
                          </a:solidFill>
                          <a:latin typeface="Arial"/>
                        </a:rPr>
                        <a:t>CV (sem Liza e sem Central)     </a:t>
                      </a:r>
                      <a:r>
                        <a:rPr sz="800" b="0" lang="pt-BR">
                          <a:solidFill>
                            <a:srgbClr val="B4B4B4"/>
                          </a:solidFill>
                          <a:latin typeface="Arial"/>
                        </a:rPr>
                        <a:t> conversão </a:t>
                      </a:r>
                      <a:r>
                        <a:rPr sz="1000" b="1" lang="pt-BR">
                          <a:solidFill>
                            <a:srgbClr val="FF8A8A"/>
                          </a:solidFill>
                          <a:latin typeface="Arial"/>
                        </a:rPr>
                        <a:t>-11%</a:t>
                      </a:r>
                    </a:p>
                  </a:txBody>
                  <a:tcPr marL="73152" marR="73152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33333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gridSpan="9"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FFFFFF"/>
                          </a:solidFill>
                          <a:latin typeface="Arial"/>
                        </a:rPr>
                        <a:t>Liza     </a:t>
                      </a:r>
                      <a:r>
                        <a:rPr sz="800" b="0" lang="pt-BR">
                          <a:solidFill>
                            <a:srgbClr val="B4B4B4"/>
                          </a:solidFill>
                          <a:latin typeface="Arial"/>
                        </a:rPr>
                        <a:t> conversão </a:t>
                      </a:r>
                      <a:r>
                        <a:rPr sz="1000" b="1" lang="pt-BR">
                          <a:solidFill>
                            <a:srgbClr val="FF8A8A"/>
                          </a:solidFill>
                          <a:latin typeface="Arial"/>
                        </a:rPr>
                        <a:t>-34%</a:t>
                      </a:r>
                    </a:p>
                  </a:txBody>
                  <a:tcPr marL="73152" marR="73152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33333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gridSpan="9"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FFFFFF"/>
                          </a:solidFill>
                          <a:latin typeface="Arial"/>
                        </a:rPr>
                        <a:t>Central     </a:t>
                      </a:r>
                      <a:r>
                        <a:rPr sz="800" b="0" lang="pt-BR">
                          <a:solidFill>
                            <a:srgbClr val="B4B4B4"/>
                          </a:solidFill>
                          <a:latin typeface="Arial"/>
                        </a:rPr>
                        <a:t> conversão </a:t>
                      </a:r>
                      <a:r>
                        <a:rPr sz="1000" b="1" lang="pt-BR">
                          <a:solidFill>
                            <a:srgbClr val="7FD1AE"/>
                          </a:solidFill>
                          <a:latin typeface="Arial"/>
                        </a:rPr>
                        <a:t>+48%</a:t>
                      </a:r>
                    </a:p>
                  </a:txBody>
                  <a:tcPr marL="73152" marR="73152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33333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 lang="pt-BR">
                          <a:solidFill>
                            <a:srgbClr val="858585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6576" marR="36576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jan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fev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mar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abr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mai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ago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jan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fev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mar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abr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mai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ago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jan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fev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mar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abr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mai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ago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</a:lnB>
                    <a:solidFill>
                      <a:srgbClr val="ECEC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# de leads</a:t>
                      </a:r>
                    </a:p>
                  </a:txBody>
                  <a:tcPr marL="36576" marR="36576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454.314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351.045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387.905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426.871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435.764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336.078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324.671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321.406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400.000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8.117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13.735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14.688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31.018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58.349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50.000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14.502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12.085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16.248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14.333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13.311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10.660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15.577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9.060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20.000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% leads sem info de CEP</a:t>
                      </a:r>
                    </a:p>
                  </a:txBody>
                  <a:tcPr marL="36576" marR="36576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48%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39%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53%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49%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73%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68%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% de fichas enviadas</a:t>
                      </a:r>
                    </a:p>
                  </a:txBody>
                  <a:tcPr marL="36576" marR="36576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# fichas enviadas</a:t>
                      </a:r>
                    </a:p>
                  </a:txBody>
                  <a:tcPr marL="36576" marR="36576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16.048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13.734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15.604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16.497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17.662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19.035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16.326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15.215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584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1.140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1.557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2.684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% fichas aprovadas</a:t>
                      </a:r>
                    </a:p>
                  </a:txBody>
                  <a:tcPr marL="36576" marR="36576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29%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51%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48%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49%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41%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48%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# fichas aprovadas</a:t>
                      </a:r>
                    </a:p>
                  </a:txBody>
                  <a:tcPr marL="36576" marR="36576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5.711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4.703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5.161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5.203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5.161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5.256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4.648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4.619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543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% fichas faturadas</a:t>
                      </a:r>
                    </a:p>
                  </a:txBody>
                  <a:tcPr marL="36576" marR="36576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42%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53%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52%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39%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37%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# fichas faturadas</a:t>
                      </a:r>
                    </a:p>
                  </a:txBody>
                  <a:tcPr marL="36576" marR="36576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1.933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1.553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1.803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1.654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1.575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1.646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1.527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1.377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% total de fichas faturadas</a:t>
                      </a:r>
                    </a:p>
                  </a:txBody>
                  <a:tcPr marL="36576" marR="36576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0,43%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0,44%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0,46%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0,39%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0,36%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0,49%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0,47%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0,43%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0,62%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0,59%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0,58%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0,54%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0,43%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0,20%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0,29%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0,26%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0,20%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0,22%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0,30%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0,56%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0,75%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# de vendas totais</a:t>
                      </a:r>
                    </a:p>
                  </a:txBody>
                  <a:tcPr marL="36576" marR="36576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3.416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2.674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3.183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2.816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2.742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2.669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2.480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2.144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3.760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% de vendas</a:t>
                      </a:r>
                    </a:p>
                  </a:txBody>
                  <a:tcPr marL="36576" marR="36576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0,75%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B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0,76%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B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0,82%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0,66%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9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0,63%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9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0,79%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C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0,76%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B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0,67%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9E7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0,94%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104C3E"/>
                          </a:solidFill>
                          <a:latin typeface="Arial"/>
                        </a:rPr>
                        <a:t>1,01%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DAE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104C3E"/>
                          </a:solidFill>
                          <a:latin typeface="Arial"/>
                        </a:rPr>
                        <a:t>1,14%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CBE2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104C3E"/>
                          </a:solidFill>
                          <a:latin typeface="Arial"/>
                        </a:rPr>
                        <a:t>1,13%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CDE3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104C3E"/>
                          </a:solidFill>
                          <a:latin typeface="Arial"/>
                        </a:rPr>
                        <a:t>0,96%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DFED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0,67%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9E7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0,94%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0,80%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C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0,84%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DF6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0,84%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DF6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0,68%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A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0,76%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B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0,78%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C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104C3E"/>
                          </a:solidFill>
                          <a:latin typeface="Arial"/>
                        </a:rPr>
                        <a:t>1,35%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B6D6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104C3E"/>
                          </a:solidFill>
                          <a:latin typeface="Arial"/>
                        </a:rPr>
                        <a:t>1,18%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C7E0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0,94%</a:t>
                      </a:r>
                    </a:p>
                  </a:txBody>
                  <a:tcPr marL="9144" marR="914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664208" y="5815584"/>
            <a:ext cx="371566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50" b="0" lang="pt-BR">
                <a:solidFill>
                  <a:srgbClr val="5C5C5C"/>
                </a:solidFill>
                <a:latin typeface="Arial"/>
              </a:rPr>
              <a:t>Queda vem do topo, não do funil: os leads caem 29% (454k→321k) e as taxas internas de aprovação e faturamento seguem no patamar de janeiro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3880" y="5815584"/>
            <a:ext cx="320542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50" b="0" lang="pt-BR">
                <a:solidFill>
                  <a:srgbClr val="5C5C5C"/>
                </a:solidFill>
                <a:latin typeface="Arial"/>
              </a:rPr>
              <a:t>Trade-off volume × qualidade: operou acima da meta até jul/26 e caiu a 0,67% ao saltar de 31k para 58k leads em ago/26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3317" y="5815584"/>
            <a:ext cx="320542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50" b="0" lang="pt-BR">
                <a:solidFill>
                  <a:srgbClr val="5C5C5C"/>
                </a:solidFill>
                <a:latin typeface="Arial"/>
              </a:rPr>
              <a:t>Ganho de qualidade, não de escala: com 38% menos leads, o envio de fichas sobe de 0,9% para 4,4% e a aprovação dobra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327648"/>
            <a:ext cx="1164031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lang="pt-BR">
                <a:solidFill>
                  <a:srgbClr val="858585"/>
                </a:solidFill>
                <a:latin typeface="Arial"/>
              </a:rPr>
              <a:t>Nota: CV exclui Liza e Central. Taxas recalculadas sobre os volumes brutos; % de fichas enviadas, % total de fichas faturadas e % de vendas são sobre o total de leads do mês, % fichas aprovadas sobre as enviadas e % fichas faturadas sobre as aprovadas. Meta de conversão de 0,94% aplicada sobre a meta mensal de leads de cada canal (CV 400k, Liza 50k, Central 20k). % leads sem info de CEP não disponível para jan-mar/26; Liza inicia em abr/26. Fonte: base de leads, base de fichas e base de vendas faturadas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