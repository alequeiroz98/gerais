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55448"/>
            <a:ext cx="9921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800" b="0" lang="pt-BR">
                <a:solidFill>
                  <a:srgbClr val="333333"/>
                </a:solidFill>
                <a:latin typeface="Arial"/>
              </a:rPr>
              <a:t>Conversão lead→venda cai ~10% no consolidado (0,75%→0,68%) e segue 0,26 p.p. abaixo da meta de 0,94%: só a Central avança, Liza perde conversão ao escalar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87000" y="484632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lang="pt-BR">
                <a:solidFill>
                  <a:srgbClr val="858585"/>
                </a:solidFill>
                <a:latin typeface="Arial"/>
              </a:rPr>
              <a:t>/ P R E L I M I N A 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40312" cy="0"/>
          </a:xfrm>
          <a:prstGeom prst="line">
            <a:avLst/>
          </a:prstGeom>
          <a:ln w="28575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6382512"/>
            <a:ext cx="11640311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lang="pt-BR">
                <a:solidFill>
                  <a:srgbClr val="858585"/>
                </a:solidFill>
                <a:latin typeface="Arial"/>
              </a:rPr>
              <a:t>Nota: CV exclui Liza e Central. Primeiro mês = jan/26, exceto Liza, que inicia em abr/26. Conversão = vendas totais / leads do mês. Meta consolidada = soma das metas mensais de leads dos três canais (470k) à conversão-meta de 0,94%. Detalhe mês a mês de cada canal nas páginas seguintes. Fonte: base de leads e base de vendas faturadas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88720"/>
          <a:ext cx="11640312" cy="279806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23160"/>
                <a:gridCol w="1152144"/>
                <a:gridCol w="1152144"/>
                <a:gridCol w="1152144"/>
                <a:gridCol w="1152144"/>
                <a:gridCol w="1152144"/>
                <a:gridCol w="1152144"/>
                <a:gridCol w="1152144"/>
                <a:gridCol w="1152144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Canal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Leads 1º mês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Leads ago/26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Δ leads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Vendas 1º mês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Vendas ago/26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Conv. 1º mês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Conv. ago/26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Δ conversão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CV (sem Liza e sem Central)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454.314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321.406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990000"/>
                          </a:solidFill>
                          <a:latin typeface="Arial"/>
                        </a:rPr>
                        <a:t>-29%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3.416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2.144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0,75%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0,67%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990000"/>
                          </a:solidFill>
                          <a:latin typeface="Arial"/>
                        </a:rPr>
                        <a:t>-11%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Liza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8.117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58.349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104C3E"/>
                          </a:solidFill>
                          <a:latin typeface="Arial"/>
                        </a:rPr>
                        <a:t>+619%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1,01%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0,67%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990000"/>
                          </a:solidFill>
                          <a:latin typeface="Arial"/>
                        </a:rPr>
                        <a:t>-34%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Central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14.502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9.060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990000"/>
                          </a:solidFill>
                          <a:latin typeface="Arial"/>
                        </a:rPr>
                        <a:t>-38%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0,80%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104C3E"/>
                          </a:solidFill>
                          <a:latin typeface="Arial"/>
                        </a:rPr>
                        <a:t>1,18%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104C3E"/>
                          </a:solidFill>
                          <a:latin typeface="Arial"/>
                        </a:rPr>
                        <a:t>+48%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Consolidado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2700" cap="flat" cmpd="sng" algn="ctr">
                      <a:solidFill>
                        <a:srgbClr val="333333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468.816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2700" cap="flat" cmpd="sng" algn="ctr">
                      <a:solidFill>
                        <a:srgbClr val="333333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388.815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2700" cap="flat" cmpd="sng" algn="ctr">
                      <a:solidFill>
                        <a:srgbClr val="333333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990000"/>
                          </a:solidFill>
                          <a:latin typeface="Arial"/>
                        </a:rPr>
                        <a:t>-17%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2700" cap="flat" cmpd="sng" algn="ctr">
                      <a:solidFill>
                        <a:srgbClr val="333333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3.532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2700" cap="flat" cmpd="sng" algn="ctr">
                      <a:solidFill>
                        <a:srgbClr val="333333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2.640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2700" cap="flat" cmpd="sng" algn="ctr">
                      <a:solidFill>
                        <a:srgbClr val="333333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0,75%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2700" cap="flat" cmpd="sng" algn="ctr">
                      <a:solidFill>
                        <a:srgbClr val="333333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0,68%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2700" cap="flat" cmpd="sng" algn="ctr">
                      <a:solidFill>
                        <a:srgbClr val="333333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990000"/>
                          </a:solidFill>
                          <a:latin typeface="Arial"/>
                        </a:rPr>
                        <a:t>-10%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2700" cap="flat" cmpd="sng" algn="ctr">
                      <a:solidFill>
                        <a:srgbClr val="333333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Meta mensal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2700" cap="flat" cmpd="sng" algn="ctr">
                      <a:solidFill>
                        <a:srgbClr val="333333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470.000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2700" cap="flat" cmpd="sng" algn="ctr">
                      <a:solidFill>
                        <a:srgbClr val="333333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470.000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2700" cap="flat" cmpd="sng" algn="ctr">
                      <a:solidFill>
                        <a:srgbClr val="333333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2700" cap="flat" cmpd="sng" algn="ctr">
                      <a:solidFill>
                        <a:srgbClr val="333333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4.418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2700" cap="flat" cmpd="sng" algn="ctr">
                      <a:solidFill>
                        <a:srgbClr val="333333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4.418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2700" cap="flat" cmpd="sng" algn="ctr">
                      <a:solidFill>
                        <a:srgbClr val="333333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0,94%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2700" cap="flat" cmpd="sng" algn="ctr">
                      <a:solidFill>
                        <a:srgbClr val="333333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0,94%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2700" cap="flat" cmpd="sng" algn="ctr">
                      <a:solidFill>
                        <a:srgbClr val="333333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2700" cap="flat" cmpd="sng" algn="ctr">
                      <a:solidFill>
                        <a:srgbClr val="333333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4224528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lang="pt-BR">
                <a:solidFill>
                  <a:srgbClr val="333333"/>
                </a:solidFill>
                <a:latin typeface="Arial"/>
              </a:rPr>
              <a:t>Três leituras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4320" y="4608576"/>
            <a:ext cx="3672840" cy="0"/>
          </a:xfrm>
          <a:prstGeom prst="line">
            <a:avLst/>
          </a:prstGeom>
          <a:ln w="1905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" y="4700016"/>
            <a:ext cx="2377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lang="pt-BR">
                <a:solidFill>
                  <a:srgbClr val="CC0000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4700016"/>
            <a:ext cx="3416807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 lang="pt-BR">
                <a:solidFill>
                  <a:srgbClr val="333333"/>
                </a:solidFill>
                <a:latin typeface="Arial"/>
              </a:rPr>
              <a:t>O problema é de topo de funil, não do funil interno</a:t>
            </a:r>
          </a:p>
          <a:p>
            <a:pPr algn="l">
              <a:lnSpc>
                <a:spcPct val="124000"/>
              </a:lnSpc>
            </a:pPr>
            <a:r>
              <a:rPr sz="1000" b="0" lang="pt-BR">
                <a:solidFill>
                  <a:srgbClr val="5C5C5C"/>
                </a:solidFill>
                <a:latin typeface="Arial"/>
              </a:rPr>
              <a:t>Os leads consolidados caíram 17% (469k→389k) e a conversão, 10%. As taxas internas de aprovação e faturamento seguem no mesmo patamar de janeiro.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58056" y="4608576"/>
            <a:ext cx="3672839" cy="0"/>
          </a:xfrm>
          <a:prstGeom prst="line">
            <a:avLst/>
          </a:prstGeom>
          <a:ln w="1905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258056" y="4700016"/>
            <a:ext cx="2377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lang="pt-BR">
                <a:solidFill>
                  <a:srgbClr val="CC0000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4088" y="4700016"/>
            <a:ext cx="3416807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 lang="pt-BR">
                <a:solidFill>
                  <a:srgbClr val="333333"/>
                </a:solidFill>
                <a:latin typeface="Arial"/>
              </a:rPr>
              <a:t>Liza mostra trade-off claro entre volume e qualidade</a:t>
            </a:r>
          </a:p>
          <a:p>
            <a:pPr algn="l">
              <a:lnSpc>
                <a:spcPct val="124000"/>
              </a:lnSpc>
            </a:pPr>
            <a:r>
              <a:rPr sz="1000" b="0" lang="pt-BR">
                <a:solidFill>
                  <a:srgbClr val="5C5C5C"/>
                </a:solidFill>
                <a:latin typeface="Arial"/>
              </a:rPr>
              <a:t>Operou acima da meta até jul/26, com até 31k leads/mês. Ao saltar para 58k em ago/26, a conversão caiu a 0,67% — vale checar a origem do volume incremental.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41792" y="4608576"/>
            <a:ext cx="3672840" cy="0"/>
          </a:xfrm>
          <a:prstGeom prst="line">
            <a:avLst/>
          </a:prstGeom>
          <a:ln w="1905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41792" y="4700016"/>
            <a:ext cx="2377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lang="pt-BR">
                <a:solidFill>
                  <a:srgbClr val="CC0000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97824" y="4700016"/>
            <a:ext cx="3416807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 lang="pt-BR">
                <a:solidFill>
                  <a:srgbClr val="333333"/>
                </a:solidFill>
                <a:latin typeface="Arial"/>
              </a:rPr>
              <a:t>Central ganha conversão sem precisar de escala</a:t>
            </a:r>
          </a:p>
          <a:p>
            <a:pPr algn="l">
              <a:lnSpc>
                <a:spcPct val="124000"/>
              </a:lnSpc>
            </a:pPr>
            <a:r>
              <a:rPr sz="1000" b="0" lang="pt-BR">
                <a:solidFill>
                  <a:srgbClr val="5C5C5C"/>
                </a:solidFill>
                <a:latin typeface="Arial"/>
              </a:rPr>
              <a:t>Com 38% menos leads, subiu a conversão a 1,18% elevando o envio de fichas (0,9%→4,4% dos leads) e a aprovação (51%→81%). Único canal acima da meta.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55448"/>
            <a:ext cx="9921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800" b="0" lang="pt-BR">
                <a:solidFill>
                  <a:srgbClr val="333333"/>
                </a:solidFill>
                <a:latin typeface="Arial"/>
              </a:rPr>
              <a:t>CV perde escala e conversão ao mesmo tempo: leads −29% e conversão −11% (0,75%→0,67%), com o funil interno praticamente estável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87000" y="484632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lang="pt-BR">
                <a:solidFill>
                  <a:srgbClr val="858585"/>
                </a:solidFill>
                <a:latin typeface="Arial"/>
              </a:rPr>
              <a:t>/ P R E L I M I N A 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40312" cy="0"/>
          </a:xfrm>
          <a:prstGeom prst="line">
            <a:avLst/>
          </a:prstGeom>
          <a:ln w="28575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914400"/>
            <a:ext cx="116403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lang="pt-BR">
                <a:solidFill>
                  <a:srgbClr val="5C5C5C"/>
                </a:solidFill>
                <a:latin typeface="Arial"/>
              </a:rPr>
              <a:t>Queda vem do topo, não do funil: fichas enviadas sobre leads sobe de 3,5% para 4,7%, mas aprovação cai de 36% para 30% e o volume de leads recua 29%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382512"/>
            <a:ext cx="11640311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lang="pt-BR">
                <a:solidFill>
                  <a:srgbClr val="858585"/>
                </a:solidFill>
                <a:latin typeface="Arial"/>
              </a:rPr>
              <a:t>Nota: CV exclui Liza e Central. Taxas recalculadas sobre os volumes brutos; % de fichas enviadas, % total de fichas faturadas e % de vendas são sobre o total de leads do mês, % fichas aprovadas sobre as enviadas e % fichas faturadas sobre as aprovadas. Meta de conversão de 0,94% aplicada sobre a meta mensal de leads de cada canal (CV 400k, Liza 50k, Central 20k). % leads sem info de CEP não disponível para jan-mar/26; Liza inicia em abr/26. Fonte: base de leads, base de fichas e base de vendas faturadas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896112"/>
            <a:ext cx="22219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lang="pt-BR">
                <a:solidFill>
                  <a:srgbClr val="5C5C5C"/>
                </a:solidFill>
                <a:latin typeface="Arial"/>
              </a:rPr>
              <a:t>Conversão lead→venda  </a:t>
            </a:r>
            <a:r>
              <a:rPr sz="1400" b="1" lang="pt-BR">
                <a:solidFill>
                  <a:srgbClr val="990000"/>
                </a:solidFill>
                <a:latin typeface="Arial"/>
              </a:rPr>
              <a:t>-11%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280160"/>
          <a:ext cx="11640304" cy="490575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94560"/>
                <a:gridCol w="1060703"/>
                <a:gridCol w="1060703"/>
                <a:gridCol w="1060703"/>
                <a:gridCol w="1060703"/>
                <a:gridCol w="1060703"/>
                <a:gridCol w="1060703"/>
                <a:gridCol w="1060703"/>
                <a:gridCol w="1060703"/>
                <a:gridCol w="96012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CV (sem Liza e sem Central)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jan/26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fev/26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mar/26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abr/26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mai/26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jun/26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jul/26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ago/26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L="64008" marR="64008" marT="45720" marB="45720" anchor="ctr">
                    <a:lnL w="15875" cap="flat" cmpd="sng" algn="ctr">
                      <a:noFill/>
                    </a:lnL>
                    <a:lnR w="1587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# de leads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454.314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351.045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387.905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426.871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435.764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336.078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324.671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321.406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400.000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% leads sem info de CEP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48%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39%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% de fichas enviadas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# fichas enviadas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16.048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13.734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15.604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16.497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17.662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19.035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16.326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15.215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% fichas aprovadas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29%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# fichas aprovadas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5.711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4.703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5.161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5.203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5.161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5.256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4.648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4.619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% fichas faturadas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# fichas faturadas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1.933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1.553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1.803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1.654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1.575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1.646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1.527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1.377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% total de fichas faturadas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0,43%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0,44%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0,46%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0,39%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0,36%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0,49%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0,47%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0,43%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# de vendas totais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3.416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2.674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3.183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2.816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2.742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2.669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2.480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2.144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3.760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% de vendas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0,75%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B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0,76%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B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0,82%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0,66%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9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0,63%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9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0,79%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C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0,76%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B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0,67%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9E7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0,94%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55448"/>
            <a:ext cx="9921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800" b="0" lang="pt-BR">
                <a:solidFill>
                  <a:srgbClr val="333333"/>
                </a:solidFill>
                <a:latin typeface="Arial"/>
              </a:rPr>
              <a:t>Liza escala 7,2x em cinco meses e a conversão cai de 1,01% para 0,67% (−34%), saindo de acima da meta para abaixo dela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87000" y="484632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lang="pt-BR">
                <a:solidFill>
                  <a:srgbClr val="858585"/>
                </a:solidFill>
                <a:latin typeface="Arial"/>
              </a:rPr>
              <a:t>/ P R E L I M I N A 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40312" cy="0"/>
          </a:xfrm>
          <a:prstGeom prst="line">
            <a:avLst/>
          </a:prstGeom>
          <a:ln w="28575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914400"/>
            <a:ext cx="116403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lang="pt-BR">
                <a:solidFill>
                  <a:srgbClr val="5C5C5C"/>
                </a:solidFill>
                <a:latin typeface="Arial"/>
              </a:rPr>
              <a:t>Trade-off volume × qualidade: até jul/26 a Liza operou acima ou na meta de 0,94%; o salto de 31k para 58k leads em ago/26 derrubou a conversão a 0,67%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382512"/>
            <a:ext cx="11640311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lang="pt-BR">
                <a:solidFill>
                  <a:srgbClr val="858585"/>
                </a:solidFill>
                <a:latin typeface="Arial"/>
              </a:rPr>
              <a:t>Nota: CV exclui Liza e Central. Taxas recalculadas sobre os volumes brutos; % de fichas enviadas, % total de fichas faturadas e % de vendas são sobre o total de leads do mês, % fichas aprovadas sobre as enviadas e % fichas faturadas sobre as aprovadas. Meta de conversão de 0,94% aplicada sobre a meta mensal de leads de cada canal (CV 400k, Liza 50k, Central 20k). % leads sem info de CEP não disponível para jan-mar/26; Liza inicia em abr/26. Fonte: base de leads, base de fichas e base de vendas faturadas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896112"/>
            <a:ext cx="22219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lang="pt-BR">
                <a:solidFill>
                  <a:srgbClr val="5C5C5C"/>
                </a:solidFill>
                <a:latin typeface="Arial"/>
              </a:rPr>
              <a:t>Conversão lead→venda  </a:t>
            </a:r>
            <a:r>
              <a:rPr sz="1400" b="1" lang="pt-BR">
                <a:solidFill>
                  <a:srgbClr val="990000"/>
                </a:solidFill>
                <a:latin typeface="Arial"/>
              </a:rPr>
              <a:t>-34%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280160"/>
          <a:ext cx="11640304" cy="490575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94560"/>
                <a:gridCol w="1060703"/>
                <a:gridCol w="1060703"/>
                <a:gridCol w="1060703"/>
                <a:gridCol w="1060703"/>
                <a:gridCol w="1060703"/>
                <a:gridCol w="1060703"/>
                <a:gridCol w="1060703"/>
                <a:gridCol w="1060703"/>
                <a:gridCol w="96012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Liza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jan/26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fev/26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mar/26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abr/26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mai/26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jun/26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jul/26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ago/26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L="64008" marR="64008" marT="45720" marB="45720" anchor="ctr">
                    <a:lnL w="15875" cap="flat" cmpd="sng" algn="ctr">
                      <a:noFill/>
                    </a:lnL>
                    <a:lnR w="1587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# de leads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8.117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13.735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14.688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31.018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58.349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50.000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% leads sem info de CEP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55%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53%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49%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% de fichas enviadas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# fichas enviadas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584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1.140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1.557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2.684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% fichas aprovadas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# fichas aprovadas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809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% fichas faturadas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# fichas faturadas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% total de fichas faturadas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0,62%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0,59%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0,58%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0,54%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0,43%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# de vendas totais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% de vendas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104C3E"/>
                          </a:solidFill>
                          <a:latin typeface="Arial"/>
                        </a:rPr>
                        <a:t>1,01%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DAEA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104C3E"/>
                          </a:solidFill>
                          <a:latin typeface="Arial"/>
                        </a:rPr>
                        <a:t>1,14%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CBE2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104C3E"/>
                          </a:solidFill>
                          <a:latin typeface="Arial"/>
                        </a:rPr>
                        <a:t>1,13%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CDE3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104C3E"/>
                          </a:solidFill>
                          <a:latin typeface="Arial"/>
                        </a:rPr>
                        <a:t>0,96%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DFED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0,67%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9E7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0,94%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55448"/>
            <a:ext cx="9921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800" b="0" lang="pt-BR">
                <a:solidFill>
                  <a:srgbClr val="333333"/>
                </a:solidFill>
                <a:latin typeface="Arial"/>
              </a:rPr>
              <a:t>Central é o único canal acima da meta: conversão sobe 48% (0,80%→1,18%) com aprovação de fichas saltando de 51% para 81%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87000" y="484632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lang="pt-BR">
                <a:solidFill>
                  <a:srgbClr val="858585"/>
                </a:solidFill>
                <a:latin typeface="Arial"/>
              </a:rPr>
              <a:t>/ P R E L I M I N A 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40312" cy="0"/>
          </a:xfrm>
          <a:prstGeom prst="line">
            <a:avLst/>
          </a:prstGeom>
          <a:ln w="28575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74320" y="914400"/>
            <a:ext cx="116403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lang="pt-BR">
                <a:solidFill>
                  <a:srgbClr val="5C5C5C"/>
                </a:solidFill>
                <a:latin typeface="Arial"/>
              </a:rPr>
              <a:t>Ganho é de qualidade, não de escala: leads caem 38% (14,5k→9,1k), mas o envio de fichas sobe de 0,9% para 4,4% dos leads e a aprovação quase dobra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382512"/>
            <a:ext cx="11640311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lang="pt-BR">
                <a:solidFill>
                  <a:srgbClr val="858585"/>
                </a:solidFill>
                <a:latin typeface="Arial"/>
              </a:rPr>
              <a:t>Nota: CV exclui Liza e Central. Taxas recalculadas sobre os volumes brutos; % de fichas enviadas, % total de fichas faturadas e % de vendas são sobre o total de leads do mês, % fichas aprovadas sobre as enviadas e % fichas faturadas sobre as aprovadas. Meta de conversão de 0,94% aplicada sobre a meta mensal de leads de cada canal (CV 400k, Liza 50k, Central 20k). % leads sem info de CEP não disponível para jan-mar/26; Liza inicia em abr/26. Fonte: base de leads, base de fichas e base de vendas faturadas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896112"/>
            <a:ext cx="22219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lang="pt-BR">
                <a:solidFill>
                  <a:srgbClr val="5C5C5C"/>
                </a:solidFill>
                <a:latin typeface="Arial"/>
              </a:rPr>
              <a:t>Conversão lead→venda  </a:t>
            </a:r>
            <a:r>
              <a:rPr sz="1400" b="1" lang="pt-BR">
                <a:solidFill>
                  <a:srgbClr val="104C3E"/>
                </a:solidFill>
                <a:latin typeface="Arial"/>
              </a:rPr>
              <a:t>+48%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280160"/>
          <a:ext cx="11640304" cy="490575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94560"/>
                <a:gridCol w="1060703"/>
                <a:gridCol w="1060703"/>
                <a:gridCol w="1060703"/>
                <a:gridCol w="1060703"/>
                <a:gridCol w="1060703"/>
                <a:gridCol w="1060703"/>
                <a:gridCol w="1060703"/>
                <a:gridCol w="1060703"/>
                <a:gridCol w="96012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Central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jan/26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fev/26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mar/26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abr/26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mai/26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jun/26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jul/26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ago/26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L="64008" marR="64008" marT="45720" marB="45720" anchor="ctr">
                    <a:lnL w="15875" cap="flat" cmpd="sng" algn="ctr">
                      <a:noFill/>
                    </a:lnL>
                    <a:lnR w="15875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</a:lnT>
                    <a:lnB w="15875" cap="flat" cmpd="sng" algn="ctr">
                      <a:solidFill>
                        <a:srgbClr val="333333"/>
                      </a:solidFill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# de leads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14.502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12.085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16.248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14.333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13.311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10.660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15.577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9.060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20.000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% leads sem info de CEP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B4B4B4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73%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68%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55%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% de fichas enviadas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# fichas enviadas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% fichas aprovadas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51%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48%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49%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41%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48%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# fichas aprovadas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543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% fichas faturadas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42%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53%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52%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39%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37%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lang="pt-BR">
                          <a:solidFill>
                            <a:srgbClr val="5C5C5C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# fichas faturadas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% total de fichas faturadas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0,20%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0,29%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0,26%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0,20%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0,22%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0,30%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0,56%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0,75%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# de vendas totais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6350" cap="flat" cmpd="sng" algn="ctr">
                      <a:solidFill>
                        <a:srgbClr val="DCDCDC"/>
                      </a:solidFill>
                    </a:lnT>
                    <a:lnB w="9525" cap="flat" cmpd="sng" algn="ctr">
                      <a:noFill/>
                    </a:lnB>
                    <a:solidFill>
                      <a:srgbClr val="ECECEC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% de vendas</a:t>
                      </a:r>
                    </a:p>
                  </a:txBody>
                  <a:tcPr marL="54864" marR="54864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0,80%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C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0,84%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DF6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0,84%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DF6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0,68%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A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0,76%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B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0,78%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FC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104C3E"/>
                          </a:solidFill>
                          <a:latin typeface="Arial"/>
                        </a:rPr>
                        <a:t>1,35%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B6D6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104C3E"/>
                          </a:solidFill>
                          <a:latin typeface="Arial"/>
                        </a:rPr>
                        <a:t>1,18%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C7E0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 lang="pt-BR">
                          <a:solidFill>
                            <a:srgbClr val="CC0000"/>
                          </a:solidFill>
                          <a:latin typeface="Arial"/>
                        </a:rPr>
                        <a:t>0,94%</a:t>
                      </a:r>
                    </a:p>
                  </a:txBody>
                  <a:tcPr marL="64008" marR="6400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15875" cap="flat" cmpd="sng" algn="ctr">
                      <a:solidFill>
                        <a:srgbClr val="CC0000"/>
                      </a:solidFill>
                    </a:lnT>
                    <a:lnB w="15875" cap="flat" cmpd="sng" algn="ctr">
                      <a:solidFill>
                        <a:srgbClr val="CC0000"/>
                      </a:solidFill>
                    </a:lnB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