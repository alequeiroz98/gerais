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55448"/>
            <a:ext cx="9921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0" lang="pt-BR">
                <a:solidFill>
                  <a:srgbClr val="333333"/>
                </a:solidFill>
                <a:latin typeface="Arial"/>
              </a:rPr>
              <a:t>Conversão lead→venda caiu ~23% no consolidado (0,75%→0,58%) e segue ~38% abaixo da meta de 0,94%: só a Central avança (+48%), com Liza a −79% e CV a −11%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0" y="484632"/>
            <a:ext cx="1627632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50" b="0" lang="pt-BR">
                <a:solidFill>
                  <a:srgbClr val="858585"/>
                </a:solidFill>
                <a:latin typeface="Arial"/>
              </a:rPr>
              <a:t>/ P R E L I M I N A 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822960"/>
            <a:ext cx="11640312" cy="0"/>
          </a:xfrm>
          <a:prstGeom prst="line">
            <a:avLst/>
          </a:prstGeom>
          <a:ln w="28575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905256"/>
            <a:ext cx="20848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lang="pt-BR">
                <a:solidFill>
                  <a:srgbClr val="333333"/>
                </a:solidFill>
                <a:latin typeface="Arial"/>
              </a:rPr>
              <a:t>Funil lead → venda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07592"/>
            <a:ext cx="20848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lang="pt-BR">
                <a:solidFill>
                  <a:srgbClr val="858585"/>
                </a:solidFill>
                <a:latin typeface="Arial"/>
              </a:rPr>
              <a:t>Volumes e taxas por mês, jan a ago/26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645920"/>
            <a:ext cx="20848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lang="pt-BR">
                <a:solidFill>
                  <a:srgbClr val="B4B4B4"/>
                </a:solidFill>
                <a:latin typeface="Arial"/>
              </a:rPr>
              <a:t>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29384"/>
            <a:ext cx="182880" cy="7461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 rot="16200000">
            <a:off x="1828" y="2211019"/>
            <a:ext cx="727862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 lang="pt-BR">
                <a:solidFill>
                  <a:srgbClr val="FFFFFF"/>
                </a:solidFill>
                <a:latin typeface="Arial"/>
              </a:rPr>
              <a:t>LEADS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911095"/>
            <a:ext cx="1847088" cy="3913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1" lang="pt-BR">
                <a:solidFill>
                  <a:srgbClr val="333333"/>
                </a:solidFill>
                <a:latin typeface="Arial"/>
              </a:rPr>
              <a:t># de leads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302459"/>
            <a:ext cx="1847088" cy="3913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 lang="pt-BR">
                <a:solidFill>
                  <a:srgbClr val="5C5C5C"/>
                </a:solidFill>
                <a:latin typeface="Arial"/>
              </a:rPr>
              <a:t>% leads sem info de CEP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12110"/>
            <a:ext cx="182880" cy="746150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16200000">
            <a:off x="1828" y="2993745"/>
            <a:ext cx="727862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 lang="pt-BR">
                <a:solidFill>
                  <a:srgbClr val="FFFFFF"/>
                </a:solidFill>
                <a:latin typeface="Arial"/>
              </a:rPr>
              <a:t>FICHAS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693822"/>
            <a:ext cx="1847088" cy="3913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1" lang="pt-BR">
                <a:solidFill>
                  <a:srgbClr val="333333"/>
                </a:solidFill>
                <a:latin typeface="Arial"/>
              </a:rPr>
              <a:t># fichas enviadas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085185"/>
            <a:ext cx="1847088" cy="3913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 lang="pt-BR">
                <a:solidFill>
                  <a:srgbClr val="5C5C5C"/>
                </a:solidFill>
                <a:latin typeface="Arial"/>
              </a:rPr>
              <a:t>% fichas enviadas / leads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94836"/>
            <a:ext cx="182880" cy="746150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 rot="16200000">
            <a:off x="1828" y="3776472"/>
            <a:ext cx="727862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 lang="pt-BR">
                <a:solidFill>
                  <a:srgbClr val="FFFFFF"/>
                </a:solidFill>
                <a:latin typeface="Arial"/>
              </a:rPr>
              <a:t>APROVAÇÃO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3476548"/>
            <a:ext cx="1847088" cy="3913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1" lang="pt-BR">
                <a:solidFill>
                  <a:srgbClr val="333333"/>
                </a:solidFill>
                <a:latin typeface="Arial"/>
              </a:rPr>
              <a:t># fichas aprovadas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3867911"/>
            <a:ext cx="1847088" cy="3913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 lang="pt-BR">
                <a:solidFill>
                  <a:srgbClr val="5C5C5C"/>
                </a:solidFill>
                <a:latin typeface="Arial"/>
              </a:rPr>
              <a:t>% aprovadas / enviadas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277563"/>
            <a:ext cx="182880" cy="1137513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 rot="16200000">
            <a:off x="-193852" y="4754880"/>
            <a:ext cx="1119225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 lang="pt-BR">
                <a:solidFill>
                  <a:srgbClr val="FFFFFF"/>
                </a:solidFill>
                <a:latin typeface="Arial"/>
              </a:rPr>
              <a:t>FATURAMENTO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259275"/>
            <a:ext cx="1847088" cy="3913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1" lang="pt-BR">
                <a:solidFill>
                  <a:srgbClr val="333333"/>
                </a:solidFill>
                <a:latin typeface="Arial"/>
              </a:rPr>
              <a:t># fichas faturadas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4650638"/>
            <a:ext cx="1847088" cy="3913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 lang="pt-BR">
                <a:solidFill>
                  <a:srgbClr val="5C5C5C"/>
                </a:solidFill>
                <a:latin typeface="Arial"/>
              </a:rPr>
              <a:t>% faturadas / aprovadas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5042001"/>
            <a:ext cx="1847088" cy="3913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1" lang="pt-BR">
                <a:solidFill>
                  <a:srgbClr val="333333"/>
                </a:solidFill>
                <a:latin typeface="Arial"/>
              </a:rPr>
              <a:t>% fichas faturadas / leads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451652"/>
            <a:ext cx="182880" cy="74615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 rot="16200000">
            <a:off x="1828" y="5733288"/>
            <a:ext cx="727862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 lang="pt-BR">
                <a:solidFill>
                  <a:srgbClr val="FFFFFF"/>
                </a:solidFill>
                <a:latin typeface="Arial"/>
              </a:rPr>
              <a:t>VENDA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" y="5433364"/>
            <a:ext cx="1847088" cy="3913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1" lang="pt-BR">
                <a:solidFill>
                  <a:srgbClr val="333333"/>
                </a:solidFill>
                <a:latin typeface="Arial"/>
              </a:rPr>
              <a:t># de vendas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5824727"/>
            <a:ext cx="1847088" cy="3913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1" lang="pt-BR">
                <a:solidFill>
                  <a:srgbClr val="333333"/>
                </a:solidFill>
                <a:latin typeface="Arial"/>
              </a:rPr>
              <a:t>% de vendas / leads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0" y="905256"/>
            <a:ext cx="3063239" cy="36576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78608" y="905256"/>
            <a:ext cx="2194559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 lang="pt-BR">
                <a:solidFill>
                  <a:srgbClr val="FFFFFF"/>
                </a:solidFill>
                <a:latin typeface="Arial"/>
              </a:rPr>
              <a:t>CV (sem Liza e sem Central)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0600" y="969264"/>
            <a:ext cx="621792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0600" y="969264"/>
            <a:ext cx="6217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lang="pt-BR">
                <a:solidFill>
                  <a:srgbClr val="990000"/>
                </a:solidFill>
                <a:latin typeface="Arial"/>
              </a:rPr>
              <a:t>-11%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1307592"/>
            <a:ext cx="306323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 lang="pt-BR">
                <a:solidFill>
                  <a:srgbClr val="5C5C5C"/>
                </a:solidFill>
                <a:latin typeface="Arial"/>
              </a:rPr>
              <a:t>Leads −29% (454k→321k) e conversão −11%; eficiência do funil estável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9783" y="1645920"/>
            <a:ext cx="402336" cy="454273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68880" y="1645920"/>
            <a:ext cx="32232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lang="pt-BR">
                <a:solidFill>
                  <a:srgbClr val="5C5C5C"/>
                </a:solidFill>
                <a:latin typeface="Arial"/>
              </a:rPr>
              <a:t>jan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91206" y="1645920"/>
            <a:ext cx="32232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lang="pt-BR">
                <a:solidFill>
                  <a:srgbClr val="5C5C5C"/>
                </a:solidFill>
                <a:latin typeface="Arial"/>
              </a:rPr>
              <a:t>fev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13532" y="1645920"/>
            <a:ext cx="32232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lang="pt-BR">
                <a:solidFill>
                  <a:srgbClr val="5C5C5C"/>
                </a:solidFill>
                <a:latin typeface="Arial"/>
              </a:rPr>
              <a:t>mar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35858" y="1645920"/>
            <a:ext cx="32232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lang="pt-BR">
                <a:solidFill>
                  <a:srgbClr val="5C5C5C"/>
                </a:solidFill>
                <a:latin typeface="Arial"/>
              </a:rPr>
              <a:t>abr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58184" y="1645920"/>
            <a:ext cx="32232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lang="pt-BR">
                <a:solidFill>
                  <a:srgbClr val="5C5C5C"/>
                </a:solidFill>
                <a:latin typeface="Arial"/>
              </a:rPr>
              <a:t>mai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80510" y="1645920"/>
            <a:ext cx="32232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lang="pt-BR">
                <a:solidFill>
                  <a:srgbClr val="5C5C5C"/>
                </a:solidFill>
                <a:latin typeface="Arial"/>
              </a:rPr>
              <a:t>jun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02836" y="1645920"/>
            <a:ext cx="32232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lang="pt-BR">
                <a:solidFill>
                  <a:srgbClr val="5C5C5C"/>
                </a:solidFill>
                <a:latin typeface="Arial"/>
              </a:rPr>
              <a:t>jul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25162" y="1645920"/>
            <a:ext cx="32232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lang="pt-BR">
                <a:solidFill>
                  <a:srgbClr val="5C5C5C"/>
                </a:solidFill>
                <a:latin typeface="Arial"/>
              </a:rPr>
              <a:t>ago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9783" y="1645920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lang="pt-BR">
                <a:solidFill>
                  <a:srgbClr val="CC0000"/>
                </a:solidFill>
                <a:latin typeface="Arial"/>
              </a:rPr>
              <a:t>Meta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468880" y="1883664"/>
            <a:ext cx="306324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468880" y="191109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454k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91206" y="191109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351k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13532" y="191109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388k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35858" y="191109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427k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58184" y="191109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436k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80510" y="191109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336k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02836" y="191109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325k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25162" y="191109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321k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29783" y="1911095"/>
            <a:ext cx="40233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CC0000"/>
                </a:solidFill>
                <a:latin typeface="Arial"/>
              </a:rPr>
              <a:t>400k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2468880" y="2302459"/>
            <a:ext cx="2596895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2468880" y="2302459"/>
            <a:ext cx="2596896" cy="391363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468880" y="2302459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91206" y="2302459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13532" y="2302459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35858" y="2302459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46%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58184" y="2302459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48%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80510" y="2302459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47%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02836" y="2302459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47%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25162" y="2302459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39%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2468880" y="2693822"/>
            <a:ext cx="2596895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2468880" y="269382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16,0k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91206" y="269382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13,7k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13532" y="269382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15,6k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35858" y="269382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16,5k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58184" y="269382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17,7k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80510" y="269382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19,0k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02836" y="269382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16,3k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25162" y="269382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15,2k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2468880" y="3085185"/>
            <a:ext cx="2596895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2468880" y="3085185"/>
            <a:ext cx="2596896" cy="391363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468880" y="308518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3,5%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91206" y="308518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3,9%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13532" y="308518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4,0%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35858" y="308518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3,9%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758184" y="308518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4,1%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80510" y="308518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5,7%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402836" y="308518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5,0%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25162" y="308518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4,7%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2468880" y="3476548"/>
            <a:ext cx="2596895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2468880" y="347654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5.711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791206" y="347654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4.703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113532" y="347654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5.161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35858" y="347654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5.203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758184" y="347654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5.161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080510" y="347654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5.256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402836" y="347654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4.648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725162" y="347654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4.619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2468880" y="3867911"/>
            <a:ext cx="2596895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2468880" y="3867912"/>
            <a:ext cx="2596896" cy="391363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468880" y="386791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36%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791206" y="386791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34%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113532" y="386791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33%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435858" y="386791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32%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758184" y="386791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29%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080510" y="386791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28%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402836" y="386791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28%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725162" y="386791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30%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2468880" y="4259275"/>
            <a:ext cx="2596895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2468880" y="425927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1.933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791206" y="425927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1.553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113532" y="425927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1.803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435858" y="425927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1.654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758184" y="425927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1.575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080510" y="425927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1.646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402836" y="425927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1.527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725162" y="425927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1.377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2468880" y="4650638"/>
            <a:ext cx="2596895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ectangle 111"/>
          <p:cNvSpPr/>
          <p:nvPr/>
        </p:nvSpPr>
        <p:spPr>
          <a:xfrm>
            <a:off x="2468880" y="4650638"/>
            <a:ext cx="2596896" cy="391363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468880" y="465063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34%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791206" y="465063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33%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113532" y="465063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35%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435858" y="465063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32%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758184" y="465063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31%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080510" y="465063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31%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402836" y="465063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33%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725162" y="465063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30%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2468880" y="5042001"/>
            <a:ext cx="2596895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ectangle 121"/>
          <p:cNvSpPr/>
          <p:nvPr/>
        </p:nvSpPr>
        <p:spPr>
          <a:xfrm>
            <a:off x="2468880" y="5042001"/>
            <a:ext cx="2596896" cy="391363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468880" y="5042001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333333"/>
                </a:solidFill>
                <a:latin typeface="Arial"/>
              </a:rPr>
              <a:t>0,43%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791206" y="5042001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333333"/>
                </a:solidFill>
                <a:latin typeface="Arial"/>
              </a:rPr>
              <a:t>0,44%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113532" y="5042001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333333"/>
                </a:solidFill>
                <a:latin typeface="Arial"/>
              </a:rPr>
              <a:t>0,46%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435858" y="5042001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333333"/>
                </a:solidFill>
                <a:latin typeface="Arial"/>
              </a:rPr>
              <a:t>0,39%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758184" y="5042001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333333"/>
                </a:solidFill>
                <a:latin typeface="Arial"/>
              </a:rPr>
              <a:t>0,36%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080510" y="5042001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333333"/>
                </a:solidFill>
                <a:latin typeface="Arial"/>
              </a:rPr>
              <a:t>0,49%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402836" y="5042001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333333"/>
                </a:solidFill>
                <a:latin typeface="Arial"/>
              </a:rPr>
              <a:t>0,47%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725162" y="5042001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333333"/>
                </a:solidFill>
                <a:latin typeface="Arial"/>
              </a:rPr>
              <a:t>0,43%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2468880" y="5433364"/>
            <a:ext cx="2596895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2468880" y="5433364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3.416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791206" y="5433364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2.674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113532" y="5433364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3.183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435858" y="5433364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2.816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758184" y="5433364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2.742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080510" y="5433364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2.669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402836" y="5433364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2.480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725162" y="5433364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2.144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129783" y="5433364"/>
            <a:ext cx="40233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CC0000"/>
                </a:solidFill>
                <a:latin typeface="Arial"/>
              </a:rPr>
              <a:t>3.760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2468880" y="5824728"/>
            <a:ext cx="2596895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Rectangle 141"/>
          <p:cNvSpPr/>
          <p:nvPr/>
        </p:nvSpPr>
        <p:spPr>
          <a:xfrm>
            <a:off x="2473452" y="5852160"/>
            <a:ext cx="313182" cy="336499"/>
          </a:xfrm>
          <a:prstGeom prst="rect">
            <a:avLst/>
          </a:prstGeom>
          <a:solidFill>
            <a:srgbClr val="FC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2468880" y="582472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lang="pt-BR">
                <a:solidFill>
                  <a:srgbClr val="333333"/>
                </a:solidFill>
                <a:latin typeface="Arial"/>
              </a:rPr>
              <a:t>0,75%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2795778" y="5852160"/>
            <a:ext cx="313182" cy="336499"/>
          </a:xfrm>
          <a:prstGeom prst="rect">
            <a:avLst/>
          </a:prstGeom>
          <a:solidFill>
            <a:srgbClr val="FC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2791206" y="582472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lang="pt-BR">
                <a:solidFill>
                  <a:srgbClr val="333333"/>
                </a:solidFill>
                <a:latin typeface="Arial"/>
              </a:rPr>
              <a:t>0,76%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3118104" y="5852160"/>
            <a:ext cx="313182" cy="336499"/>
          </a:xfrm>
          <a:prstGeom prst="rect">
            <a:avLst/>
          </a:prstGeom>
          <a:solidFill>
            <a:srgbClr val="FD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113532" y="582472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lang="pt-BR">
                <a:solidFill>
                  <a:srgbClr val="333333"/>
                </a:solidFill>
                <a:latin typeface="Arial"/>
              </a:rPr>
              <a:t>0,82%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3440430" y="5852160"/>
            <a:ext cx="313182" cy="336499"/>
          </a:xfrm>
          <a:prstGeom prst="rect">
            <a:avLst/>
          </a:prstGeom>
          <a:solidFill>
            <a:srgbClr val="FA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435858" y="582472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lang="pt-BR">
                <a:solidFill>
                  <a:srgbClr val="333333"/>
                </a:solidFill>
                <a:latin typeface="Arial"/>
              </a:rPr>
              <a:t>0,66%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762756" y="5852160"/>
            <a:ext cx="313182" cy="336499"/>
          </a:xfrm>
          <a:prstGeom prst="rect">
            <a:avLst/>
          </a:prstGeom>
          <a:solidFill>
            <a:srgbClr val="F9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3758184" y="582472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lang="pt-BR">
                <a:solidFill>
                  <a:srgbClr val="333333"/>
                </a:solidFill>
                <a:latin typeface="Arial"/>
              </a:rPr>
              <a:t>0,63%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4085082" y="5852160"/>
            <a:ext cx="313182" cy="336499"/>
          </a:xfrm>
          <a:prstGeom prst="rect">
            <a:avLst/>
          </a:prstGeom>
          <a:solidFill>
            <a:srgbClr val="FC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080510" y="582472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lang="pt-BR">
                <a:solidFill>
                  <a:srgbClr val="333333"/>
                </a:solidFill>
                <a:latin typeface="Arial"/>
              </a:rPr>
              <a:t>0,79%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407407" y="5852160"/>
            <a:ext cx="313182" cy="336499"/>
          </a:xfrm>
          <a:prstGeom prst="rect">
            <a:avLst/>
          </a:prstGeom>
          <a:solidFill>
            <a:srgbClr val="FC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402836" y="582472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lang="pt-BR">
                <a:solidFill>
                  <a:srgbClr val="333333"/>
                </a:solidFill>
                <a:latin typeface="Arial"/>
              </a:rPr>
              <a:t>0,76%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4729734" y="5852160"/>
            <a:ext cx="313182" cy="336499"/>
          </a:xfrm>
          <a:prstGeom prst="rect">
            <a:avLst/>
          </a:prstGeom>
          <a:solidFill>
            <a:srgbClr val="FA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4725162" y="582472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lang="pt-BR">
                <a:solidFill>
                  <a:srgbClr val="333333"/>
                </a:solidFill>
                <a:latin typeface="Arial"/>
              </a:rPr>
              <a:t>0,67%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129783" y="5824728"/>
            <a:ext cx="40233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CC0000"/>
                </a:solidFill>
                <a:latin typeface="Arial"/>
              </a:rPr>
              <a:t>0,94%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2468880" y="5824728"/>
            <a:ext cx="2596896" cy="391363"/>
          </a:xfrm>
          <a:prstGeom prst="rect">
            <a:avLst/>
          </a:prstGeom>
          <a:noFill/>
          <a:ln w="127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160" name="Connector 159"/>
          <p:cNvCxnSpPr/>
          <p:nvPr/>
        </p:nvCxnSpPr>
        <p:spPr>
          <a:xfrm>
            <a:off x="2468880" y="6216091"/>
            <a:ext cx="306324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Rectangle 160"/>
          <p:cNvSpPr/>
          <p:nvPr/>
        </p:nvSpPr>
        <p:spPr>
          <a:xfrm>
            <a:off x="5660136" y="905256"/>
            <a:ext cx="3063239" cy="36576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769864" y="905256"/>
            <a:ext cx="2194559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 lang="pt-BR">
                <a:solidFill>
                  <a:srgbClr val="FFFFFF"/>
                </a:solidFill>
                <a:latin typeface="Arial"/>
              </a:rPr>
              <a:t>Liza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7991855" y="969264"/>
            <a:ext cx="621792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7991855" y="969264"/>
            <a:ext cx="6217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lang="pt-BR">
                <a:solidFill>
                  <a:srgbClr val="990000"/>
                </a:solidFill>
                <a:latin typeface="Arial"/>
              </a:rPr>
              <a:t>-79%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660136" y="1307592"/>
            <a:ext cx="306323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 lang="pt-BR">
                <a:solidFill>
                  <a:srgbClr val="5C5C5C"/>
                </a:solidFill>
                <a:latin typeface="Arial"/>
              </a:rPr>
              <a:t>Leads 7,2x desde abr/26, mas conversão −79%; vendas &lt; fichas faturadas¹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8321040" y="1645920"/>
            <a:ext cx="402336" cy="454273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5660136" y="1645920"/>
            <a:ext cx="32232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lang="pt-BR">
                <a:solidFill>
                  <a:srgbClr val="5C5C5C"/>
                </a:solidFill>
                <a:latin typeface="Arial"/>
              </a:rPr>
              <a:t>jan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982462" y="1645920"/>
            <a:ext cx="32232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lang="pt-BR">
                <a:solidFill>
                  <a:srgbClr val="5C5C5C"/>
                </a:solidFill>
                <a:latin typeface="Arial"/>
              </a:rPr>
              <a:t>fev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304788" y="1645920"/>
            <a:ext cx="32232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lang="pt-BR">
                <a:solidFill>
                  <a:srgbClr val="5C5C5C"/>
                </a:solidFill>
                <a:latin typeface="Arial"/>
              </a:rPr>
              <a:t>mar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7114" y="1645920"/>
            <a:ext cx="32232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lang="pt-BR">
                <a:solidFill>
                  <a:srgbClr val="5C5C5C"/>
                </a:solidFill>
                <a:latin typeface="Arial"/>
              </a:rPr>
              <a:t>abr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949440" y="1645920"/>
            <a:ext cx="32232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lang="pt-BR">
                <a:solidFill>
                  <a:srgbClr val="5C5C5C"/>
                </a:solidFill>
                <a:latin typeface="Arial"/>
              </a:rPr>
              <a:t>mai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271766" y="1645920"/>
            <a:ext cx="32232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lang="pt-BR">
                <a:solidFill>
                  <a:srgbClr val="5C5C5C"/>
                </a:solidFill>
                <a:latin typeface="Arial"/>
              </a:rPr>
              <a:t>jun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594092" y="1645920"/>
            <a:ext cx="32232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lang="pt-BR">
                <a:solidFill>
                  <a:srgbClr val="5C5C5C"/>
                </a:solidFill>
                <a:latin typeface="Arial"/>
              </a:rPr>
              <a:t>jul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916417" y="1645920"/>
            <a:ext cx="32232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lang="pt-BR">
                <a:solidFill>
                  <a:srgbClr val="5C5C5C"/>
                </a:solidFill>
                <a:latin typeface="Arial"/>
              </a:rPr>
              <a:t>ago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321040" y="1645920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lang="pt-BR">
                <a:solidFill>
                  <a:srgbClr val="CC0000"/>
                </a:solidFill>
                <a:latin typeface="Arial"/>
              </a:rPr>
              <a:t>Meta</a:t>
            </a:r>
          </a:p>
        </p:txBody>
      </p:sp>
      <p:cxnSp>
        <p:nvCxnSpPr>
          <p:cNvPr id="176" name="Connector 175"/>
          <p:cNvCxnSpPr/>
          <p:nvPr/>
        </p:nvCxnSpPr>
        <p:spPr>
          <a:xfrm>
            <a:off x="5660136" y="1883664"/>
            <a:ext cx="306324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TextBox 176"/>
          <p:cNvSpPr txBox="1"/>
          <p:nvPr/>
        </p:nvSpPr>
        <p:spPr>
          <a:xfrm>
            <a:off x="5660136" y="191109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982462" y="191109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304788" y="191109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6627114" y="191109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8,1k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949440" y="191109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13,7k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271766" y="191109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14,7k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594092" y="191109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31,0k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7916417" y="191109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58,3k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8321040" y="1911095"/>
            <a:ext cx="40233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CC0000"/>
                </a:solidFill>
                <a:latin typeface="Arial"/>
              </a:rPr>
              <a:t>50k</a:t>
            </a:r>
          </a:p>
        </p:txBody>
      </p:sp>
      <p:cxnSp>
        <p:nvCxnSpPr>
          <p:cNvPr id="186" name="Connector 185"/>
          <p:cNvCxnSpPr/>
          <p:nvPr/>
        </p:nvCxnSpPr>
        <p:spPr>
          <a:xfrm>
            <a:off x="5660136" y="2302459"/>
            <a:ext cx="2596895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Rectangle 186"/>
          <p:cNvSpPr/>
          <p:nvPr/>
        </p:nvSpPr>
        <p:spPr>
          <a:xfrm>
            <a:off x="5660136" y="2302459"/>
            <a:ext cx="2596896" cy="391363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5660136" y="2302459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5982462" y="2302459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304788" y="2302459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6627114" y="2302459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54%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6949440" y="2302459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55%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7271766" y="2302459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53%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7594092" y="2302459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49%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7916417" y="2302459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47%</a:t>
            </a:r>
          </a:p>
        </p:txBody>
      </p:sp>
      <p:cxnSp>
        <p:nvCxnSpPr>
          <p:cNvPr id="196" name="Connector 195"/>
          <p:cNvCxnSpPr/>
          <p:nvPr/>
        </p:nvCxnSpPr>
        <p:spPr>
          <a:xfrm>
            <a:off x="5660136" y="2693822"/>
            <a:ext cx="2596895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TextBox 196"/>
          <p:cNvSpPr txBox="1"/>
          <p:nvPr/>
        </p:nvSpPr>
        <p:spPr>
          <a:xfrm>
            <a:off x="5660136" y="269382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5982462" y="269382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6304788" y="269382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627114" y="269382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584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949440" y="269382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890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7271766" y="269382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1.140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7594092" y="269382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1.557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916417" y="269382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2.684</a:t>
            </a:r>
          </a:p>
        </p:txBody>
      </p:sp>
      <p:cxnSp>
        <p:nvCxnSpPr>
          <p:cNvPr id="205" name="Connector 204"/>
          <p:cNvCxnSpPr/>
          <p:nvPr/>
        </p:nvCxnSpPr>
        <p:spPr>
          <a:xfrm>
            <a:off x="5660136" y="3085185"/>
            <a:ext cx="2596895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Rectangle 205"/>
          <p:cNvSpPr/>
          <p:nvPr/>
        </p:nvSpPr>
        <p:spPr>
          <a:xfrm>
            <a:off x="5660136" y="3085185"/>
            <a:ext cx="2596896" cy="391363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5660136" y="308518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5982462" y="308518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304788" y="308518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627114" y="308518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7,2%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6949440" y="308518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6,5%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271766" y="308518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7,8%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7594092" y="308518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5,0%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7916417" y="308518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4,6%</a:t>
            </a:r>
          </a:p>
        </p:txBody>
      </p:sp>
      <p:cxnSp>
        <p:nvCxnSpPr>
          <p:cNvPr id="215" name="Connector 214"/>
          <p:cNvCxnSpPr/>
          <p:nvPr/>
        </p:nvCxnSpPr>
        <p:spPr>
          <a:xfrm>
            <a:off x="5660136" y="3476548"/>
            <a:ext cx="2596895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>
            <a:off x="5660136" y="347654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5982462" y="347654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6304788" y="347654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6627114" y="347654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141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6949440" y="347654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236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7271766" y="347654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285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7594092" y="347654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466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7916417" y="347654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809</a:t>
            </a:r>
          </a:p>
        </p:txBody>
      </p:sp>
      <p:cxnSp>
        <p:nvCxnSpPr>
          <p:cNvPr id="224" name="Connector 223"/>
          <p:cNvCxnSpPr/>
          <p:nvPr/>
        </p:nvCxnSpPr>
        <p:spPr>
          <a:xfrm>
            <a:off x="5660136" y="3867911"/>
            <a:ext cx="2596895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Rectangle 224"/>
          <p:cNvSpPr/>
          <p:nvPr/>
        </p:nvSpPr>
        <p:spPr>
          <a:xfrm>
            <a:off x="5660136" y="3867912"/>
            <a:ext cx="2596896" cy="391363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5660136" y="386791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5982462" y="386791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6304788" y="386791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6627114" y="386791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24%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949440" y="386791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27%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7271766" y="386791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25%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7594092" y="386791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30%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7916417" y="386791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30%</a:t>
            </a:r>
          </a:p>
        </p:txBody>
      </p:sp>
      <p:cxnSp>
        <p:nvCxnSpPr>
          <p:cNvPr id="234" name="Connector 233"/>
          <p:cNvCxnSpPr/>
          <p:nvPr/>
        </p:nvCxnSpPr>
        <p:spPr>
          <a:xfrm>
            <a:off x="5660136" y="4259275"/>
            <a:ext cx="2596895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TextBox 234"/>
          <p:cNvSpPr txBox="1"/>
          <p:nvPr/>
        </p:nvSpPr>
        <p:spPr>
          <a:xfrm>
            <a:off x="5660136" y="425927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5982462" y="425927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6304788" y="425927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6627114" y="425927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50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6949440" y="425927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81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271766" y="425927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85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7594092" y="425927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168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7916417" y="425927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248</a:t>
            </a:r>
          </a:p>
        </p:txBody>
      </p:sp>
      <p:cxnSp>
        <p:nvCxnSpPr>
          <p:cNvPr id="243" name="Connector 242"/>
          <p:cNvCxnSpPr/>
          <p:nvPr/>
        </p:nvCxnSpPr>
        <p:spPr>
          <a:xfrm>
            <a:off x="5660136" y="4650638"/>
            <a:ext cx="2596895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Rectangle 243"/>
          <p:cNvSpPr/>
          <p:nvPr/>
        </p:nvSpPr>
        <p:spPr>
          <a:xfrm>
            <a:off x="5660136" y="4650638"/>
            <a:ext cx="2596896" cy="391363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5660136" y="465063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5982462" y="465063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6304788" y="465063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6627114" y="465063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35%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6949440" y="465063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34%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7271766" y="465063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30%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594092" y="465063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36%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7916417" y="465063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31%</a:t>
            </a:r>
          </a:p>
        </p:txBody>
      </p:sp>
      <p:cxnSp>
        <p:nvCxnSpPr>
          <p:cNvPr id="253" name="Connector 252"/>
          <p:cNvCxnSpPr/>
          <p:nvPr/>
        </p:nvCxnSpPr>
        <p:spPr>
          <a:xfrm>
            <a:off x="5660136" y="5042001"/>
            <a:ext cx="2596895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" name="Rectangle 253"/>
          <p:cNvSpPr/>
          <p:nvPr/>
        </p:nvSpPr>
        <p:spPr>
          <a:xfrm>
            <a:off x="5660136" y="5042001"/>
            <a:ext cx="2596896" cy="391363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5660136" y="5042001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5982462" y="5042001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6304788" y="5042001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6627114" y="5042001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333333"/>
                </a:solidFill>
                <a:latin typeface="Arial"/>
              </a:rPr>
              <a:t>0,62%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6949440" y="5042001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333333"/>
                </a:solidFill>
                <a:latin typeface="Arial"/>
              </a:rPr>
              <a:t>0,59%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7271766" y="5042001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333333"/>
                </a:solidFill>
                <a:latin typeface="Arial"/>
              </a:rPr>
              <a:t>0,58%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7594092" y="5042001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333333"/>
                </a:solidFill>
                <a:latin typeface="Arial"/>
              </a:rPr>
              <a:t>0,54%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7916417" y="5042001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333333"/>
                </a:solidFill>
                <a:latin typeface="Arial"/>
              </a:rPr>
              <a:t>0,43%</a:t>
            </a:r>
          </a:p>
        </p:txBody>
      </p:sp>
      <p:cxnSp>
        <p:nvCxnSpPr>
          <p:cNvPr id="263" name="Connector 262"/>
          <p:cNvCxnSpPr/>
          <p:nvPr/>
        </p:nvCxnSpPr>
        <p:spPr>
          <a:xfrm>
            <a:off x="5660136" y="5433364"/>
            <a:ext cx="2596895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TextBox 263"/>
          <p:cNvSpPr txBox="1"/>
          <p:nvPr/>
        </p:nvSpPr>
        <p:spPr>
          <a:xfrm>
            <a:off x="5660136" y="5433364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5982462" y="5433364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6304788" y="5433364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6627114" y="5433364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13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6949440" y="5433364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10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7271766" y="5433364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12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7594092" y="5433364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26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7916417" y="5433364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20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8321040" y="5433364"/>
            <a:ext cx="40233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CC0000"/>
                </a:solidFill>
                <a:latin typeface="Arial"/>
              </a:rPr>
              <a:t>470</a:t>
            </a:r>
          </a:p>
        </p:txBody>
      </p:sp>
      <p:cxnSp>
        <p:nvCxnSpPr>
          <p:cNvPr id="273" name="Connector 272"/>
          <p:cNvCxnSpPr/>
          <p:nvPr/>
        </p:nvCxnSpPr>
        <p:spPr>
          <a:xfrm>
            <a:off x="5660136" y="5824728"/>
            <a:ext cx="2596895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4" name="TextBox 273"/>
          <p:cNvSpPr txBox="1"/>
          <p:nvPr/>
        </p:nvSpPr>
        <p:spPr>
          <a:xfrm>
            <a:off x="5660136" y="582472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5982462" y="582472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6304788" y="582472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6631686" y="5852160"/>
            <a:ext cx="313182" cy="336499"/>
          </a:xfrm>
          <a:prstGeom prst="rect">
            <a:avLst/>
          </a:prstGeom>
          <a:solidFill>
            <a:srgbClr val="F1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6627114" y="582472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990000"/>
                </a:solidFill>
                <a:latin typeface="Arial"/>
              </a:rPr>
              <a:t>0,16%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6954012" y="5852160"/>
            <a:ext cx="313182" cy="336499"/>
          </a:xfrm>
          <a:prstGeom prst="rect">
            <a:avLst/>
          </a:prstGeom>
          <a:solidFill>
            <a:srgbClr val="EF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6949440" y="582472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990000"/>
                </a:solidFill>
                <a:latin typeface="Arial"/>
              </a:rPr>
              <a:t>0,07%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7276338" y="5852160"/>
            <a:ext cx="313182" cy="336499"/>
          </a:xfrm>
          <a:prstGeom prst="rect">
            <a:avLst/>
          </a:prstGeom>
          <a:solidFill>
            <a:srgbClr val="EFBA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7271766" y="582472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990000"/>
                </a:solidFill>
                <a:latin typeface="Arial"/>
              </a:rPr>
              <a:t>0,08%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7598664" y="5852160"/>
            <a:ext cx="313182" cy="336499"/>
          </a:xfrm>
          <a:prstGeom prst="rect">
            <a:avLst/>
          </a:prstGeom>
          <a:solidFill>
            <a:srgbClr val="F0BA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7594092" y="582472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990000"/>
                </a:solidFill>
                <a:latin typeface="Arial"/>
              </a:rPr>
              <a:t>0,08%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7920990" y="5852160"/>
            <a:ext cx="313182" cy="336499"/>
          </a:xfrm>
          <a:prstGeom prst="rect">
            <a:avLst/>
          </a:prstGeom>
          <a:solidFill>
            <a:srgbClr val="E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7916417" y="582472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990000"/>
                </a:solidFill>
                <a:latin typeface="Arial"/>
              </a:rPr>
              <a:t>0,03%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8321040" y="5824728"/>
            <a:ext cx="40233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CC0000"/>
                </a:solidFill>
                <a:latin typeface="Arial"/>
              </a:rPr>
              <a:t>0,94%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5660136" y="5824728"/>
            <a:ext cx="2596896" cy="391363"/>
          </a:xfrm>
          <a:prstGeom prst="rect">
            <a:avLst/>
          </a:prstGeom>
          <a:noFill/>
          <a:ln w="127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289" name="Connector 288"/>
          <p:cNvCxnSpPr/>
          <p:nvPr/>
        </p:nvCxnSpPr>
        <p:spPr>
          <a:xfrm>
            <a:off x="5660136" y="6216091"/>
            <a:ext cx="306324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0" name="Rectangle 289"/>
          <p:cNvSpPr/>
          <p:nvPr/>
        </p:nvSpPr>
        <p:spPr>
          <a:xfrm>
            <a:off x="8851392" y="905256"/>
            <a:ext cx="3063239" cy="36576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8961119" y="905256"/>
            <a:ext cx="2194559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 lang="pt-BR">
                <a:solidFill>
                  <a:srgbClr val="FFFFFF"/>
                </a:solidFill>
                <a:latin typeface="Arial"/>
              </a:rPr>
              <a:t>Central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11183111" y="969264"/>
            <a:ext cx="621792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11183111" y="969264"/>
            <a:ext cx="6217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lang="pt-BR">
                <a:solidFill>
                  <a:srgbClr val="104C3E"/>
                </a:solidFill>
                <a:latin typeface="Arial"/>
              </a:rPr>
              <a:t>+48%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8851392" y="1307592"/>
            <a:ext cx="306323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 lang="pt-BR">
                <a:solidFill>
                  <a:srgbClr val="5C5C5C"/>
                </a:solidFill>
                <a:latin typeface="Arial"/>
              </a:rPr>
              <a:t>Único acima da meta: conversão +48% e aprovação de 51% para 81%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11512296" y="1645920"/>
            <a:ext cx="402336" cy="454273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8851392" y="1645920"/>
            <a:ext cx="32232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lang="pt-BR">
                <a:solidFill>
                  <a:srgbClr val="5C5C5C"/>
                </a:solidFill>
                <a:latin typeface="Arial"/>
              </a:rPr>
              <a:t>jan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9173717" y="1645920"/>
            <a:ext cx="32232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lang="pt-BR">
                <a:solidFill>
                  <a:srgbClr val="5C5C5C"/>
                </a:solidFill>
                <a:latin typeface="Arial"/>
              </a:rPr>
              <a:t>fev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9496044" y="1645920"/>
            <a:ext cx="32232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lang="pt-BR">
                <a:solidFill>
                  <a:srgbClr val="5C5C5C"/>
                </a:solidFill>
                <a:latin typeface="Arial"/>
              </a:rPr>
              <a:t>mar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9818369" y="1645920"/>
            <a:ext cx="32232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lang="pt-BR">
                <a:solidFill>
                  <a:srgbClr val="5C5C5C"/>
                </a:solidFill>
                <a:latin typeface="Arial"/>
              </a:rPr>
              <a:t>abr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10140696" y="1645920"/>
            <a:ext cx="32232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lang="pt-BR">
                <a:solidFill>
                  <a:srgbClr val="5C5C5C"/>
                </a:solidFill>
                <a:latin typeface="Arial"/>
              </a:rPr>
              <a:t>mai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10463022" y="1645920"/>
            <a:ext cx="32232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lang="pt-BR">
                <a:solidFill>
                  <a:srgbClr val="5C5C5C"/>
                </a:solidFill>
                <a:latin typeface="Arial"/>
              </a:rPr>
              <a:t>jun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10785348" y="1645920"/>
            <a:ext cx="32232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lang="pt-BR">
                <a:solidFill>
                  <a:srgbClr val="5C5C5C"/>
                </a:solidFill>
                <a:latin typeface="Arial"/>
              </a:rPr>
              <a:t>jul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11107674" y="1645920"/>
            <a:ext cx="32232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lang="pt-BR">
                <a:solidFill>
                  <a:srgbClr val="5C5C5C"/>
                </a:solidFill>
                <a:latin typeface="Arial"/>
              </a:rPr>
              <a:t>ago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11512296" y="1645920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lang="pt-BR">
                <a:solidFill>
                  <a:srgbClr val="CC0000"/>
                </a:solidFill>
                <a:latin typeface="Arial"/>
              </a:rPr>
              <a:t>Meta</a:t>
            </a:r>
          </a:p>
        </p:txBody>
      </p:sp>
      <p:cxnSp>
        <p:nvCxnSpPr>
          <p:cNvPr id="305" name="Connector 304"/>
          <p:cNvCxnSpPr/>
          <p:nvPr/>
        </p:nvCxnSpPr>
        <p:spPr>
          <a:xfrm>
            <a:off x="8851392" y="1883664"/>
            <a:ext cx="306324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6" name="TextBox 305"/>
          <p:cNvSpPr txBox="1"/>
          <p:nvPr/>
        </p:nvSpPr>
        <p:spPr>
          <a:xfrm>
            <a:off x="8851392" y="191109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14,5k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9173717" y="191109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12,1k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9496044" y="191109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16,2k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9818369" y="191109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14,3k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10140696" y="191109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13,3k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10463022" y="191109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10,7k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10785348" y="191109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15,6k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11107674" y="191109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9,1k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11512296" y="1911095"/>
            <a:ext cx="40233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CC0000"/>
                </a:solidFill>
                <a:latin typeface="Arial"/>
              </a:rPr>
              <a:t>20k</a:t>
            </a:r>
          </a:p>
        </p:txBody>
      </p:sp>
      <p:cxnSp>
        <p:nvCxnSpPr>
          <p:cNvPr id="315" name="Connector 314"/>
          <p:cNvCxnSpPr/>
          <p:nvPr/>
        </p:nvCxnSpPr>
        <p:spPr>
          <a:xfrm>
            <a:off x="8851392" y="2302459"/>
            <a:ext cx="2596896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6" name="Rectangle 315"/>
          <p:cNvSpPr/>
          <p:nvPr/>
        </p:nvSpPr>
        <p:spPr>
          <a:xfrm>
            <a:off x="8851392" y="2302459"/>
            <a:ext cx="2596896" cy="391363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8851392" y="2302459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9173717" y="2302459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9496044" y="2302459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B4B4B4"/>
                </a:solidFill>
                <a:latin typeface="Arial"/>
              </a:rPr>
              <a:t>–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9818369" y="2302459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64%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10140696" y="2302459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73%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0463022" y="2302459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68%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10785348" y="2302459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54%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11107674" y="2302459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55%</a:t>
            </a:r>
          </a:p>
        </p:txBody>
      </p:sp>
      <p:cxnSp>
        <p:nvCxnSpPr>
          <p:cNvPr id="325" name="Connector 324"/>
          <p:cNvCxnSpPr/>
          <p:nvPr/>
        </p:nvCxnSpPr>
        <p:spPr>
          <a:xfrm>
            <a:off x="8851392" y="2693822"/>
            <a:ext cx="2596896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6" name="TextBox 325"/>
          <p:cNvSpPr txBox="1"/>
          <p:nvPr/>
        </p:nvSpPr>
        <p:spPr>
          <a:xfrm>
            <a:off x="8851392" y="269382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134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9173717" y="269382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137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9496044" y="269382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167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9818369" y="269382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175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10140696" y="269382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175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10463022" y="269382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188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10785348" y="269382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719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11107674" y="269382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397</a:t>
            </a:r>
          </a:p>
        </p:txBody>
      </p:sp>
      <p:cxnSp>
        <p:nvCxnSpPr>
          <p:cNvPr id="334" name="Connector 333"/>
          <p:cNvCxnSpPr/>
          <p:nvPr/>
        </p:nvCxnSpPr>
        <p:spPr>
          <a:xfrm>
            <a:off x="8851392" y="3085185"/>
            <a:ext cx="2596896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5" name="Rectangle 334"/>
          <p:cNvSpPr/>
          <p:nvPr/>
        </p:nvSpPr>
        <p:spPr>
          <a:xfrm>
            <a:off x="8851392" y="3085185"/>
            <a:ext cx="2596896" cy="391363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8851392" y="308518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0,9%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9173717" y="308518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1,1%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9496044" y="308518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1,0%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9818369" y="308518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1,2%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0140696" y="308518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1,3%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10463022" y="308518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1,8%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10785348" y="308518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4,6%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11107674" y="308518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4,4%</a:t>
            </a:r>
          </a:p>
        </p:txBody>
      </p:sp>
      <p:cxnSp>
        <p:nvCxnSpPr>
          <p:cNvPr id="344" name="Connector 343"/>
          <p:cNvCxnSpPr/>
          <p:nvPr/>
        </p:nvCxnSpPr>
        <p:spPr>
          <a:xfrm>
            <a:off x="8851392" y="3476548"/>
            <a:ext cx="2596896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5" name="TextBox 344"/>
          <p:cNvSpPr txBox="1"/>
          <p:nvPr/>
        </p:nvSpPr>
        <p:spPr>
          <a:xfrm>
            <a:off x="8851392" y="347654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69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9173717" y="347654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66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9496044" y="347654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82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9818369" y="347654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71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10140696" y="347654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78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10463022" y="347654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91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10785348" y="347654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543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11107674" y="347654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320</a:t>
            </a:r>
          </a:p>
        </p:txBody>
      </p:sp>
      <p:cxnSp>
        <p:nvCxnSpPr>
          <p:cNvPr id="353" name="Connector 352"/>
          <p:cNvCxnSpPr/>
          <p:nvPr/>
        </p:nvCxnSpPr>
        <p:spPr>
          <a:xfrm>
            <a:off x="8851392" y="3867911"/>
            <a:ext cx="2596896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4" name="Rectangle 353"/>
          <p:cNvSpPr/>
          <p:nvPr/>
        </p:nvSpPr>
        <p:spPr>
          <a:xfrm>
            <a:off x="8851392" y="3867912"/>
            <a:ext cx="2596896" cy="391363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5" name="TextBox 354"/>
          <p:cNvSpPr txBox="1"/>
          <p:nvPr/>
        </p:nvSpPr>
        <p:spPr>
          <a:xfrm>
            <a:off x="8851392" y="386791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51%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9173717" y="386791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48%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9496044" y="386791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49%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9818369" y="386791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41%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10140696" y="386791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45%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10463022" y="386791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48%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10785348" y="386791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76%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11107674" y="3867912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81%</a:t>
            </a:r>
          </a:p>
        </p:txBody>
      </p:sp>
      <p:cxnSp>
        <p:nvCxnSpPr>
          <p:cNvPr id="363" name="Connector 362"/>
          <p:cNvCxnSpPr/>
          <p:nvPr/>
        </p:nvCxnSpPr>
        <p:spPr>
          <a:xfrm>
            <a:off x="8851392" y="4259275"/>
            <a:ext cx="2596896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4" name="TextBox 363"/>
          <p:cNvSpPr txBox="1"/>
          <p:nvPr/>
        </p:nvSpPr>
        <p:spPr>
          <a:xfrm>
            <a:off x="8851392" y="425927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29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9173717" y="425927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35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9496044" y="425927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43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9818369" y="425927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28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10140696" y="425927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29</a:t>
            </a:r>
          </a:p>
        </p:txBody>
      </p:sp>
      <p:sp>
        <p:nvSpPr>
          <p:cNvPr id="369" name="TextBox 368"/>
          <p:cNvSpPr txBox="1"/>
          <p:nvPr/>
        </p:nvSpPr>
        <p:spPr>
          <a:xfrm>
            <a:off x="10463022" y="425927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32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10785348" y="425927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88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11107674" y="4259275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68</a:t>
            </a:r>
          </a:p>
        </p:txBody>
      </p:sp>
      <p:cxnSp>
        <p:nvCxnSpPr>
          <p:cNvPr id="372" name="Connector 371"/>
          <p:cNvCxnSpPr/>
          <p:nvPr/>
        </p:nvCxnSpPr>
        <p:spPr>
          <a:xfrm>
            <a:off x="8851392" y="4650638"/>
            <a:ext cx="2596896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3" name="Rectangle 372"/>
          <p:cNvSpPr/>
          <p:nvPr/>
        </p:nvSpPr>
        <p:spPr>
          <a:xfrm>
            <a:off x="8851392" y="4650638"/>
            <a:ext cx="2596896" cy="391363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4" name="TextBox 373"/>
          <p:cNvSpPr txBox="1"/>
          <p:nvPr/>
        </p:nvSpPr>
        <p:spPr>
          <a:xfrm>
            <a:off x="8851392" y="465063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42%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9173717" y="465063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53%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9496044" y="465063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52%</a:t>
            </a:r>
          </a:p>
        </p:txBody>
      </p:sp>
      <p:sp>
        <p:nvSpPr>
          <p:cNvPr id="377" name="TextBox 376"/>
          <p:cNvSpPr txBox="1"/>
          <p:nvPr/>
        </p:nvSpPr>
        <p:spPr>
          <a:xfrm>
            <a:off x="9818369" y="465063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39%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10140696" y="465063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37%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10463022" y="465063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35%</a:t>
            </a:r>
          </a:p>
        </p:txBody>
      </p:sp>
      <p:sp>
        <p:nvSpPr>
          <p:cNvPr id="380" name="TextBox 379"/>
          <p:cNvSpPr txBox="1"/>
          <p:nvPr/>
        </p:nvSpPr>
        <p:spPr>
          <a:xfrm>
            <a:off x="10785348" y="465063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16%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11107674" y="465063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lang="pt-BR">
                <a:solidFill>
                  <a:srgbClr val="5C5C5C"/>
                </a:solidFill>
                <a:latin typeface="Arial"/>
              </a:rPr>
              <a:t>21%</a:t>
            </a:r>
          </a:p>
        </p:txBody>
      </p:sp>
      <p:cxnSp>
        <p:nvCxnSpPr>
          <p:cNvPr id="382" name="Connector 381"/>
          <p:cNvCxnSpPr/>
          <p:nvPr/>
        </p:nvCxnSpPr>
        <p:spPr>
          <a:xfrm>
            <a:off x="8851392" y="5042001"/>
            <a:ext cx="2596896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3" name="Rectangle 382"/>
          <p:cNvSpPr/>
          <p:nvPr/>
        </p:nvSpPr>
        <p:spPr>
          <a:xfrm>
            <a:off x="8851392" y="5042001"/>
            <a:ext cx="2596896" cy="391363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4" name="TextBox 383"/>
          <p:cNvSpPr txBox="1"/>
          <p:nvPr/>
        </p:nvSpPr>
        <p:spPr>
          <a:xfrm>
            <a:off x="8851392" y="5042001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333333"/>
                </a:solidFill>
                <a:latin typeface="Arial"/>
              </a:rPr>
              <a:t>0,20%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9173717" y="5042001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333333"/>
                </a:solidFill>
                <a:latin typeface="Arial"/>
              </a:rPr>
              <a:t>0,29%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9496044" y="5042001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333333"/>
                </a:solidFill>
                <a:latin typeface="Arial"/>
              </a:rPr>
              <a:t>0,26%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9818369" y="5042001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333333"/>
                </a:solidFill>
                <a:latin typeface="Arial"/>
              </a:rPr>
              <a:t>0,20%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10140696" y="5042001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333333"/>
                </a:solidFill>
                <a:latin typeface="Arial"/>
              </a:rPr>
              <a:t>0,22%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10463022" y="5042001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333333"/>
                </a:solidFill>
                <a:latin typeface="Arial"/>
              </a:rPr>
              <a:t>0,30%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10785348" y="5042001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333333"/>
                </a:solidFill>
                <a:latin typeface="Arial"/>
              </a:rPr>
              <a:t>0,56%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11107674" y="5042001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333333"/>
                </a:solidFill>
                <a:latin typeface="Arial"/>
              </a:rPr>
              <a:t>0,75%</a:t>
            </a:r>
          </a:p>
        </p:txBody>
      </p:sp>
      <p:cxnSp>
        <p:nvCxnSpPr>
          <p:cNvPr id="392" name="Connector 391"/>
          <p:cNvCxnSpPr/>
          <p:nvPr/>
        </p:nvCxnSpPr>
        <p:spPr>
          <a:xfrm>
            <a:off x="8851392" y="5433364"/>
            <a:ext cx="2596896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3" name="TextBox 392"/>
          <p:cNvSpPr txBox="1"/>
          <p:nvPr/>
        </p:nvSpPr>
        <p:spPr>
          <a:xfrm>
            <a:off x="8851392" y="5433364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116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9173717" y="5433364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101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9496044" y="5433364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136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9818369" y="5433364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98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10140696" y="5433364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101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10463022" y="5433364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83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10785348" y="5433364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210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11107674" y="5433364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lang="pt-BR">
                <a:solidFill>
                  <a:srgbClr val="333333"/>
                </a:solidFill>
                <a:latin typeface="Arial"/>
              </a:rPr>
              <a:t>107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11512296" y="5433364"/>
            <a:ext cx="40233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CC0000"/>
                </a:solidFill>
                <a:latin typeface="Arial"/>
              </a:rPr>
              <a:t>188</a:t>
            </a:r>
          </a:p>
        </p:txBody>
      </p:sp>
      <p:cxnSp>
        <p:nvCxnSpPr>
          <p:cNvPr id="402" name="Connector 401"/>
          <p:cNvCxnSpPr/>
          <p:nvPr/>
        </p:nvCxnSpPr>
        <p:spPr>
          <a:xfrm>
            <a:off x="8851392" y="5824728"/>
            <a:ext cx="2596896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3" name="Rectangle 402"/>
          <p:cNvSpPr/>
          <p:nvPr/>
        </p:nvSpPr>
        <p:spPr>
          <a:xfrm>
            <a:off x="8855964" y="5852160"/>
            <a:ext cx="313182" cy="336499"/>
          </a:xfrm>
          <a:prstGeom prst="rect">
            <a:avLst/>
          </a:prstGeom>
          <a:solidFill>
            <a:srgbClr val="FC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4" name="TextBox 403"/>
          <p:cNvSpPr txBox="1"/>
          <p:nvPr/>
        </p:nvSpPr>
        <p:spPr>
          <a:xfrm>
            <a:off x="8851392" y="582472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lang="pt-BR">
                <a:solidFill>
                  <a:srgbClr val="333333"/>
                </a:solidFill>
                <a:latin typeface="Arial"/>
              </a:rPr>
              <a:t>0,80%</a:t>
            </a:r>
          </a:p>
        </p:txBody>
      </p:sp>
      <p:sp>
        <p:nvSpPr>
          <p:cNvPr id="405" name="Rectangle 404"/>
          <p:cNvSpPr/>
          <p:nvPr/>
        </p:nvSpPr>
        <p:spPr>
          <a:xfrm>
            <a:off x="9178290" y="5852160"/>
            <a:ext cx="313182" cy="336499"/>
          </a:xfrm>
          <a:prstGeom prst="rect">
            <a:avLst/>
          </a:prstGeom>
          <a:solidFill>
            <a:srgbClr val="FD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6" name="TextBox 405"/>
          <p:cNvSpPr txBox="1"/>
          <p:nvPr/>
        </p:nvSpPr>
        <p:spPr>
          <a:xfrm>
            <a:off x="9173717" y="582472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lang="pt-BR">
                <a:solidFill>
                  <a:srgbClr val="333333"/>
                </a:solidFill>
                <a:latin typeface="Arial"/>
              </a:rPr>
              <a:t>0,84%</a:t>
            </a:r>
          </a:p>
        </p:txBody>
      </p:sp>
      <p:sp>
        <p:nvSpPr>
          <p:cNvPr id="407" name="Rectangle 406"/>
          <p:cNvSpPr/>
          <p:nvPr/>
        </p:nvSpPr>
        <p:spPr>
          <a:xfrm>
            <a:off x="9500616" y="5852160"/>
            <a:ext cx="313182" cy="336499"/>
          </a:xfrm>
          <a:prstGeom prst="rect">
            <a:avLst/>
          </a:prstGeom>
          <a:solidFill>
            <a:srgbClr val="FD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8" name="TextBox 407"/>
          <p:cNvSpPr txBox="1"/>
          <p:nvPr/>
        </p:nvSpPr>
        <p:spPr>
          <a:xfrm>
            <a:off x="9496044" y="582472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lang="pt-BR">
                <a:solidFill>
                  <a:srgbClr val="333333"/>
                </a:solidFill>
                <a:latin typeface="Arial"/>
              </a:rPr>
              <a:t>0,84%</a:t>
            </a:r>
          </a:p>
        </p:txBody>
      </p:sp>
      <p:sp>
        <p:nvSpPr>
          <p:cNvPr id="409" name="Rectangle 408"/>
          <p:cNvSpPr/>
          <p:nvPr/>
        </p:nvSpPr>
        <p:spPr>
          <a:xfrm>
            <a:off x="9822942" y="5852160"/>
            <a:ext cx="313182" cy="336499"/>
          </a:xfrm>
          <a:prstGeom prst="rect">
            <a:avLst/>
          </a:prstGeom>
          <a:solidFill>
            <a:srgbClr val="F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0" name="TextBox 409"/>
          <p:cNvSpPr txBox="1"/>
          <p:nvPr/>
        </p:nvSpPr>
        <p:spPr>
          <a:xfrm>
            <a:off x="9818369" y="582472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lang="pt-BR">
                <a:solidFill>
                  <a:srgbClr val="333333"/>
                </a:solidFill>
                <a:latin typeface="Arial"/>
              </a:rPr>
              <a:t>0,68%</a:t>
            </a:r>
          </a:p>
        </p:txBody>
      </p:sp>
      <p:sp>
        <p:nvSpPr>
          <p:cNvPr id="411" name="Rectangle 410"/>
          <p:cNvSpPr/>
          <p:nvPr/>
        </p:nvSpPr>
        <p:spPr>
          <a:xfrm>
            <a:off x="10145268" y="5852160"/>
            <a:ext cx="313182" cy="336499"/>
          </a:xfrm>
          <a:prstGeom prst="rect">
            <a:avLst/>
          </a:prstGeom>
          <a:solidFill>
            <a:srgbClr val="FC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10140696" y="582472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lang="pt-BR">
                <a:solidFill>
                  <a:srgbClr val="333333"/>
                </a:solidFill>
                <a:latin typeface="Arial"/>
              </a:rPr>
              <a:t>0,76%</a:t>
            </a:r>
          </a:p>
        </p:txBody>
      </p:sp>
      <p:sp>
        <p:nvSpPr>
          <p:cNvPr id="413" name="Rectangle 412"/>
          <p:cNvSpPr/>
          <p:nvPr/>
        </p:nvSpPr>
        <p:spPr>
          <a:xfrm>
            <a:off x="10467594" y="5852160"/>
            <a:ext cx="313182" cy="336499"/>
          </a:xfrm>
          <a:prstGeom prst="rect">
            <a:avLst/>
          </a:prstGeom>
          <a:solidFill>
            <a:srgbClr val="FC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4" name="TextBox 413"/>
          <p:cNvSpPr txBox="1"/>
          <p:nvPr/>
        </p:nvSpPr>
        <p:spPr>
          <a:xfrm>
            <a:off x="10463022" y="582472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lang="pt-BR">
                <a:solidFill>
                  <a:srgbClr val="333333"/>
                </a:solidFill>
                <a:latin typeface="Arial"/>
              </a:rPr>
              <a:t>0,78%</a:t>
            </a:r>
          </a:p>
        </p:txBody>
      </p:sp>
      <p:sp>
        <p:nvSpPr>
          <p:cNvPr id="415" name="Rectangle 414"/>
          <p:cNvSpPr/>
          <p:nvPr/>
        </p:nvSpPr>
        <p:spPr>
          <a:xfrm>
            <a:off x="10789920" y="5852160"/>
            <a:ext cx="313182" cy="336499"/>
          </a:xfrm>
          <a:prstGeom prst="rect">
            <a:avLst/>
          </a:prstGeom>
          <a:solidFill>
            <a:srgbClr val="BCD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10785348" y="582472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104C3E"/>
                </a:solidFill>
                <a:latin typeface="Arial"/>
              </a:rPr>
              <a:t>1,35%</a:t>
            </a:r>
          </a:p>
        </p:txBody>
      </p:sp>
      <p:sp>
        <p:nvSpPr>
          <p:cNvPr id="417" name="Rectangle 416"/>
          <p:cNvSpPr/>
          <p:nvPr/>
        </p:nvSpPr>
        <p:spPr>
          <a:xfrm>
            <a:off x="11112246" y="5852160"/>
            <a:ext cx="313182" cy="336499"/>
          </a:xfrm>
          <a:prstGeom prst="rect">
            <a:avLst/>
          </a:prstGeom>
          <a:solidFill>
            <a:srgbClr val="CC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11107674" y="5824728"/>
            <a:ext cx="32232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104C3E"/>
                </a:solidFill>
                <a:latin typeface="Arial"/>
              </a:rPr>
              <a:t>1,18%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11512296" y="5824728"/>
            <a:ext cx="402336" cy="391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lang="pt-BR">
                <a:solidFill>
                  <a:srgbClr val="CC0000"/>
                </a:solidFill>
                <a:latin typeface="Arial"/>
              </a:rPr>
              <a:t>0,94%</a:t>
            </a:r>
          </a:p>
        </p:txBody>
      </p:sp>
      <p:sp>
        <p:nvSpPr>
          <p:cNvPr id="420" name="Rectangle 419"/>
          <p:cNvSpPr/>
          <p:nvPr/>
        </p:nvSpPr>
        <p:spPr>
          <a:xfrm>
            <a:off x="8851392" y="5824728"/>
            <a:ext cx="2596896" cy="391363"/>
          </a:xfrm>
          <a:prstGeom prst="rect">
            <a:avLst/>
          </a:prstGeom>
          <a:noFill/>
          <a:ln w="127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421" name="Connector 420"/>
          <p:cNvCxnSpPr/>
          <p:nvPr/>
        </p:nvCxnSpPr>
        <p:spPr>
          <a:xfrm>
            <a:off x="8851392" y="6216091"/>
            <a:ext cx="306324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TextBox 421"/>
          <p:cNvSpPr txBox="1"/>
          <p:nvPr/>
        </p:nvSpPr>
        <p:spPr>
          <a:xfrm>
            <a:off x="274320" y="6419088"/>
            <a:ext cx="116403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600" b="0" lang="pt-BR">
                <a:solidFill>
                  <a:srgbClr val="858585"/>
                </a:solidFill>
                <a:latin typeface="Arial"/>
              </a:rPr>
              <a:t>Nota: CV exclui Liza e Central. Taxas recalculadas sobre os volumes brutos; % fichas enviadas, % fichas faturadas / leads e % de vendas são sobre o total de leads do mês, % aprovadas sobre enviadas e % faturadas sobre aprovadas. Meta de conversão de 0,94% aplicada sobre a meta mensal de leads de cada canal (CV 400k, Liza 50k, Central 20k). (1) Em ago/26 a Liza registra 248 fichas faturadas e apenas 20 vendas, inversão frente ao CV, o que sugere lacuna de atribuição da venda ao canal. % leads sem info de CEP não disponível para jan-mar/26; Liza inicia em abr/26. Fonte: base de leads, base de fichas e base de vendas faturadas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