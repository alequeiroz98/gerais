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0896" y="274320"/>
            <a:ext cx="115763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lang="pt-BR">
                <a:solidFill>
                  <a:srgbClr val="333333"/>
                </a:solidFill>
                <a:latin typeface="Arial"/>
              </a:rPr>
              <a:t>Tratamos, alocamos e priorizamos melhor os leads ao longo de toda a jornada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713232"/>
            <a:ext cx="11576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lang="pt-BR">
                <a:solidFill>
                  <a:srgbClr val="858585"/>
                </a:solidFill>
                <a:latin typeface="Arial"/>
              </a:rPr>
              <a:t>Do primeiro contato ao atendimento, cada etapa aumenta a chance de o lead certo chegar ao vendedor certo, no momento certo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10896" y="1188720"/>
            <a:ext cx="11569903" cy="0"/>
          </a:xfrm>
          <a:prstGeom prst="line">
            <a:avLst/>
          </a:prstGeom>
          <a:ln w="28575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968496" y="1737360"/>
            <a:ext cx="256032" cy="0"/>
          </a:xfrm>
          <a:prstGeom prst="line">
            <a:avLst/>
          </a:prstGeom>
          <a:ln w="19050">
            <a:solidFill>
              <a:srgbClr val="B4B4B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936992" y="1737360"/>
            <a:ext cx="256031" cy="0"/>
          </a:xfrm>
          <a:prstGeom prst="line">
            <a:avLst/>
          </a:prstGeom>
          <a:ln w="19050">
            <a:solidFill>
              <a:srgbClr val="B4B4B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Pentagon 7"/>
          <p:cNvSpPr/>
          <p:nvPr/>
        </p:nvSpPr>
        <p:spPr>
          <a:xfrm>
            <a:off x="310896" y="1481328"/>
            <a:ext cx="3913632" cy="512064"/>
          </a:xfrm>
          <a:prstGeom prst="homePlate">
            <a:avLst/>
          </a:prstGeom>
          <a:solidFill>
            <a:srgbClr val="1A1A1A"/>
          </a:solidFill>
          <a:ln>
            <a:noFill/>
          </a:ln>
          <a:effectLst>
            <a:outerShdw blurRad="45720" dist="22860" dir="5400000" rotWithShape="0">
              <a:srgbClr val="1A1A1A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481328"/>
            <a:ext cx="327355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300" b="1" lang="pt-BR">
                <a:solidFill>
                  <a:srgbClr val="FFFFFF"/>
                </a:solidFill>
                <a:latin typeface="Arial"/>
              </a:rPr>
              <a:t>1  Qualificar melhor o lead</a:t>
            </a:r>
          </a:p>
        </p:txBody>
      </p:sp>
      <p:sp>
        <p:nvSpPr>
          <p:cNvPr id="10" name="Pentagon 9"/>
          <p:cNvSpPr/>
          <p:nvPr/>
        </p:nvSpPr>
        <p:spPr>
          <a:xfrm>
            <a:off x="4279392" y="1481328"/>
            <a:ext cx="3913632" cy="512064"/>
          </a:xfrm>
          <a:prstGeom prst="homePlate">
            <a:avLst/>
          </a:prstGeom>
          <a:solidFill>
            <a:srgbClr val="3B3B3B"/>
          </a:solidFill>
          <a:ln>
            <a:noFill/>
          </a:ln>
          <a:effectLst>
            <a:outerShdw blurRad="45720" dist="22860" dir="5400000" rotWithShape="0">
              <a:srgbClr val="1A1A1A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481328"/>
            <a:ext cx="327355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300" b="1" lang="pt-BR">
                <a:solidFill>
                  <a:srgbClr val="FFFFFF"/>
                </a:solidFill>
                <a:latin typeface="Arial"/>
              </a:rPr>
              <a:t>2  Alocar melhor o lead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47888" y="1481328"/>
            <a:ext cx="3639312" cy="512064"/>
          </a:xfrm>
          <a:prstGeom prst="roundRect">
            <a:avLst>
              <a:gd name="adj" fmla="val 10000"/>
            </a:avLst>
          </a:prstGeom>
          <a:solidFill>
            <a:srgbClr val="104C3E"/>
          </a:solidFill>
          <a:ln>
            <a:noFill/>
          </a:ln>
          <a:effectLst>
            <a:outerShdw blurRad="45720" dist="22860" dir="5400000" rotWithShape="0">
              <a:srgbClr val="1A1A1A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49056" y="1481328"/>
            <a:ext cx="327355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300" b="1" lang="pt-BR">
                <a:solidFill>
                  <a:srgbClr val="FFFFFF"/>
                </a:solidFill>
                <a:latin typeface="Arial"/>
              </a:rPr>
              <a:t>3  Melhorar gestão e priorização dos leads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" y="2103120"/>
            <a:ext cx="3639312" cy="426110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82296" dist="32004" dir="5400000" rotWithShape="0">
              <a:srgbClr val="1A1A1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79392" y="2103120"/>
            <a:ext cx="3639312" cy="426110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82296" dist="32004" dir="5400000" rotWithShape="0">
              <a:srgbClr val="1A1A1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47888" y="2103120"/>
            <a:ext cx="3639312" cy="426110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82296" dist="32004" dir="5400000" rotWithShape="0">
              <a:srgbClr val="1A1A1A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3213" y="2414015"/>
            <a:ext cx="312724" cy="312724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rapezoid 17"/>
          <p:cNvSpPr/>
          <p:nvPr/>
        </p:nvSpPr>
        <p:spPr>
          <a:xfrm rot="10800000">
            <a:off x="910285" y="2778861"/>
            <a:ext cx="538581" cy="434340"/>
          </a:xfrm>
          <a:prstGeom prst="trapezoid">
            <a:avLst>
              <a:gd name="adj" fmla="val 45161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728216" y="2816352"/>
            <a:ext cx="365760" cy="0"/>
          </a:xfrm>
          <a:prstGeom prst="line">
            <a:avLst/>
          </a:prstGeom>
          <a:ln w="15875">
            <a:solidFill>
              <a:srgbClr val="B4B4B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139696" y="2377439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F7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231136" y="2473451"/>
            <a:ext cx="82296" cy="82296"/>
          </a:xfrm>
          <a:prstGeom prst="ellipse">
            <a:avLst/>
          </a:prstGeom>
          <a:solidFill>
            <a:srgbClr val="104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39" y="2377439"/>
            <a:ext cx="60350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lang="pt-BR">
                <a:solidFill>
                  <a:srgbClr val="333333"/>
                </a:solidFill>
                <a:latin typeface="Arial"/>
              </a:rPr>
              <a:t>Info 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27248" y="2377439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F7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18688" y="2473451"/>
            <a:ext cx="82296" cy="82296"/>
          </a:xfrm>
          <a:prstGeom prst="ellipse">
            <a:avLst/>
          </a:prstGeom>
          <a:solidFill>
            <a:srgbClr val="104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64991" y="2377439"/>
            <a:ext cx="60350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lang="pt-BR">
                <a:solidFill>
                  <a:srgbClr val="333333"/>
                </a:solidFill>
                <a:latin typeface="Arial"/>
              </a:rPr>
              <a:t>Info 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39696" y="2734056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F7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231136" y="2830068"/>
            <a:ext cx="82296" cy="82296"/>
          </a:xfrm>
          <a:prstGeom prst="ellipse">
            <a:avLst/>
          </a:prstGeom>
          <a:solidFill>
            <a:srgbClr val="104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77439" y="2734056"/>
            <a:ext cx="60350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lang="pt-BR">
                <a:solidFill>
                  <a:srgbClr val="333333"/>
                </a:solidFill>
                <a:latin typeface="Arial"/>
              </a:rPr>
              <a:t>Info 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27248" y="2734056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F7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218688" y="2830068"/>
            <a:ext cx="82296" cy="82296"/>
          </a:xfrm>
          <a:prstGeom prst="ellipse">
            <a:avLst/>
          </a:prstGeom>
          <a:solidFill>
            <a:srgbClr val="104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64991" y="2734056"/>
            <a:ext cx="60350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lang="pt-BR">
                <a:solidFill>
                  <a:srgbClr val="333333"/>
                </a:solidFill>
                <a:latin typeface="Arial"/>
              </a:rPr>
              <a:t>Info 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39696" y="3090672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F7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231136" y="3186684"/>
            <a:ext cx="82296" cy="82296"/>
          </a:xfrm>
          <a:prstGeom prst="ellipse">
            <a:avLst/>
          </a:prstGeom>
          <a:solidFill>
            <a:srgbClr val="104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77439" y="3090672"/>
            <a:ext cx="60350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lang="pt-BR">
                <a:solidFill>
                  <a:srgbClr val="333333"/>
                </a:solidFill>
                <a:latin typeface="Arial"/>
              </a:rPr>
              <a:t>CPF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27248" y="3090672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F7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218688" y="3186684"/>
            <a:ext cx="82296" cy="82296"/>
          </a:xfrm>
          <a:prstGeom prst="ellipse">
            <a:avLst/>
          </a:prstGeom>
          <a:solidFill>
            <a:srgbClr val="104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64991" y="3090672"/>
            <a:ext cx="60350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lang="pt-BR">
                <a:solidFill>
                  <a:srgbClr val="333333"/>
                </a:solidFill>
                <a:latin typeface="Arial"/>
              </a:rPr>
              <a:t>CEP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3520439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lang="pt-BR">
                <a:solidFill>
                  <a:srgbClr val="5C5C5C"/>
                </a:solidFill>
                <a:latin typeface="Arial"/>
              </a:rPr>
              <a:t>Capturar o máximo de informações do cliente logo no primeiro contato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" y="5431536"/>
            <a:ext cx="3310128" cy="786384"/>
          </a:xfrm>
          <a:prstGeom prst="roundRect">
            <a:avLst>
              <a:gd name="adj" fmla="val 10000"/>
            </a:avLst>
          </a:prstGeom>
          <a:solidFill>
            <a:srgbClr val="FC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75488" y="5431536"/>
            <a:ext cx="64008" cy="786384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12648" y="5687567"/>
            <a:ext cx="274320" cy="274320"/>
          </a:xfrm>
          <a:prstGeom prst="ellipse">
            <a:avLst/>
          </a:prstGeom>
          <a:solidFill>
            <a:srgbClr val="CC0000"/>
          </a:solidFill>
          <a:ln>
            <a:noFill/>
          </a:ln>
          <a:effectLst>
            <a:outerShdw blurRad="45720" dist="18288" dir="5400000" rotWithShape="0">
              <a:srgbClr val="1A1A1A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" y="5687567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lang="pt-BR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" y="5468112"/>
            <a:ext cx="2670048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lang="pt-BR">
                <a:solidFill>
                  <a:srgbClr val="333333"/>
                </a:solidFill>
                <a:latin typeface="Arial"/>
              </a:rPr>
              <a:t>Obter informações completas dos clientes, para qualificar e priorizar com mais precisão</a:t>
            </a:r>
          </a:p>
        </p:txBody>
      </p:sp>
      <p:sp>
        <p:nvSpPr>
          <p:cNvPr id="44" name="Gear 9 43"/>
          <p:cNvSpPr/>
          <p:nvPr/>
        </p:nvSpPr>
        <p:spPr>
          <a:xfrm>
            <a:off x="4864608" y="2377439"/>
            <a:ext cx="566928" cy="566928"/>
          </a:xfrm>
          <a:prstGeom prst="gear9">
            <a:avLst/>
          </a:prstGeom>
          <a:solidFill>
            <a:srgbClr val="3B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Gear 9 44"/>
          <p:cNvSpPr/>
          <p:nvPr/>
        </p:nvSpPr>
        <p:spPr>
          <a:xfrm>
            <a:off x="5303520" y="2651759"/>
            <a:ext cx="347472" cy="347472"/>
          </a:xfrm>
          <a:prstGeom prst="gear9">
            <a:avLst/>
          </a:prstGeom>
          <a:solidFill>
            <a:srgbClr val="858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 flipV="1">
            <a:off x="5422392" y="2651759"/>
            <a:ext cx="1024128" cy="228600"/>
          </a:xfrm>
          <a:prstGeom prst="line">
            <a:avLst/>
          </a:prstGeom>
          <a:ln w="12700">
            <a:solidFill>
              <a:srgbClr val="B4B4B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/>
          <p:cNvSpPr/>
          <p:nvPr/>
        </p:nvSpPr>
        <p:spPr>
          <a:xfrm>
            <a:off x="6392387" y="2377439"/>
            <a:ext cx="437448" cy="161665"/>
          </a:xfrm>
          <a:prstGeom prst="triangle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35181" y="2520817"/>
            <a:ext cx="351861" cy="237744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63563" y="2615915"/>
            <a:ext cx="95097" cy="1426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5422392" y="2880359"/>
            <a:ext cx="1024128" cy="365761"/>
          </a:xfrm>
          <a:prstGeom prst="line">
            <a:avLst/>
          </a:prstGeom>
          <a:ln w="20320">
            <a:solidFill>
              <a:srgbClr val="CC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/>
          <p:cNvSpPr/>
          <p:nvPr/>
        </p:nvSpPr>
        <p:spPr>
          <a:xfrm>
            <a:off x="6392387" y="2971800"/>
            <a:ext cx="437448" cy="161665"/>
          </a:xfrm>
          <a:prstGeom prst="triangl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35181" y="3115177"/>
            <a:ext cx="351861" cy="237744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563563" y="3210275"/>
            <a:ext cx="95097" cy="1426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5422392" y="2880359"/>
            <a:ext cx="1024128" cy="960121"/>
          </a:xfrm>
          <a:prstGeom prst="line">
            <a:avLst/>
          </a:prstGeom>
          <a:ln w="12700">
            <a:solidFill>
              <a:srgbClr val="B4B4B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Isosceles Triangle 54"/>
          <p:cNvSpPr/>
          <p:nvPr/>
        </p:nvSpPr>
        <p:spPr>
          <a:xfrm>
            <a:off x="6392387" y="3566160"/>
            <a:ext cx="437448" cy="161665"/>
          </a:xfrm>
          <a:prstGeom prst="triangle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35181" y="3709537"/>
            <a:ext cx="351861" cy="237744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563563" y="3804635"/>
            <a:ext cx="95097" cy="1426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35424" y="3977639"/>
            <a:ext cx="31272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lang="pt-BR">
                <a:solidFill>
                  <a:srgbClr val="5C5C5C"/>
                </a:solidFill>
                <a:latin typeface="Arial"/>
              </a:rPr>
              <a:t>O motor de alocação direciona cada lead à loja com maior chance de conversão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443983" y="5431536"/>
            <a:ext cx="3310128" cy="786384"/>
          </a:xfrm>
          <a:prstGeom prst="roundRect">
            <a:avLst>
              <a:gd name="adj" fmla="val 10000"/>
            </a:avLst>
          </a:prstGeom>
          <a:solidFill>
            <a:srgbClr val="FC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443983" y="5431536"/>
            <a:ext cx="64008" cy="786384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581143" y="5687567"/>
            <a:ext cx="274320" cy="274320"/>
          </a:xfrm>
          <a:prstGeom prst="ellipse">
            <a:avLst/>
          </a:prstGeom>
          <a:solidFill>
            <a:srgbClr val="CC0000"/>
          </a:solidFill>
          <a:ln>
            <a:noFill/>
          </a:ln>
          <a:effectLst>
            <a:outerShdw blurRad="45720" dist="18288" dir="5400000" rotWithShape="0">
              <a:srgbClr val="1A1A1A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81143" y="5687567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lang="pt-BR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56048" y="5468112"/>
            <a:ext cx="2670048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lang="pt-BR">
                <a:solidFill>
                  <a:srgbClr val="333333"/>
                </a:solidFill>
                <a:latin typeface="Arial"/>
              </a:rPr>
              <a:t>Alocar o lead na loja mais adequada, considerando estoque, distância e histórico</a:t>
            </a:r>
          </a:p>
        </p:txBody>
      </p:sp>
      <p:sp>
        <p:nvSpPr>
          <p:cNvPr id="64" name="Oval 63"/>
          <p:cNvSpPr/>
          <p:nvPr/>
        </p:nvSpPr>
        <p:spPr>
          <a:xfrm>
            <a:off x="8916619" y="2340863"/>
            <a:ext cx="131673" cy="131673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Trapezoid 64"/>
          <p:cNvSpPr/>
          <p:nvPr/>
        </p:nvSpPr>
        <p:spPr>
          <a:xfrm rot="10800000">
            <a:off x="8869070" y="2494483"/>
            <a:ext cx="226771" cy="182880"/>
          </a:xfrm>
          <a:prstGeom prst="trapezoid">
            <a:avLst>
              <a:gd name="adj" fmla="val 45161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03919" y="2798063"/>
            <a:ext cx="9570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lang="pt-BR">
                <a:solidFill>
                  <a:srgbClr val="1A1A1A"/>
                </a:solidFill>
                <a:latin typeface="Arial"/>
              </a:rPr>
              <a:t>Vendedor 1</a:t>
            </a:r>
          </a:p>
        </p:txBody>
      </p:sp>
      <p:sp>
        <p:nvSpPr>
          <p:cNvPr id="67" name="Oval 66"/>
          <p:cNvSpPr/>
          <p:nvPr/>
        </p:nvSpPr>
        <p:spPr>
          <a:xfrm>
            <a:off x="10001707" y="2340863"/>
            <a:ext cx="131673" cy="131673"/>
          </a:xfrm>
          <a:prstGeom prst="ellipse">
            <a:avLst/>
          </a:prstGeom>
          <a:solidFill>
            <a:srgbClr val="3B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Trapezoid 67"/>
          <p:cNvSpPr/>
          <p:nvPr/>
        </p:nvSpPr>
        <p:spPr>
          <a:xfrm rot="10800000">
            <a:off x="9954158" y="2494483"/>
            <a:ext cx="226771" cy="182880"/>
          </a:xfrm>
          <a:prstGeom prst="trapezoid">
            <a:avLst>
              <a:gd name="adj" fmla="val 45161"/>
            </a:avLst>
          </a:prstGeom>
          <a:solidFill>
            <a:srgbClr val="3B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89007" y="2798063"/>
            <a:ext cx="9570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lang="pt-BR">
                <a:solidFill>
                  <a:srgbClr val="3B3B3B"/>
                </a:solidFill>
                <a:latin typeface="Arial"/>
              </a:rPr>
              <a:t>Vendedor 2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1152631" y="2381097"/>
            <a:ext cx="0" cy="51206"/>
          </a:xfrm>
          <a:prstGeom prst="line">
            <a:avLst/>
          </a:prstGeom>
          <a:ln w="19050">
            <a:solidFill>
              <a:srgbClr val="104C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11130686" y="2337206"/>
            <a:ext cx="43891" cy="43891"/>
          </a:xfrm>
          <a:prstGeom prst="ellipse">
            <a:avLst/>
          </a:prstGeom>
          <a:solidFill>
            <a:srgbClr val="104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969752" y="2432303"/>
            <a:ext cx="365760" cy="285292"/>
          </a:xfrm>
          <a:prstGeom prst="roundRect">
            <a:avLst>
              <a:gd name="adj" fmla="val 32000"/>
            </a:avLst>
          </a:prstGeom>
          <a:solidFill>
            <a:srgbClr val="104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1064849" y="2534716"/>
            <a:ext cx="51206" cy="731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1189207" y="2534716"/>
            <a:ext cx="51206" cy="731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674095" y="2798063"/>
            <a:ext cx="9570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lang="pt-BR">
                <a:solidFill>
                  <a:srgbClr val="104C3E"/>
                </a:solidFill>
                <a:latin typeface="Arial"/>
              </a:rPr>
              <a:t>Liza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503919" y="3054096"/>
            <a:ext cx="95707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503919" y="3054096"/>
            <a:ext cx="957072" cy="274320"/>
          </a:xfrm>
          <a:prstGeom prst="roundRect">
            <a:avLst>
              <a:gd name="adj" fmla="val 3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503919" y="3182112"/>
            <a:ext cx="957072" cy="1463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03919" y="3054096"/>
            <a:ext cx="9570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lang="pt-BR">
                <a:solidFill>
                  <a:srgbClr val="FFFFFF"/>
                </a:solidFill>
                <a:latin typeface="Arial"/>
              </a:rPr>
              <a:t>Leads</a:t>
            </a:r>
          </a:p>
        </p:txBody>
      </p:sp>
      <p:sp>
        <p:nvSpPr>
          <p:cNvPr id="80" name="Oval 79"/>
          <p:cNvSpPr/>
          <p:nvPr/>
        </p:nvSpPr>
        <p:spPr>
          <a:xfrm>
            <a:off x="8613647" y="3462527"/>
            <a:ext cx="64008" cy="6400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741663" y="3419856"/>
            <a:ext cx="664463" cy="1493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lang="pt-BR">
                <a:solidFill>
                  <a:srgbClr val="CC0000"/>
                </a:solidFill>
                <a:latin typeface="Arial"/>
              </a:rPr>
              <a:t>Lead 1</a:t>
            </a:r>
          </a:p>
        </p:txBody>
      </p:sp>
      <p:sp>
        <p:nvSpPr>
          <p:cNvPr id="82" name="Oval 81"/>
          <p:cNvSpPr/>
          <p:nvPr/>
        </p:nvSpPr>
        <p:spPr>
          <a:xfrm>
            <a:off x="8613647" y="3611879"/>
            <a:ext cx="64008" cy="64008"/>
          </a:xfrm>
          <a:prstGeom prst="ellipse">
            <a:avLst/>
          </a:prstGeom>
          <a:solidFill>
            <a:srgbClr val="B4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741663" y="3569207"/>
            <a:ext cx="664463" cy="1493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lang="pt-BR">
                <a:solidFill>
                  <a:srgbClr val="5C5C5C"/>
                </a:solidFill>
                <a:latin typeface="Arial"/>
              </a:rPr>
              <a:t>Lead 2</a:t>
            </a:r>
          </a:p>
        </p:txBody>
      </p:sp>
      <p:sp>
        <p:nvSpPr>
          <p:cNvPr id="84" name="Oval 83"/>
          <p:cNvSpPr/>
          <p:nvPr/>
        </p:nvSpPr>
        <p:spPr>
          <a:xfrm>
            <a:off x="8613647" y="3761232"/>
            <a:ext cx="64008" cy="6400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741663" y="3718560"/>
            <a:ext cx="664463" cy="1493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lang="pt-BR">
                <a:solidFill>
                  <a:srgbClr val="CC0000"/>
                </a:solidFill>
                <a:latin typeface="Arial"/>
              </a:rPr>
              <a:t>Lead 3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589007" y="3054096"/>
            <a:ext cx="95707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9589007" y="3054096"/>
            <a:ext cx="957072" cy="274320"/>
          </a:xfrm>
          <a:prstGeom prst="roundRect">
            <a:avLst>
              <a:gd name="adj" fmla="val 30000"/>
            </a:avLst>
          </a:prstGeom>
          <a:solidFill>
            <a:srgbClr val="3B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589007" y="3182112"/>
            <a:ext cx="957072" cy="146304"/>
          </a:xfrm>
          <a:prstGeom prst="rect">
            <a:avLst/>
          </a:prstGeom>
          <a:solidFill>
            <a:srgbClr val="3B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589007" y="3054096"/>
            <a:ext cx="9570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lang="pt-BR">
                <a:solidFill>
                  <a:srgbClr val="FFFFFF"/>
                </a:solidFill>
                <a:latin typeface="Arial"/>
              </a:rPr>
              <a:t>Leads</a:t>
            </a:r>
          </a:p>
        </p:txBody>
      </p:sp>
      <p:sp>
        <p:nvSpPr>
          <p:cNvPr id="90" name="Oval 89"/>
          <p:cNvSpPr/>
          <p:nvPr/>
        </p:nvSpPr>
        <p:spPr>
          <a:xfrm>
            <a:off x="9698735" y="3462527"/>
            <a:ext cx="64008" cy="6400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826751" y="3419856"/>
            <a:ext cx="664463" cy="1493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lang="pt-BR">
                <a:solidFill>
                  <a:srgbClr val="CC0000"/>
                </a:solidFill>
                <a:latin typeface="Arial"/>
              </a:rPr>
              <a:t>Lead 1</a:t>
            </a:r>
          </a:p>
        </p:txBody>
      </p:sp>
      <p:sp>
        <p:nvSpPr>
          <p:cNvPr id="92" name="Oval 91"/>
          <p:cNvSpPr/>
          <p:nvPr/>
        </p:nvSpPr>
        <p:spPr>
          <a:xfrm>
            <a:off x="9698735" y="3611879"/>
            <a:ext cx="64008" cy="64008"/>
          </a:xfrm>
          <a:prstGeom prst="ellipse">
            <a:avLst/>
          </a:prstGeom>
          <a:solidFill>
            <a:srgbClr val="B4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826751" y="3569207"/>
            <a:ext cx="664463" cy="1493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lang="pt-BR">
                <a:solidFill>
                  <a:srgbClr val="5C5C5C"/>
                </a:solidFill>
                <a:latin typeface="Arial"/>
              </a:rPr>
              <a:t>Lead 2</a:t>
            </a:r>
          </a:p>
        </p:txBody>
      </p:sp>
      <p:sp>
        <p:nvSpPr>
          <p:cNvPr id="94" name="Oval 93"/>
          <p:cNvSpPr/>
          <p:nvPr/>
        </p:nvSpPr>
        <p:spPr>
          <a:xfrm>
            <a:off x="9698735" y="3761232"/>
            <a:ext cx="64008" cy="64008"/>
          </a:xfrm>
          <a:prstGeom prst="ellipse">
            <a:avLst/>
          </a:prstGeom>
          <a:solidFill>
            <a:srgbClr val="B4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826751" y="3718560"/>
            <a:ext cx="664463" cy="1493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lang="pt-BR">
                <a:solidFill>
                  <a:srgbClr val="5C5C5C"/>
                </a:solidFill>
                <a:latin typeface="Arial"/>
              </a:rPr>
              <a:t>Lead 3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0674095" y="3054096"/>
            <a:ext cx="95707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10674095" y="3054096"/>
            <a:ext cx="957072" cy="274320"/>
          </a:xfrm>
          <a:prstGeom prst="roundRect">
            <a:avLst>
              <a:gd name="adj" fmla="val 30000"/>
            </a:avLst>
          </a:prstGeom>
          <a:solidFill>
            <a:srgbClr val="104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674095" y="3182112"/>
            <a:ext cx="957072" cy="146304"/>
          </a:xfrm>
          <a:prstGeom prst="rect">
            <a:avLst/>
          </a:prstGeom>
          <a:solidFill>
            <a:srgbClr val="104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674095" y="3054096"/>
            <a:ext cx="9570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lang="pt-BR">
                <a:solidFill>
                  <a:srgbClr val="FFFFFF"/>
                </a:solidFill>
                <a:latin typeface="Arial"/>
              </a:rPr>
              <a:t>Leads</a:t>
            </a:r>
          </a:p>
        </p:txBody>
      </p:sp>
      <p:sp>
        <p:nvSpPr>
          <p:cNvPr id="100" name="Oval 99"/>
          <p:cNvSpPr/>
          <p:nvPr/>
        </p:nvSpPr>
        <p:spPr>
          <a:xfrm>
            <a:off x="10783823" y="3462527"/>
            <a:ext cx="64008" cy="64008"/>
          </a:xfrm>
          <a:prstGeom prst="ellipse">
            <a:avLst/>
          </a:prstGeom>
          <a:solidFill>
            <a:srgbClr val="B4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911839" y="3419856"/>
            <a:ext cx="664463" cy="1493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lang="pt-BR">
                <a:solidFill>
                  <a:srgbClr val="5C5C5C"/>
                </a:solidFill>
                <a:latin typeface="Arial"/>
              </a:rPr>
              <a:t>Lead 1</a:t>
            </a:r>
          </a:p>
        </p:txBody>
      </p:sp>
      <p:sp>
        <p:nvSpPr>
          <p:cNvPr id="102" name="Oval 101"/>
          <p:cNvSpPr/>
          <p:nvPr/>
        </p:nvSpPr>
        <p:spPr>
          <a:xfrm>
            <a:off x="10783823" y="3611879"/>
            <a:ext cx="64008" cy="64008"/>
          </a:xfrm>
          <a:prstGeom prst="ellipse">
            <a:avLst/>
          </a:prstGeom>
          <a:solidFill>
            <a:srgbClr val="B4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911839" y="3569207"/>
            <a:ext cx="664463" cy="1493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lang="pt-BR">
                <a:solidFill>
                  <a:srgbClr val="5C5C5C"/>
                </a:solidFill>
                <a:latin typeface="Arial"/>
              </a:rPr>
              <a:t>Lead 2</a:t>
            </a:r>
          </a:p>
        </p:txBody>
      </p:sp>
      <p:sp>
        <p:nvSpPr>
          <p:cNvPr id="104" name="Oval 103"/>
          <p:cNvSpPr/>
          <p:nvPr/>
        </p:nvSpPr>
        <p:spPr>
          <a:xfrm>
            <a:off x="10783823" y="3761232"/>
            <a:ext cx="64008" cy="64008"/>
          </a:xfrm>
          <a:prstGeom prst="ellipse">
            <a:avLst/>
          </a:prstGeom>
          <a:solidFill>
            <a:srgbClr val="B4B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911839" y="3718560"/>
            <a:ext cx="664463" cy="1493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lang="pt-BR">
                <a:solidFill>
                  <a:srgbClr val="5C5C5C"/>
                </a:solidFill>
                <a:latin typeface="Arial"/>
              </a:rPr>
              <a:t>Lead 3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9460992" y="3494531"/>
            <a:ext cx="146303" cy="0"/>
          </a:xfrm>
          <a:prstGeom prst="line">
            <a:avLst/>
          </a:prstGeom>
          <a:ln w="19050">
            <a:solidFill>
              <a:srgbClr val="CC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546079" y="3793236"/>
            <a:ext cx="146304" cy="0"/>
          </a:xfrm>
          <a:prstGeom prst="line">
            <a:avLst/>
          </a:prstGeom>
          <a:ln w="19050">
            <a:solidFill>
              <a:srgbClr val="104C3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8503919" y="4014215"/>
            <a:ext cx="31272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lang="pt-BR">
                <a:solidFill>
                  <a:srgbClr val="5C5C5C"/>
                </a:solidFill>
                <a:latin typeface="Arial"/>
              </a:rPr>
              <a:t>Leads quentes são redistribuídos entre vendedores; leads frios seguem para a Liza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412480" y="5138928"/>
            <a:ext cx="3310128" cy="512064"/>
          </a:xfrm>
          <a:prstGeom prst="roundRect">
            <a:avLst>
              <a:gd name="adj" fmla="val 10000"/>
            </a:avLst>
          </a:prstGeom>
          <a:solidFill>
            <a:srgbClr val="FC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8412480" y="5138928"/>
            <a:ext cx="64008" cy="512064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8549640" y="5257800"/>
            <a:ext cx="274320" cy="274320"/>
          </a:xfrm>
          <a:prstGeom prst="ellipse">
            <a:avLst/>
          </a:prstGeom>
          <a:solidFill>
            <a:srgbClr val="CC0000"/>
          </a:solidFill>
          <a:ln>
            <a:noFill/>
          </a:ln>
          <a:effectLst>
            <a:outerShdw blurRad="45720" dist="18288" dir="5400000" rotWithShape="0">
              <a:srgbClr val="1A1A1A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549640" y="52578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lang="pt-BR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24544" y="5175504"/>
            <a:ext cx="26700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lang="pt-BR">
                <a:solidFill>
                  <a:srgbClr val="333333"/>
                </a:solidFill>
                <a:latin typeface="Arial"/>
              </a:rPr>
              <a:t>Garantir atendimento dos leads quentes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412480" y="5705856"/>
            <a:ext cx="3310128" cy="512064"/>
          </a:xfrm>
          <a:prstGeom prst="roundRect">
            <a:avLst>
              <a:gd name="adj" fmla="val 10000"/>
            </a:avLst>
          </a:prstGeom>
          <a:solidFill>
            <a:srgbClr val="E9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8412480" y="5705856"/>
            <a:ext cx="64008" cy="512064"/>
          </a:xfrm>
          <a:prstGeom prst="roundRect">
            <a:avLst>
              <a:gd name="adj" fmla="val 50000"/>
            </a:avLst>
          </a:prstGeom>
          <a:solidFill>
            <a:srgbClr val="104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549640" y="5824728"/>
            <a:ext cx="274320" cy="274320"/>
          </a:xfrm>
          <a:prstGeom prst="ellipse">
            <a:avLst/>
          </a:prstGeom>
          <a:solidFill>
            <a:srgbClr val="104C3E"/>
          </a:solidFill>
          <a:ln>
            <a:noFill/>
          </a:ln>
          <a:effectLst>
            <a:outerShdw blurRad="45720" dist="18288" dir="5400000" rotWithShape="0">
              <a:srgbClr val="1A1A1A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549640" y="58247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lang="pt-BR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24544" y="5742432"/>
            <a:ext cx="26700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lang="pt-BR">
                <a:solidFill>
                  <a:srgbClr val="333333"/>
                </a:solidFill>
                <a:latin typeface="Arial"/>
              </a:rPr>
              <a:t>Otimizar tempo do CV, alocando leads frios na Liza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