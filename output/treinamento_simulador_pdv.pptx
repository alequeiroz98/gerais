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02F"/>
              </a:gs>
              <a:gs pos="55000">
                <a:srgbClr val="004A25"/>
              </a:gs>
              <a:gs pos="100000">
                <a:srgbClr val="00351B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marca · texto"/>
          <p:cNvSpPr txBox="1"/>
          <p:nvPr/>
        </p:nvSpPr>
        <p:spPr>
          <a:xfrm>
            <a:off x="800100" y="1448544"/>
            <a:ext cx="10591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214" cap="all">
                <a:solidFill>
                  <a:srgbClr val="6CC24A"/>
                </a:solidFill>
                <a:latin typeface="Segoe UI"/>
              </a:rPr>
              <a:t>Localiza Seminovos  •  Treinamento de Consultores de Vendas</a:t>
            </a:r>
          </a:p>
        </p:txBody>
      </p:sp>
      <p:sp>
        <p:nvSpPr>
          <p:cNvPr id="4" name="h1 · texto"/>
          <p:cNvSpPr txBox="1"/>
          <p:nvPr/>
        </p:nvSpPr>
        <p:spPr>
          <a:xfrm>
            <a:off x="800100" y="1859513"/>
            <a:ext cx="10591800" cy="190916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929"/>
              </a:lnSpc>
              <a:spcBef>
                <a:spcPts val="0"/>
              </a:spcBef>
              <a:spcAft>
                <a:spcPts val="0"/>
              </a:spcAft>
            </a:pPr>
            <a:r>
              <a:rPr sz="4650" b="1" i="0" lang="pt-BR" spc="-93">
                <a:solidFill>
                  <a:srgbClr val="FFFFFF"/>
                </a:solidFill>
                <a:latin typeface="Segoe UI"/>
              </a:rPr>
              <a:t>Pare de mandar ficha</a:t>
            </a:r>
            <a:br/>
            <a:r>
              <a:rPr sz="4650" b="1" i="0" lang="pt-BR" spc="-93">
                <a:solidFill>
                  <a:srgbClr val="FFFFFF"/>
                </a:solidFill>
                <a:latin typeface="Segoe UI"/>
              </a:rPr>
              <a:t>no escuro.</a:t>
            </a:r>
            <a:br/>
            <a:r>
              <a:rPr sz="4650" b="1" i="0" lang="pt-BR" spc="-93">
                <a:solidFill>
                  <a:srgbClr val="6CC24A"/>
                </a:solidFill>
                <a:latin typeface="Segoe UI"/>
              </a:rPr>
              <a:t>Pergunte ao banco antes.</a:t>
            </a:r>
          </a:p>
        </p:txBody>
      </p:sp>
      <p:sp>
        <p:nvSpPr>
          <p:cNvPr id="5" name="lead · texto"/>
          <p:cNvSpPr txBox="1"/>
          <p:nvPr/>
        </p:nvSpPr>
        <p:spPr>
          <a:xfrm>
            <a:off x="800100" y="3850526"/>
            <a:ext cx="7239000" cy="8456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lang="pt-BR">
                <a:solidFill>
                  <a:srgbClr val="CFE3D6"/>
                </a:solidFill>
                <a:latin typeface="Segoe UI"/>
              </a:rPr>
              <a:t>O novo botão </a:t>
            </a:r>
            <a:r>
              <a:rPr sz="1650" b="1" i="0" lang="pt-BR">
                <a:solidFill>
                  <a:srgbClr val="CFE3D6"/>
                </a:solidFill>
                <a:latin typeface="Segoe UI"/>
              </a:rPr>
              <a:t>“Simule com os bancos”</a:t>
            </a:r>
            <a:r>
              <a:rPr sz="1650" b="0" i="0" lang="pt-BR">
                <a:solidFill>
                  <a:srgbClr val="CFE3D6"/>
                </a:solidFill>
                <a:latin typeface="Segoe UI"/>
              </a:rPr>
              <a:t> mostra, em 1 minuto, se o cliente tem chance de aprovação — e quanto de crédito ele tem — </a:t>
            </a:r>
            <a:r>
              <a:rPr sz="1650" b="1" i="0" lang="pt-BR">
                <a:solidFill>
                  <a:srgbClr val="CFE3D6"/>
                </a:solidFill>
                <a:latin typeface="Segoe UI"/>
              </a:rPr>
              <a:t>antes</a:t>
            </a:r>
            <a:r>
              <a:rPr sz="1650" b="0" i="0" lang="pt-BR">
                <a:solidFill>
                  <a:srgbClr val="CFE3D6"/>
                </a:solidFill>
                <a:latin typeface="Segoe UI"/>
              </a:rPr>
              <a:t> de você mandar a ficha.</a:t>
            </a:r>
          </a:p>
        </p:txBody>
      </p:sp>
      <p:sp>
        <p:nvSpPr>
          <p:cNvPr id="6" name="selo · fundo"/>
          <p:cNvSpPr/>
          <p:nvPr/>
        </p:nvSpPr>
        <p:spPr>
          <a:xfrm>
            <a:off x="800100" y="5104507"/>
            <a:ext cx="3648224" cy="3048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selo · texto"/>
          <p:cNvSpPr txBox="1"/>
          <p:nvPr/>
        </p:nvSpPr>
        <p:spPr>
          <a:xfrm>
            <a:off x="952500" y="5180707"/>
            <a:ext cx="3343424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21">
                <a:solidFill>
                  <a:srgbClr val="FFFFFF"/>
                </a:solidFill>
                <a:latin typeface="Segoe UI"/>
              </a:rPr>
              <a:t>Nova Jornada PDV — Simulador de Financiamento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6048375"/>
            <a:ext cx="1059180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span · texto"/>
          <p:cNvSpPr txBox="1"/>
          <p:nvPr/>
        </p:nvSpPr>
        <p:spPr>
          <a:xfrm>
            <a:off x="800100" y="6210300"/>
            <a:ext cx="2268141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lang="pt-BR">
                <a:solidFill>
                  <a:srgbClr val="9CBBA8"/>
                </a:solidFill>
                <a:latin typeface="Segoe UI"/>
              </a:rPr>
              <a:t>Material de treinamento — uso interno</a:t>
            </a:r>
          </a:p>
        </p:txBody>
      </p:sp>
      <p:sp>
        <p:nvSpPr>
          <p:cNvPr id="10" name="span · texto"/>
          <p:cNvSpPr txBox="1"/>
          <p:nvPr/>
        </p:nvSpPr>
        <p:spPr>
          <a:xfrm>
            <a:off x="8473827" y="6210300"/>
            <a:ext cx="2918073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lang="pt-BR">
                <a:solidFill>
                  <a:srgbClr val="9CBBA8"/>
                </a:solidFill>
                <a:latin typeface="Segoe UI"/>
              </a:rPr>
              <a:t>Duração: 20 minutos  |  Setas ← → para navegar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2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Roteiro de hoje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Em 20 minutos você vai sair daqui sabendo usar o simulador — e sabendo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por que ele vende mais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agenda-item · fundo"/>
          <p:cNvSpPr/>
          <p:nvPr/>
        </p:nvSpPr>
        <p:spPr>
          <a:xfrm>
            <a:off x="609600" y="1888034"/>
            <a:ext cx="10972800" cy="64770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888034"/>
            <a:ext cx="38100" cy="6477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num · texto"/>
          <p:cNvSpPr txBox="1"/>
          <p:nvPr/>
        </p:nvSpPr>
        <p:spPr>
          <a:xfrm>
            <a:off x="838200" y="2064246"/>
            <a:ext cx="43815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 lang="pt-BR">
                <a:solidFill>
                  <a:srgbClr val="8A968F"/>
                </a:solidFill>
                <a:latin typeface="Segoe UI"/>
              </a:rPr>
              <a:t>1</a:t>
            </a:r>
          </a:p>
        </p:txBody>
      </p:sp>
      <p:sp>
        <p:nvSpPr>
          <p:cNvPr id="10" name="strong · texto"/>
          <p:cNvSpPr txBox="1"/>
          <p:nvPr/>
        </p:nvSpPr>
        <p:spPr>
          <a:xfrm>
            <a:off x="1466850" y="2021384"/>
            <a:ext cx="399544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O problema que você vive todo dia</a:t>
            </a:r>
          </a:p>
        </p:txBody>
      </p:sp>
      <p:sp>
        <p:nvSpPr>
          <p:cNvPr id="11" name="span · texto"/>
          <p:cNvSpPr txBox="1"/>
          <p:nvPr/>
        </p:nvSpPr>
        <p:spPr>
          <a:xfrm>
            <a:off x="1466850" y="2230934"/>
            <a:ext cx="399544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A novela do “será que passa?” e quanto ela custa do seu bolso</a:t>
            </a:r>
          </a:p>
        </p:txBody>
      </p:sp>
      <p:sp>
        <p:nvSpPr>
          <p:cNvPr id="12" name="agenda-item · fundo"/>
          <p:cNvSpPr/>
          <p:nvPr/>
        </p:nvSpPr>
        <p:spPr>
          <a:xfrm>
            <a:off x="609600" y="2650034"/>
            <a:ext cx="10972800" cy="647700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650034"/>
            <a:ext cx="38100" cy="6477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num · texto"/>
          <p:cNvSpPr txBox="1"/>
          <p:nvPr/>
        </p:nvSpPr>
        <p:spPr>
          <a:xfrm>
            <a:off x="838200" y="2826246"/>
            <a:ext cx="43815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 lang="pt-BR">
                <a:solidFill>
                  <a:srgbClr val="6CC24A"/>
                </a:solidFill>
                <a:latin typeface="Segoe UI"/>
              </a:rPr>
              <a:t>2</a:t>
            </a:r>
          </a:p>
        </p:txBody>
      </p:sp>
      <p:sp>
        <p:nvSpPr>
          <p:cNvPr id="15" name="strong · texto"/>
          <p:cNvSpPr txBox="1"/>
          <p:nvPr/>
        </p:nvSpPr>
        <p:spPr>
          <a:xfrm>
            <a:off x="1466850" y="2783384"/>
            <a:ext cx="29146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O que mudou na tela</a:t>
            </a:r>
          </a:p>
        </p:txBody>
      </p:sp>
      <p:sp>
        <p:nvSpPr>
          <p:cNvPr id="16" name="span · texto"/>
          <p:cNvSpPr txBox="1"/>
          <p:nvPr/>
        </p:nvSpPr>
        <p:spPr>
          <a:xfrm>
            <a:off x="1466850" y="2992934"/>
            <a:ext cx="291465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Os 3 passos do novo simulador, print por print</a:t>
            </a:r>
          </a:p>
        </p:txBody>
      </p:sp>
      <p:sp>
        <p:nvSpPr>
          <p:cNvPr id="17" name="agenda-item · fundo"/>
          <p:cNvSpPr/>
          <p:nvPr/>
        </p:nvSpPr>
        <p:spPr>
          <a:xfrm>
            <a:off x="609600" y="3412034"/>
            <a:ext cx="10972800" cy="64770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412034"/>
            <a:ext cx="38100" cy="6477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num · texto"/>
          <p:cNvSpPr txBox="1"/>
          <p:nvPr/>
        </p:nvSpPr>
        <p:spPr>
          <a:xfrm>
            <a:off x="838200" y="3588246"/>
            <a:ext cx="43815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 lang="pt-BR">
                <a:solidFill>
                  <a:srgbClr val="8A968F"/>
                </a:solidFill>
                <a:latin typeface="Segoe UI"/>
              </a:rPr>
              <a:t>3</a:t>
            </a:r>
          </a:p>
        </p:txBody>
      </p:sp>
      <p:sp>
        <p:nvSpPr>
          <p:cNvPr id="20" name="strong · texto"/>
          <p:cNvSpPr txBox="1"/>
          <p:nvPr/>
        </p:nvSpPr>
        <p:spPr>
          <a:xfrm>
            <a:off x="1466850" y="3545384"/>
            <a:ext cx="3343573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Como usar o resultado para vender</a:t>
            </a:r>
          </a:p>
        </p:txBody>
      </p:sp>
      <p:sp>
        <p:nvSpPr>
          <p:cNvPr id="21" name="span · texto"/>
          <p:cNvSpPr txBox="1"/>
          <p:nvPr/>
        </p:nvSpPr>
        <p:spPr>
          <a:xfrm>
            <a:off x="1466850" y="3754934"/>
            <a:ext cx="3343573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Sinal verde, sinal amarelo e o que fazer em cada um</a:t>
            </a:r>
          </a:p>
        </p:txBody>
      </p:sp>
      <p:sp>
        <p:nvSpPr>
          <p:cNvPr id="22" name="agenda-item · fundo"/>
          <p:cNvSpPr/>
          <p:nvPr/>
        </p:nvSpPr>
        <p:spPr>
          <a:xfrm>
            <a:off x="609600" y="4174034"/>
            <a:ext cx="10972800" cy="64770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174034"/>
            <a:ext cx="38100" cy="6477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num · texto"/>
          <p:cNvSpPr txBox="1"/>
          <p:nvPr/>
        </p:nvSpPr>
        <p:spPr>
          <a:xfrm>
            <a:off x="838200" y="4350246"/>
            <a:ext cx="43815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 lang="pt-BR">
                <a:solidFill>
                  <a:srgbClr val="8A968F"/>
                </a:solidFill>
                <a:latin typeface="Segoe UI"/>
              </a:rPr>
              <a:t>4</a:t>
            </a:r>
          </a:p>
        </p:txBody>
      </p:sp>
      <p:sp>
        <p:nvSpPr>
          <p:cNvPr id="25" name="strong · texto"/>
          <p:cNvSpPr txBox="1"/>
          <p:nvPr/>
        </p:nvSpPr>
        <p:spPr>
          <a:xfrm>
            <a:off x="1466850" y="4307384"/>
            <a:ext cx="3804047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O que falar para o cliente</a:t>
            </a:r>
          </a:p>
        </p:txBody>
      </p:sp>
      <p:sp>
        <p:nvSpPr>
          <p:cNvPr id="26" name="span · texto"/>
          <p:cNvSpPr txBox="1"/>
          <p:nvPr/>
        </p:nvSpPr>
        <p:spPr>
          <a:xfrm>
            <a:off x="1466850" y="4516934"/>
            <a:ext cx="3804047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Frases prontas e respostas para as perguntas mais comuns</a:t>
            </a:r>
          </a:p>
        </p:txBody>
      </p:sp>
      <p:sp>
        <p:nvSpPr>
          <p:cNvPr id="27" name="agenda-item · fundo"/>
          <p:cNvSpPr/>
          <p:nvPr/>
        </p:nvSpPr>
        <p:spPr>
          <a:xfrm>
            <a:off x="609600" y="4936034"/>
            <a:ext cx="10972800" cy="64770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936034"/>
            <a:ext cx="38100" cy="6477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num · texto"/>
          <p:cNvSpPr txBox="1"/>
          <p:nvPr/>
        </p:nvSpPr>
        <p:spPr>
          <a:xfrm>
            <a:off x="838200" y="5112246"/>
            <a:ext cx="43815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 lang="pt-BR">
                <a:solidFill>
                  <a:srgbClr val="8A968F"/>
                </a:solidFill>
                <a:latin typeface="Segoe UI"/>
              </a:rPr>
              <a:t>5</a:t>
            </a:r>
          </a:p>
        </p:txBody>
      </p:sp>
      <p:sp>
        <p:nvSpPr>
          <p:cNvPr id="30" name="strong · texto"/>
          <p:cNvSpPr txBox="1"/>
          <p:nvPr/>
        </p:nvSpPr>
        <p:spPr>
          <a:xfrm>
            <a:off x="1466850" y="5069384"/>
            <a:ext cx="293087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Como começar amanhã</a:t>
            </a:r>
          </a:p>
        </p:txBody>
      </p:sp>
      <p:sp>
        <p:nvSpPr>
          <p:cNvPr id="31" name="span · texto"/>
          <p:cNvSpPr txBox="1"/>
          <p:nvPr/>
        </p:nvSpPr>
        <p:spPr>
          <a:xfrm>
            <a:off x="1466850" y="5278934"/>
            <a:ext cx="293087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3 regras de ouro e o checklist de 30 segundos</a:t>
            </a:r>
          </a:p>
        </p:txBody>
      </p:sp>
      <p:sp>
        <p:nvSpPr>
          <p:cNvPr id="32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Uma única mensagem para levar: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simular antes é mais rápido do que tentar de novo depois.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3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1. O problema — como é hoje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Hoje você só descobre se o cliente passa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depois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 de mandar a ficha — e aí já foi tempo do cliente e o seu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ciclo-passo · fundo"/>
          <p:cNvSpPr/>
          <p:nvPr/>
        </p:nvSpPr>
        <p:spPr>
          <a:xfrm>
            <a:off x="609600" y="2221855"/>
            <a:ext cx="2072580" cy="1223367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2748858" y="2757339"/>
            <a:ext cx="85725" cy="152400"/>
          </a:xfrm>
          <a:custGeom>
            <a:avLst/>
            <a:gdLst/>
            <a:ahLst/>
            <a:cxnLst/>
            <a:rect l="l" t="t" r="r" b="b"/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DCE3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c · texto"/>
          <p:cNvSpPr txBox="1"/>
          <p:nvPr/>
        </p:nvSpPr>
        <p:spPr>
          <a:xfrm>
            <a:off x="762000" y="2429642"/>
            <a:ext cx="176778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pt-BR">
                <a:solidFill>
                  <a:srgbClr val="16211B"/>
                </a:solidFill>
                <a:latin typeface="Segoe UI"/>
              </a:rPr>
              <a:t>🚗</a:t>
            </a:r>
          </a:p>
        </p:txBody>
      </p:sp>
      <p:sp>
        <p:nvSpPr>
          <p:cNvPr id="10" name="b · texto"/>
          <p:cNvSpPr txBox="1"/>
          <p:nvPr/>
        </p:nvSpPr>
        <p:spPr>
          <a:xfrm>
            <a:off x="762000" y="2717155"/>
            <a:ext cx="176778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1. Cliente escolhe</a:t>
            </a:r>
          </a:p>
        </p:txBody>
      </p:sp>
      <p:sp>
        <p:nvSpPr>
          <p:cNvPr id="11" name="span · texto"/>
          <p:cNvSpPr txBox="1"/>
          <p:nvPr/>
        </p:nvSpPr>
        <p:spPr>
          <a:xfrm>
            <a:off x="762000" y="2919983"/>
            <a:ext cx="176778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Ele gosta de um carro e senta com você</a:t>
            </a:r>
          </a:p>
        </p:txBody>
      </p:sp>
      <p:sp>
        <p:nvSpPr>
          <p:cNvPr id="12" name="ciclo-passo · fundo"/>
          <p:cNvSpPr/>
          <p:nvPr/>
        </p:nvSpPr>
        <p:spPr>
          <a:xfrm>
            <a:off x="2834580" y="2221855"/>
            <a:ext cx="2072580" cy="1223367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4973838" y="2757339"/>
            <a:ext cx="85725" cy="152400"/>
          </a:xfrm>
          <a:custGeom>
            <a:avLst/>
            <a:gdLst/>
            <a:ahLst/>
            <a:cxnLst/>
            <a:rect l="l" t="t" r="r" b="b"/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DCE3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ic · texto"/>
          <p:cNvSpPr txBox="1"/>
          <p:nvPr/>
        </p:nvSpPr>
        <p:spPr>
          <a:xfrm>
            <a:off x="2986980" y="2429642"/>
            <a:ext cx="176778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pt-BR">
                <a:solidFill>
                  <a:srgbClr val="16211B"/>
                </a:solidFill>
                <a:latin typeface="Segoe UI"/>
              </a:rPr>
              <a:t>🖥️</a:t>
            </a:r>
          </a:p>
        </p:txBody>
      </p:sp>
      <p:sp>
        <p:nvSpPr>
          <p:cNvPr id="15" name="b · texto"/>
          <p:cNvSpPr txBox="1"/>
          <p:nvPr/>
        </p:nvSpPr>
        <p:spPr>
          <a:xfrm>
            <a:off x="2986980" y="2717155"/>
            <a:ext cx="176778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2. Você simula</a:t>
            </a:r>
          </a:p>
        </p:txBody>
      </p:sp>
      <p:sp>
        <p:nvSpPr>
          <p:cNvPr id="16" name="span · texto"/>
          <p:cNvSpPr txBox="1"/>
          <p:nvPr/>
        </p:nvSpPr>
        <p:spPr>
          <a:xfrm>
            <a:off x="2986980" y="2919983"/>
            <a:ext cx="176778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A tela mostra mais ou menos o valor da parcela</a:t>
            </a:r>
          </a:p>
        </p:txBody>
      </p:sp>
      <p:sp>
        <p:nvSpPr>
          <p:cNvPr id="17" name="ciclo-passo · fundo"/>
          <p:cNvSpPr/>
          <p:nvPr/>
        </p:nvSpPr>
        <p:spPr>
          <a:xfrm>
            <a:off x="5059561" y="2221855"/>
            <a:ext cx="2072580" cy="1223367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198819" y="2757339"/>
            <a:ext cx="85725" cy="152400"/>
          </a:xfrm>
          <a:custGeom>
            <a:avLst/>
            <a:gdLst/>
            <a:ahLst/>
            <a:cxnLst/>
            <a:rect l="l" t="t" r="r" b="b"/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DCE3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c · texto"/>
          <p:cNvSpPr txBox="1"/>
          <p:nvPr/>
        </p:nvSpPr>
        <p:spPr>
          <a:xfrm>
            <a:off x="5211961" y="2429642"/>
            <a:ext cx="176778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pt-BR">
                <a:solidFill>
                  <a:srgbClr val="16211B"/>
                </a:solidFill>
                <a:latin typeface="Segoe UI"/>
              </a:rPr>
              <a:t>📨</a:t>
            </a:r>
          </a:p>
        </p:txBody>
      </p:sp>
      <p:sp>
        <p:nvSpPr>
          <p:cNvPr id="20" name="b · texto"/>
          <p:cNvSpPr txBox="1"/>
          <p:nvPr/>
        </p:nvSpPr>
        <p:spPr>
          <a:xfrm>
            <a:off x="5211961" y="2717155"/>
            <a:ext cx="176778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3. Manda a ficha</a:t>
            </a:r>
          </a:p>
        </p:txBody>
      </p:sp>
      <p:sp>
        <p:nvSpPr>
          <p:cNvPr id="21" name="span · texto"/>
          <p:cNvSpPr txBox="1"/>
          <p:nvPr/>
        </p:nvSpPr>
        <p:spPr>
          <a:xfrm>
            <a:off x="5211961" y="2919983"/>
            <a:ext cx="176778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E só resta esperar a resposta do banco</a:t>
            </a:r>
          </a:p>
        </p:txBody>
      </p:sp>
      <p:sp>
        <p:nvSpPr>
          <p:cNvPr id="22" name="ciclo-passo · fundo"/>
          <p:cNvSpPr/>
          <p:nvPr/>
        </p:nvSpPr>
        <p:spPr>
          <a:xfrm>
            <a:off x="7284541" y="2221855"/>
            <a:ext cx="2072580" cy="1223367"/>
          </a:xfrm>
          <a:prstGeom prst="rect">
            <a:avLst/>
          </a:prstGeom>
          <a:solidFill>
            <a:srgbClr val="FBEBE9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423799" y="2757339"/>
            <a:ext cx="85725" cy="152400"/>
          </a:xfrm>
          <a:custGeom>
            <a:avLst/>
            <a:gdLst/>
            <a:ahLst/>
            <a:cxnLst/>
            <a:rect l="l" t="t" r="r" b="b"/>
            <a:pathLst>
              <a:path w="85725" h="152400">
                <a:moveTo>
                  <a:pt x="0" y="0"/>
                </a:moveTo>
                <a:lnTo>
                  <a:pt x="85725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DCE3D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ic · texto"/>
          <p:cNvSpPr txBox="1"/>
          <p:nvPr/>
        </p:nvSpPr>
        <p:spPr>
          <a:xfrm>
            <a:off x="7436941" y="2429642"/>
            <a:ext cx="176778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pt-BR">
                <a:solidFill>
                  <a:srgbClr val="16211B"/>
                </a:solidFill>
                <a:latin typeface="Segoe UI"/>
              </a:rPr>
              <a:t>⛔</a:t>
            </a:r>
          </a:p>
        </p:txBody>
      </p:sp>
      <p:sp>
        <p:nvSpPr>
          <p:cNvPr id="25" name="b · texto"/>
          <p:cNvSpPr txBox="1"/>
          <p:nvPr/>
        </p:nvSpPr>
        <p:spPr>
          <a:xfrm>
            <a:off x="7436941" y="2717155"/>
            <a:ext cx="176778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C0392B"/>
                </a:solidFill>
                <a:latin typeface="Segoe UI"/>
              </a:rPr>
              <a:t>4. Negado</a:t>
            </a:r>
          </a:p>
        </p:txBody>
      </p:sp>
      <p:sp>
        <p:nvSpPr>
          <p:cNvPr id="26" name="span · texto"/>
          <p:cNvSpPr txBox="1"/>
          <p:nvPr/>
        </p:nvSpPr>
        <p:spPr>
          <a:xfrm>
            <a:off x="7436941" y="2919983"/>
            <a:ext cx="176778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Sem dizer o porquê e sem dizer o que mudar</a:t>
            </a:r>
          </a:p>
        </p:txBody>
      </p:sp>
      <p:sp>
        <p:nvSpPr>
          <p:cNvPr id="27" name="ciclo-passo · fundo"/>
          <p:cNvSpPr/>
          <p:nvPr/>
        </p:nvSpPr>
        <p:spPr>
          <a:xfrm>
            <a:off x="9509522" y="2221855"/>
            <a:ext cx="2072580" cy="1223367"/>
          </a:xfrm>
          <a:prstGeom prst="rect">
            <a:avLst/>
          </a:prstGeom>
          <a:solidFill>
            <a:srgbClr val="FBEBE9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ic · texto"/>
          <p:cNvSpPr txBox="1"/>
          <p:nvPr/>
        </p:nvSpPr>
        <p:spPr>
          <a:xfrm>
            <a:off x="9661922" y="2429642"/>
            <a:ext cx="176778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lang="pt-BR">
                <a:solidFill>
                  <a:srgbClr val="16211B"/>
                </a:solidFill>
                <a:latin typeface="Segoe UI"/>
              </a:rPr>
              <a:t>🔁</a:t>
            </a:r>
          </a:p>
        </p:txBody>
      </p:sp>
      <p:sp>
        <p:nvSpPr>
          <p:cNvPr id="29" name="b · texto"/>
          <p:cNvSpPr txBox="1"/>
          <p:nvPr/>
        </p:nvSpPr>
        <p:spPr>
          <a:xfrm>
            <a:off x="9661922" y="2717155"/>
            <a:ext cx="176778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C0392B"/>
                </a:solidFill>
                <a:latin typeface="Segoe UI"/>
              </a:rPr>
              <a:t>5. Tenta de novo</a:t>
            </a:r>
          </a:p>
        </p:txBody>
      </p:sp>
      <p:sp>
        <p:nvSpPr>
          <p:cNvPr id="30" name="span · texto"/>
          <p:cNvSpPr txBox="1"/>
          <p:nvPr/>
        </p:nvSpPr>
        <p:spPr>
          <a:xfrm>
            <a:off x="9661922" y="2919983"/>
            <a:ext cx="176778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Muda a entrada no chute e manda outra ficha</a:t>
            </a:r>
          </a:p>
        </p:txBody>
      </p:sp>
      <p:sp>
        <p:nvSpPr>
          <p:cNvPr id="31" name="volta · fundo"/>
          <p:cNvSpPr/>
          <p:nvPr/>
        </p:nvSpPr>
        <p:spPr>
          <a:xfrm>
            <a:off x="609600" y="3635722"/>
            <a:ext cx="10972800" cy="42862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volta · texto"/>
          <p:cNvSpPr txBox="1"/>
          <p:nvPr/>
        </p:nvSpPr>
        <p:spPr>
          <a:xfrm>
            <a:off x="800100" y="3759547"/>
            <a:ext cx="10591800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5" b="1" i="0" lang="pt-BR" spc="13">
                <a:solidFill>
                  <a:srgbClr val="FFFFFF"/>
                </a:solidFill>
                <a:latin typeface="Segoe UI"/>
              </a:rPr>
              <a:t>↺  E volta para o passo 2. De novo. E de novo. Até o cliente cansar e ir embora.</a:t>
            </a:r>
          </a:p>
        </p:txBody>
      </p:sp>
      <p:sp>
        <p:nvSpPr>
          <p:cNvPr id="33" name="card · fundo"/>
          <p:cNvSpPr/>
          <p:nvPr/>
        </p:nvSpPr>
        <p:spPr>
          <a:xfrm>
            <a:off x="609600" y="4273897"/>
            <a:ext cx="3543300" cy="1735931"/>
          </a:xfrm>
          <a:prstGeom prst="rect">
            <a:avLst/>
          </a:prstGeom>
          <a:solidFill>
            <a:srgbClr val="FBEBE9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600" y="4273897"/>
            <a:ext cx="35433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43375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600030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9600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ic · texto"/>
          <p:cNvSpPr txBox="1"/>
          <p:nvPr/>
        </p:nvSpPr>
        <p:spPr>
          <a:xfrm>
            <a:off x="809625" y="454309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❓</a:t>
            </a:r>
          </a:p>
        </p:txBody>
      </p:sp>
      <p:sp>
        <p:nvSpPr>
          <p:cNvPr id="39" name="h3 · texto"/>
          <p:cNvSpPr txBox="1"/>
          <p:nvPr/>
        </p:nvSpPr>
        <p:spPr>
          <a:xfrm>
            <a:off x="809625" y="486920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C0392B"/>
                </a:solidFill>
                <a:latin typeface="Segoe UI"/>
              </a:rPr>
              <a:t>Você não sabe</a:t>
            </a:r>
          </a:p>
        </p:txBody>
      </p:sp>
      <p:sp>
        <p:nvSpPr>
          <p:cNvPr id="40" name="p · texto"/>
          <p:cNvSpPr txBox="1"/>
          <p:nvPr/>
        </p:nvSpPr>
        <p:spPr>
          <a:xfrm>
            <a:off x="809625" y="5146433"/>
            <a:ext cx="3143250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A tela de hoje mostra a parcela, mas não diz se o banco vai aprovar. Você aperta “Simular” no escuro.</a:t>
            </a:r>
          </a:p>
        </p:txBody>
      </p:sp>
      <p:sp>
        <p:nvSpPr>
          <p:cNvPr id="41" name="card · fundo"/>
          <p:cNvSpPr/>
          <p:nvPr/>
        </p:nvSpPr>
        <p:spPr>
          <a:xfrm>
            <a:off x="4324350" y="4273897"/>
            <a:ext cx="3543300" cy="1735931"/>
          </a:xfrm>
          <a:prstGeom prst="rect">
            <a:avLst/>
          </a:prstGeom>
          <a:solidFill>
            <a:srgbClr val="FBEBE9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4350" y="4273897"/>
            <a:ext cx="35433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58125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24350" y="600030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4350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6" name="ic · texto"/>
          <p:cNvSpPr txBox="1"/>
          <p:nvPr/>
        </p:nvSpPr>
        <p:spPr>
          <a:xfrm>
            <a:off x="4524375" y="454309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😕</a:t>
            </a:r>
          </a:p>
        </p:txBody>
      </p:sp>
      <p:sp>
        <p:nvSpPr>
          <p:cNvPr id="47" name="h3 · texto"/>
          <p:cNvSpPr txBox="1"/>
          <p:nvPr/>
        </p:nvSpPr>
        <p:spPr>
          <a:xfrm>
            <a:off x="4524375" y="486920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C0392B"/>
                </a:solidFill>
                <a:latin typeface="Segoe UI"/>
              </a:rPr>
              <a:t>O cliente não sabe</a:t>
            </a:r>
          </a:p>
        </p:txBody>
      </p:sp>
      <p:sp>
        <p:nvSpPr>
          <p:cNvPr id="48" name="p · texto"/>
          <p:cNvSpPr txBox="1"/>
          <p:nvPr/>
        </p:nvSpPr>
        <p:spPr>
          <a:xfrm>
            <a:off x="4524375" y="5146433"/>
            <a:ext cx="3143250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Ele ouve “negado” sem entender o motivo. Perde a confiança na loja e vai olhar na concorrência.</a:t>
            </a:r>
          </a:p>
        </p:txBody>
      </p:sp>
      <p:sp>
        <p:nvSpPr>
          <p:cNvPr id="49" name="card · fundo"/>
          <p:cNvSpPr/>
          <p:nvPr/>
        </p:nvSpPr>
        <p:spPr>
          <a:xfrm>
            <a:off x="8039100" y="4273897"/>
            <a:ext cx="3543300" cy="1735931"/>
          </a:xfrm>
          <a:prstGeom prst="rect">
            <a:avLst/>
          </a:prstGeom>
          <a:solidFill>
            <a:srgbClr val="FBEBE9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39100" y="4273897"/>
            <a:ext cx="35433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72875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39100" y="600030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39100" y="4273897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4" name="ic · texto"/>
          <p:cNvSpPr txBox="1"/>
          <p:nvPr/>
        </p:nvSpPr>
        <p:spPr>
          <a:xfrm>
            <a:off x="8239125" y="454309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⏳</a:t>
            </a:r>
          </a:p>
        </p:txBody>
      </p:sp>
      <p:sp>
        <p:nvSpPr>
          <p:cNvPr id="55" name="h3 · texto"/>
          <p:cNvSpPr txBox="1"/>
          <p:nvPr/>
        </p:nvSpPr>
        <p:spPr>
          <a:xfrm>
            <a:off x="8239125" y="486920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C0392B"/>
                </a:solidFill>
                <a:latin typeface="Segoe UI"/>
              </a:rPr>
              <a:t>Quem paga é o seu tempo</a:t>
            </a:r>
          </a:p>
        </p:txBody>
      </p:sp>
      <p:sp>
        <p:nvSpPr>
          <p:cNvPr id="56" name="p · texto"/>
          <p:cNvSpPr txBox="1"/>
          <p:nvPr/>
        </p:nvSpPr>
        <p:spPr>
          <a:xfrm>
            <a:off x="8239125" y="5146433"/>
            <a:ext cx="3143250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Cada rodada de ficha come minutos do seu atendimento — e enquanto isso outro cliente espera.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4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1. O problema — quanto custa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Cada ficha negada não é só um “não”: é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o seu tempo, o seu atendimento e a sua comissão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 indo embora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caso · fundo"/>
          <p:cNvSpPr/>
          <p:nvPr/>
        </p:nvSpPr>
        <p:spPr>
          <a:xfrm>
            <a:off x="614362" y="1824930"/>
            <a:ext cx="10963275" cy="18573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h4 · texto"/>
          <p:cNvSpPr txBox="1"/>
          <p:nvPr/>
        </p:nvSpPr>
        <p:spPr>
          <a:xfrm>
            <a:off x="828675" y="2039243"/>
            <a:ext cx="323210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8A968F"/>
                </a:solidFill>
                <a:latin typeface="Segoe UI"/>
              </a:rPr>
              <a:t>Tentativas por cliente</a:t>
            </a:r>
          </a:p>
        </p:txBody>
      </p:sp>
      <p:sp>
        <p:nvSpPr>
          <p:cNvPr id="9" name="numerao · texto"/>
          <p:cNvSpPr txBox="1"/>
          <p:nvPr/>
        </p:nvSpPr>
        <p:spPr>
          <a:xfrm>
            <a:off x="828675" y="2372104"/>
            <a:ext cx="32321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pt-BR" spc="-60">
                <a:solidFill>
                  <a:srgbClr val="8A968F"/>
                </a:solidFill>
                <a:latin typeface="Segoe UI"/>
              </a:rPr>
              <a:t>__ fichas</a:t>
            </a:r>
          </a:p>
        </p:txBody>
      </p:sp>
      <p:sp>
        <p:nvSpPr>
          <p:cNvPr id="10" name="p · texto"/>
          <p:cNvSpPr txBox="1"/>
          <p:nvPr/>
        </p:nvSpPr>
        <p:spPr>
          <a:xfrm>
            <a:off x="828675" y="2768652"/>
            <a:ext cx="3232100" cy="619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Quantas vezes você manda ficha do mesmo cliente até saber se ele passa?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Cada uma delas custa espera.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325" y="1829693"/>
            <a:ext cx="9525" cy="184785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h4 · texto"/>
          <p:cNvSpPr txBox="1"/>
          <p:nvPr/>
        </p:nvSpPr>
        <p:spPr>
          <a:xfrm>
            <a:off x="4489400" y="2039243"/>
            <a:ext cx="3222575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8A968F"/>
                </a:solidFill>
                <a:latin typeface="Segoe UI"/>
              </a:rPr>
              <a:t>Tempo por tentativa</a:t>
            </a:r>
          </a:p>
        </p:txBody>
      </p:sp>
      <p:sp>
        <p:nvSpPr>
          <p:cNvPr id="13" name="numerao · texto"/>
          <p:cNvSpPr txBox="1"/>
          <p:nvPr/>
        </p:nvSpPr>
        <p:spPr>
          <a:xfrm>
            <a:off x="4489400" y="2372104"/>
            <a:ext cx="3222575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pt-BR" spc="-60">
                <a:solidFill>
                  <a:srgbClr val="8A968F"/>
                </a:solidFill>
                <a:latin typeface="Segoe UI"/>
              </a:rPr>
              <a:t>__ min</a:t>
            </a:r>
          </a:p>
        </p:txBody>
      </p:sp>
      <p:sp>
        <p:nvSpPr>
          <p:cNvPr id="14" name="p · texto"/>
          <p:cNvSpPr txBox="1"/>
          <p:nvPr/>
        </p:nvSpPr>
        <p:spPr>
          <a:xfrm>
            <a:off x="4489400" y="2768652"/>
            <a:ext cx="3222575" cy="619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Preencher, mandar, esperar, explicar para o cliente e começar tudo de novo.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É tempo que não vira venda.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1526" y="1829693"/>
            <a:ext cx="9525" cy="184785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h4 · texto"/>
          <p:cNvSpPr txBox="1"/>
          <p:nvPr/>
        </p:nvSpPr>
        <p:spPr>
          <a:xfrm>
            <a:off x="8140601" y="2039243"/>
            <a:ext cx="3222724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8A968F"/>
                </a:solidFill>
                <a:latin typeface="Segoe UI"/>
              </a:rPr>
              <a:t>Clientes que desistem</a:t>
            </a:r>
          </a:p>
        </p:txBody>
      </p:sp>
      <p:sp>
        <p:nvSpPr>
          <p:cNvPr id="17" name="numerao · texto"/>
          <p:cNvSpPr txBox="1"/>
          <p:nvPr/>
        </p:nvSpPr>
        <p:spPr>
          <a:xfrm>
            <a:off x="8140601" y="2372104"/>
            <a:ext cx="3222724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pt-BR" spc="-60">
                <a:solidFill>
                  <a:srgbClr val="8A968F"/>
                </a:solidFill>
                <a:latin typeface="Segoe UI"/>
              </a:rPr>
              <a:t>__ %</a:t>
            </a:r>
          </a:p>
        </p:txBody>
      </p:sp>
      <p:sp>
        <p:nvSpPr>
          <p:cNvPr id="18" name="p · texto"/>
          <p:cNvSpPr txBox="1"/>
          <p:nvPr/>
        </p:nvSpPr>
        <p:spPr>
          <a:xfrm>
            <a:off x="8140601" y="2768652"/>
            <a:ext cx="3222724" cy="619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Cliente que ouve “negado” duas vezes normalmente não volta.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Ele não some do sistema, ele some da loja.</a:t>
            </a:r>
          </a:p>
        </p:txBody>
      </p:sp>
      <p:sp>
        <p:nvSpPr>
          <p:cNvPr id="19" name="card · fundo"/>
          <p:cNvSpPr/>
          <p:nvPr/>
        </p:nvSpPr>
        <p:spPr>
          <a:xfrm>
            <a:off x="609600" y="3915668"/>
            <a:ext cx="3543300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915668"/>
            <a:ext cx="354330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43375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64207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ic · texto"/>
          <p:cNvSpPr txBox="1"/>
          <p:nvPr/>
        </p:nvSpPr>
        <p:spPr>
          <a:xfrm>
            <a:off x="809625" y="418486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🕐</a:t>
            </a:r>
          </a:p>
        </p:txBody>
      </p:sp>
      <p:sp>
        <p:nvSpPr>
          <p:cNvPr id="25" name="h3 · texto"/>
          <p:cNvSpPr txBox="1"/>
          <p:nvPr/>
        </p:nvSpPr>
        <p:spPr>
          <a:xfrm>
            <a:off x="809625" y="451097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B45A05"/>
                </a:solidFill>
                <a:latin typeface="Segoe UI"/>
              </a:rPr>
              <a:t>Menos atendimentos no dia</a:t>
            </a:r>
          </a:p>
        </p:txBody>
      </p:sp>
      <p:sp>
        <p:nvSpPr>
          <p:cNvPr id="26" name="p · texto"/>
          <p:cNvSpPr txBox="1"/>
          <p:nvPr/>
        </p:nvSpPr>
        <p:spPr>
          <a:xfrm>
            <a:off x="809625" y="4788203"/>
            <a:ext cx="3143250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Se cada cliente ocupa 3 rodadas de ficha, você atende menos gente. Menos gente atendida é menos carro vendido.</a:t>
            </a:r>
          </a:p>
        </p:txBody>
      </p:sp>
      <p:sp>
        <p:nvSpPr>
          <p:cNvPr id="27" name="card · fundo"/>
          <p:cNvSpPr/>
          <p:nvPr/>
        </p:nvSpPr>
        <p:spPr>
          <a:xfrm>
            <a:off x="4324350" y="3915668"/>
            <a:ext cx="3543300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4350" y="3915668"/>
            <a:ext cx="354330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58125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4350" y="564207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4350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ic · texto"/>
          <p:cNvSpPr txBox="1"/>
          <p:nvPr/>
        </p:nvSpPr>
        <p:spPr>
          <a:xfrm>
            <a:off x="4524375" y="418486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🤝</a:t>
            </a:r>
          </a:p>
        </p:txBody>
      </p:sp>
      <p:sp>
        <p:nvSpPr>
          <p:cNvPr id="33" name="h3 · texto"/>
          <p:cNvSpPr txBox="1"/>
          <p:nvPr/>
        </p:nvSpPr>
        <p:spPr>
          <a:xfrm>
            <a:off x="4524375" y="451097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B45A05"/>
                </a:solidFill>
                <a:latin typeface="Segoe UI"/>
              </a:rPr>
              <a:t>Desgaste com o cliente</a:t>
            </a:r>
          </a:p>
        </p:txBody>
      </p:sp>
      <p:sp>
        <p:nvSpPr>
          <p:cNvPr id="34" name="p · texto"/>
          <p:cNvSpPr txBox="1"/>
          <p:nvPr/>
        </p:nvSpPr>
        <p:spPr>
          <a:xfrm>
            <a:off x="4524375" y="4788203"/>
            <a:ext cx="3143250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Você promete “vou tentar aqui pra você” e não sai. A conversa esfria e o argumento de venda morre.</a:t>
            </a:r>
          </a:p>
        </p:txBody>
      </p:sp>
      <p:sp>
        <p:nvSpPr>
          <p:cNvPr id="35" name="card · fundo"/>
          <p:cNvSpPr/>
          <p:nvPr/>
        </p:nvSpPr>
        <p:spPr>
          <a:xfrm>
            <a:off x="8039100" y="3915668"/>
            <a:ext cx="3543300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39100" y="3915668"/>
            <a:ext cx="354330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572875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39100" y="5642074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39100" y="3915668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ic · texto"/>
          <p:cNvSpPr txBox="1"/>
          <p:nvPr/>
        </p:nvSpPr>
        <p:spPr>
          <a:xfrm>
            <a:off x="8239125" y="418486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💸</a:t>
            </a:r>
          </a:p>
        </p:txBody>
      </p:sp>
      <p:sp>
        <p:nvSpPr>
          <p:cNvPr id="41" name="h3 · texto"/>
          <p:cNvSpPr txBox="1"/>
          <p:nvPr/>
        </p:nvSpPr>
        <p:spPr>
          <a:xfrm>
            <a:off x="8239125" y="451097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B45A05"/>
                </a:solidFill>
                <a:latin typeface="Segoe UI"/>
              </a:rPr>
              <a:t>Venda que era possível e não saiu</a:t>
            </a:r>
          </a:p>
        </p:txBody>
      </p:sp>
      <p:sp>
        <p:nvSpPr>
          <p:cNvPr id="42" name="p · texto"/>
          <p:cNvSpPr txBox="1"/>
          <p:nvPr/>
        </p:nvSpPr>
        <p:spPr>
          <a:xfrm>
            <a:off x="8239125" y="4788203"/>
            <a:ext cx="3143250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Muita ficha negada só precisava de um pouco mais de entrada. Sem informação, ninguém propôs isso ao cliente.</a:t>
            </a:r>
          </a:p>
        </p:txBody>
      </p:sp>
      <p:sp>
        <p:nvSpPr>
          <p:cNvPr id="43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FDF0E3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O problema nunca foi o cliente ser ruim. O problema é </a:t>
            </a:r>
            <a:r>
              <a:rPr sz="1275" b="1" i="0" lang="pt-BR">
                <a:solidFill>
                  <a:srgbClr val="B45A05"/>
                </a:solidFill>
                <a:latin typeface="Segoe UI"/>
              </a:rPr>
              <a:t>descobrir tarde demais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o que dava para ajustar.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5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2. O que mudou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Agora dá para perguntar aos bancos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antes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 — e a resposta vem na hora, com o cliente ainda sentado na sua frente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h3 · texto"/>
          <p:cNvSpPr txBox="1"/>
          <p:nvPr/>
        </p:nvSpPr>
        <p:spPr>
          <a:xfrm>
            <a:off x="609600" y="2484373"/>
            <a:ext cx="6106418" cy="238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pt-BR">
                <a:solidFill>
                  <a:srgbClr val="00602F"/>
                </a:solidFill>
                <a:latin typeface="Segoe UI"/>
              </a:rPr>
              <a:t>Um botão novo na tela que você já usa</a:t>
            </a:r>
          </a:p>
        </p:txBody>
      </p:sp>
      <p:sp>
        <p:nvSpPr>
          <p:cNvPr id="8" name="Oval 7"/>
          <p:cNvSpPr/>
          <p:nvPr/>
        </p:nvSpPr>
        <p:spPr>
          <a:xfrm>
            <a:off x="628650" y="2923282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li · texto"/>
          <p:cNvSpPr txBox="1"/>
          <p:nvPr/>
        </p:nvSpPr>
        <p:spPr>
          <a:xfrm>
            <a:off x="838200" y="2850686"/>
            <a:ext cx="5877818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Não é sistema novo.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É o mesmo Simulador de Financiamento, com o botão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“Simule com os bancos”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28650" y="3479304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li · texto"/>
          <p:cNvSpPr txBox="1"/>
          <p:nvPr/>
        </p:nvSpPr>
        <p:spPr>
          <a:xfrm>
            <a:off x="838200" y="3406708"/>
            <a:ext cx="5877818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Consulta 5 bancos de uma vez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, com uma pré-análise de verdade, e não um chute.</a:t>
            </a:r>
          </a:p>
        </p:txBody>
      </p:sp>
      <p:sp>
        <p:nvSpPr>
          <p:cNvPr id="12" name="Oval 11"/>
          <p:cNvSpPr/>
          <p:nvPr/>
        </p:nvSpPr>
        <p:spPr>
          <a:xfrm>
            <a:off x="628650" y="3814465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li · texto"/>
          <p:cNvSpPr txBox="1"/>
          <p:nvPr/>
        </p:nvSpPr>
        <p:spPr>
          <a:xfrm>
            <a:off x="838200" y="3741869"/>
            <a:ext cx="5877818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Leva cerca de 1 minuto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e usa os mesmos dados que você já pediria para montar a ficha.</a:t>
            </a:r>
          </a:p>
        </p:txBody>
      </p:sp>
      <p:sp>
        <p:nvSpPr>
          <p:cNvPr id="14" name="Oval 13"/>
          <p:cNvSpPr/>
          <p:nvPr/>
        </p:nvSpPr>
        <p:spPr>
          <a:xfrm>
            <a:off x="628650" y="4370487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li · texto"/>
          <p:cNvSpPr txBox="1"/>
          <p:nvPr/>
        </p:nvSpPr>
        <p:spPr>
          <a:xfrm>
            <a:off x="838200" y="4297891"/>
            <a:ext cx="5877818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Não é ficha.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É uma consulta prévia para você saber o terreno antes de andar nele.</a:t>
            </a:r>
          </a:p>
        </p:txBody>
      </p:sp>
      <p:sp>
        <p:nvSpPr>
          <p:cNvPr id="16" name="banco · fundo"/>
          <p:cNvSpPr/>
          <p:nvPr/>
        </p:nvSpPr>
        <p:spPr>
          <a:xfrm>
            <a:off x="614362" y="4662785"/>
            <a:ext cx="56837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banco · texto"/>
          <p:cNvSpPr txBox="1"/>
          <p:nvPr/>
        </p:nvSpPr>
        <p:spPr>
          <a:xfrm>
            <a:off x="771525" y="4743748"/>
            <a:ext cx="254050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Itaú</a:t>
            </a:r>
          </a:p>
        </p:txBody>
      </p:sp>
      <p:sp>
        <p:nvSpPr>
          <p:cNvPr id="18" name="banco · fundo"/>
          <p:cNvSpPr/>
          <p:nvPr/>
        </p:nvSpPr>
        <p:spPr>
          <a:xfrm>
            <a:off x="1287512" y="4662785"/>
            <a:ext cx="1013073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banco · texto"/>
          <p:cNvSpPr txBox="1"/>
          <p:nvPr/>
        </p:nvSpPr>
        <p:spPr>
          <a:xfrm>
            <a:off x="1444675" y="4743748"/>
            <a:ext cx="698748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Santander</a:t>
            </a:r>
          </a:p>
        </p:txBody>
      </p:sp>
      <p:sp>
        <p:nvSpPr>
          <p:cNvPr id="20" name="banco · fundo"/>
          <p:cNvSpPr/>
          <p:nvPr/>
        </p:nvSpPr>
        <p:spPr>
          <a:xfrm>
            <a:off x="2405360" y="4662785"/>
            <a:ext cx="512862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banco · texto"/>
          <p:cNvSpPr txBox="1"/>
          <p:nvPr/>
        </p:nvSpPr>
        <p:spPr>
          <a:xfrm>
            <a:off x="2562523" y="4743748"/>
            <a:ext cx="198537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BV</a:t>
            </a:r>
          </a:p>
        </p:txBody>
      </p:sp>
      <p:sp>
        <p:nvSpPr>
          <p:cNvPr id="22" name="banco · fundo"/>
          <p:cNvSpPr/>
          <p:nvPr/>
        </p:nvSpPr>
        <p:spPr>
          <a:xfrm>
            <a:off x="3022997" y="4662785"/>
            <a:ext cx="1081832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banco · texto"/>
          <p:cNvSpPr txBox="1"/>
          <p:nvPr/>
        </p:nvSpPr>
        <p:spPr>
          <a:xfrm>
            <a:off x="3180159" y="4743748"/>
            <a:ext cx="767507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Banco PAN</a:t>
            </a:r>
          </a:p>
        </p:txBody>
      </p:sp>
      <p:sp>
        <p:nvSpPr>
          <p:cNvPr id="24" name="banco · fundo"/>
          <p:cNvSpPr/>
          <p:nvPr/>
        </p:nvSpPr>
        <p:spPr>
          <a:xfrm>
            <a:off x="4209604" y="4662785"/>
            <a:ext cx="965597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banco · texto"/>
          <p:cNvSpPr txBox="1"/>
          <p:nvPr/>
        </p:nvSpPr>
        <p:spPr>
          <a:xfrm>
            <a:off x="4366766" y="4743748"/>
            <a:ext cx="65127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Bradesco</a:t>
            </a:r>
          </a:p>
        </p:txBody>
      </p:sp>
      <p:sp>
        <p:nvSpPr>
          <p:cNvPr id="26" name="card · fundo"/>
          <p:cNvSpPr/>
          <p:nvPr/>
        </p:nvSpPr>
        <p:spPr>
          <a:xfrm>
            <a:off x="7058918" y="1720155"/>
            <a:ext cx="4523482" cy="1254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58918" y="1720155"/>
            <a:ext cx="452348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72875" y="1720155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58918" y="2965549"/>
            <a:ext cx="452348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58918" y="1720155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1" name="h3 · texto"/>
          <p:cNvSpPr txBox="1"/>
          <p:nvPr/>
        </p:nvSpPr>
        <p:spPr>
          <a:xfrm>
            <a:off x="7258943" y="2048762"/>
            <a:ext cx="412343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1. Tem chance ou não tem?</a:t>
            </a:r>
          </a:p>
        </p:txBody>
      </p:sp>
      <p:sp>
        <p:nvSpPr>
          <p:cNvPr id="32" name="p · texto"/>
          <p:cNvSpPr txBox="1"/>
          <p:nvPr/>
        </p:nvSpPr>
        <p:spPr>
          <a:xfrm>
            <a:off x="7258943" y="2325991"/>
            <a:ext cx="4123432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O sistema responde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alta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ou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baixa probabilidade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de aprovação para aquele CPF.</a:t>
            </a:r>
          </a:p>
        </p:txBody>
      </p:sp>
      <p:sp>
        <p:nvSpPr>
          <p:cNvPr id="33" name="card · fundo"/>
          <p:cNvSpPr/>
          <p:nvPr/>
        </p:nvSpPr>
        <p:spPr>
          <a:xfrm>
            <a:off x="7058918" y="3108424"/>
            <a:ext cx="4523482" cy="1254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8918" y="3108424"/>
            <a:ext cx="452348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72875" y="3108424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58918" y="4353818"/>
            <a:ext cx="452348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58918" y="3108424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h3 · texto"/>
          <p:cNvSpPr txBox="1"/>
          <p:nvPr/>
        </p:nvSpPr>
        <p:spPr>
          <a:xfrm>
            <a:off x="7258943" y="3437031"/>
            <a:ext cx="412343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2. Quanto de crédito ele tem?</a:t>
            </a:r>
          </a:p>
        </p:txBody>
      </p:sp>
      <p:sp>
        <p:nvSpPr>
          <p:cNvPr id="39" name="p · texto"/>
          <p:cNvSpPr txBox="1"/>
          <p:nvPr/>
        </p:nvSpPr>
        <p:spPr>
          <a:xfrm>
            <a:off x="7258943" y="3714259"/>
            <a:ext cx="4123432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Quando a chance é alta, aparece o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valor de crédito disponível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para o cliente.</a:t>
            </a:r>
          </a:p>
        </p:txBody>
      </p:sp>
      <p:sp>
        <p:nvSpPr>
          <p:cNvPr id="40" name="card · fundo"/>
          <p:cNvSpPr/>
          <p:nvPr/>
        </p:nvSpPr>
        <p:spPr>
          <a:xfrm>
            <a:off x="7058918" y="4496693"/>
            <a:ext cx="4523482" cy="12549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58918" y="4496693"/>
            <a:ext cx="452348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72875" y="4496693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58918" y="5742087"/>
            <a:ext cx="452348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58918" y="4496693"/>
            <a:ext cx="9525" cy="12549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5" name="h3 · texto"/>
          <p:cNvSpPr txBox="1"/>
          <p:nvPr/>
        </p:nvSpPr>
        <p:spPr>
          <a:xfrm>
            <a:off x="7258943" y="4825299"/>
            <a:ext cx="412343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3. O que dá para mudar?</a:t>
            </a:r>
          </a:p>
        </p:txBody>
      </p:sp>
      <p:sp>
        <p:nvSpPr>
          <p:cNvPr id="46" name="p · texto"/>
          <p:cNvSpPr txBox="1"/>
          <p:nvPr/>
        </p:nvSpPr>
        <p:spPr>
          <a:xfrm>
            <a:off x="7258943" y="5102528"/>
            <a:ext cx="4123432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Quando a chance é baixa, o sistema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sugere o ajuste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— normalmente a entrada.</a:t>
            </a:r>
          </a:p>
        </p:txBody>
      </p:sp>
      <p:sp>
        <p:nvSpPr>
          <p:cNvPr id="47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De “mandar ficha e torcer” para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“consultar, ajustar e só então mandar a ficha certa”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6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2. Passo a passo — Passo 1 de 3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Passo 1: na mesma tela de sempre, clique em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“Simule com os bancos”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moldura · fundo"/>
          <p:cNvSpPr/>
          <p:nvPr/>
        </p:nvSpPr>
        <p:spPr>
          <a:xfrm>
            <a:off x="614362" y="1692771"/>
            <a:ext cx="6096893" cy="4086225"/>
          </a:xfrm>
          <a:prstGeom prst="rect">
            <a:avLst/>
          </a:prstGeom>
          <a:solidFill>
            <a:srgbClr val="FFFFFF"/>
          </a:solidFill>
          <a:effectLst>
            <a:outerShdw blurRad="209550" dist="57150" dir="5400000" rotWithShape="0">
              <a:srgbClr val="000000">
                <a:alpha val="10000"/>
              </a:srgbClr>
            </a:outerShdw>
          </a:effectLst>
          <a:ln w="9525">
            <a:solidFill>
              <a:srgbClr val="DCE3DE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pic>
        <p:nvPicPr>
          <p:cNvPr id="8" name="Picture 7" descr="tela_01_71be3c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00" y="1745159"/>
            <a:ext cx="4834618" cy="3981450"/>
          </a:xfrm>
          <a:prstGeom prst="rect">
            <a:avLst/>
          </a:prstGeom>
        </p:spPr>
      </p:pic>
      <p:sp>
        <p:nvSpPr>
          <p:cNvPr id="9" name="h3 · texto"/>
          <p:cNvSpPr txBox="1"/>
          <p:nvPr/>
        </p:nvSpPr>
        <p:spPr>
          <a:xfrm>
            <a:off x="7058918" y="2496874"/>
            <a:ext cx="4523482" cy="238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pt-BR">
                <a:solidFill>
                  <a:srgbClr val="00602F"/>
                </a:solidFill>
                <a:latin typeface="Segoe UI"/>
              </a:rPr>
              <a:t>Onde fica o botão</a:t>
            </a:r>
          </a:p>
        </p:txBody>
      </p:sp>
      <p:sp>
        <p:nvSpPr>
          <p:cNvPr id="10" name="Oval 9"/>
          <p:cNvSpPr/>
          <p:nvPr/>
        </p:nvSpPr>
        <p:spPr>
          <a:xfrm>
            <a:off x="7077968" y="2935784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li · texto"/>
          <p:cNvSpPr txBox="1"/>
          <p:nvPr/>
        </p:nvSpPr>
        <p:spPr>
          <a:xfrm>
            <a:off x="7287518" y="2863188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É o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botão verde no alto da tela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, ao lado de “Comparar veículos”.</a:t>
            </a:r>
          </a:p>
        </p:txBody>
      </p:sp>
      <p:sp>
        <p:nvSpPr>
          <p:cNvPr id="12" name="Oval 11"/>
          <p:cNvSpPr/>
          <p:nvPr/>
        </p:nvSpPr>
        <p:spPr>
          <a:xfrm>
            <a:off x="7077968" y="3491805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li · texto"/>
          <p:cNvSpPr txBox="1"/>
          <p:nvPr/>
        </p:nvSpPr>
        <p:spPr>
          <a:xfrm>
            <a:off x="7287518" y="3419210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Faça isso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antes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de brincar com a entrada e o prazo. Primeiro descobre a chance, depois monta a proposta.</a:t>
            </a:r>
          </a:p>
        </p:txBody>
      </p:sp>
      <p:sp>
        <p:nvSpPr>
          <p:cNvPr id="14" name="Oval 13"/>
          <p:cNvSpPr/>
          <p:nvPr/>
        </p:nvSpPr>
        <p:spPr>
          <a:xfrm>
            <a:off x="7077968" y="4047827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li · texto"/>
          <p:cNvSpPr txBox="1"/>
          <p:nvPr/>
        </p:nvSpPr>
        <p:spPr>
          <a:xfrm>
            <a:off x="7287518" y="3975232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A régua colorida da entrada continua ali: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vermelho é entrada baixa, verde é maior chance de aprovação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16" name="Oval 15"/>
          <p:cNvSpPr/>
          <p:nvPr/>
        </p:nvSpPr>
        <p:spPr>
          <a:xfrm>
            <a:off x="7077968" y="4603849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li · texto"/>
          <p:cNvSpPr txBox="1"/>
          <p:nvPr/>
        </p:nvSpPr>
        <p:spPr>
          <a:xfrm>
            <a:off x="7287518" y="4531253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O botão laranja “Simular” continua fazendo o de sempre —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o que muda o jogo é o botão verde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18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Regra prática: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o botão verde vem antes do botão laranja.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7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2. Passo a passo — Passo 2 de 3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Passo 2: preencha os dados básicos do cliente —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são os mesmos que você já pediria para a ficha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moldura · fundo"/>
          <p:cNvSpPr/>
          <p:nvPr/>
        </p:nvSpPr>
        <p:spPr>
          <a:xfrm>
            <a:off x="614362" y="1721346"/>
            <a:ext cx="6096893" cy="1990725"/>
          </a:xfrm>
          <a:prstGeom prst="rect">
            <a:avLst/>
          </a:prstGeom>
          <a:solidFill>
            <a:srgbClr val="FFFFFF"/>
          </a:solidFill>
          <a:effectLst>
            <a:outerShdw blurRad="209550" dist="57150" dir="5400000" rotWithShape="0">
              <a:srgbClr val="000000">
                <a:alpha val="10000"/>
              </a:srgbClr>
            </a:outerShdw>
          </a:effectLst>
          <a:ln w="9525">
            <a:solidFill>
              <a:srgbClr val="DCE3DE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pic>
        <p:nvPicPr>
          <p:cNvPr id="8" name="Picture 7" descr="tela_02_0d7971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41" y="1764209"/>
            <a:ext cx="5832136" cy="1905000"/>
          </a:xfrm>
          <a:prstGeom prst="rect">
            <a:avLst/>
          </a:prstGeom>
        </p:spPr>
      </p:pic>
      <p:sp>
        <p:nvSpPr>
          <p:cNvPr id="9" name="moldura · fundo"/>
          <p:cNvSpPr/>
          <p:nvPr/>
        </p:nvSpPr>
        <p:spPr>
          <a:xfrm>
            <a:off x="614362" y="3854946"/>
            <a:ext cx="6096893" cy="1895475"/>
          </a:xfrm>
          <a:prstGeom prst="rect">
            <a:avLst/>
          </a:prstGeom>
          <a:solidFill>
            <a:srgbClr val="FFFFFF"/>
          </a:solidFill>
          <a:effectLst>
            <a:outerShdw blurRad="209550" dist="57150" dir="5400000" rotWithShape="0">
              <a:srgbClr val="000000">
                <a:alpha val="10000"/>
              </a:srgbClr>
            </a:outerShdw>
          </a:effectLst>
          <a:ln w="9525">
            <a:solidFill>
              <a:srgbClr val="DCE3DE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pic>
        <p:nvPicPr>
          <p:cNvPr id="10" name="Picture 9" descr="tela_03_f3f71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4" y="3897809"/>
            <a:ext cx="3325609" cy="1809750"/>
          </a:xfrm>
          <a:prstGeom prst="rect">
            <a:avLst/>
          </a:prstGeom>
        </p:spPr>
      </p:pic>
      <p:sp>
        <p:nvSpPr>
          <p:cNvPr id="11" name="h3 · texto"/>
          <p:cNvSpPr txBox="1"/>
          <p:nvPr/>
        </p:nvSpPr>
        <p:spPr>
          <a:xfrm>
            <a:off x="7058918" y="2209636"/>
            <a:ext cx="4523482" cy="238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pt-BR">
                <a:solidFill>
                  <a:srgbClr val="00602F"/>
                </a:solidFill>
                <a:latin typeface="Segoe UI"/>
              </a:rPr>
              <a:t>O que pedir ao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918" y="2572734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3" name="li · texto"/>
          <p:cNvSpPr txBox="1"/>
          <p:nvPr/>
        </p:nvSpPr>
        <p:spPr>
          <a:xfrm>
            <a:off x="7287518" y="2575950"/>
            <a:ext cx="429488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Placa e CPF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já vêm preenchidos da tela anterior.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918" y="2907895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5" name="li · texto"/>
          <p:cNvSpPr txBox="1"/>
          <p:nvPr/>
        </p:nvSpPr>
        <p:spPr>
          <a:xfrm>
            <a:off x="7287518" y="2911111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Você digita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data de nascimento, celular, e-mail, se tem CNH e o sexo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918" y="3463917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7" name="li · texto"/>
          <p:cNvSpPr txBox="1"/>
          <p:nvPr/>
        </p:nvSpPr>
        <p:spPr>
          <a:xfrm>
            <a:off x="7287518" y="3467132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Confira o CPF com calma: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CPF errado joga fora a consulta inteira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918" y="4019939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9" name="li · texto"/>
          <p:cNvSpPr txBox="1"/>
          <p:nvPr/>
        </p:nvSpPr>
        <p:spPr>
          <a:xfrm>
            <a:off x="7287518" y="4023154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Clique e aguarde: o sistema envia para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Itaú, Santander, BV, PAN e Bradesco ao mesmo tempo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.</a:t>
            </a:r>
          </a:p>
        </p:txBody>
      </p:sp>
      <p:sp>
        <p:nvSpPr>
          <p:cNvPr id="20" name="p · texto"/>
          <p:cNvSpPr txBox="1"/>
          <p:nvPr/>
        </p:nvSpPr>
        <p:spPr>
          <a:xfrm>
            <a:off x="7058918" y="4602763"/>
            <a:ext cx="4523482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lang="pt-BR">
                <a:solidFill>
                  <a:srgbClr val="4A5A52"/>
                </a:solidFill>
                <a:latin typeface="Segoe UI"/>
              </a:rPr>
              <a:t>Fale isso para o cliente enquanto preenche: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“São os mesmos dados da ficha. A diferença é que agora a resposta vem na hora, e não daqui a pouco.”</a:t>
            </a:r>
          </a:p>
        </p:txBody>
      </p:sp>
      <p:sp>
        <p:nvSpPr>
          <p:cNvPr id="21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Nada de dado novo, nada de papel a mais.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É o mesmo esforço, só que na ordem certa.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8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2. Passo a passo — Passo 3 de 3 (resultado A)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Sinal amarelo: “baixa probabilidade”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não quer dizer “não”. Quer dizer “assim não”.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pill · fundo"/>
          <p:cNvSpPr/>
          <p:nvPr/>
        </p:nvSpPr>
        <p:spPr>
          <a:xfrm>
            <a:off x="609600" y="2313533"/>
            <a:ext cx="1863923" cy="238125"/>
          </a:xfrm>
          <a:prstGeom prst="rect">
            <a:avLst/>
          </a:prstGeom>
          <a:solidFill>
            <a:srgbClr val="FDF0E3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pill · texto"/>
          <p:cNvSpPr txBox="1"/>
          <p:nvPr/>
        </p:nvSpPr>
        <p:spPr>
          <a:xfrm>
            <a:off x="723900" y="2361158"/>
            <a:ext cx="1635323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78" cap="all">
                <a:solidFill>
                  <a:srgbClr val="B45A05"/>
                </a:solidFill>
                <a:latin typeface="Segoe UI"/>
              </a:rPr>
              <a:t>Baixa probabilidade</a:t>
            </a:r>
          </a:p>
        </p:txBody>
      </p:sp>
      <p:sp>
        <p:nvSpPr>
          <p:cNvPr id="9" name="h3 · texto"/>
          <p:cNvSpPr txBox="1"/>
          <p:nvPr/>
        </p:nvSpPr>
        <p:spPr>
          <a:xfrm>
            <a:off x="609600" y="2669962"/>
            <a:ext cx="4523333" cy="238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pt-BR">
                <a:solidFill>
                  <a:srgbClr val="00602F"/>
                </a:solidFill>
                <a:latin typeface="Segoe UI"/>
              </a:rPr>
              <a:t>Você acabou de ganhar 3 alavancas</a:t>
            </a:r>
          </a:p>
        </p:txBody>
      </p:sp>
      <p:sp>
        <p:nvSpPr>
          <p:cNvPr id="10" name="Oval 9"/>
          <p:cNvSpPr/>
          <p:nvPr/>
        </p:nvSpPr>
        <p:spPr>
          <a:xfrm>
            <a:off x="628650" y="3108871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li · texto"/>
          <p:cNvSpPr txBox="1"/>
          <p:nvPr/>
        </p:nvSpPr>
        <p:spPr>
          <a:xfrm>
            <a:off x="838200" y="3036275"/>
            <a:ext cx="4294733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Aumentar a entrada.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É o ajuste que mais muda o resultado — a régua verde da tela mostra a faixa boa.</a:t>
            </a:r>
          </a:p>
        </p:txBody>
      </p:sp>
      <p:sp>
        <p:nvSpPr>
          <p:cNvPr id="12" name="Oval 11"/>
          <p:cNvSpPr/>
          <p:nvPr/>
        </p:nvSpPr>
        <p:spPr>
          <a:xfrm>
            <a:off x="628650" y="3664893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li · texto"/>
          <p:cNvSpPr txBox="1"/>
          <p:nvPr/>
        </p:nvSpPr>
        <p:spPr>
          <a:xfrm>
            <a:off x="838200" y="3592297"/>
            <a:ext cx="4294733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Trocar o CPF.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Cônjuge, familiar, sócio ou a empresa do cliente podem ter um perfil melhor.</a:t>
            </a:r>
          </a:p>
        </p:txBody>
      </p:sp>
      <p:sp>
        <p:nvSpPr>
          <p:cNvPr id="14" name="Oval 13"/>
          <p:cNvSpPr/>
          <p:nvPr/>
        </p:nvSpPr>
        <p:spPr>
          <a:xfrm>
            <a:off x="628650" y="4220914"/>
            <a:ext cx="85725" cy="85725"/>
          </a:xfrm>
          <a:prstGeom prst="ellipse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li · texto"/>
          <p:cNvSpPr txBox="1"/>
          <p:nvPr/>
        </p:nvSpPr>
        <p:spPr>
          <a:xfrm>
            <a:off x="838200" y="4148319"/>
            <a:ext cx="4294733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Mudar o carro.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Um veículo de valor menor pede menos crédito e cabe no que o banco aceita.</a:t>
            </a:r>
          </a:p>
        </p:txBody>
      </p:sp>
      <p:sp>
        <p:nvSpPr>
          <p:cNvPr id="16" name="p · texto"/>
          <p:cNvSpPr txBox="1"/>
          <p:nvPr/>
        </p:nvSpPr>
        <p:spPr>
          <a:xfrm>
            <a:off x="609600" y="4708878"/>
            <a:ext cx="4523333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Ajustou?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Simule de novo ali mesmo, com o cliente do lado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, até chegar ao sinal verde.</a:t>
            </a:r>
          </a:p>
        </p:txBody>
      </p:sp>
      <p:sp>
        <p:nvSpPr>
          <p:cNvPr id="17" name="moldura · fundo"/>
          <p:cNvSpPr/>
          <p:nvPr/>
        </p:nvSpPr>
        <p:spPr>
          <a:xfrm>
            <a:off x="5480596" y="2668191"/>
            <a:ext cx="6097042" cy="2135088"/>
          </a:xfrm>
          <a:prstGeom prst="rect">
            <a:avLst/>
          </a:prstGeom>
          <a:solidFill>
            <a:srgbClr val="FFFFFF"/>
          </a:solidFill>
          <a:effectLst>
            <a:outerShdw blurRad="209550" dist="57150" dir="5400000" rotWithShape="0">
              <a:srgbClr val="000000">
                <a:alpha val="10000"/>
              </a:srgbClr>
            </a:outerShdw>
          </a:effectLst>
          <a:ln w="9525">
            <a:solidFill>
              <a:srgbClr val="DCE3DE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pic>
        <p:nvPicPr>
          <p:cNvPr id="18" name="Picture 17" descr="tela_04_6e0039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619" y="2730103"/>
            <a:ext cx="5972996" cy="2011263"/>
          </a:xfrm>
          <a:prstGeom prst="rect">
            <a:avLst/>
          </a:prstGeom>
        </p:spPr>
      </p:pic>
      <p:sp>
        <p:nvSpPr>
          <p:cNvPr id="19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FDF0E3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Antes você dizia “foi negado”. Agora você diz: </a:t>
            </a:r>
            <a:r>
              <a:rPr sz="1275" b="1" i="0" lang="pt-BR">
                <a:solidFill>
                  <a:srgbClr val="B45A05"/>
                </a:solidFill>
                <a:latin typeface="Segoe UI"/>
              </a:rPr>
              <a:t>“desse jeito não passa — mas com R$ X de entrada passa”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9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2. Passo a passo — Passo 3 de 3 (resultado B)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Sinal verde: além do “provável”, o sistema entrega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o valor de crédito do cliente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moldura · fundo"/>
          <p:cNvSpPr/>
          <p:nvPr/>
        </p:nvSpPr>
        <p:spPr>
          <a:xfrm>
            <a:off x="614362" y="1890266"/>
            <a:ext cx="6096893" cy="3691086"/>
          </a:xfrm>
          <a:prstGeom prst="rect">
            <a:avLst/>
          </a:prstGeom>
          <a:solidFill>
            <a:srgbClr val="FFFFFF"/>
          </a:solidFill>
          <a:effectLst>
            <a:outerShdw blurRad="209550" dist="57150" dir="5400000" rotWithShape="0">
              <a:srgbClr val="000000">
                <a:alpha val="10000"/>
              </a:srgbClr>
            </a:outerShdw>
          </a:effectLst>
          <a:ln w="9525">
            <a:solidFill>
              <a:srgbClr val="DCE3DE"/>
            </a:solidFill>
          </a:ln>
        </p:spPr>
        <p:txBody>
          <a:bodyPr rtlCol="0" anchor="ctr" lIns="0" rIns="0" tIns="0" bIns="0" wrap="square"/>
          <a:lstStyle/>
          <a:p>
            <a:pPr algn="ctr"/>
          </a:p>
        </p:txBody>
      </p:sp>
      <p:pic>
        <p:nvPicPr>
          <p:cNvPr id="8" name="Picture 7" descr="tela_05_2f714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84" y="1952179"/>
            <a:ext cx="5972850" cy="3567261"/>
          </a:xfrm>
          <a:prstGeom prst="rect">
            <a:avLst/>
          </a:prstGeom>
        </p:spPr>
      </p:pic>
      <p:sp>
        <p:nvSpPr>
          <p:cNvPr id="9" name="pill · fundo"/>
          <p:cNvSpPr/>
          <p:nvPr/>
        </p:nvSpPr>
        <p:spPr>
          <a:xfrm>
            <a:off x="7058918" y="2313533"/>
            <a:ext cx="1780431" cy="23812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pill · texto"/>
          <p:cNvSpPr txBox="1"/>
          <p:nvPr/>
        </p:nvSpPr>
        <p:spPr>
          <a:xfrm>
            <a:off x="7173218" y="2361158"/>
            <a:ext cx="1551831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78" cap="all">
                <a:solidFill>
                  <a:srgbClr val="00602F"/>
                </a:solidFill>
                <a:latin typeface="Segoe UI"/>
              </a:rPr>
              <a:t>Alta probabilidade</a:t>
            </a:r>
          </a:p>
        </p:txBody>
      </p:sp>
      <p:sp>
        <p:nvSpPr>
          <p:cNvPr id="11" name="h3 · texto"/>
          <p:cNvSpPr txBox="1"/>
          <p:nvPr/>
        </p:nvSpPr>
        <p:spPr>
          <a:xfrm>
            <a:off x="7058918" y="2669962"/>
            <a:ext cx="4523482" cy="2381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062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lang="pt-BR">
                <a:solidFill>
                  <a:srgbClr val="00602F"/>
                </a:solidFill>
                <a:latin typeface="Segoe UI"/>
              </a:rPr>
              <a:t>Três informações que valem ouro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8918" y="3033059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3" name="li · texto"/>
          <p:cNvSpPr txBox="1"/>
          <p:nvPr/>
        </p:nvSpPr>
        <p:spPr>
          <a:xfrm>
            <a:off x="7287518" y="3036275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Chance alta de aprovação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para aquele CPF — pode seguir com segurança.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918" y="3589081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5" name="li · texto"/>
          <p:cNvSpPr txBox="1"/>
          <p:nvPr/>
        </p:nvSpPr>
        <p:spPr>
          <a:xfrm>
            <a:off x="7287518" y="3592297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O valor de crédito disponível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(no exemplo, R$ 65.000). Esse é o tamanho do bolso do cliente.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918" y="4145103"/>
            <a:ext cx="123825" cy="2208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6CC24A"/>
                </a:solidFill>
                <a:latin typeface="Segoe UI"/>
              </a:rPr>
              <a:t>✓</a:t>
            </a:r>
          </a:p>
        </p:txBody>
      </p:sp>
      <p:sp>
        <p:nvSpPr>
          <p:cNvPr id="17" name="li · texto"/>
          <p:cNvSpPr txBox="1"/>
          <p:nvPr/>
        </p:nvSpPr>
        <p:spPr>
          <a:xfrm>
            <a:off x="7287518" y="4148319"/>
            <a:ext cx="4294882" cy="3827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A melhor faixa de entrada e as opções de parcela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— 12x a 60x, com a entrada mínima de cada uma.</a:t>
            </a:r>
          </a:p>
        </p:txBody>
      </p:sp>
      <p:sp>
        <p:nvSpPr>
          <p:cNvPr id="18" name="p · texto"/>
          <p:cNvSpPr txBox="1"/>
          <p:nvPr/>
        </p:nvSpPr>
        <p:spPr>
          <a:xfrm>
            <a:off x="7058918" y="4708878"/>
            <a:ext cx="4523482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Ao clicar na parcela, você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confirma o valor exato que o banco retornou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 e leva isso direto para a proposta.</a:t>
            </a:r>
          </a:p>
        </p:txBody>
      </p:sp>
      <p:sp>
        <p:nvSpPr>
          <p:cNvPr id="19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O sistema não diz só “pode”. Ele diz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“pode até aqui”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— e é com esse número que você negocia.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10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3. Como usar para vender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A maior mudança não é na tela: é você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vender a partir do crédito do cliente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, e não do carro que ele apontou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caso · fundo"/>
          <p:cNvSpPr/>
          <p:nvPr/>
        </p:nvSpPr>
        <p:spPr>
          <a:xfrm>
            <a:off x="614362" y="1959620"/>
            <a:ext cx="10963275" cy="252412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h4 · texto"/>
          <p:cNvSpPr txBox="1"/>
          <p:nvPr/>
        </p:nvSpPr>
        <p:spPr>
          <a:xfrm>
            <a:off x="828675" y="2173932"/>
            <a:ext cx="3232100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8A968F"/>
                </a:solidFill>
                <a:latin typeface="Segoe UI"/>
              </a:rPr>
              <a:t>Como era</a:t>
            </a:r>
          </a:p>
        </p:txBody>
      </p:sp>
      <p:sp>
        <p:nvSpPr>
          <p:cNvPr id="9" name="p · texto"/>
          <p:cNvSpPr txBox="1"/>
          <p:nvPr/>
        </p:nvSpPr>
        <p:spPr>
          <a:xfrm>
            <a:off x="828675" y="2427092"/>
            <a:ext cx="3232100" cy="1304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Cliente: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“Quero esse aí de R$ 79.990.”</a:t>
            </a:r>
            <a:br/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Você: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“Vou mandar a ficha e a gente vê.”</a:t>
            </a:r>
            <a:br/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Ficha 1: negado. Ficha 2: negado.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Uma hora de atendimento e nenhuma venda.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0325" y="1964382"/>
            <a:ext cx="9525" cy="25146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h4 · texto"/>
          <p:cNvSpPr txBox="1"/>
          <p:nvPr/>
        </p:nvSpPr>
        <p:spPr>
          <a:xfrm>
            <a:off x="4489400" y="2173932"/>
            <a:ext cx="3222575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8A968F"/>
                </a:solidFill>
                <a:latin typeface="Segoe UI"/>
              </a:rPr>
              <a:t>Como fica</a:t>
            </a:r>
          </a:p>
        </p:txBody>
      </p:sp>
      <p:sp>
        <p:nvSpPr>
          <p:cNvPr id="12" name="p · texto"/>
          <p:cNvSpPr txBox="1"/>
          <p:nvPr/>
        </p:nvSpPr>
        <p:spPr>
          <a:xfrm>
            <a:off x="4489400" y="2427092"/>
            <a:ext cx="3222575" cy="1304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pt-BR">
                <a:solidFill>
                  <a:srgbClr val="4A5A52"/>
                </a:solidFill>
                <a:latin typeface="Segoe UI"/>
              </a:rPr>
              <a:t>Você simula em 1 minuto e vê:</a:t>
            </a:r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crédito disponível de R$ 65.000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, com entrada mínima de R$ 10.000 no plano de 12x.</a:t>
            </a:r>
            <a:br/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Agora você sabe exatamente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o tamanho da conversa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antes de abrir a boca.</a:t>
            </a:r>
          </a:p>
        </p:txBody>
      </p:sp>
      <p:sp>
        <p:nvSpPr>
          <p:cNvPr id="13" name="col · fundo"/>
          <p:cNvSpPr/>
          <p:nvPr/>
        </p:nvSpPr>
        <p:spPr>
          <a:xfrm>
            <a:off x="7921526" y="1964382"/>
            <a:ext cx="3651349" cy="2514600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1526" y="1964382"/>
            <a:ext cx="9525" cy="2514600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h4 · texto"/>
          <p:cNvSpPr txBox="1"/>
          <p:nvPr/>
        </p:nvSpPr>
        <p:spPr>
          <a:xfrm>
            <a:off x="8140601" y="2173932"/>
            <a:ext cx="3222724" cy="1524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 lang="pt-BR" spc="84" cap="all">
                <a:solidFill>
                  <a:srgbClr val="00602F"/>
                </a:solidFill>
                <a:latin typeface="Segoe UI"/>
              </a:rPr>
              <a:t>O que você faz com isso</a:t>
            </a:r>
          </a:p>
        </p:txBody>
      </p:sp>
      <p:sp>
        <p:nvSpPr>
          <p:cNvPr id="16" name="p · texto"/>
          <p:cNvSpPr txBox="1"/>
          <p:nvPr/>
        </p:nvSpPr>
        <p:spPr>
          <a:xfrm>
            <a:off x="8140601" y="2427092"/>
            <a:ext cx="3222724" cy="1762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Caminho 1: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mantém o carro e sobe a entrada até a faixa verde.</a:t>
            </a:r>
            <a:br/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Caminho 2:</a:t>
            </a:r>
            <a:r>
              <a:rPr sz="1200" b="0" i="0" lang="pt-BR">
                <a:solidFill>
                  <a:srgbClr val="4A5A52"/>
                </a:solidFill>
                <a:latin typeface="Segoe UI"/>
              </a:rPr>
              <a:t> leva o cliente a um carro que cabe nos R$ 65.000 — e fecha hoje.</a:t>
            </a:r>
            <a:br/>
            <a:br/>
            <a:r>
              <a:rPr sz="1200" b="0" i="0" lang="pt-BR">
                <a:solidFill>
                  <a:srgbClr val="4A5A52"/>
                </a:solidFill>
                <a:latin typeface="Segoe UI"/>
              </a:rPr>
              <a:t> </a:t>
            </a:r>
            <a:r>
              <a:rPr sz="1200" b="1" i="0" lang="pt-BR">
                <a:solidFill>
                  <a:srgbClr val="16211B"/>
                </a:solidFill>
                <a:latin typeface="Segoe UI"/>
              </a:rPr>
              <a:t>Nos dois, a venda acontece no mesmo atendimento.</a:t>
            </a:r>
          </a:p>
        </p:txBody>
      </p:sp>
      <p:sp>
        <p:nvSpPr>
          <p:cNvPr id="17" name="card · fundo"/>
          <p:cNvSpPr/>
          <p:nvPr/>
        </p:nvSpPr>
        <p:spPr>
          <a:xfrm>
            <a:off x="609600" y="4698057"/>
            <a:ext cx="3543300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698057"/>
            <a:ext cx="3543300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3375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6210151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ic · texto"/>
          <p:cNvSpPr txBox="1"/>
          <p:nvPr/>
        </p:nvSpPr>
        <p:spPr>
          <a:xfrm>
            <a:off x="809625" y="496725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🎯</a:t>
            </a:r>
          </a:p>
        </p:txBody>
      </p:sp>
      <p:sp>
        <p:nvSpPr>
          <p:cNvPr id="23" name="h3 · texto"/>
          <p:cNvSpPr txBox="1"/>
          <p:nvPr/>
        </p:nvSpPr>
        <p:spPr>
          <a:xfrm>
            <a:off x="809625" y="529336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Mostre o carro certo</a:t>
            </a:r>
          </a:p>
        </p:txBody>
      </p:sp>
      <p:sp>
        <p:nvSpPr>
          <p:cNvPr id="24" name="p · texto"/>
          <p:cNvSpPr txBox="1"/>
          <p:nvPr/>
        </p:nvSpPr>
        <p:spPr>
          <a:xfrm>
            <a:off x="809625" y="5570593"/>
            <a:ext cx="3143250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Com o crédito na mão, você para de mostrar veículo que o banco nunca ia financiar.</a:t>
            </a:r>
          </a:p>
        </p:txBody>
      </p:sp>
      <p:sp>
        <p:nvSpPr>
          <p:cNvPr id="25" name="card · fundo"/>
          <p:cNvSpPr/>
          <p:nvPr/>
        </p:nvSpPr>
        <p:spPr>
          <a:xfrm>
            <a:off x="4324350" y="4698057"/>
            <a:ext cx="3543300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4350" y="4698057"/>
            <a:ext cx="3543300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58125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4350" y="6210151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4350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ic · texto"/>
          <p:cNvSpPr txBox="1"/>
          <p:nvPr/>
        </p:nvSpPr>
        <p:spPr>
          <a:xfrm>
            <a:off x="4524375" y="496725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🗣️</a:t>
            </a:r>
          </a:p>
        </p:txBody>
      </p:sp>
      <p:sp>
        <p:nvSpPr>
          <p:cNvPr id="31" name="h3 · texto"/>
          <p:cNvSpPr txBox="1"/>
          <p:nvPr/>
        </p:nvSpPr>
        <p:spPr>
          <a:xfrm>
            <a:off x="4524375" y="529336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Negocie com número</a:t>
            </a:r>
          </a:p>
        </p:txBody>
      </p:sp>
      <p:sp>
        <p:nvSpPr>
          <p:cNvPr id="32" name="p · texto"/>
          <p:cNvSpPr txBox="1"/>
          <p:nvPr/>
        </p:nvSpPr>
        <p:spPr>
          <a:xfrm>
            <a:off x="4524375" y="5570593"/>
            <a:ext cx="3143250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“O banco liberou R$ 65 mil” é muito mais forte do que “acho que dá”.</a:t>
            </a:r>
          </a:p>
        </p:txBody>
      </p:sp>
      <p:sp>
        <p:nvSpPr>
          <p:cNvPr id="33" name="card · fundo"/>
          <p:cNvSpPr/>
          <p:nvPr/>
        </p:nvSpPr>
        <p:spPr>
          <a:xfrm>
            <a:off x="8039100" y="4698057"/>
            <a:ext cx="3543300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39100" y="4698057"/>
            <a:ext cx="3543300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72875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39100" y="6210151"/>
            <a:ext cx="354330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39100" y="4698057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8" name="ic · texto"/>
          <p:cNvSpPr txBox="1"/>
          <p:nvPr/>
        </p:nvSpPr>
        <p:spPr>
          <a:xfrm>
            <a:off x="8239125" y="4967255"/>
            <a:ext cx="3143250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⚡</a:t>
            </a:r>
          </a:p>
        </p:txBody>
      </p:sp>
      <p:sp>
        <p:nvSpPr>
          <p:cNvPr id="39" name="h3 · texto"/>
          <p:cNvSpPr txBox="1"/>
          <p:nvPr/>
        </p:nvSpPr>
        <p:spPr>
          <a:xfrm>
            <a:off x="8239125" y="5293364"/>
            <a:ext cx="314325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Feche na hora</a:t>
            </a:r>
          </a:p>
        </p:txBody>
      </p:sp>
      <p:sp>
        <p:nvSpPr>
          <p:cNvPr id="40" name="p · texto"/>
          <p:cNvSpPr txBox="1"/>
          <p:nvPr/>
        </p:nvSpPr>
        <p:spPr>
          <a:xfrm>
            <a:off x="8239125" y="5570593"/>
            <a:ext cx="3143250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O cliente decide enquanto está quente, sem “depois eu te ligo”.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11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3. Como usar para vender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361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O mesmo atendimento, com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outra ordem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 — e outra conversa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286917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86917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A ficha deixa de ser o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teste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e passa a ser a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confirmação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de algo que você já sabe.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9600" y="2058888"/>
          <a:ext cx="10972800" cy="296703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33365"/>
                <a:gridCol w="3380184"/>
                <a:gridCol w="4959251"/>
              </a:tblGrid>
              <a:tr h="395288">
                <a:tc>
                  <a:txBody>
                    <a:bodyPr wrap="square"/>
                    <a:lstStyle/>
                    <a:p>
                      <a:pPr algn="l"/>
                      <a:r>
                        <a:rPr sz="975" b="1" i="0" lang="pt-BR" spc="98" cap="all">
                          <a:solidFill>
                            <a:srgbClr val="FFFFFF"/>
                          </a:solidFill>
                          <a:latin typeface="Segoe UI"/>
                        </a:rPr>
                        <a:t>No atendimento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0060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 i="0" lang="pt-BR" spc="98" cap="all">
                          <a:solidFill>
                            <a:srgbClr val="FFFFFF"/>
                          </a:solidFill>
                          <a:latin typeface="Segoe UI"/>
                        </a:rPr>
                        <a:t>Como era antes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8A96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75" b="1" i="0" lang="pt-BR" spc="98" cap="all">
                          <a:solidFill>
                            <a:srgbClr val="FFFFFF"/>
                          </a:solidFill>
                          <a:latin typeface="Segoe UI"/>
                        </a:rPr>
                        <a:t>Como fica com o simulador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00602F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Primeira informação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Um valor aproximado de parcela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Chance de aprovação e valor de crédito do cliente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Quando você descobre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Depois de mandar a ficha e esperar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Em cerca de 1 minuto, com o cliente na sua frente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Se der problema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“Negado”, sem saber o motivo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“Baixa probabilidade” + a sugestão do que ajustar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Ajuste de entrada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No chute, uma ficha por tentativa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Na hora, quantas vezes precisar, sem mandar ficha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Escolha do carro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O cliente aponta e você torce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Você mostra o que cabe no crédito aprovado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  <a:tr h="428625"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Ficha enviada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0" i="0" lang="pt-BR">
                          <a:solidFill>
                            <a:srgbClr val="4A5A52"/>
                          </a:solidFill>
                          <a:latin typeface="Segoe UI"/>
                        </a:rPr>
                        <a:t>Várias, no escuro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F5F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62" b="1" i="0" lang="pt-BR">
                          <a:solidFill>
                            <a:srgbClr val="16211B"/>
                          </a:solidFill>
                          <a:latin typeface="Segoe UI"/>
                        </a:rPr>
                        <a:t>Uma, já com as condições certas</a:t>
                      </a:r>
                    </a:p>
                  </a:txBody>
                  <a:tcPr marL="152400" marR="152400" marT="123825" marB="123825" anchor="t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DCE3DE"/>
                      </a:solidFill>
                    </a:lnT>
                    <a:lnB w="9525" cap="flat" cmpd="sng" algn="ctr">
                      <a:solidFill>
                        <a:srgbClr val="DCE3DE"/>
                      </a:solidFill>
                    </a:lnB>
                    <a:solidFill>
                      <a:srgbClr val="E8F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12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3. Como usar para vender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361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O que isso muda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para você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, na prática, no fim do dia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286917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86917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card · fundo"/>
          <p:cNvSpPr/>
          <p:nvPr/>
        </p:nvSpPr>
        <p:spPr>
          <a:xfrm>
            <a:off x="609600" y="2162621"/>
            <a:ext cx="2614612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162621"/>
            <a:ext cx="261461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14688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889028"/>
            <a:ext cx="261461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ic · texto"/>
          <p:cNvSpPr txBox="1"/>
          <p:nvPr/>
        </p:nvSpPr>
        <p:spPr>
          <a:xfrm>
            <a:off x="809625" y="2431819"/>
            <a:ext cx="2214562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⏱️</a:t>
            </a:r>
          </a:p>
        </p:txBody>
      </p:sp>
      <p:sp>
        <p:nvSpPr>
          <p:cNvPr id="13" name="h3 · texto"/>
          <p:cNvSpPr txBox="1"/>
          <p:nvPr/>
        </p:nvSpPr>
        <p:spPr>
          <a:xfrm>
            <a:off x="809625" y="2757928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Menos tempo por cliente</a:t>
            </a:r>
          </a:p>
        </p:txBody>
      </p:sp>
      <p:sp>
        <p:nvSpPr>
          <p:cNvPr id="14" name="p · texto"/>
          <p:cNvSpPr txBox="1"/>
          <p:nvPr/>
        </p:nvSpPr>
        <p:spPr>
          <a:xfrm>
            <a:off x="809625" y="3035157"/>
            <a:ext cx="2214562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Uma consulta de 1 minuto no lugar de várias rodadas de ficha e espera.</a:t>
            </a:r>
          </a:p>
        </p:txBody>
      </p:sp>
      <p:sp>
        <p:nvSpPr>
          <p:cNvPr id="15" name="card · fundo"/>
          <p:cNvSpPr/>
          <p:nvPr/>
        </p:nvSpPr>
        <p:spPr>
          <a:xfrm>
            <a:off x="3395662" y="2162621"/>
            <a:ext cx="2614612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662" y="2162621"/>
            <a:ext cx="261461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00750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5662" y="3889028"/>
            <a:ext cx="261461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95662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ic · texto"/>
          <p:cNvSpPr txBox="1"/>
          <p:nvPr/>
        </p:nvSpPr>
        <p:spPr>
          <a:xfrm>
            <a:off x="3595688" y="2431819"/>
            <a:ext cx="2214562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👥</a:t>
            </a:r>
          </a:p>
        </p:txBody>
      </p:sp>
      <p:sp>
        <p:nvSpPr>
          <p:cNvPr id="21" name="h3 · texto"/>
          <p:cNvSpPr txBox="1"/>
          <p:nvPr/>
        </p:nvSpPr>
        <p:spPr>
          <a:xfrm>
            <a:off x="3595688" y="2757928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Mais gente atendida</a:t>
            </a:r>
          </a:p>
        </p:txBody>
      </p:sp>
      <p:sp>
        <p:nvSpPr>
          <p:cNvPr id="22" name="p · texto"/>
          <p:cNvSpPr txBox="1"/>
          <p:nvPr/>
        </p:nvSpPr>
        <p:spPr>
          <a:xfrm>
            <a:off x="3595688" y="3035157"/>
            <a:ext cx="2214562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Tempo que sobra é tempo para o próximo cliente da loja — e para o próximo carro.</a:t>
            </a:r>
          </a:p>
        </p:txBody>
      </p:sp>
      <p:sp>
        <p:nvSpPr>
          <p:cNvPr id="23" name="card · fundo"/>
          <p:cNvSpPr/>
          <p:nvPr/>
        </p:nvSpPr>
        <p:spPr>
          <a:xfrm>
            <a:off x="6181725" y="2162621"/>
            <a:ext cx="2614612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1725" y="2162621"/>
            <a:ext cx="261461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86812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1725" y="3889028"/>
            <a:ext cx="261461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ic · texto"/>
          <p:cNvSpPr txBox="1"/>
          <p:nvPr/>
        </p:nvSpPr>
        <p:spPr>
          <a:xfrm>
            <a:off x="6381750" y="2431819"/>
            <a:ext cx="2214562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✅</a:t>
            </a:r>
          </a:p>
        </p:txBody>
      </p:sp>
      <p:sp>
        <p:nvSpPr>
          <p:cNvPr id="29" name="h3 · texto"/>
          <p:cNvSpPr txBox="1"/>
          <p:nvPr/>
        </p:nvSpPr>
        <p:spPr>
          <a:xfrm>
            <a:off x="6381750" y="2757928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Menos “não” na sua cara</a:t>
            </a:r>
          </a:p>
        </p:txBody>
      </p:sp>
      <p:sp>
        <p:nvSpPr>
          <p:cNvPr id="30" name="p · texto"/>
          <p:cNvSpPr txBox="1"/>
          <p:nvPr/>
        </p:nvSpPr>
        <p:spPr>
          <a:xfrm>
            <a:off x="6381750" y="3035157"/>
            <a:ext cx="2214562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Você só manda ficha quando a chance já é boa. Menos recusa, menos desgaste.</a:t>
            </a:r>
          </a:p>
        </p:txBody>
      </p:sp>
      <p:sp>
        <p:nvSpPr>
          <p:cNvPr id="31" name="card · fundo"/>
          <p:cNvSpPr/>
          <p:nvPr/>
        </p:nvSpPr>
        <p:spPr>
          <a:xfrm>
            <a:off x="8967788" y="2162621"/>
            <a:ext cx="2614612" cy="17359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7788" y="2162621"/>
            <a:ext cx="2614612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72875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7788" y="3889028"/>
            <a:ext cx="2614612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67788" y="2162621"/>
            <a:ext cx="9525" cy="1735931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ic · texto"/>
          <p:cNvSpPr txBox="1"/>
          <p:nvPr/>
        </p:nvSpPr>
        <p:spPr>
          <a:xfrm>
            <a:off x="9167812" y="2431819"/>
            <a:ext cx="2214562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💰</a:t>
            </a:r>
          </a:p>
        </p:txBody>
      </p:sp>
      <p:sp>
        <p:nvSpPr>
          <p:cNvPr id="37" name="h3 · texto"/>
          <p:cNvSpPr txBox="1"/>
          <p:nvPr/>
        </p:nvSpPr>
        <p:spPr>
          <a:xfrm>
            <a:off x="9167812" y="2757928"/>
            <a:ext cx="2214562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Mais venda fechada</a:t>
            </a:r>
          </a:p>
        </p:txBody>
      </p:sp>
      <p:sp>
        <p:nvSpPr>
          <p:cNvPr id="38" name="p · texto"/>
          <p:cNvSpPr txBox="1"/>
          <p:nvPr/>
        </p:nvSpPr>
        <p:spPr>
          <a:xfrm>
            <a:off x="9167812" y="3035157"/>
            <a:ext cx="2214562" cy="590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Cliente que sai da loja sabendo o crédito dele fecha mais — e fecha na hora.</a:t>
            </a:r>
          </a:p>
        </p:txBody>
      </p:sp>
      <p:sp>
        <p:nvSpPr>
          <p:cNvPr id="39" name="card · fundo"/>
          <p:cNvSpPr/>
          <p:nvPr/>
        </p:nvSpPr>
        <p:spPr>
          <a:xfrm>
            <a:off x="609600" y="4108103"/>
            <a:ext cx="5400675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" y="4108103"/>
            <a:ext cx="540067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00750" y="4108103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5620196"/>
            <a:ext cx="5400675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9600" y="4108103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4" name="ic · texto"/>
          <p:cNvSpPr txBox="1"/>
          <p:nvPr/>
        </p:nvSpPr>
        <p:spPr>
          <a:xfrm>
            <a:off x="809625" y="4377300"/>
            <a:ext cx="5000625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🛡️</a:t>
            </a:r>
          </a:p>
        </p:txBody>
      </p:sp>
      <p:sp>
        <p:nvSpPr>
          <p:cNvPr id="45" name="h3 · texto"/>
          <p:cNvSpPr txBox="1"/>
          <p:nvPr/>
        </p:nvSpPr>
        <p:spPr>
          <a:xfrm>
            <a:off x="809625" y="4703409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B45A05"/>
                </a:solidFill>
                <a:latin typeface="Segoe UI"/>
              </a:rPr>
              <a:t>E a sua palavra vale mais</a:t>
            </a:r>
          </a:p>
        </p:txBody>
      </p:sp>
      <p:sp>
        <p:nvSpPr>
          <p:cNvPr id="46" name="p · texto"/>
          <p:cNvSpPr txBox="1"/>
          <p:nvPr/>
        </p:nvSpPr>
        <p:spPr>
          <a:xfrm>
            <a:off x="809625" y="4980638"/>
            <a:ext cx="5000625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Você para de prometer o que não depende de você. Passa a falar com base no que o banco já respondeu — na frente do cliente.</a:t>
            </a:r>
          </a:p>
        </p:txBody>
      </p:sp>
      <p:sp>
        <p:nvSpPr>
          <p:cNvPr id="47" name="card · fundo"/>
          <p:cNvSpPr/>
          <p:nvPr/>
        </p:nvSpPr>
        <p:spPr>
          <a:xfrm>
            <a:off x="6181725" y="4108103"/>
            <a:ext cx="5400675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81725" y="4108103"/>
            <a:ext cx="5400675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72875" y="4108103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725" y="5620196"/>
            <a:ext cx="5400675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81725" y="4108103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2" name="ic · texto"/>
          <p:cNvSpPr txBox="1"/>
          <p:nvPr/>
        </p:nvSpPr>
        <p:spPr>
          <a:xfrm>
            <a:off x="6381750" y="4377300"/>
            <a:ext cx="5000625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📈</a:t>
            </a:r>
          </a:p>
        </p:txBody>
      </p:sp>
      <p:sp>
        <p:nvSpPr>
          <p:cNvPr id="53" name="h3 · texto"/>
          <p:cNvSpPr txBox="1"/>
          <p:nvPr/>
        </p:nvSpPr>
        <p:spPr>
          <a:xfrm>
            <a:off x="6381750" y="4703409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B45A05"/>
                </a:solidFill>
                <a:latin typeface="Segoe UI"/>
              </a:rPr>
              <a:t>E o seu dia fica previsível</a:t>
            </a:r>
          </a:p>
        </p:txBody>
      </p:sp>
      <p:sp>
        <p:nvSpPr>
          <p:cNvPr id="54" name="p · texto"/>
          <p:cNvSpPr txBox="1"/>
          <p:nvPr/>
        </p:nvSpPr>
        <p:spPr>
          <a:xfrm>
            <a:off x="6381750" y="4980638"/>
            <a:ext cx="5000625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Você sabe logo no começo do atendimento se aquele cliente é venda de hoje, venda de ajuste ou conversa para outro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13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4. O que falar para o cliente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Três frases prontas: uma para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começar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, uma para o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sinal amarelo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, uma para o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sinal verde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fala · fundo"/>
          <p:cNvSpPr/>
          <p:nvPr/>
        </p:nvSpPr>
        <p:spPr>
          <a:xfrm>
            <a:off x="614362" y="2457599"/>
            <a:ext cx="3533775" cy="2556421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quando · texto"/>
          <p:cNvSpPr txBox="1"/>
          <p:nvPr/>
        </p:nvSpPr>
        <p:spPr>
          <a:xfrm>
            <a:off x="809625" y="2652861"/>
            <a:ext cx="314325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78" cap="all">
                <a:solidFill>
                  <a:srgbClr val="F58220"/>
                </a:solidFill>
                <a:latin typeface="Segoe UI"/>
              </a:rPr>
              <a:t>Na abertura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625" y="2910036"/>
            <a:ext cx="38100" cy="97155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frase · texto"/>
          <p:cNvSpPr txBox="1"/>
          <p:nvPr/>
        </p:nvSpPr>
        <p:spPr>
          <a:xfrm>
            <a:off x="981075" y="2893863"/>
            <a:ext cx="2971800" cy="909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 lang="pt-BR">
                <a:solidFill>
                  <a:srgbClr val="16211B"/>
                </a:solidFill>
                <a:latin typeface="Segoe UI"/>
              </a:rPr>
              <a:t>“Antes de mandar sua ficha, deixa eu consultar aqui com os bancos. Leva 1 minuto e a gente já vê o que dá pra fazer, sem você perder viagem.”</a:t>
            </a:r>
          </a:p>
        </p:txBody>
      </p:sp>
      <p:sp>
        <p:nvSpPr>
          <p:cNvPr id="11" name="porque · texto"/>
          <p:cNvSpPr txBox="1"/>
          <p:nvPr/>
        </p:nvSpPr>
        <p:spPr>
          <a:xfrm>
            <a:off x="809625" y="3984753"/>
            <a:ext cx="3143250" cy="539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pt-BR">
                <a:solidFill>
                  <a:srgbClr val="4A5A52"/>
                </a:solidFill>
                <a:latin typeface="Segoe UI"/>
              </a:rPr>
              <a:t>Por que funciona:</a:t>
            </a:r>
            <a:r>
              <a:rPr sz="1050" b="0" i="0" lang="pt-BR">
                <a:solidFill>
                  <a:srgbClr val="4A5A52"/>
                </a:solidFill>
                <a:latin typeface="Segoe UI"/>
              </a:rPr>
              <a:t> o cliente entende que você está poupando o tempo dele, não pedindo mais burocracia.</a:t>
            </a:r>
          </a:p>
        </p:txBody>
      </p:sp>
      <p:sp>
        <p:nvSpPr>
          <p:cNvPr id="12" name="fala · fundo"/>
          <p:cNvSpPr/>
          <p:nvPr/>
        </p:nvSpPr>
        <p:spPr>
          <a:xfrm>
            <a:off x="4329112" y="2457599"/>
            <a:ext cx="3533775" cy="2556421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3" name="quando · texto"/>
          <p:cNvSpPr txBox="1"/>
          <p:nvPr/>
        </p:nvSpPr>
        <p:spPr>
          <a:xfrm>
            <a:off x="4524375" y="2652861"/>
            <a:ext cx="314325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78" cap="all">
                <a:solidFill>
                  <a:srgbClr val="F58220"/>
                </a:solidFill>
                <a:latin typeface="Segoe UI"/>
              </a:rPr>
              <a:t>Sinal amarelo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4375" y="2910036"/>
            <a:ext cx="38100" cy="1214438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frase · texto"/>
          <p:cNvSpPr txBox="1"/>
          <p:nvPr/>
        </p:nvSpPr>
        <p:spPr>
          <a:xfrm>
            <a:off x="4695825" y="2893863"/>
            <a:ext cx="2971800" cy="1152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 lang="pt-BR">
                <a:solidFill>
                  <a:srgbClr val="16211B"/>
                </a:solidFill>
                <a:latin typeface="Segoe UI"/>
              </a:rPr>
              <a:t>“Do jeito que está, os bancos não aprovam. Mas se a gente subir a entrada para R$ ____, a chance melhora bastante. Consegue chegar nesse valor?”</a:t>
            </a:r>
          </a:p>
        </p:txBody>
      </p:sp>
      <p:sp>
        <p:nvSpPr>
          <p:cNvPr id="16" name="porque · texto"/>
          <p:cNvSpPr txBox="1"/>
          <p:nvPr/>
        </p:nvSpPr>
        <p:spPr>
          <a:xfrm>
            <a:off x="4524375" y="4227640"/>
            <a:ext cx="3143250" cy="5390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pt-BR">
                <a:solidFill>
                  <a:srgbClr val="4A5A52"/>
                </a:solidFill>
                <a:latin typeface="Segoe UI"/>
              </a:rPr>
              <a:t>Por que funciona:</a:t>
            </a:r>
            <a:r>
              <a:rPr sz="1050" b="0" i="0" lang="pt-BR">
                <a:solidFill>
                  <a:srgbClr val="4A5A52"/>
                </a:solidFill>
                <a:latin typeface="Segoe UI"/>
              </a:rPr>
              <a:t> troca o “negado” por uma proposta concreta. O cliente sai com um caminho, não com um não.</a:t>
            </a:r>
          </a:p>
        </p:txBody>
      </p:sp>
      <p:sp>
        <p:nvSpPr>
          <p:cNvPr id="17" name="fala · fundo"/>
          <p:cNvSpPr/>
          <p:nvPr/>
        </p:nvSpPr>
        <p:spPr>
          <a:xfrm>
            <a:off x="8043862" y="2457599"/>
            <a:ext cx="3533775" cy="2556421"/>
          </a:xfrm>
          <a:prstGeom prst="rect">
            <a:avLst/>
          </a:prstGeom>
          <a:solidFill>
            <a:srgbClr val="FFFFFF"/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quando · texto"/>
          <p:cNvSpPr txBox="1"/>
          <p:nvPr/>
        </p:nvSpPr>
        <p:spPr>
          <a:xfrm>
            <a:off x="8239125" y="2652861"/>
            <a:ext cx="314325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78" cap="all">
                <a:solidFill>
                  <a:srgbClr val="F58220"/>
                </a:solidFill>
                <a:latin typeface="Segoe UI"/>
              </a:rPr>
              <a:t>Sinal verde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9125" y="2910036"/>
            <a:ext cx="38100" cy="97155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frase · texto"/>
          <p:cNvSpPr txBox="1"/>
          <p:nvPr/>
        </p:nvSpPr>
        <p:spPr>
          <a:xfrm>
            <a:off x="8410575" y="2893863"/>
            <a:ext cx="2971800" cy="9096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1" lang="pt-BR">
                <a:solidFill>
                  <a:srgbClr val="16211B"/>
                </a:solidFill>
                <a:latin typeface="Segoe UI"/>
              </a:rPr>
              <a:t>“Os bancos já indicaram crédito de R$ ____ para o seu CPF. Com esse valor, dá pra fechar esse carro hoje — quer ver as parcelas?”</a:t>
            </a:r>
          </a:p>
        </p:txBody>
      </p:sp>
      <p:sp>
        <p:nvSpPr>
          <p:cNvPr id="21" name="porque · texto"/>
          <p:cNvSpPr txBox="1"/>
          <p:nvPr/>
        </p:nvSpPr>
        <p:spPr>
          <a:xfrm>
            <a:off x="8239125" y="3984753"/>
            <a:ext cx="3143250" cy="3457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pt-BR">
                <a:solidFill>
                  <a:srgbClr val="4A5A52"/>
                </a:solidFill>
                <a:latin typeface="Segoe UI"/>
              </a:rPr>
              <a:t>Por que funciona:</a:t>
            </a:r>
            <a:r>
              <a:rPr sz="1050" b="0" i="0" lang="pt-BR">
                <a:solidFill>
                  <a:srgbClr val="4A5A52"/>
                </a:solidFill>
                <a:latin typeface="Segoe UI"/>
              </a:rPr>
              <a:t> é um número do banco, não seu. Dá segurança para o cliente decidir na hora.</a:t>
            </a:r>
          </a:p>
        </p:txBody>
      </p:sp>
      <p:sp>
        <p:nvSpPr>
          <p:cNvPr id="22" name="takeaway · fundo"/>
          <p:cNvSpPr/>
          <p:nvPr/>
        </p:nvSpPr>
        <p:spPr>
          <a:xfrm>
            <a:off x="609600" y="5755035"/>
            <a:ext cx="10972800" cy="493365"/>
          </a:xfrm>
          <a:prstGeom prst="rect">
            <a:avLst/>
          </a:prstGeom>
          <a:solidFill>
            <a:srgbClr val="E8F4E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755035"/>
            <a:ext cx="47625" cy="49336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takeaway · texto"/>
          <p:cNvSpPr txBox="1"/>
          <p:nvPr/>
        </p:nvSpPr>
        <p:spPr>
          <a:xfrm>
            <a:off x="847725" y="5878879"/>
            <a:ext cx="10544175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5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Nunca diga “vai ser difícil pra você”. Diga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“assim não passa, mas assim passa”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— e mostre a tela.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14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4. O que falar para o cliente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As perguntas que você vai ouvir —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e a resposta curta para cada uma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obj-linha · fundo"/>
          <p:cNvSpPr/>
          <p:nvPr/>
        </p:nvSpPr>
        <p:spPr>
          <a:xfrm>
            <a:off x="614362" y="2117080"/>
            <a:ext cx="10963275" cy="70425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q · fundo"/>
          <p:cNvSpPr/>
          <p:nvPr/>
        </p:nvSpPr>
        <p:spPr>
          <a:xfrm>
            <a:off x="619125" y="2121843"/>
            <a:ext cx="4868317" cy="69473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575" y="2435706"/>
            <a:ext cx="1428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pt-BR">
                <a:solidFill>
                  <a:srgbClr val="8A968F"/>
                </a:solidFill>
                <a:latin typeface="Segoe UI"/>
              </a:rPr>
              <a:t>“</a:t>
            </a:r>
          </a:p>
        </p:txBody>
      </p:sp>
      <p:sp>
        <p:nvSpPr>
          <p:cNvPr id="10" name="q · texto"/>
          <p:cNvSpPr txBox="1"/>
          <p:nvPr/>
        </p:nvSpPr>
        <p:spPr>
          <a:xfrm>
            <a:off x="1028700" y="2354672"/>
            <a:ext cx="428729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Isso não dá mais trabalho pra mim?”</a:t>
            </a:r>
          </a:p>
        </p:txBody>
      </p:sp>
      <p:sp>
        <p:nvSpPr>
          <p:cNvPr id="11" name="a · fundo"/>
          <p:cNvSpPr/>
          <p:nvPr/>
        </p:nvSpPr>
        <p:spPr>
          <a:xfrm>
            <a:off x="5487442" y="2121843"/>
            <a:ext cx="6085433" cy="694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a · texto"/>
          <p:cNvSpPr txBox="1"/>
          <p:nvPr/>
        </p:nvSpPr>
        <p:spPr>
          <a:xfrm>
            <a:off x="5658892" y="2240825"/>
            <a:ext cx="5742533" cy="3759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 lang="pt-BR">
                <a:solidFill>
                  <a:srgbClr val="4A5A52"/>
                </a:solidFill>
                <a:latin typeface="Segoe UI"/>
              </a:rPr>
              <a:t>1 minuto de consulta agora evita 2 ou 3 fichas negadas depois. </a:t>
            </a:r>
            <a:r>
              <a:rPr sz="1162" b="1" i="0" lang="pt-BR">
                <a:solidFill>
                  <a:srgbClr val="16211B"/>
                </a:solidFill>
                <a:latin typeface="Segoe UI"/>
              </a:rPr>
              <a:t>O trabalho não aumenta, ele sai de cima de você.</a:t>
            </a:r>
          </a:p>
        </p:txBody>
      </p:sp>
      <p:sp>
        <p:nvSpPr>
          <p:cNvPr id="13" name="obj-linha · fundo"/>
          <p:cNvSpPr/>
          <p:nvPr/>
        </p:nvSpPr>
        <p:spPr>
          <a:xfrm>
            <a:off x="614362" y="2926110"/>
            <a:ext cx="10963275" cy="70425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q · fundo"/>
          <p:cNvSpPr/>
          <p:nvPr/>
        </p:nvSpPr>
        <p:spPr>
          <a:xfrm>
            <a:off x="619125" y="2930872"/>
            <a:ext cx="4868317" cy="69473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575" y="3244735"/>
            <a:ext cx="1428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pt-BR">
                <a:solidFill>
                  <a:srgbClr val="8A968F"/>
                </a:solidFill>
                <a:latin typeface="Segoe UI"/>
              </a:rPr>
              <a:t>“</a:t>
            </a:r>
          </a:p>
        </p:txBody>
      </p:sp>
      <p:sp>
        <p:nvSpPr>
          <p:cNvPr id="16" name="q · texto"/>
          <p:cNvSpPr txBox="1"/>
          <p:nvPr/>
        </p:nvSpPr>
        <p:spPr>
          <a:xfrm>
            <a:off x="1028700" y="3163702"/>
            <a:ext cx="428729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O cliente não vai querer passar os dados.”</a:t>
            </a:r>
          </a:p>
        </p:txBody>
      </p:sp>
      <p:sp>
        <p:nvSpPr>
          <p:cNvPr id="17" name="a · fundo"/>
          <p:cNvSpPr/>
          <p:nvPr/>
        </p:nvSpPr>
        <p:spPr>
          <a:xfrm>
            <a:off x="5487442" y="2930872"/>
            <a:ext cx="6085433" cy="694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8" name="a · texto"/>
          <p:cNvSpPr txBox="1"/>
          <p:nvPr/>
        </p:nvSpPr>
        <p:spPr>
          <a:xfrm>
            <a:off x="5658892" y="3049855"/>
            <a:ext cx="5742533" cy="3759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 lang="pt-BR">
                <a:solidFill>
                  <a:srgbClr val="4A5A52"/>
                </a:solidFill>
                <a:latin typeface="Segoe UI"/>
              </a:rPr>
              <a:t>São </a:t>
            </a:r>
            <a:r>
              <a:rPr sz="1162" b="1" i="0" lang="pt-BR">
                <a:solidFill>
                  <a:srgbClr val="16211B"/>
                </a:solidFill>
                <a:latin typeface="Segoe UI"/>
              </a:rPr>
              <a:t>os mesmos dados da ficha</a:t>
            </a:r>
            <a:r>
              <a:rPr sz="1162" b="0" i="0" lang="pt-BR">
                <a:solidFill>
                  <a:srgbClr val="4A5A52"/>
                </a:solidFill>
                <a:latin typeface="Segoe UI"/>
              </a:rPr>
              <a:t>. A diferença é que agora ele recebe uma resposta na hora, em vez de esperar.</a:t>
            </a:r>
          </a:p>
        </p:txBody>
      </p:sp>
      <p:sp>
        <p:nvSpPr>
          <p:cNvPr id="19" name="obj-linha · fundo"/>
          <p:cNvSpPr/>
          <p:nvPr/>
        </p:nvSpPr>
        <p:spPr>
          <a:xfrm>
            <a:off x="614362" y="3735139"/>
            <a:ext cx="10963275" cy="70425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q · fundo"/>
          <p:cNvSpPr/>
          <p:nvPr/>
        </p:nvSpPr>
        <p:spPr>
          <a:xfrm>
            <a:off x="619125" y="3739902"/>
            <a:ext cx="4868317" cy="69473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575" y="4053765"/>
            <a:ext cx="1428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pt-BR">
                <a:solidFill>
                  <a:srgbClr val="8A968F"/>
                </a:solidFill>
                <a:latin typeface="Segoe UI"/>
              </a:rPr>
              <a:t>“</a:t>
            </a:r>
          </a:p>
        </p:txBody>
      </p:sp>
      <p:sp>
        <p:nvSpPr>
          <p:cNvPr id="22" name="q · texto"/>
          <p:cNvSpPr txBox="1"/>
          <p:nvPr/>
        </p:nvSpPr>
        <p:spPr>
          <a:xfrm>
            <a:off x="1028700" y="3972731"/>
            <a:ext cx="428729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E se o banco mudar de ideia depois?”</a:t>
            </a:r>
          </a:p>
        </p:txBody>
      </p:sp>
      <p:sp>
        <p:nvSpPr>
          <p:cNvPr id="23" name="a · fundo"/>
          <p:cNvSpPr/>
          <p:nvPr/>
        </p:nvSpPr>
        <p:spPr>
          <a:xfrm>
            <a:off x="5487442" y="3739902"/>
            <a:ext cx="6085433" cy="694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a · texto"/>
          <p:cNvSpPr txBox="1"/>
          <p:nvPr/>
        </p:nvSpPr>
        <p:spPr>
          <a:xfrm>
            <a:off x="5658892" y="3858884"/>
            <a:ext cx="5742533" cy="3759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 lang="pt-BR">
                <a:solidFill>
                  <a:srgbClr val="4A5A52"/>
                </a:solidFill>
                <a:latin typeface="Segoe UI"/>
              </a:rPr>
              <a:t>É uma </a:t>
            </a:r>
            <a:r>
              <a:rPr sz="1162" b="1" i="0" lang="pt-BR">
                <a:solidFill>
                  <a:srgbClr val="16211B"/>
                </a:solidFill>
                <a:latin typeface="Segoe UI"/>
              </a:rPr>
              <a:t>pré-análise</a:t>
            </a:r>
            <a:r>
              <a:rPr sz="1162" b="0" i="0" lang="pt-BR">
                <a:solidFill>
                  <a:srgbClr val="4A5A52"/>
                </a:solidFill>
                <a:latin typeface="Segoe UI"/>
              </a:rPr>
              <a:t>: serve para você negociar com base em dado, não em achismo. Ao clicar na parcela, você confirma o valor exato que o banco retornou.</a:t>
            </a:r>
          </a:p>
        </p:txBody>
      </p:sp>
      <p:sp>
        <p:nvSpPr>
          <p:cNvPr id="25" name="obj-linha · fundo"/>
          <p:cNvSpPr/>
          <p:nvPr/>
        </p:nvSpPr>
        <p:spPr>
          <a:xfrm>
            <a:off x="614362" y="4544169"/>
            <a:ext cx="10963275" cy="70425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q · fundo"/>
          <p:cNvSpPr/>
          <p:nvPr/>
        </p:nvSpPr>
        <p:spPr>
          <a:xfrm>
            <a:off x="619125" y="4548932"/>
            <a:ext cx="4868317" cy="69473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575" y="4862795"/>
            <a:ext cx="1428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pt-BR">
                <a:solidFill>
                  <a:srgbClr val="8A968F"/>
                </a:solidFill>
                <a:latin typeface="Segoe UI"/>
              </a:rPr>
              <a:t>“</a:t>
            </a:r>
          </a:p>
        </p:txBody>
      </p:sp>
      <p:sp>
        <p:nvSpPr>
          <p:cNvPr id="28" name="q · texto"/>
          <p:cNvSpPr txBox="1"/>
          <p:nvPr/>
        </p:nvSpPr>
        <p:spPr>
          <a:xfrm>
            <a:off x="1028700" y="4781761"/>
            <a:ext cx="428729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Eu já sei de olho quem passa e quem não passa.”</a:t>
            </a:r>
          </a:p>
        </p:txBody>
      </p:sp>
      <p:sp>
        <p:nvSpPr>
          <p:cNvPr id="29" name="a · fundo"/>
          <p:cNvSpPr/>
          <p:nvPr/>
        </p:nvSpPr>
        <p:spPr>
          <a:xfrm>
            <a:off x="5487442" y="4548932"/>
            <a:ext cx="6085433" cy="694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a · texto"/>
          <p:cNvSpPr txBox="1"/>
          <p:nvPr/>
        </p:nvSpPr>
        <p:spPr>
          <a:xfrm>
            <a:off x="5658892" y="4667914"/>
            <a:ext cx="5742533" cy="3759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 lang="pt-BR">
                <a:solidFill>
                  <a:srgbClr val="4A5A52"/>
                </a:solidFill>
                <a:latin typeface="Segoe UI"/>
              </a:rPr>
              <a:t>Talvez a chance sim. Mas </a:t>
            </a:r>
            <a:r>
              <a:rPr sz="1162" b="1" i="0" lang="pt-BR">
                <a:solidFill>
                  <a:srgbClr val="16211B"/>
                </a:solidFill>
                <a:latin typeface="Segoe UI"/>
              </a:rPr>
              <a:t>o valor de crédito do cliente você não tem como saber de cabeça</a:t>
            </a:r>
            <a:r>
              <a:rPr sz="1162" b="0" i="0" lang="pt-BR">
                <a:solidFill>
                  <a:srgbClr val="4A5A52"/>
                </a:solidFill>
                <a:latin typeface="Segoe UI"/>
              </a:rPr>
              <a:t> — e é ele que define qual carro você mostra.</a:t>
            </a:r>
          </a:p>
        </p:txBody>
      </p:sp>
      <p:sp>
        <p:nvSpPr>
          <p:cNvPr id="31" name="obj-linha · fundo"/>
          <p:cNvSpPr/>
          <p:nvPr/>
        </p:nvSpPr>
        <p:spPr>
          <a:xfrm>
            <a:off x="614362" y="5353199"/>
            <a:ext cx="10963275" cy="70425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q · fundo"/>
          <p:cNvSpPr/>
          <p:nvPr/>
        </p:nvSpPr>
        <p:spPr>
          <a:xfrm>
            <a:off x="619125" y="5357961"/>
            <a:ext cx="4868317" cy="69473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575" y="5671824"/>
            <a:ext cx="1428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lang="pt-BR">
                <a:solidFill>
                  <a:srgbClr val="8A968F"/>
                </a:solidFill>
                <a:latin typeface="Segoe UI"/>
              </a:rPr>
              <a:t>“</a:t>
            </a:r>
          </a:p>
        </p:txBody>
      </p:sp>
      <p:sp>
        <p:nvSpPr>
          <p:cNvPr id="34" name="q · texto"/>
          <p:cNvSpPr txBox="1"/>
          <p:nvPr/>
        </p:nvSpPr>
        <p:spPr>
          <a:xfrm>
            <a:off x="1028700" y="5590791"/>
            <a:ext cx="4287292" cy="1619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pt-BR">
                <a:solidFill>
                  <a:srgbClr val="16211B"/>
                </a:solidFill>
                <a:latin typeface="Segoe UI"/>
              </a:rPr>
              <a:t>Deu baixa probabilidade. Acabou?”</a:t>
            </a:r>
          </a:p>
        </p:txBody>
      </p:sp>
      <p:sp>
        <p:nvSpPr>
          <p:cNvPr id="35" name="a · fundo"/>
          <p:cNvSpPr/>
          <p:nvPr/>
        </p:nvSpPr>
        <p:spPr>
          <a:xfrm>
            <a:off x="5487442" y="5357961"/>
            <a:ext cx="6085433" cy="6947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6" name="a · texto"/>
          <p:cNvSpPr txBox="1"/>
          <p:nvPr/>
        </p:nvSpPr>
        <p:spPr>
          <a:xfrm>
            <a:off x="5658892" y="5476944"/>
            <a:ext cx="5742533" cy="3759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5"/>
              </a:lnSpc>
              <a:spcBef>
                <a:spcPts val="0"/>
              </a:spcBef>
              <a:spcAft>
                <a:spcPts val="0"/>
              </a:spcAft>
            </a:pPr>
            <a:r>
              <a:rPr sz="1162" b="0" i="0" lang="pt-BR">
                <a:solidFill>
                  <a:srgbClr val="4A5A52"/>
                </a:solidFill>
                <a:latin typeface="Segoe UI"/>
              </a:rPr>
              <a:t>Não. </a:t>
            </a:r>
            <a:r>
              <a:rPr sz="1162" b="1" i="0" lang="pt-BR">
                <a:solidFill>
                  <a:srgbClr val="16211B"/>
                </a:solidFill>
                <a:latin typeface="Segoe UI"/>
              </a:rPr>
              <a:t>Ajuste a entrada, teste outro CPF ou outro carro e simule de novo</a:t>
            </a:r>
            <a:r>
              <a:rPr sz="1162" b="0" i="0" lang="pt-BR">
                <a:solidFill>
                  <a:srgbClr val="4A5A52"/>
                </a:solidFill>
                <a:latin typeface="Segoe UI"/>
              </a:rPr>
              <a:t>, ali mesmo, quantas vezes precisar. Não custa ficha.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15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5. Como começar amanhã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3619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Três regras de ouro para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todo</a:t>
            </a: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 atendimento com financiamento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286917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286917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regra · fundo"/>
          <p:cNvSpPr/>
          <p:nvPr/>
        </p:nvSpPr>
        <p:spPr>
          <a:xfrm>
            <a:off x="609600" y="1707654"/>
            <a:ext cx="3543300" cy="186243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n · texto"/>
          <p:cNvSpPr txBox="1"/>
          <p:nvPr/>
        </p:nvSpPr>
        <p:spPr>
          <a:xfrm>
            <a:off x="819150" y="1998154"/>
            <a:ext cx="3124200" cy="400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lang="pt-BR">
                <a:solidFill>
                  <a:srgbClr val="6CC24A"/>
                </a:solidFill>
                <a:latin typeface="Segoe UI"/>
              </a:rPr>
              <a:t>1</a:t>
            </a:r>
          </a:p>
        </p:txBody>
      </p:sp>
      <p:sp>
        <p:nvSpPr>
          <p:cNvPr id="9" name="b · texto"/>
          <p:cNvSpPr txBox="1"/>
          <p:nvPr/>
        </p:nvSpPr>
        <p:spPr>
          <a:xfrm>
            <a:off x="819150" y="2398210"/>
            <a:ext cx="3124200" cy="4262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FFFFFF"/>
                </a:solidFill>
                <a:latin typeface="Segoe UI"/>
              </a:rPr>
              <a:t>Nunca mande ficha sem simular antes</a:t>
            </a:r>
          </a:p>
        </p:txBody>
      </p:sp>
      <p:sp>
        <p:nvSpPr>
          <p:cNvPr id="10" name="span · texto"/>
          <p:cNvSpPr txBox="1"/>
          <p:nvPr/>
        </p:nvSpPr>
        <p:spPr>
          <a:xfrm>
            <a:off x="819150" y="2928930"/>
            <a:ext cx="3124200" cy="3525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 lang="pt-BR">
                <a:solidFill>
                  <a:srgbClr val="CFE3D6"/>
                </a:solidFill>
                <a:latin typeface="Segoe UI"/>
              </a:rPr>
              <a:t>O botão verde vem sempre antes do botão laranja. Sem exceção.</a:t>
            </a:r>
          </a:p>
        </p:txBody>
      </p:sp>
      <p:sp>
        <p:nvSpPr>
          <p:cNvPr id="11" name="regra · fundo"/>
          <p:cNvSpPr/>
          <p:nvPr/>
        </p:nvSpPr>
        <p:spPr>
          <a:xfrm>
            <a:off x="4324350" y="1707654"/>
            <a:ext cx="3543300" cy="186243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2" name="n · texto"/>
          <p:cNvSpPr txBox="1"/>
          <p:nvPr/>
        </p:nvSpPr>
        <p:spPr>
          <a:xfrm>
            <a:off x="4533900" y="1998154"/>
            <a:ext cx="3124200" cy="400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lang="pt-BR">
                <a:solidFill>
                  <a:srgbClr val="6CC24A"/>
                </a:solidFill>
                <a:latin typeface="Segoe UI"/>
              </a:rPr>
              <a:t>2</a:t>
            </a:r>
          </a:p>
        </p:txBody>
      </p:sp>
      <p:sp>
        <p:nvSpPr>
          <p:cNvPr id="13" name="b · texto"/>
          <p:cNvSpPr txBox="1"/>
          <p:nvPr/>
        </p:nvSpPr>
        <p:spPr>
          <a:xfrm>
            <a:off x="4533900" y="2398210"/>
            <a:ext cx="3124200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FFFFFF"/>
                </a:solidFill>
                <a:latin typeface="Segoe UI"/>
              </a:rPr>
              <a:t>Nunca diga “não vai passar”</a:t>
            </a:r>
          </a:p>
        </p:txBody>
      </p:sp>
      <p:sp>
        <p:nvSpPr>
          <p:cNvPr id="14" name="span · texto"/>
          <p:cNvSpPr txBox="1"/>
          <p:nvPr/>
        </p:nvSpPr>
        <p:spPr>
          <a:xfrm>
            <a:off x="4533900" y="2702711"/>
            <a:ext cx="3124200" cy="3525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 lang="pt-BR">
                <a:solidFill>
                  <a:srgbClr val="CFE3D6"/>
                </a:solidFill>
                <a:latin typeface="Segoe UI"/>
              </a:rPr>
              <a:t>Diga “assim não passa — vamos ajustar”. E mostre na tela o que muda.</a:t>
            </a:r>
          </a:p>
        </p:txBody>
      </p:sp>
      <p:sp>
        <p:nvSpPr>
          <p:cNvPr id="15" name="regra · fundo"/>
          <p:cNvSpPr/>
          <p:nvPr/>
        </p:nvSpPr>
        <p:spPr>
          <a:xfrm>
            <a:off x="8039100" y="1707654"/>
            <a:ext cx="3543300" cy="1862435"/>
          </a:xfrm>
          <a:prstGeom prst="rect">
            <a:avLst/>
          </a:prstGeom>
          <a:solidFill>
            <a:srgbClr val="00602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n · texto"/>
          <p:cNvSpPr txBox="1"/>
          <p:nvPr/>
        </p:nvSpPr>
        <p:spPr>
          <a:xfrm>
            <a:off x="8248650" y="1998154"/>
            <a:ext cx="3124200" cy="4000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lang="pt-BR">
                <a:solidFill>
                  <a:srgbClr val="6CC24A"/>
                </a:solidFill>
                <a:latin typeface="Segoe UI"/>
              </a:rPr>
              <a:t>3</a:t>
            </a:r>
          </a:p>
        </p:txBody>
      </p:sp>
      <p:sp>
        <p:nvSpPr>
          <p:cNvPr id="17" name="b · texto"/>
          <p:cNvSpPr txBox="1"/>
          <p:nvPr/>
        </p:nvSpPr>
        <p:spPr>
          <a:xfrm>
            <a:off x="8248650" y="2398210"/>
            <a:ext cx="3124200" cy="4262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FFFFFF"/>
                </a:solidFill>
                <a:latin typeface="Segoe UI"/>
              </a:rPr>
              <a:t>Nunca deixe o cliente sair sem o número dele</a:t>
            </a:r>
          </a:p>
        </p:txBody>
      </p:sp>
      <p:sp>
        <p:nvSpPr>
          <p:cNvPr id="18" name="span · texto"/>
          <p:cNvSpPr txBox="1"/>
          <p:nvPr/>
        </p:nvSpPr>
        <p:spPr>
          <a:xfrm>
            <a:off x="8248650" y="2928930"/>
            <a:ext cx="3124200" cy="35257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76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 lang="pt-BR">
                <a:solidFill>
                  <a:srgbClr val="CFE3D6"/>
                </a:solidFill>
                <a:latin typeface="Segoe UI"/>
              </a:rPr>
              <a:t>Se saiu sabendo o crédito que tem, ele volta. Se saiu com um “negado”, ele não volta.</a:t>
            </a:r>
          </a:p>
        </p:txBody>
      </p:sp>
      <p:sp>
        <p:nvSpPr>
          <p:cNvPr id="19" name="item · fundo"/>
          <p:cNvSpPr/>
          <p:nvPr/>
        </p:nvSpPr>
        <p:spPr>
          <a:xfrm>
            <a:off x="614362" y="3822502"/>
            <a:ext cx="10963275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box · fundo"/>
          <p:cNvSpPr/>
          <p:nvPr/>
        </p:nvSpPr>
        <p:spPr>
          <a:xfrm>
            <a:off x="800100" y="3970139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6CC24A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span · texto"/>
          <p:cNvSpPr txBox="1"/>
          <p:nvPr/>
        </p:nvSpPr>
        <p:spPr>
          <a:xfrm>
            <a:off x="1133475" y="3970139"/>
            <a:ext cx="5436096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 i="0" lang="pt-BR">
                <a:solidFill>
                  <a:srgbClr val="00602F"/>
                </a:solidFill>
                <a:latin typeface="Segoe UI"/>
              </a:rPr>
              <a:t>30 segundos antes de cada ficha: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conferi o CPF e a data de nascimento?</a:t>
            </a:r>
          </a:p>
        </p:txBody>
      </p:sp>
      <p:sp>
        <p:nvSpPr>
          <p:cNvPr id="22" name="item · fundo"/>
          <p:cNvSpPr/>
          <p:nvPr/>
        </p:nvSpPr>
        <p:spPr>
          <a:xfrm>
            <a:off x="614362" y="4413052"/>
            <a:ext cx="10963275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box · fundo"/>
          <p:cNvSpPr/>
          <p:nvPr/>
        </p:nvSpPr>
        <p:spPr>
          <a:xfrm>
            <a:off x="800100" y="4560689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6CC24A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4" name="span · texto"/>
          <p:cNvSpPr txBox="1"/>
          <p:nvPr/>
        </p:nvSpPr>
        <p:spPr>
          <a:xfrm>
            <a:off x="1133475" y="4560689"/>
            <a:ext cx="4383137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1" i="0" lang="pt-BR">
                <a:solidFill>
                  <a:srgbClr val="00602F"/>
                </a:solidFill>
                <a:latin typeface="Segoe UI"/>
              </a:rPr>
              <a:t>Simulei com os bancos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e li o resultado junto com o cliente?</a:t>
            </a:r>
          </a:p>
        </p:txBody>
      </p:sp>
      <p:sp>
        <p:nvSpPr>
          <p:cNvPr id="25" name="item · fundo"/>
          <p:cNvSpPr/>
          <p:nvPr/>
        </p:nvSpPr>
        <p:spPr>
          <a:xfrm>
            <a:off x="614362" y="5003602"/>
            <a:ext cx="10963275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box · fundo"/>
          <p:cNvSpPr/>
          <p:nvPr/>
        </p:nvSpPr>
        <p:spPr>
          <a:xfrm>
            <a:off x="800100" y="5151239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6CC24A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span · texto"/>
          <p:cNvSpPr txBox="1"/>
          <p:nvPr/>
        </p:nvSpPr>
        <p:spPr>
          <a:xfrm>
            <a:off x="1133475" y="5151239"/>
            <a:ext cx="5579864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Se deu amarelo,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testei pelo menos um ajuste de entrada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antes de desistir?</a:t>
            </a:r>
          </a:p>
        </p:txBody>
      </p:sp>
      <p:sp>
        <p:nvSpPr>
          <p:cNvPr id="28" name="item · fundo"/>
          <p:cNvSpPr/>
          <p:nvPr/>
        </p:nvSpPr>
        <p:spPr>
          <a:xfrm>
            <a:off x="614362" y="5594152"/>
            <a:ext cx="10963275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CE3DE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box · fundo"/>
          <p:cNvSpPr/>
          <p:nvPr/>
        </p:nvSpPr>
        <p:spPr>
          <a:xfrm>
            <a:off x="800100" y="5741789"/>
            <a:ext cx="19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6CC24A"/>
            </a:solidFill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0" name="span · texto"/>
          <p:cNvSpPr txBox="1"/>
          <p:nvPr/>
        </p:nvSpPr>
        <p:spPr>
          <a:xfrm>
            <a:off x="1133475" y="5741789"/>
            <a:ext cx="5372844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75" b="0" i="0" lang="pt-BR">
                <a:solidFill>
                  <a:srgbClr val="16211B"/>
                </a:solidFill>
                <a:latin typeface="Segoe UI"/>
              </a:rPr>
              <a:t>Se deu verde, </a:t>
            </a:r>
            <a:r>
              <a:rPr sz="1275" b="1" i="0" lang="pt-BR">
                <a:solidFill>
                  <a:srgbClr val="00602F"/>
                </a:solidFill>
                <a:latin typeface="Segoe UI"/>
              </a:rPr>
              <a:t>falei o valor do crédito em voz alta</a:t>
            </a:r>
            <a:r>
              <a:rPr sz="1275" b="0" i="0" lang="pt-BR">
                <a:solidFill>
                  <a:srgbClr val="16211B"/>
                </a:solidFill>
                <a:latin typeface="Segoe UI"/>
              </a:rPr>
              <a:t> e mostrei as parcelas?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2300" y="654367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75" b="0" i="0" lang="pt-BR" spc="39">
                <a:solidFill>
                  <a:srgbClr val="8A968F"/>
                </a:solidFill>
                <a:latin typeface="Segoe UI"/>
              </a:rPr>
              <a:t>16</a:t>
            </a:r>
          </a:p>
        </p:txBody>
      </p:sp>
      <p:sp>
        <p:nvSpPr>
          <p:cNvPr id="3" name="eyebrow · texto"/>
          <p:cNvSpPr txBox="1"/>
          <p:nvPr/>
        </p:nvSpPr>
        <p:spPr>
          <a:xfrm>
            <a:off x="609600" y="495300"/>
            <a:ext cx="10972800" cy="1428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lang="pt-BR" spc="136" cap="all">
                <a:solidFill>
                  <a:srgbClr val="F58220"/>
                </a:solidFill>
                <a:latin typeface="Segoe UI"/>
              </a:rPr>
              <a:t>5. Como começar amanhã</a:t>
            </a:r>
          </a:p>
        </p:txBody>
      </p:sp>
      <p:sp>
        <p:nvSpPr>
          <p:cNvPr id="4" name="titulo · texto"/>
          <p:cNvSpPr txBox="1"/>
          <p:nvPr/>
        </p:nvSpPr>
        <p:spPr>
          <a:xfrm>
            <a:off x="609600" y="757086"/>
            <a:ext cx="10287000" cy="7439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08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lang="pt-BR" spc="-26">
                <a:solidFill>
                  <a:srgbClr val="00602F"/>
                </a:solidFill>
                <a:latin typeface="Segoe UI"/>
              </a:rPr>
              <a:t>O que a loja vai acompanhar — para todo mundo ver que </a:t>
            </a:r>
            <a:r>
              <a:rPr sz="2550" b="1" i="0" lang="pt-BR" spc="-26">
                <a:solidFill>
                  <a:srgbClr val="F58220"/>
                </a:solidFill>
                <a:latin typeface="Segoe UI"/>
              </a:rPr>
              <a:t>simular antes dá resultado</a:t>
            </a:r>
          </a:p>
        </p:txBody>
      </p:sp>
      <p:sp>
        <p:nvSpPr>
          <p:cNvPr id="5" name="regua · fundo"/>
          <p:cNvSpPr/>
          <p:nvPr/>
        </p:nvSpPr>
        <p:spPr>
          <a:xfrm>
            <a:off x="609600" y="1668959"/>
            <a:ext cx="10972800" cy="2857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668959"/>
            <a:ext cx="914400" cy="28575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33786"/>
            <a:ext cx="2087761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87836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3561904"/>
            <a:ext cx="2087761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1" name="v · texto"/>
          <p:cNvSpPr txBox="1"/>
          <p:nvPr/>
        </p:nvSpPr>
        <p:spPr>
          <a:xfrm>
            <a:off x="771525" y="2643336"/>
            <a:ext cx="1763911" cy="3143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 lang="pt-BR" spc="-45">
                <a:solidFill>
                  <a:srgbClr val="8A968F"/>
                </a:solidFill>
                <a:latin typeface="Segoe UI"/>
              </a:rPr>
              <a:t>__%</a:t>
            </a:r>
          </a:p>
        </p:txBody>
      </p:sp>
      <p:sp>
        <p:nvSpPr>
          <p:cNvPr id="12" name="l · texto"/>
          <p:cNvSpPr txBox="1"/>
          <p:nvPr/>
        </p:nvSpPr>
        <p:spPr>
          <a:xfrm>
            <a:off x="771525" y="3036664"/>
            <a:ext cx="1763911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Fichas enviadas </a:t>
            </a:r>
            <a:r>
              <a:rPr sz="1012" b="1" i="0" lang="pt-BR">
                <a:solidFill>
                  <a:srgbClr val="4A5A52"/>
                </a:solidFill>
                <a:latin typeface="Segoe UI"/>
              </a:rPr>
              <a:t>com simulação prévia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0711" y="2433786"/>
            <a:ext cx="208791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09096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0711" y="3561904"/>
            <a:ext cx="208791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0711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17" name="v · texto"/>
          <p:cNvSpPr txBox="1"/>
          <p:nvPr/>
        </p:nvSpPr>
        <p:spPr>
          <a:xfrm>
            <a:off x="2992636" y="2643336"/>
            <a:ext cx="1764060" cy="3143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 lang="pt-BR" spc="-45">
                <a:solidFill>
                  <a:srgbClr val="8A968F"/>
                </a:solidFill>
                <a:latin typeface="Segoe UI"/>
              </a:rPr>
              <a:t>__</a:t>
            </a:r>
          </a:p>
        </p:txBody>
      </p:sp>
      <p:sp>
        <p:nvSpPr>
          <p:cNvPr id="18" name="l · texto"/>
          <p:cNvSpPr txBox="1"/>
          <p:nvPr/>
        </p:nvSpPr>
        <p:spPr>
          <a:xfrm>
            <a:off x="2992636" y="3036664"/>
            <a:ext cx="176406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Fichas por venda</a:t>
            </a:r>
            <a:br/>
            <a:r>
              <a:rPr sz="1012" b="0" i="0" lang="pt-BR">
                <a:solidFill>
                  <a:srgbClr val="4A5A52"/>
                </a:solidFill>
                <a:latin typeface="Segoe UI"/>
              </a:rPr>
              <a:t>(quanto menor, melhor)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51971" y="2433786"/>
            <a:ext cx="208791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0355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51971" y="3561904"/>
            <a:ext cx="208791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1971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3" name="v · texto"/>
          <p:cNvSpPr txBox="1"/>
          <p:nvPr/>
        </p:nvSpPr>
        <p:spPr>
          <a:xfrm>
            <a:off x="5213896" y="2643336"/>
            <a:ext cx="1764060" cy="3143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 lang="pt-BR" spc="-45">
                <a:solidFill>
                  <a:srgbClr val="8A968F"/>
                </a:solidFill>
                <a:latin typeface="Segoe UI"/>
              </a:rPr>
              <a:t>__%</a:t>
            </a:r>
          </a:p>
        </p:txBody>
      </p:sp>
      <p:sp>
        <p:nvSpPr>
          <p:cNvPr id="24" name="l · texto"/>
          <p:cNvSpPr txBox="1"/>
          <p:nvPr/>
        </p:nvSpPr>
        <p:spPr>
          <a:xfrm>
            <a:off x="5213896" y="3036664"/>
            <a:ext cx="176406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Taxa de aprovação das fichas enviadas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3230" y="2433786"/>
            <a:ext cx="2087910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51615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3230" y="3561904"/>
            <a:ext cx="2087910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3230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29" name="v · texto"/>
          <p:cNvSpPr txBox="1"/>
          <p:nvPr/>
        </p:nvSpPr>
        <p:spPr>
          <a:xfrm>
            <a:off x="7435155" y="2643336"/>
            <a:ext cx="1764060" cy="3143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 lang="pt-BR" spc="-45">
                <a:solidFill>
                  <a:srgbClr val="8A968F"/>
                </a:solidFill>
                <a:latin typeface="Segoe UI"/>
              </a:rPr>
              <a:t>__ min</a:t>
            </a:r>
          </a:p>
        </p:txBody>
      </p:sp>
      <p:sp>
        <p:nvSpPr>
          <p:cNvPr id="30" name="l · texto"/>
          <p:cNvSpPr txBox="1"/>
          <p:nvPr/>
        </p:nvSpPr>
        <p:spPr>
          <a:xfrm>
            <a:off x="7435155" y="3036664"/>
            <a:ext cx="1764060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Tempo médio do atendimento com financiamento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94490" y="2433786"/>
            <a:ext cx="2087761" cy="3810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72726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94490" y="3561904"/>
            <a:ext cx="2087761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94490" y="2433786"/>
            <a:ext cx="9525" cy="1137642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5" name="v · texto"/>
          <p:cNvSpPr txBox="1"/>
          <p:nvPr/>
        </p:nvSpPr>
        <p:spPr>
          <a:xfrm>
            <a:off x="9656415" y="2643336"/>
            <a:ext cx="1763911" cy="3143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 lang="pt-BR" spc="-45">
                <a:solidFill>
                  <a:srgbClr val="8A968F"/>
                </a:solidFill>
                <a:latin typeface="Segoe UI"/>
              </a:rPr>
              <a:t>__</a:t>
            </a:r>
          </a:p>
        </p:txBody>
      </p:sp>
      <p:sp>
        <p:nvSpPr>
          <p:cNvPr id="36" name="l · texto"/>
          <p:cNvSpPr txBox="1"/>
          <p:nvPr/>
        </p:nvSpPr>
        <p:spPr>
          <a:xfrm>
            <a:off x="9656415" y="3036664"/>
            <a:ext cx="1763911" cy="31640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 lang="pt-BR">
                <a:solidFill>
                  <a:srgbClr val="4A5A52"/>
                </a:solidFill>
                <a:latin typeface="Segoe UI"/>
              </a:rPr>
              <a:t>Vendas fechadas por consultor no mês</a:t>
            </a:r>
          </a:p>
        </p:txBody>
      </p:sp>
      <p:sp>
        <p:nvSpPr>
          <p:cNvPr id="37" name="nota · texto"/>
          <p:cNvSpPr txBox="1"/>
          <p:nvPr/>
        </p:nvSpPr>
        <p:spPr>
          <a:xfrm>
            <a:off x="609600" y="3704779"/>
            <a:ext cx="10972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0" i="1" lang="pt-BR">
                <a:solidFill>
                  <a:srgbClr val="8A968F"/>
                </a:solidFill>
                <a:latin typeface="Segoe UI"/>
              </a:rPr>
              <a:t>Preencher com a base da loja/região antes da aplicação do treinamento. A leitura é sempre a mesma: quanto mais atendimentos começam pelo simulador, menos ficha se manda para chegar na mesma venda.</a:t>
            </a:r>
          </a:p>
        </p:txBody>
      </p:sp>
      <p:sp>
        <p:nvSpPr>
          <p:cNvPr id="38" name="card · fundo"/>
          <p:cNvSpPr/>
          <p:nvPr/>
        </p:nvSpPr>
        <p:spPr>
          <a:xfrm>
            <a:off x="609600" y="4219129"/>
            <a:ext cx="5400675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4219129"/>
            <a:ext cx="5400675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00750" y="4219129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5731222"/>
            <a:ext cx="5400675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4219129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3" name="ic · texto"/>
          <p:cNvSpPr txBox="1"/>
          <p:nvPr/>
        </p:nvSpPr>
        <p:spPr>
          <a:xfrm>
            <a:off x="809625" y="4488326"/>
            <a:ext cx="5000625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📅</a:t>
            </a:r>
          </a:p>
        </p:txBody>
      </p:sp>
      <p:sp>
        <p:nvSpPr>
          <p:cNvPr id="44" name="h3 · texto"/>
          <p:cNvSpPr txBox="1"/>
          <p:nvPr/>
        </p:nvSpPr>
        <p:spPr>
          <a:xfrm>
            <a:off x="809625" y="4814435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Primeira semana</a:t>
            </a:r>
          </a:p>
        </p:txBody>
      </p:sp>
      <p:sp>
        <p:nvSpPr>
          <p:cNvPr id="45" name="p · texto"/>
          <p:cNvSpPr txBox="1"/>
          <p:nvPr/>
        </p:nvSpPr>
        <p:spPr>
          <a:xfrm>
            <a:off x="809625" y="5091664"/>
            <a:ext cx="5000625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Meta simples: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toda ficha de financiamento passa pelo simulador antes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. O gerente acompanha na reunião diária.</a:t>
            </a:r>
          </a:p>
        </p:txBody>
      </p:sp>
      <p:sp>
        <p:nvSpPr>
          <p:cNvPr id="46" name="card · fundo"/>
          <p:cNvSpPr/>
          <p:nvPr/>
        </p:nvSpPr>
        <p:spPr>
          <a:xfrm>
            <a:off x="6181725" y="4219129"/>
            <a:ext cx="5400675" cy="1521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81725" y="4219129"/>
            <a:ext cx="5400675" cy="38100"/>
          </a:xfrm>
          <a:prstGeom prst="rect">
            <a:avLst/>
          </a:prstGeom>
          <a:solidFill>
            <a:srgbClr val="6CC24A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572875" y="4219129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81725" y="5731222"/>
            <a:ext cx="5400675" cy="9525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81725" y="4219129"/>
            <a:ext cx="9525" cy="1521619"/>
          </a:xfrm>
          <a:prstGeom prst="rect">
            <a:avLst/>
          </a:prstGeom>
          <a:solidFill>
            <a:srgbClr val="DCE3DE"/>
          </a:soli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51" name="ic · texto"/>
          <p:cNvSpPr txBox="1"/>
          <p:nvPr/>
        </p:nvSpPr>
        <p:spPr>
          <a:xfrm>
            <a:off x="6381750" y="4488326"/>
            <a:ext cx="5000625" cy="2952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lang="pt-BR">
                <a:solidFill>
                  <a:srgbClr val="16211B"/>
                </a:solidFill>
                <a:latin typeface="Segoe UI"/>
              </a:rPr>
              <a:t>🏆</a:t>
            </a:r>
          </a:p>
        </p:txBody>
      </p:sp>
      <p:sp>
        <p:nvSpPr>
          <p:cNvPr id="52" name="h3 · texto"/>
          <p:cNvSpPr txBox="1"/>
          <p:nvPr/>
        </p:nvSpPr>
        <p:spPr>
          <a:xfrm>
            <a:off x="6381750" y="4814435"/>
            <a:ext cx="5000625" cy="20002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lang="pt-BR">
                <a:solidFill>
                  <a:srgbClr val="00602F"/>
                </a:solidFill>
                <a:latin typeface="Segoe UI"/>
              </a:rPr>
              <a:t>Primeiro mês</a:t>
            </a:r>
          </a:p>
        </p:txBody>
      </p:sp>
      <p:sp>
        <p:nvSpPr>
          <p:cNvPr id="53" name="p · texto"/>
          <p:cNvSpPr txBox="1"/>
          <p:nvPr/>
        </p:nvSpPr>
        <p:spPr>
          <a:xfrm>
            <a:off x="6381750" y="5091664"/>
            <a:ext cx="5000625" cy="3762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7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lang="pt-BR">
                <a:solidFill>
                  <a:srgbClr val="4A5A52"/>
                </a:solidFill>
                <a:latin typeface="Segoe UI"/>
              </a:rPr>
              <a:t>Compare o seu próprio número: </a:t>
            </a:r>
            <a:r>
              <a:rPr sz="1125" b="1" i="0" lang="pt-BR">
                <a:solidFill>
                  <a:srgbClr val="4A5A52"/>
                </a:solidFill>
                <a:latin typeface="Segoe UI"/>
              </a:rPr>
              <a:t>fichas por venda antes e depois</a:t>
            </a:r>
            <a:r>
              <a:rPr sz="1125" b="0" i="0" lang="pt-BR">
                <a:solidFill>
                  <a:srgbClr val="4A5A52"/>
                </a:solidFill>
                <a:latin typeface="Segoe UI"/>
              </a:rPr>
              <a:t>. É a prova mais rápida de que funciona.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602F"/>
              </a:gs>
              <a:gs pos="100000">
                <a:srgbClr val="004A25"/>
              </a:gs>
            </a:gsLst>
            <a:lin ang="2700000" scaled="0"/>
          </a:gradFill>
          <a:ln>
            <a:noFill/>
          </a:ln>
          <a:effectLst/>
        </p:spPr>
        <p:txBody>
          <a:bodyPr rtlCol="0" anchor="ctr" lIns="0" rIns="0" tIns="0" bIns="0" wrap="square"/>
          <a:lstStyle/>
          <a:p>
            <a:pPr algn="ctr"/>
          </a:p>
        </p:txBody>
      </p:sp>
      <p:sp>
        <p:nvSpPr>
          <p:cNvPr id="3" name="h1 · texto"/>
          <p:cNvSpPr txBox="1"/>
          <p:nvPr/>
        </p:nvSpPr>
        <p:spPr>
          <a:xfrm>
            <a:off x="3563689" y="2057690"/>
            <a:ext cx="5064621" cy="16618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4368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lang="pt-BR">
                <a:solidFill>
                  <a:srgbClr val="FFFFFF"/>
                </a:solidFill>
                <a:latin typeface="Segoe UI"/>
              </a:rPr>
              <a:t>Simule antes.</a:t>
            </a:r>
            <a:br/>
            <a:r>
              <a:rPr sz="3900" b="1" i="0" lang="pt-BR">
                <a:solidFill>
                  <a:srgbClr val="6CC24A"/>
                </a:solidFill>
                <a:latin typeface="Segoe UI"/>
              </a:rPr>
              <a:t>Mande uma ficha só.</a:t>
            </a:r>
            <a:br/>
            <a:r>
              <a:rPr sz="3900" b="1" i="0" lang="pt-BR">
                <a:solidFill>
                  <a:srgbClr val="FFFFFF"/>
                </a:solidFill>
                <a:latin typeface="Segoe UI"/>
              </a:rPr>
              <a:t>Venda no mesmo dia.</a:t>
            </a:r>
          </a:p>
        </p:txBody>
      </p:sp>
      <p:sp>
        <p:nvSpPr>
          <p:cNvPr id="4" name="p · texto"/>
          <p:cNvSpPr txBox="1"/>
          <p:nvPr/>
        </p:nvSpPr>
        <p:spPr>
          <a:xfrm>
            <a:off x="2667000" y="3865405"/>
            <a:ext cx="6858000" cy="781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pt-BR">
                <a:solidFill>
                  <a:srgbClr val="CFE3D6"/>
                </a:solidFill>
                <a:latin typeface="Segoe UI"/>
              </a:rPr>
              <a:t>O botão “Simule com os bancos” está na sua tela a partir de agora. Use no próximo cliente que sentar com você — e veja a diferença já no primeiro atendimento.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Simule com os bancos — Treinamento para Consultores de Vendas</dc:title>
  <dc:subject/>
  <dc:creator>Localiza Seminovos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