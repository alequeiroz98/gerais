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46304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 u="none" lang="pt-BR">
                <a:solidFill>
                  <a:srgbClr val="333333"/>
                </a:solidFill>
                <a:latin typeface="Arial"/>
              </a:rPr>
              <a:t>Conversão média das lojas do piloto caiu ~58% pós piloto vs. alta de ~9% no grupo controle e ~23% no restante do Brasil, com base pós piloto ainda pequena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4432" y="512064"/>
            <a:ext cx="1627632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 u="none" lang="pt-BR">
                <a:solidFill>
                  <a:srgbClr val="858585"/>
                </a:solidFill>
                <a:latin typeface="Arial"/>
              </a:rPr>
              <a:t>/ P R E L I M I N A 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841248"/>
            <a:ext cx="11667743" cy="0"/>
          </a:xfrm>
          <a:prstGeom prst="line">
            <a:avLst/>
          </a:prstGeom>
          <a:ln w="285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entagon 4"/>
          <p:cNvSpPr/>
          <p:nvPr/>
        </p:nvSpPr>
        <p:spPr>
          <a:xfrm>
            <a:off x="786384" y="914400"/>
            <a:ext cx="5138928" cy="402336"/>
          </a:xfrm>
          <a:prstGeom prst="homePlat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941832"/>
            <a:ext cx="463600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u="none" lang="pt-BR">
                <a:solidFill>
                  <a:srgbClr val="FFFFFF"/>
                </a:solidFill>
                <a:latin typeface="Arial"/>
              </a:rPr>
              <a:t>% conversão – leads com </a:t>
            </a:r>
            <a:r>
              <a:rPr sz="850" b="0" u="sng" lang="pt-BR">
                <a:solidFill>
                  <a:srgbClr val="FFFFFF"/>
                </a:solidFill>
                <a:latin typeface="Arial"/>
              </a:rPr>
              <a:t>loja próxima</a:t>
            </a:r>
            <a:r>
              <a:rPr sz="850" b="0" u="none" lang="pt-BR">
                <a:solidFill>
                  <a:srgbClr val="FFFFFF"/>
                </a:solidFill>
                <a:latin typeface="Arial"/>
              </a:rPr>
              <a:t> identificada</a:t>
            </a:r>
          </a:p>
          <a:p>
            <a:pPr algn="ctr">
              <a:lnSpc>
                <a:spcPct val="100000"/>
              </a:lnSpc>
            </a:pPr>
            <a:r>
              <a:rPr sz="1000" b="1" u="none" lang="pt-BR">
                <a:solidFill>
                  <a:srgbClr val="FFFFFF"/>
                </a:solidFill>
                <a:latin typeface="Arial"/>
              </a:rPr>
              <a:t>PRÉ PILOTO (01/04 a 13/07)</a:t>
            </a:r>
          </a:p>
        </p:txBody>
      </p:sp>
      <p:sp>
        <p:nvSpPr>
          <p:cNvPr id="7" name="Pentagon 6"/>
          <p:cNvSpPr/>
          <p:nvPr/>
        </p:nvSpPr>
        <p:spPr>
          <a:xfrm>
            <a:off x="6419088" y="914400"/>
            <a:ext cx="5522975" cy="402336"/>
          </a:xfrm>
          <a:prstGeom prst="homePlate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941832"/>
            <a:ext cx="50200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u="none" lang="pt-BR">
                <a:solidFill>
                  <a:srgbClr val="FFFFFF"/>
                </a:solidFill>
                <a:latin typeface="Arial"/>
              </a:rPr>
              <a:t>% conversão – leads com </a:t>
            </a:r>
            <a:r>
              <a:rPr sz="850" b="0" u="sng" lang="pt-BR">
                <a:solidFill>
                  <a:srgbClr val="FFFFFF"/>
                </a:solidFill>
                <a:latin typeface="Arial"/>
              </a:rPr>
              <a:t>loja próxima</a:t>
            </a:r>
            <a:r>
              <a:rPr sz="850" b="0" u="none" lang="pt-BR">
                <a:solidFill>
                  <a:srgbClr val="FFFFFF"/>
                </a:solidFill>
                <a:latin typeface="Arial"/>
              </a:rPr>
              <a:t> identificada</a:t>
            </a:r>
          </a:p>
          <a:p>
            <a:pPr algn="ctr">
              <a:lnSpc>
                <a:spcPct val="100000"/>
              </a:lnSpc>
            </a:pPr>
            <a:r>
              <a:rPr sz="1000" b="1" u="none" lang="pt-BR">
                <a:solidFill>
                  <a:srgbClr val="FFFFFF"/>
                </a:solidFill>
                <a:latin typeface="Arial"/>
              </a:rPr>
              <a:t>PÓS PILOTO (13/07 a 06/08)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408176"/>
            <a:ext cx="11155680" cy="1591056"/>
          </a:xfrm>
          <a:prstGeom prst="rect">
            <a:avLst/>
          </a:prstGeom>
          <a:noFill/>
          <a:ln w="12700">
            <a:solidFill>
              <a:srgbClr val="CC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-320040" y="1965960"/>
            <a:ext cx="159105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u="none" lang="pt-BR">
                <a:solidFill>
                  <a:srgbClr val="CC0000"/>
                </a:solidFill>
                <a:latin typeface="Arial"/>
              </a:rPr>
              <a:t>Lojas do piloto¹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89888" y="2542032"/>
            <a:ext cx="4005072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389888" y="2204679"/>
            <a:ext cx="3811226" cy="337352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1114" y="1879396"/>
            <a:ext cx="193845" cy="662635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389888" y="2188951"/>
            <a:ext cx="4005072" cy="0"/>
          </a:xfrm>
          <a:prstGeom prst="line">
            <a:avLst/>
          </a:prstGeom>
          <a:ln w="9525">
            <a:solidFill>
              <a:srgbClr val="C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13248" y="2120371"/>
            <a:ext cx="5120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u="none" lang="pt-BR">
                <a:solidFill>
                  <a:srgbClr val="CC0000"/>
                </a:solidFill>
                <a:latin typeface="Arial"/>
              </a:rPr>
              <a:t>Média 0,58%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5461" y="2047219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u="none" lang="pt-BR">
                <a:solidFill>
                  <a:srgbClr val="333333"/>
                </a:solidFill>
                <a:latin typeface="Arial"/>
              </a:rPr>
              <a:t>0,55%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737664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u="none" lang="pt-BR">
                <a:solidFill>
                  <a:srgbClr val="333333"/>
                </a:solidFill>
                <a:latin typeface="Arial"/>
              </a:rPr>
              <a:t>1,09%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87398" y="1879396"/>
            <a:ext cx="0" cy="309555"/>
          </a:xfrm>
          <a:prstGeom prst="line">
            <a:avLst/>
          </a:prstGeom>
          <a:ln w="9525">
            <a:solidFill>
              <a:srgbClr val="99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771346" y="1970166"/>
            <a:ext cx="40233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1346" y="1970166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1" u="none" lang="pt-BR">
                <a:solidFill>
                  <a:srgbClr val="990000"/>
                </a:solidFill>
                <a:latin typeface="Arial"/>
              </a:rPr>
              <a:t>-0,53 p.p.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2711196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% dos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2830068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# leads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6821" y="2560320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u="none" lang="pt-BR">
                <a:solidFill>
                  <a:srgbClr val="104C3E"/>
                </a:solidFill>
                <a:latin typeface="Arial"/>
              </a:rPr>
              <a:t>Alocado em loja próxima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8301" y="2711196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95,2%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8301" y="2830068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7.228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560320"/>
            <a:ext cx="17830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u="none" lang="pt-BR">
                <a:solidFill>
                  <a:srgbClr val="AB8933"/>
                </a:solidFill>
                <a:latin typeface="Arial"/>
              </a:rPr>
              <a:t>NÃO alocado em loja próxima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711196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4,8%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830068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368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86016" y="2542032"/>
            <a:ext cx="4133088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986016" y="2429316"/>
            <a:ext cx="4125648" cy="112715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98987" y="2103120"/>
            <a:ext cx="20116" cy="438912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986016" y="2392070"/>
            <a:ext cx="4133088" cy="0"/>
          </a:xfrm>
          <a:prstGeom prst="line">
            <a:avLst/>
          </a:prstGeom>
          <a:ln w="9525">
            <a:solidFill>
              <a:srgbClr val="C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137392" y="2323490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u="none" lang="pt-BR">
                <a:solidFill>
                  <a:srgbClr val="CC0000"/>
                </a:solidFill>
                <a:latin typeface="Arial"/>
              </a:rPr>
              <a:t>Média 0,25%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8800" y="225033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u="none" lang="pt-BR">
                <a:solidFill>
                  <a:srgbClr val="333333"/>
                </a:solidFill>
                <a:latin typeface="Arial"/>
              </a:rPr>
              <a:t>0,18%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1109045" y="1975104"/>
            <a:ext cx="0" cy="146304"/>
          </a:xfrm>
          <a:prstGeom prst="line">
            <a:avLst/>
          </a:prstGeom>
          <a:ln w="15875">
            <a:solidFill>
              <a:srgbClr val="CC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376611" y="2020824"/>
            <a:ext cx="694944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u="none" lang="pt-BR">
                <a:solidFill>
                  <a:srgbClr val="CC0000"/>
                </a:solidFill>
                <a:latin typeface="Arial"/>
              </a:rPr>
              <a:t>33,33%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2711196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% dos leads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2830068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# leads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0160" y="2560320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u="none" lang="pt-BR">
                <a:solidFill>
                  <a:srgbClr val="104C3E"/>
                </a:solidFill>
                <a:latin typeface="Arial"/>
              </a:rPr>
              <a:t>Alocado em loja próxima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1640" y="2711196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99,8%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1640" y="2830068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1.623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2560320"/>
            <a:ext cx="17830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u="none" lang="pt-BR">
                <a:solidFill>
                  <a:srgbClr val="AB8933"/>
                </a:solidFill>
                <a:latin typeface="Arial"/>
              </a:rPr>
              <a:t>NÃO alocado em loja próxima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4704" y="2711196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0,2%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04704" y="2830068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16824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u="none" lang="pt-BR">
                <a:solidFill>
                  <a:srgbClr val="990000"/>
                </a:solidFill>
                <a:latin typeface="Arial"/>
              </a:rPr>
              <a:t>-~58%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" y="3090672"/>
            <a:ext cx="11155680" cy="1591056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 rot="16200000">
            <a:off x="-320040" y="3648456"/>
            <a:ext cx="159105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u="none" lang="pt-BR">
                <a:solidFill>
                  <a:srgbClr val="104C3E"/>
                </a:solidFill>
                <a:latin typeface="Arial"/>
              </a:rPr>
              <a:t>Grupo controle²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89888" y="4224528"/>
            <a:ext cx="4005072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389888" y="3764447"/>
            <a:ext cx="3805619" cy="460080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95507" y="3606686"/>
            <a:ext cx="199452" cy="617841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389888" y="3756629"/>
            <a:ext cx="4005072" cy="0"/>
          </a:xfrm>
          <a:prstGeom prst="line">
            <a:avLst/>
          </a:prstGeom>
          <a:ln w="9525">
            <a:solidFill>
              <a:srgbClr val="C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13248" y="3688049"/>
            <a:ext cx="5120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u="none" lang="pt-BR">
                <a:solidFill>
                  <a:srgbClr val="CC0000"/>
                </a:solidFill>
                <a:latin typeface="Arial"/>
              </a:rPr>
              <a:t>Média 0,51%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2657" y="3614897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u="none" lang="pt-BR">
                <a:solidFill>
                  <a:srgbClr val="333333"/>
                </a:solidFill>
                <a:latin typeface="Arial"/>
              </a:rPr>
              <a:t>0,50%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3423806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u="none" lang="pt-BR">
                <a:solidFill>
                  <a:srgbClr val="333333"/>
                </a:solidFill>
                <a:latin typeface="Arial"/>
              </a:rPr>
              <a:t>0,68%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181791" y="3606686"/>
            <a:ext cx="0" cy="149943"/>
          </a:xfrm>
          <a:prstGeom prst="line">
            <a:avLst/>
          </a:prstGeom>
          <a:ln w="9525">
            <a:solidFill>
              <a:srgbClr val="99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765739" y="3617649"/>
            <a:ext cx="40233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65739" y="3617649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1" u="none" lang="pt-BR">
                <a:solidFill>
                  <a:srgbClr val="990000"/>
                </a:solidFill>
                <a:latin typeface="Arial"/>
              </a:rPr>
              <a:t>-0,17 p.p.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" y="4393692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% dos leads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" y="4512564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# leads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24017" y="4242816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u="none" lang="pt-BR">
                <a:solidFill>
                  <a:srgbClr val="104C3E"/>
                </a:solidFill>
                <a:latin typeface="Arial"/>
              </a:rPr>
              <a:t>Alocado em loja próxima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5497" y="4393692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95,0%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5497" y="4512564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70.555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11880" y="4242816"/>
            <a:ext cx="17830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u="none" lang="pt-BR">
                <a:solidFill>
                  <a:srgbClr val="AB8933"/>
                </a:solidFill>
                <a:latin typeface="Arial"/>
              </a:rPr>
              <a:t>NÃO alocado em loja próxima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4393692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5,0%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4512564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3.700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986016" y="4224528"/>
            <a:ext cx="4133088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986016" y="3716597"/>
            <a:ext cx="3961564" cy="507930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47580" y="3644880"/>
            <a:ext cx="171523" cy="579647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6986016" y="3713652"/>
            <a:ext cx="4133088" cy="0"/>
          </a:xfrm>
          <a:prstGeom prst="line">
            <a:avLst/>
          </a:prstGeom>
          <a:ln w="9525">
            <a:solidFill>
              <a:srgbClr val="C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1137392" y="3645072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u="none" lang="pt-BR">
                <a:solidFill>
                  <a:srgbClr val="CC0000"/>
                </a:solidFill>
                <a:latin typeface="Arial"/>
              </a:rPr>
              <a:t>Média 0,56%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6758" y="357192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u="none" lang="pt-BR">
                <a:solidFill>
                  <a:srgbClr val="333333"/>
                </a:solidFill>
                <a:latin typeface="Arial"/>
              </a:rPr>
              <a:t>0,56%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53344" y="34620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u="none" lang="pt-BR">
                <a:solidFill>
                  <a:srgbClr val="333333"/>
                </a:solidFill>
                <a:latin typeface="Arial"/>
              </a:rPr>
              <a:t>0,63%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933864" y="3644880"/>
            <a:ext cx="0" cy="68772"/>
          </a:xfrm>
          <a:prstGeom prst="line">
            <a:avLst/>
          </a:prstGeom>
          <a:ln w="9525">
            <a:solidFill>
              <a:srgbClr val="99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10517812" y="3615258"/>
            <a:ext cx="40233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17812" y="3615258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1" u="none" lang="pt-BR">
                <a:solidFill>
                  <a:srgbClr val="990000"/>
                </a:solidFill>
                <a:latin typeface="Arial"/>
              </a:rPr>
              <a:t>-0,08 p.p.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3952" y="4393692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% dos leads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3952" y="4512564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# leads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8118" y="4242816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u="none" lang="pt-BR">
                <a:solidFill>
                  <a:srgbClr val="104C3E"/>
                </a:solidFill>
                <a:latin typeface="Arial"/>
              </a:rPr>
              <a:t>Alocado em loja próxima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9598" y="4393692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95,9%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9598" y="4512564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14.582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36024" y="4242816"/>
            <a:ext cx="17830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u="none" lang="pt-BR">
                <a:solidFill>
                  <a:srgbClr val="AB8933"/>
                </a:solidFill>
                <a:latin typeface="Arial"/>
              </a:rPr>
              <a:t>NÃO alocado em loja próxima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04704" y="4393692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4,2%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04704" y="4512564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631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89320" y="3364991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u="none" lang="pt-BR">
                <a:solidFill>
                  <a:srgbClr val="104C3E"/>
                </a:solidFill>
                <a:latin typeface="Arial"/>
              </a:rPr>
              <a:t>+~9%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6384" y="4773168"/>
            <a:ext cx="11155680" cy="1591056"/>
          </a:xfrm>
          <a:prstGeom prst="rect">
            <a:avLst/>
          </a:prstGeom>
          <a:noFill/>
          <a:ln w="9525">
            <a:solidFill>
              <a:srgbClr val="B4B4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 rot="16200000">
            <a:off x="-320040" y="5330952"/>
            <a:ext cx="159105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u="none" lang="pt-BR">
                <a:solidFill>
                  <a:srgbClr val="104C3E"/>
                </a:solidFill>
                <a:latin typeface="Arial"/>
              </a:rPr>
              <a:t>Restante do Brasil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389888" y="5907024"/>
            <a:ext cx="4005072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1389888" y="5483528"/>
            <a:ext cx="3586942" cy="423495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976830" y="5528069"/>
            <a:ext cx="418129" cy="378954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389888" y="5488228"/>
            <a:ext cx="4005072" cy="0"/>
          </a:xfrm>
          <a:prstGeom prst="line">
            <a:avLst/>
          </a:prstGeom>
          <a:ln w="9525">
            <a:solidFill>
              <a:srgbClr val="C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413248" y="5419648"/>
            <a:ext cx="5120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u="none" lang="pt-BR">
                <a:solidFill>
                  <a:srgbClr val="CC0000"/>
                </a:solidFill>
                <a:latin typeface="Arial"/>
              </a:rPr>
              <a:t>Média 0,46%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63319" y="534179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u="none" lang="pt-BR">
                <a:solidFill>
                  <a:srgbClr val="333333"/>
                </a:solidFill>
                <a:latin typeface="Arial"/>
              </a:rPr>
              <a:t>0,46%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9200" y="5305348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u="none" lang="pt-BR">
                <a:solidFill>
                  <a:srgbClr val="333333"/>
                </a:solidFill>
                <a:latin typeface="Arial"/>
              </a:rPr>
              <a:t>0,41%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963114" y="5488228"/>
            <a:ext cx="0" cy="39841"/>
          </a:xfrm>
          <a:prstGeom prst="line">
            <a:avLst/>
          </a:prstGeom>
          <a:ln w="9525">
            <a:solidFill>
              <a:srgbClr val="5C5C5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4547062" y="5444141"/>
            <a:ext cx="40233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47062" y="5444141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1" u="none" lang="pt-BR">
                <a:solidFill>
                  <a:srgbClr val="5C5C5C"/>
                </a:solidFill>
                <a:latin typeface="Arial"/>
              </a:rPr>
              <a:t>+0,05 p.p.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9536" y="6076188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% dos leads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9536" y="6195060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# leads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14679" y="5925312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u="none" lang="pt-BR">
                <a:solidFill>
                  <a:srgbClr val="104C3E"/>
                </a:solidFill>
                <a:latin typeface="Arial"/>
              </a:rPr>
              <a:t>Alocado em loja próxima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26159" y="6076188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89,6%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26159" y="6195060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368.367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11880" y="5925312"/>
            <a:ext cx="17830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u="none" lang="pt-BR">
                <a:solidFill>
                  <a:srgbClr val="AB8933"/>
                </a:solidFill>
                <a:latin typeface="Arial"/>
              </a:rPr>
              <a:t>NÃO alocado em loja próxima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80560" y="6076188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10,4%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80560" y="6195060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42.950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986016" y="5907024"/>
            <a:ext cx="4133088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6986016" y="5386209"/>
            <a:ext cx="3740031" cy="520814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726047" y="5441887"/>
            <a:ext cx="393056" cy="465136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6986016" y="5391210"/>
            <a:ext cx="4133088" cy="0"/>
          </a:xfrm>
          <a:prstGeom prst="line">
            <a:avLst/>
          </a:prstGeom>
          <a:ln w="9525">
            <a:solidFill>
              <a:srgbClr val="C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1137392" y="5322630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u="none" lang="pt-BR">
                <a:solidFill>
                  <a:srgbClr val="CC0000"/>
                </a:solidFill>
                <a:latin typeface="Arial"/>
              </a:rPr>
              <a:t>Média 0,56%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535991" y="5244477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u="none" lang="pt-BR">
                <a:solidFill>
                  <a:srgbClr val="333333"/>
                </a:solidFill>
                <a:latin typeface="Arial"/>
              </a:rPr>
              <a:t>0,57%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53344" y="520833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u="none" lang="pt-BR">
                <a:solidFill>
                  <a:srgbClr val="333333"/>
                </a:solidFill>
                <a:latin typeface="Arial"/>
              </a:rPr>
              <a:t>0,51%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0712331" y="5391210"/>
            <a:ext cx="0" cy="50677"/>
          </a:xfrm>
          <a:prstGeom prst="line">
            <a:avLst/>
          </a:prstGeom>
          <a:ln w="9525">
            <a:solidFill>
              <a:srgbClr val="5C5C5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10296279" y="5352540"/>
            <a:ext cx="402336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296279" y="5352540"/>
            <a:ext cx="402336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1" u="none" lang="pt-BR">
                <a:solidFill>
                  <a:srgbClr val="5C5C5C"/>
                </a:solidFill>
                <a:latin typeface="Arial"/>
              </a:rPr>
              <a:t>+0,06 p.p.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73952" y="6076188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% dos leads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73952" y="6195060"/>
            <a:ext cx="530352" cy="1234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u="none" lang="pt-BR">
                <a:solidFill>
                  <a:srgbClr val="5C5C5C"/>
                </a:solidFill>
                <a:latin typeface="Arial"/>
              </a:rPr>
              <a:t># leads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87351" y="5925312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u="none" lang="pt-BR">
                <a:solidFill>
                  <a:srgbClr val="104C3E"/>
                </a:solidFill>
                <a:latin typeface="Arial"/>
              </a:rPr>
              <a:t>Alocado em loja próxima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398831" y="6076188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90,5%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98831" y="6195060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u="none" lang="pt-BR">
                <a:solidFill>
                  <a:srgbClr val="333333"/>
                </a:solidFill>
                <a:latin typeface="Arial"/>
              </a:rPr>
              <a:t>76.667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336024" y="5925312"/>
            <a:ext cx="17830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u="none" lang="pt-BR">
                <a:solidFill>
                  <a:srgbClr val="AB8933"/>
                </a:solidFill>
                <a:latin typeface="Arial"/>
              </a:rPr>
              <a:t>NÃO alocado em loja próxima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04704" y="6076188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9,5%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04704" y="6195060"/>
            <a:ext cx="91440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u="none" lang="pt-BR">
                <a:solidFill>
                  <a:srgbClr val="333333"/>
                </a:solidFill>
                <a:latin typeface="Arial"/>
              </a:rPr>
              <a:t>8.060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89320" y="504748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u="none" lang="pt-BR">
                <a:solidFill>
                  <a:srgbClr val="104C3E"/>
                </a:solidFill>
                <a:latin typeface="Arial"/>
              </a:rPr>
              <a:t>+~23%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315200" y="1627632"/>
            <a:ext cx="29443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70064" y="163677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 u="none" lang="pt-BR">
                <a:solidFill>
                  <a:srgbClr val="CC0000"/>
                </a:solidFill>
                <a:latin typeface="Arial"/>
              </a:rPr>
              <a:t>Conversão dos leads alocados em loja próxima caiu de 0,55% para 0,18% pós piloto (3 vendas em 1.623 leads)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4320" y="6455664"/>
            <a:ext cx="116677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 u="none" lang="pt-BR">
                <a:solidFill>
                  <a:srgbClr val="858585"/>
                </a:solidFill>
                <a:latin typeface="Arial"/>
              </a:rPr>
              <a:t>Nota: (1) VCFTZ, VCGOI, VCBSI, VCREC, VCRAG; (2) lojas em até 15 km das lojas do piloto; (3) leads avaliáveis = leads com loja próxima identificável; médias são a razão das somas (total de vendas / total de leads); (4) pré piloto = 103 dias, pós piloto = 25 dias; vendas no pós piloto: 4 (lojas do piloto), 85 (grupo controle), 478 (restante do Brasil). Fonte: base de leads gerados, base de vendas faturadas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