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171450" y="95250"/>
            <a:ext cx="571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spc="375" lang="pt-BR" dirty="0">
                <a:solidFill>
                  <a:srgbClr val="6B6B6B"/>
                </a:solidFill>
                <a:latin typeface="Arial"/>
              </a:rPr>
              <a:t>L2S  |  LEAD QUENTE</a:t>
            </a:r>
          </a:p>
        </p:txBody>
      </p:sp>
      <p:sp>
        <p:nvSpPr>
          <p:cNvPr id="3" name="Barra vermelha"/>
          <p:cNvSpPr/>
          <p:nvPr/>
        </p:nvSpPr>
        <p:spPr>
          <a:xfrm>
            <a:off x="171450" y="323850"/>
            <a:ext cx="333375" cy="381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itulo"/>
          <p:cNvSpPr txBox="1"/>
          <p:nvPr/>
        </p:nvSpPr>
        <p:spPr>
          <a:xfrm>
            <a:off x="171450" y="438150"/>
            <a:ext cx="11849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0" lang="pt-BR" dirty="0">
                <a:solidFill>
                  <a:srgbClr val="111111"/>
                </a:solidFill>
                <a:latin typeface="Arial"/>
              </a:rPr>
              <a:t>Converter o lead quente exige rodar quatro passos: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5" b="1" lang="pt-BR" dirty="0">
                <a:solidFill>
                  <a:srgbClr val="CC0000"/>
                </a:solidFill>
                <a:latin typeface="Arial"/>
              </a:rPr>
              <a:t>comunicar, priorizar, avisar da consequência e realocar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71450" y="1085850"/>
            <a:ext cx="11849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lang="pt-BR" dirty="0">
                <a:solidFill>
                  <a:srgbClr val="474747"/>
                </a:solidFill>
                <a:latin typeface="Arial"/>
              </a:rPr>
              <a:t>Pré-requisito: o número existe e é nominal: leads quentes recebidos, conversão e tempo até o primeiro contato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lang="pt-BR" dirty="0">
                <a:solidFill>
                  <a:srgbClr val="474747"/>
                </a:solidFill>
                <a:latin typeface="Arial"/>
              </a:rPr>
              <a:t>por divisional, loja e CV</a:t>
            </a:r>
          </a:p>
        </p:txBody>
      </p:sp>
      <p:sp>
        <p:nvSpPr>
          <p:cNvPr id="6" name="Passo 1"/>
          <p:cNvSpPr/>
          <p:nvPr/>
        </p:nvSpPr>
        <p:spPr>
          <a:xfrm>
            <a:off x="171450" y="1638300"/>
            <a:ext cx="2747962" cy="3505200"/>
          </a:xfrm>
          <a:prstGeom prst="rect">
            <a:avLst/>
          </a:prstGeom>
          <a:gradFill rotWithShape="1">
            <a:gsLst>
              <a:gs pos="0">
                <a:srgbClr val="F7F7F8"/>
              </a:gs>
              <a:gs pos="28000">
                <a:srgbClr val="FFFFFF"/>
              </a:gs>
            </a:gsLst>
            <a:lin scaled="0" ang="5400000"/>
          </a:gradFill>
          <a:ln w="9525">
            <a:solidFill>
              <a:srgbClr val="ECECEC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355527" y="2435721"/>
            <a:ext cx="69056" cy="129481"/>
          </a:xfrm>
          <a:custGeom>
            <a:avLst/>
            <a:gdLst/>
            <a:ahLst/>
            <a:cxnLst/>
            <a:rect l="l" t="t" r="r" b="b"/>
            <a:pathLst>
              <a:path w="69056" h="129481">
                <a:moveTo>
                  <a:pt x="0" y="0"/>
                </a:moveTo>
                <a:lnTo>
                  <a:pt x="69056" y="0"/>
                </a:lnTo>
                <a:lnTo>
                  <a:pt x="69056" y="129481"/>
                </a:lnTo>
                <a:lnTo>
                  <a:pt x="0" y="129481"/>
                </a:lnTo>
                <a:close/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502271" y="2323505"/>
            <a:ext cx="69056" cy="241697"/>
          </a:xfrm>
          <a:custGeom>
            <a:avLst/>
            <a:gdLst/>
            <a:ahLst/>
            <a:cxnLst/>
            <a:rect l="l" t="t" r="r" b="b"/>
            <a:pathLst>
              <a:path w="69056" h="241697">
                <a:moveTo>
                  <a:pt x="0" y="0"/>
                </a:moveTo>
                <a:lnTo>
                  <a:pt x="69056" y="0"/>
                </a:lnTo>
                <a:lnTo>
                  <a:pt x="69056" y="241697"/>
                </a:lnTo>
                <a:lnTo>
                  <a:pt x="0" y="241697"/>
                </a:lnTo>
                <a:close/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649016" y="2237184"/>
            <a:ext cx="69056" cy="328018"/>
          </a:xfrm>
          <a:custGeom>
            <a:avLst/>
            <a:gdLst/>
            <a:ahLst/>
            <a:cxnLst/>
            <a:rect l="l" t="t" r="r" b="b"/>
            <a:pathLst>
              <a:path w="69056" h="328018">
                <a:moveTo>
                  <a:pt x="0" y="0"/>
                </a:moveTo>
                <a:lnTo>
                  <a:pt x="69056" y="0"/>
                </a:lnTo>
                <a:lnTo>
                  <a:pt x="69056" y="328018"/>
                </a:lnTo>
                <a:lnTo>
                  <a:pt x="0" y="328018"/>
                </a:lnTo>
                <a:close/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Passo 1 titulo"/>
          <p:cNvSpPr txBox="1"/>
          <p:nvPr/>
        </p:nvSpPr>
        <p:spPr>
          <a:xfrm>
            <a:off x="361950" y="2724150"/>
            <a:ext cx="23669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lang="pt-BR" dirty="0">
                <a:solidFill>
                  <a:srgbClr val="111111"/>
                </a:solidFill>
                <a:latin typeface="Arial"/>
              </a:rPr>
              <a:t>Comunicar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lang="pt-BR" dirty="0">
                <a:solidFill>
                  <a:srgbClr val="111111"/>
                </a:solidFill>
                <a:latin typeface="Arial"/>
              </a:rPr>
              <a:t>divisionais</a:t>
            </a:r>
          </a:p>
        </p:txBody>
      </p:sp>
      <p:sp>
        <p:nvSpPr>
          <p:cNvPr id="11" name="Passo 1 bullets"/>
          <p:cNvSpPr txBox="1"/>
          <p:nvPr/>
        </p:nvSpPr>
        <p:spPr>
          <a:xfrm>
            <a:off x="361950" y="3181350"/>
            <a:ext cx="2366962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Glauco leva o número aos divisionais: leads quentes recebidos e conversão por regional</a:t>
            </a:r>
          </a:p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Ranking nominal explícito: quem está bem e quem está mal</a:t>
            </a:r>
          </a:p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Mensagem única: o acompanhamento passa a ser semanal</a:t>
            </a:r>
          </a:p>
        </p:txBody>
      </p:sp>
      <p:sp>
        <p:nvSpPr>
          <p:cNvPr id="12" name="Passo 1 dono"/>
          <p:cNvSpPr txBox="1"/>
          <p:nvPr/>
        </p:nvSpPr>
        <p:spPr>
          <a:xfrm>
            <a:off x="361950" y="4724400"/>
            <a:ext cx="2366962" cy="3238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lang="pt-BR" dirty="0">
                <a:solidFill>
                  <a:srgbClr val="111111"/>
                </a:solidFill>
                <a:latin typeface="Arial"/>
              </a:rPr>
              <a:t>Dono: Glauco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lang="pt-BR" dirty="0">
                <a:solidFill>
                  <a:srgbClr val="111111"/>
                </a:solidFill>
                <a:latin typeface="Arial"/>
              </a:rPr>
              <a:t>Prazo: Semana 1</a:t>
            </a:r>
          </a:p>
        </p:txBody>
      </p:sp>
      <p:sp>
        <p:nvSpPr>
          <p:cNvPr id="13" name="Numero 1"/>
          <p:cNvSpPr/>
          <p:nvPr/>
        </p:nvSpPr>
        <p:spPr>
          <a:xfrm>
            <a:off x="228600" y="1590675"/>
            <a:ext cx="342900" cy="3429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Passo 2"/>
          <p:cNvSpPr/>
          <p:nvPr/>
        </p:nvSpPr>
        <p:spPr>
          <a:xfrm>
            <a:off x="3205162" y="1638300"/>
            <a:ext cx="2747962" cy="3505200"/>
          </a:xfrm>
          <a:prstGeom prst="rect">
            <a:avLst/>
          </a:prstGeom>
          <a:gradFill rotWithShape="1">
            <a:gsLst>
              <a:gs pos="0">
                <a:srgbClr val="F7F7F8"/>
              </a:gs>
              <a:gs pos="28000">
                <a:srgbClr val="FFFFFF"/>
              </a:gs>
            </a:gsLst>
            <a:lin scaled="0" ang="5400000"/>
          </a:gradFill>
          <a:ln w="9525">
            <a:solidFill>
              <a:srgbClr val="ECECEC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18719" y="2237184"/>
            <a:ext cx="120848" cy="120848"/>
          </a:xfrm>
          <a:prstGeom prst="ellipse">
            <a:avLst/>
          </a:pr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6503" y="2288976"/>
            <a:ext cx="103584" cy="103584"/>
          </a:xfrm>
          <a:prstGeom prst="ellipse">
            <a:avLst/>
          </a:pr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8200" y="2288976"/>
            <a:ext cx="103584" cy="103584"/>
          </a:xfrm>
          <a:prstGeom prst="ellipse">
            <a:avLst/>
          </a:pr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475559" y="2375297"/>
            <a:ext cx="207169" cy="164008"/>
          </a:xfrm>
          <a:custGeom>
            <a:avLst/>
            <a:gdLst/>
            <a:ahLst/>
            <a:cxnLst/>
            <a:rect l="l" t="t" r="r" b="b"/>
            <a:pathLst>
              <a:path w="207169" h="164008">
                <a:moveTo>
                  <a:pt x="0" y="164008"/>
                </a:moveTo>
                <a:lnTo>
                  <a:pt x="0" y="103584"/>
                </a:lnTo>
                <a:lnTo>
                  <a:pt x="1991" y="83376"/>
                </a:lnTo>
                <a:lnTo>
                  <a:pt x="7885" y="63944"/>
                </a:lnTo>
                <a:lnTo>
                  <a:pt x="17457" y="46036"/>
                </a:lnTo>
                <a:lnTo>
                  <a:pt x="30340" y="30339"/>
                </a:lnTo>
                <a:lnTo>
                  <a:pt x="46036" y="17457"/>
                </a:lnTo>
                <a:lnTo>
                  <a:pt x="63945" y="7885"/>
                </a:lnTo>
                <a:lnTo>
                  <a:pt x="83376" y="1990"/>
                </a:lnTo>
                <a:lnTo>
                  <a:pt x="103585" y="0"/>
                </a:lnTo>
                <a:lnTo>
                  <a:pt x="123793" y="1990"/>
                </a:lnTo>
                <a:lnTo>
                  <a:pt x="143225" y="7885"/>
                </a:lnTo>
                <a:lnTo>
                  <a:pt x="161133" y="17457"/>
                </a:lnTo>
                <a:lnTo>
                  <a:pt x="176830" y="30339"/>
                </a:lnTo>
                <a:lnTo>
                  <a:pt x="189712" y="46036"/>
                </a:lnTo>
                <a:lnTo>
                  <a:pt x="199284" y="63944"/>
                </a:lnTo>
                <a:lnTo>
                  <a:pt x="205179" y="83376"/>
                </a:lnTo>
                <a:lnTo>
                  <a:pt x="207169" y="103584"/>
                </a:lnTo>
                <a:lnTo>
                  <a:pt x="207169" y="164008"/>
                </a:lnTo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363343" y="2409825"/>
            <a:ext cx="86320" cy="129480"/>
          </a:xfrm>
          <a:custGeom>
            <a:avLst/>
            <a:gdLst/>
            <a:ahLst/>
            <a:cxnLst/>
            <a:rect l="l" t="t" r="r" b="b"/>
            <a:pathLst>
              <a:path w="86320" h="129480">
                <a:moveTo>
                  <a:pt x="0" y="129480"/>
                </a:moveTo>
                <a:lnTo>
                  <a:pt x="0" y="86320"/>
                </a:lnTo>
                <a:lnTo>
                  <a:pt x="416" y="77859"/>
                </a:lnTo>
                <a:lnTo>
                  <a:pt x="1659" y="69480"/>
                </a:lnTo>
                <a:lnTo>
                  <a:pt x="3717" y="61263"/>
                </a:lnTo>
                <a:lnTo>
                  <a:pt x="6571" y="53287"/>
                </a:lnTo>
                <a:lnTo>
                  <a:pt x="10193" y="45629"/>
                </a:lnTo>
                <a:lnTo>
                  <a:pt x="14548" y="38363"/>
                </a:lnTo>
                <a:lnTo>
                  <a:pt x="19594" y="31559"/>
                </a:lnTo>
                <a:lnTo>
                  <a:pt x="25283" y="25283"/>
                </a:lnTo>
                <a:lnTo>
                  <a:pt x="31559" y="19594"/>
                </a:lnTo>
                <a:lnTo>
                  <a:pt x="38363" y="14548"/>
                </a:lnTo>
                <a:lnTo>
                  <a:pt x="45629" y="10193"/>
                </a:lnTo>
                <a:lnTo>
                  <a:pt x="53287" y="6571"/>
                </a:lnTo>
                <a:lnTo>
                  <a:pt x="61263" y="3717"/>
                </a:lnTo>
                <a:lnTo>
                  <a:pt x="69480" y="1659"/>
                </a:lnTo>
                <a:lnTo>
                  <a:pt x="77859" y="416"/>
                </a:lnTo>
                <a:lnTo>
                  <a:pt x="86320" y="0"/>
                </a:lnTo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708624" y="2409825"/>
            <a:ext cx="86321" cy="129480"/>
          </a:xfrm>
          <a:custGeom>
            <a:avLst/>
            <a:gdLst/>
            <a:ahLst/>
            <a:cxnLst/>
            <a:rect l="l" t="t" r="r" b="b"/>
            <a:pathLst>
              <a:path w="86321" h="129480">
                <a:moveTo>
                  <a:pt x="86321" y="129480"/>
                </a:moveTo>
                <a:lnTo>
                  <a:pt x="86321" y="86320"/>
                </a:lnTo>
                <a:lnTo>
                  <a:pt x="85905" y="77859"/>
                </a:lnTo>
                <a:lnTo>
                  <a:pt x="84662" y="69480"/>
                </a:lnTo>
                <a:lnTo>
                  <a:pt x="82604" y="61263"/>
                </a:lnTo>
                <a:lnTo>
                  <a:pt x="79750" y="53287"/>
                </a:lnTo>
                <a:lnTo>
                  <a:pt x="76128" y="45629"/>
                </a:lnTo>
                <a:lnTo>
                  <a:pt x="71773" y="38363"/>
                </a:lnTo>
                <a:lnTo>
                  <a:pt x="66727" y="31559"/>
                </a:lnTo>
                <a:lnTo>
                  <a:pt x="61038" y="25283"/>
                </a:lnTo>
                <a:lnTo>
                  <a:pt x="54761" y="19594"/>
                </a:lnTo>
                <a:lnTo>
                  <a:pt x="47957" y="14548"/>
                </a:lnTo>
                <a:lnTo>
                  <a:pt x="40691" y="10193"/>
                </a:lnTo>
                <a:lnTo>
                  <a:pt x="33034" y="6571"/>
                </a:lnTo>
                <a:lnTo>
                  <a:pt x="25058" y="3717"/>
                </a:lnTo>
                <a:lnTo>
                  <a:pt x="16840" y="1659"/>
                </a:lnTo>
                <a:lnTo>
                  <a:pt x="8461" y="416"/>
                </a:lnTo>
                <a:lnTo>
                  <a:pt x="0" y="0"/>
                </a:lnTo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Passo 2 titulo"/>
          <p:cNvSpPr txBox="1"/>
          <p:nvPr/>
        </p:nvSpPr>
        <p:spPr>
          <a:xfrm>
            <a:off x="3395662" y="2724150"/>
            <a:ext cx="23669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lang="pt-BR" dirty="0">
                <a:solidFill>
                  <a:srgbClr val="111111"/>
                </a:solidFill>
                <a:latin typeface="Arial"/>
              </a:rPr>
              <a:t>Priorizar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lang="pt-BR" dirty="0">
                <a:solidFill>
                  <a:srgbClr val="111111"/>
                </a:solidFill>
                <a:latin typeface="Arial"/>
              </a:rPr>
              <a:t>na ponta</a:t>
            </a:r>
          </a:p>
        </p:txBody>
      </p:sp>
      <p:sp>
        <p:nvSpPr>
          <p:cNvPr id="22" name="Passo 2 bullets"/>
          <p:cNvSpPr txBox="1"/>
          <p:nvPr/>
        </p:nvSpPr>
        <p:spPr>
          <a:xfrm>
            <a:off x="3395662" y="3181350"/>
            <a:ext cx="2366962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Cascata completa: divisional para regional, regional para GV, GV para CV</a:t>
            </a:r>
          </a:p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Cada CV recebe a lista nominal dos leads quentes do dia</a:t>
            </a:r>
          </a:p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Instrução única: ligar em 100% da lista no mesmo dia</a:t>
            </a:r>
          </a:p>
        </p:txBody>
      </p:sp>
      <p:sp>
        <p:nvSpPr>
          <p:cNvPr id="23" name="Passo 2 dono"/>
          <p:cNvSpPr txBox="1"/>
          <p:nvPr/>
        </p:nvSpPr>
        <p:spPr>
          <a:xfrm>
            <a:off x="3395662" y="4724400"/>
            <a:ext cx="2366962" cy="3238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lang="pt-BR" dirty="0">
                <a:solidFill>
                  <a:srgbClr val="111111"/>
                </a:solidFill>
                <a:latin typeface="Arial"/>
              </a:rPr>
              <a:t>Dono: Regionais e GVs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lang="pt-BR" dirty="0">
                <a:solidFill>
                  <a:srgbClr val="111111"/>
                </a:solidFill>
                <a:latin typeface="Arial"/>
              </a:rPr>
              <a:t>Prazo: Semanas 1 e 2</a:t>
            </a:r>
          </a:p>
        </p:txBody>
      </p:sp>
      <p:sp>
        <p:nvSpPr>
          <p:cNvPr id="24" name="Numero 2"/>
          <p:cNvSpPr/>
          <p:nvPr/>
        </p:nvSpPr>
        <p:spPr>
          <a:xfrm>
            <a:off x="3262312" y="1590675"/>
            <a:ext cx="342900" cy="3429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Passo 3"/>
          <p:cNvSpPr/>
          <p:nvPr/>
        </p:nvSpPr>
        <p:spPr>
          <a:xfrm>
            <a:off x="6238875" y="1638300"/>
            <a:ext cx="2747962" cy="3505200"/>
          </a:xfrm>
          <a:prstGeom prst="rect">
            <a:avLst/>
          </a:prstGeom>
          <a:gradFill rotWithShape="1">
            <a:gsLst>
              <a:gs pos="0">
                <a:srgbClr val="F7F7F8"/>
              </a:gs>
              <a:gs pos="28000">
                <a:srgbClr val="FFFFFF"/>
              </a:gs>
            </a:gsLst>
            <a:lin scaled="0" ang="5400000"/>
          </a:gradFill>
          <a:ln w="9525">
            <a:solidFill>
              <a:srgbClr val="ECECEC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422952" y="2219920"/>
            <a:ext cx="379809" cy="345282"/>
          </a:xfrm>
          <a:custGeom>
            <a:avLst/>
            <a:gdLst/>
            <a:ahLst/>
            <a:cxnLst/>
            <a:rect l="l" t="t" r="r" b="b"/>
            <a:pathLst>
              <a:path w="379809" h="345282">
                <a:moveTo>
                  <a:pt x="189904" y="0"/>
                </a:moveTo>
                <a:lnTo>
                  <a:pt x="379809" y="345282"/>
                </a:lnTo>
                <a:lnTo>
                  <a:pt x="0" y="345282"/>
                </a:lnTo>
                <a:close/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612856" y="2340768"/>
            <a:ext cx="0" cy="112217"/>
          </a:xfrm>
          <a:prstGeom prst="line">
            <a:avLst/>
          </a:prstGeom>
          <a:ln w="21580" cap="rnd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12856" y="2504777"/>
            <a:ext cx="0" cy="17264"/>
          </a:xfrm>
          <a:prstGeom prst="line">
            <a:avLst/>
          </a:prstGeom>
          <a:ln w="21580" cap="rnd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asso 3 titulo"/>
          <p:cNvSpPr txBox="1"/>
          <p:nvPr/>
        </p:nvSpPr>
        <p:spPr>
          <a:xfrm>
            <a:off x="6429375" y="2724150"/>
            <a:ext cx="23669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lang="pt-BR" dirty="0">
                <a:solidFill>
                  <a:srgbClr val="111111"/>
                </a:solidFill>
                <a:latin typeface="Arial"/>
              </a:rPr>
              <a:t>Avisar da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lang="pt-BR" dirty="0">
                <a:solidFill>
                  <a:srgbClr val="111111"/>
                </a:solidFill>
                <a:latin typeface="Arial"/>
              </a:rPr>
              <a:t>consequência</a:t>
            </a:r>
          </a:p>
        </p:txBody>
      </p:sp>
      <p:sp>
        <p:nvSpPr>
          <p:cNvPr id="30" name="Passo 3 bullets"/>
          <p:cNvSpPr txBox="1"/>
          <p:nvPr/>
        </p:nvSpPr>
        <p:spPr>
          <a:xfrm>
            <a:off x="6429375" y="3181350"/>
            <a:ext cx="2366962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Regra comunicada antes de valer: não converter lead quente reduz o volume recebido</a:t>
            </a:r>
          </a:p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Conversão por CV acompanhada semana a semana</a:t>
            </a:r>
          </a:p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Sem surpresa: aviso formal antes do primeiro corte</a:t>
            </a:r>
          </a:p>
        </p:txBody>
      </p:sp>
      <p:sp>
        <p:nvSpPr>
          <p:cNvPr id="31" name="Passo 3 dono"/>
          <p:cNvSpPr txBox="1"/>
          <p:nvPr/>
        </p:nvSpPr>
        <p:spPr>
          <a:xfrm>
            <a:off x="6429375" y="4724400"/>
            <a:ext cx="2366962" cy="3238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lang="pt-BR" dirty="0">
                <a:solidFill>
                  <a:srgbClr val="111111"/>
                </a:solidFill>
                <a:latin typeface="Arial"/>
              </a:rPr>
              <a:t>Dono: Glauco e GVs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lang="pt-BR" dirty="0">
                <a:solidFill>
                  <a:srgbClr val="111111"/>
                </a:solidFill>
                <a:latin typeface="Arial"/>
              </a:rPr>
              <a:t>Prazo: Semana 2</a:t>
            </a:r>
          </a:p>
        </p:txBody>
      </p:sp>
      <p:sp>
        <p:nvSpPr>
          <p:cNvPr id="32" name="Numero 3"/>
          <p:cNvSpPr/>
          <p:nvPr/>
        </p:nvSpPr>
        <p:spPr>
          <a:xfrm>
            <a:off x="6296025" y="1590675"/>
            <a:ext cx="342900" cy="3429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Passo 4"/>
          <p:cNvSpPr/>
          <p:nvPr/>
        </p:nvSpPr>
        <p:spPr>
          <a:xfrm>
            <a:off x="9272587" y="1638300"/>
            <a:ext cx="2747962" cy="3505200"/>
          </a:xfrm>
          <a:prstGeom prst="rect">
            <a:avLst/>
          </a:prstGeom>
          <a:gradFill rotWithShape="1">
            <a:gsLst>
              <a:gs pos="0">
                <a:srgbClr val="F7F7F8"/>
              </a:gs>
              <a:gs pos="28000">
                <a:srgbClr val="FFFFFF"/>
              </a:gs>
            </a:gsLst>
            <a:lin scaled="0" ang="5400000"/>
          </a:gradFill>
          <a:ln w="9525">
            <a:solidFill>
              <a:srgbClr val="ECECEC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0491192" y="2239390"/>
            <a:ext cx="284857" cy="75483"/>
          </a:xfrm>
          <a:custGeom>
            <a:avLst/>
            <a:gdLst/>
            <a:ahLst/>
            <a:cxnLst/>
            <a:rect l="l" t="t" r="r" b="b"/>
            <a:pathLst>
              <a:path w="284857" h="75483">
                <a:moveTo>
                  <a:pt x="284857" y="49587"/>
                </a:moveTo>
                <a:lnTo>
                  <a:pt x="272359" y="37538"/>
                </a:lnTo>
                <a:lnTo>
                  <a:pt x="258595" y="26959"/>
                </a:lnTo>
                <a:lnTo>
                  <a:pt x="243737" y="17982"/>
                </a:lnTo>
                <a:lnTo>
                  <a:pt x="227970" y="10718"/>
                </a:lnTo>
                <a:lnTo>
                  <a:pt x="211491" y="5258"/>
                </a:lnTo>
                <a:lnTo>
                  <a:pt x="194506" y="1671"/>
                </a:lnTo>
                <a:lnTo>
                  <a:pt x="177227" y="0"/>
                </a:lnTo>
                <a:lnTo>
                  <a:pt x="159869" y="268"/>
                </a:lnTo>
                <a:lnTo>
                  <a:pt x="142650" y="2470"/>
                </a:lnTo>
                <a:lnTo>
                  <a:pt x="125784" y="6579"/>
                </a:lnTo>
                <a:lnTo>
                  <a:pt x="109481" y="12544"/>
                </a:lnTo>
                <a:lnTo>
                  <a:pt x="93945" y="20291"/>
                </a:lnTo>
                <a:lnTo>
                  <a:pt x="79371" y="29722"/>
                </a:lnTo>
                <a:lnTo>
                  <a:pt x="65940" y="40720"/>
                </a:lnTo>
                <a:lnTo>
                  <a:pt x="53819" y="53148"/>
                </a:lnTo>
                <a:lnTo>
                  <a:pt x="43160" y="66851"/>
                </a:lnTo>
                <a:lnTo>
                  <a:pt x="0" y="75483"/>
                </a:lnTo>
                <a:lnTo>
                  <a:pt x="8632" y="23690"/>
                </a:lnTo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517088" y="2504777"/>
            <a:ext cx="284857" cy="75483"/>
          </a:xfrm>
          <a:custGeom>
            <a:avLst/>
            <a:gdLst/>
            <a:ahLst/>
            <a:cxnLst/>
            <a:rect l="l" t="t" r="r" b="b"/>
            <a:pathLst>
              <a:path w="284857" h="75483">
                <a:moveTo>
                  <a:pt x="0" y="25896"/>
                </a:moveTo>
                <a:lnTo>
                  <a:pt x="12498" y="37945"/>
                </a:lnTo>
                <a:lnTo>
                  <a:pt x="26262" y="48524"/>
                </a:lnTo>
                <a:lnTo>
                  <a:pt x="41120" y="57501"/>
                </a:lnTo>
                <a:lnTo>
                  <a:pt x="56887" y="64765"/>
                </a:lnTo>
                <a:lnTo>
                  <a:pt x="73366" y="70225"/>
                </a:lnTo>
                <a:lnTo>
                  <a:pt x="90351" y="73812"/>
                </a:lnTo>
                <a:lnTo>
                  <a:pt x="107630" y="75483"/>
                </a:lnTo>
                <a:lnTo>
                  <a:pt x="124988" y="75215"/>
                </a:lnTo>
                <a:lnTo>
                  <a:pt x="142208" y="73013"/>
                </a:lnTo>
                <a:lnTo>
                  <a:pt x="159074" y="68904"/>
                </a:lnTo>
                <a:lnTo>
                  <a:pt x="175377" y="62939"/>
                </a:lnTo>
                <a:lnTo>
                  <a:pt x="190912" y="55192"/>
                </a:lnTo>
                <a:lnTo>
                  <a:pt x="205487" y="45761"/>
                </a:lnTo>
                <a:lnTo>
                  <a:pt x="218918" y="34763"/>
                </a:lnTo>
                <a:lnTo>
                  <a:pt x="231039" y="22335"/>
                </a:lnTo>
                <a:lnTo>
                  <a:pt x="241697" y="8632"/>
                </a:lnTo>
                <a:lnTo>
                  <a:pt x="284857" y="0"/>
                </a:lnTo>
                <a:lnTo>
                  <a:pt x="276225" y="51793"/>
                </a:lnTo>
              </a:path>
            </a:pathLst>
          </a:custGeom>
          <a:noFill/>
          <a:ln w="2158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10706992" y="2288976"/>
            <a:ext cx="51793" cy="0"/>
          </a:xfrm>
          <a:prstGeom prst="line">
            <a:avLst/>
          </a:prstGeom>
          <a:ln w="21580" cap="rnd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534352" y="2530673"/>
            <a:ext cx="51792" cy="0"/>
          </a:xfrm>
          <a:prstGeom prst="line">
            <a:avLst/>
          </a:prstGeom>
          <a:ln w="21580" cap="rnd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Passo 4 titulo"/>
          <p:cNvSpPr txBox="1"/>
          <p:nvPr/>
        </p:nvSpPr>
        <p:spPr>
          <a:xfrm>
            <a:off x="9463087" y="2724150"/>
            <a:ext cx="236696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lang="pt-BR" dirty="0">
                <a:solidFill>
                  <a:srgbClr val="111111"/>
                </a:solidFill>
                <a:latin typeface="Arial"/>
              </a:rPr>
              <a:t>Realocar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75" b="1" lang="pt-BR" dirty="0">
                <a:solidFill>
                  <a:srgbClr val="111111"/>
                </a:solidFill>
                <a:latin typeface="Arial"/>
              </a:rPr>
              <a:t>o lead quente</a:t>
            </a:r>
          </a:p>
        </p:txBody>
      </p:sp>
      <p:sp>
        <p:nvSpPr>
          <p:cNvPr id="39" name="Passo 4 bullets"/>
          <p:cNvSpPr txBox="1"/>
          <p:nvPr/>
        </p:nvSpPr>
        <p:spPr>
          <a:xfrm>
            <a:off x="9463087" y="3181350"/>
            <a:ext cx="2366962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Alocação inicial antes o critério do cliente, como é hoje</a:t>
            </a:r>
          </a:p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Dentro da loja, o mix de quente, morno e frio segue a performance do CV</a:t>
            </a:r>
          </a:p>
          <a:p>
            <a:pPr algn="l" marL="152400" indent="-152400">
              <a:lnSpc>
                <a:spcPct val="112000"/>
              </a:lnSpc>
              <a:spcBef>
                <a:spcPts val="0"/>
              </a:spcBef>
              <a:spcAft>
                <a:spcPts val="450"/>
              </a:spcAft>
              <a:buFont typeface="Arial"/>
              <a:buChar char="•"/>
            </a:pPr>
            <a:r>
              <a:rPr sz="1050" b="0" lang="pt-BR" dirty="0">
                <a:solidFill>
                  <a:srgbClr val="1D1D1D"/>
                </a:solidFill>
                <a:latin typeface="Arial"/>
              </a:rPr>
              <a:t>Lead quente não tratado no prazo é realocado para quem atende</a:t>
            </a:r>
          </a:p>
        </p:txBody>
      </p:sp>
      <p:sp>
        <p:nvSpPr>
          <p:cNvPr id="40" name="Passo 4 dono"/>
          <p:cNvSpPr txBox="1"/>
          <p:nvPr/>
        </p:nvSpPr>
        <p:spPr>
          <a:xfrm>
            <a:off x="9463087" y="4724400"/>
            <a:ext cx="2366962" cy="3238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lang="pt-BR" dirty="0">
                <a:solidFill>
                  <a:srgbClr val="111111"/>
                </a:solidFill>
                <a:latin typeface="Arial"/>
              </a:rPr>
              <a:t>Dono: L2S e comercial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lang="pt-BR" dirty="0">
                <a:solidFill>
                  <a:srgbClr val="111111"/>
                </a:solidFill>
                <a:latin typeface="Arial"/>
              </a:rPr>
              <a:t>Prazo: Semanas 3 e 4, em piloto</a:t>
            </a:r>
          </a:p>
        </p:txBody>
      </p:sp>
      <p:sp>
        <p:nvSpPr>
          <p:cNvPr id="41" name="Numero 4"/>
          <p:cNvSpPr/>
          <p:nvPr/>
        </p:nvSpPr>
        <p:spPr>
          <a:xfrm>
            <a:off x="9329737" y="1590675"/>
            <a:ext cx="342900" cy="3429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Sequencia"/>
          <p:cNvSpPr/>
          <p:nvPr/>
        </p:nvSpPr>
        <p:spPr>
          <a:xfrm>
            <a:off x="3000375" y="2038349"/>
            <a:ext cx="123825" cy="209551"/>
          </a:xfrm>
          <a:custGeom>
            <a:avLst/>
            <a:gdLst/>
            <a:ahLst/>
            <a:cxnLst/>
            <a:rect l="l" t="t" r="r" b="b"/>
            <a:pathLst>
              <a:path w="123825" h="209551">
                <a:moveTo>
                  <a:pt x="0" y="0"/>
                </a:moveTo>
                <a:lnTo>
                  <a:pt x="123825" y="104776"/>
                </a:lnTo>
                <a:lnTo>
                  <a:pt x="0" y="209551"/>
                </a:lnTo>
              </a:path>
            </a:pathLst>
          </a:custGeom>
          <a:noFill/>
          <a:ln w="19050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Sequencia"/>
          <p:cNvSpPr/>
          <p:nvPr/>
        </p:nvSpPr>
        <p:spPr>
          <a:xfrm>
            <a:off x="6034087" y="2038349"/>
            <a:ext cx="123825" cy="209551"/>
          </a:xfrm>
          <a:custGeom>
            <a:avLst/>
            <a:gdLst/>
            <a:ahLst/>
            <a:cxnLst/>
            <a:rect l="l" t="t" r="r" b="b"/>
            <a:pathLst>
              <a:path w="123825" h="209551">
                <a:moveTo>
                  <a:pt x="0" y="0"/>
                </a:moveTo>
                <a:lnTo>
                  <a:pt x="123825" y="104776"/>
                </a:lnTo>
                <a:lnTo>
                  <a:pt x="0" y="209551"/>
                </a:lnTo>
              </a:path>
            </a:pathLst>
          </a:custGeom>
          <a:noFill/>
          <a:ln w="19050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Sequencia"/>
          <p:cNvSpPr/>
          <p:nvPr/>
        </p:nvSpPr>
        <p:spPr>
          <a:xfrm>
            <a:off x="9067800" y="2038349"/>
            <a:ext cx="123825" cy="209551"/>
          </a:xfrm>
          <a:custGeom>
            <a:avLst/>
            <a:gdLst/>
            <a:ahLst/>
            <a:cxnLst/>
            <a:rect l="l" t="t" r="r" b="b"/>
            <a:pathLst>
              <a:path w="123825" h="209551">
                <a:moveTo>
                  <a:pt x="0" y="0"/>
                </a:moveTo>
                <a:lnTo>
                  <a:pt x="123825" y="104776"/>
                </a:lnTo>
                <a:lnTo>
                  <a:pt x="0" y="209551"/>
                </a:lnTo>
              </a:path>
            </a:pathLst>
          </a:custGeom>
          <a:noFill/>
          <a:ln w="19050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Faixa de merito"/>
          <p:cNvSpPr/>
          <p:nvPr/>
        </p:nvSpPr>
        <p:spPr>
          <a:xfrm>
            <a:off x="171450" y="5257800"/>
            <a:ext cx="11849100" cy="428625"/>
          </a:xfrm>
          <a:prstGeom prst="roundRect">
            <a:avLst>
              <a:gd name="adj" fmla="val 15555"/>
            </a:avLst>
          </a:prstGeom>
          <a:noFill/>
          <a:ln w="19050">
            <a:solidFill>
              <a:srgbClr val="D96C7E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Medalha disco"/>
          <p:cNvSpPr/>
          <p:nvPr/>
        </p:nvSpPr>
        <p:spPr>
          <a:xfrm>
            <a:off x="95250" y="5191125"/>
            <a:ext cx="495299" cy="495299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92894" y="5347097"/>
            <a:ext cx="100012" cy="116681"/>
          </a:xfrm>
          <a:custGeom>
            <a:avLst/>
            <a:gdLst/>
            <a:ahLst/>
            <a:cxnLst/>
            <a:rect l="l" t="t" r="r" b="b"/>
            <a:pathLst>
              <a:path w="100012" h="116681">
                <a:moveTo>
                  <a:pt x="0" y="0"/>
                </a:moveTo>
                <a:lnTo>
                  <a:pt x="100012" y="0"/>
                </a:lnTo>
                <a:lnTo>
                  <a:pt x="100012" y="50006"/>
                </a:lnTo>
                <a:lnTo>
                  <a:pt x="99953" y="55631"/>
                </a:lnTo>
                <a:lnTo>
                  <a:pt x="99419" y="61231"/>
                </a:lnTo>
                <a:lnTo>
                  <a:pt x="98416" y="66766"/>
                </a:lnTo>
                <a:lnTo>
                  <a:pt x="96950" y="72196"/>
                </a:lnTo>
                <a:lnTo>
                  <a:pt x="95031" y="77484"/>
                </a:lnTo>
                <a:lnTo>
                  <a:pt x="92673" y="82591"/>
                </a:lnTo>
                <a:lnTo>
                  <a:pt x="89893" y="87481"/>
                </a:lnTo>
                <a:lnTo>
                  <a:pt x="86711" y="92120"/>
                </a:lnTo>
                <a:lnTo>
                  <a:pt x="83149" y="96473"/>
                </a:lnTo>
                <a:lnTo>
                  <a:pt x="79232" y="100511"/>
                </a:lnTo>
                <a:lnTo>
                  <a:pt x="74990" y="104205"/>
                </a:lnTo>
                <a:lnTo>
                  <a:pt x="70451" y="107528"/>
                </a:lnTo>
                <a:lnTo>
                  <a:pt x="65648" y="110456"/>
                </a:lnTo>
                <a:lnTo>
                  <a:pt x="60616" y="112969"/>
                </a:lnTo>
                <a:lnTo>
                  <a:pt x="55389" y="115049"/>
                </a:lnTo>
                <a:lnTo>
                  <a:pt x="50006" y="116681"/>
                </a:lnTo>
                <a:lnTo>
                  <a:pt x="44623" y="115049"/>
                </a:lnTo>
                <a:lnTo>
                  <a:pt x="39396" y="112969"/>
                </a:lnTo>
                <a:lnTo>
                  <a:pt x="34364" y="110456"/>
                </a:lnTo>
                <a:lnTo>
                  <a:pt x="29561" y="107528"/>
                </a:lnTo>
                <a:lnTo>
                  <a:pt x="25022" y="104205"/>
                </a:lnTo>
                <a:lnTo>
                  <a:pt x="20780" y="100511"/>
                </a:lnTo>
                <a:lnTo>
                  <a:pt x="16863" y="96473"/>
                </a:lnTo>
                <a:lnTo>
                  <a:pt x="13301" y="92120"/>
                </a:lnTo>
                <a:lnTo>
                  <a:pt x="10119" y="87481"/>
                </a:lnTo>
                <a:lnTo>
                  <a:pt x="7339" y="82591"/>
                </a:lnTo>
                <a:lnTo>
                  <a:pt x="4981" y="77484"/>
                </a:lnTo>
                <a:lnTo>
                  <a:pt x="3062" y="72196"/>
                </a:lnTo>
                <a:lnTo>
                  <a:pt x="1596" y="66766"/>
                </a:lnTo>
                <a:lnTo>
                  <a:pt x="593" y="61231"/>
                </a:lnTo>
                <a:lnTo>
                  <a:pt x="59" y="55631"/>
                </a:lnTo>
                <a:lnTo>
                  <a:pt x="0" y="50006"/>
                </a:lnTo>
                <a:close/>
              </a:path>
            </a:pathLst>
          </a:custGeom>
          <a:noFill/>
          <a:ln w="16668" cap="rnd">
            <a:solidFill>
              <a:srgbClr val="FFFFFF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51222" y="5372100"/>
            <a:ext cx="50006" cy="66675"/>
          </a:xfrm>
          <a:custGeom>
            <a:avLst/>
            <a:gdLst/>
            <a:ahLst/>
            <a:cxnLst/>
            <a:rect l="l" t="t" r="r" b="b"/>
            <a:pathLst>
              <a:path w="50006" h="66675">
                <a:moveTo>
                  <a:pt x="41672" y="0"/>
                </a:moveTo>
                <a:lnTo>
                  <a:pt x="0" y="0"/>
                </a:lnTo>
                <a:lnTo>
                  <a:pt x="59" y="5625"/>
                </a:lnTo>
                <a:lnTo>
                  <a:pt x="593" y="11225"/>
                </a:lnTo>
                <a:lnTo>
                  <a:pt x="1596" y="16760"/>
                </a:lnTo>
                <a:lnTo>
                  <a:pt x="3063" y="22190"/>
                </a:lnTo>
                <a:lnTo>
                  <a:pt x="4981" y="27478"/>
                </a:lnTo>
                <a:lnTo>
                  <a:pt x="7339" y="32585"/>
                </a:lnTo>
                <a:lnTo>
                  <a:pt x="10119" y="37475"/>
                </a:lnTo>
                <a:lnTo>
                  <a:pt x="13302" y="42114"/>
                </a:lnTo>
                <a:lnTo>
                  <a:pt x="16863" y="46467"/>
                </a:lnTo>
                <a:lnTo>
                  <a:pt x="20780" y="50505"/>
                </a:lnTo>
                <a:lnTo>
                  <a:pt x="25022" y="54199"/>
                </a:lnTo>
                <a:lnTo>
                  <a:pt x="29561" y="57522"/>
                </a:lnTo>
                <a:lnTo>
                  <a:pt x="34364" y="60450"/>
                </a:lnTo>
                <a:lnTo>
                  <a:pt x="39396" y="62963"/>
                </a:lnTo>
                <a:lnTo>
                  <a:pt x="44623" y="65043"/>
                </a:lnTo>
                <a:lnTo>
                  <a:pt x="50006" y="66675"/>
                </a:lnTo>
              </a:path>
            </a:pathLst>
          </a:custGeom>
          <a:noFill/>
          <a:ln w="16668" cap="rnd">
            <a:solidFill>
              <a:srgbClr val="FFFFFF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84572" y="5372100"/>
            <a:ext cx="50006" cy="66675"/>
          </a:xfrm>
          <a:custGeom>
            <a:avLst/>
            <a:gdLst/>
            <a:ahLst/>
            <a:cxnLst/>
            <a:rect l="l" t="t" r="r" b="b"/>
            <a:pathLst>
              <a:path w="50006" h="66675">
                <a:moveTo>
                  <a:pt x="8334" y="0"/>
                </a:moveTo>
                <a:lnTo>
                  <a:pt x="50006" y="0"/>
                </a:lnTo>
                <a:lnTo>
                  <a:pt x="49947" y="5625"/>
                </a:lnTo>
                <a:lnTo>
                  <a:pt x="49413" y="11225"/>
                </a:lnTo>
                <a:lnTo>
                  <a:pt x="48410" y="16760"/>
                </a:lnTo>
                <a:lnTo>
                  <a:pt x="46943" y="22190"/>
                </a:lnTo>
                <a:lnTo>
                  <a:pt x="45025" y="27478"/>
                </a:lnTo>
                <a:lnTo>
                  <a:pt x="42667" y="32585"/>
                </a:lnTo>
                <a:lnTo>
                  <a:pt x="39887" y="37475"/>
                </a:lnTo>
                <a:lnTo>
                  <a:pt x="36704" y="42114"/>
                </a:lnTo>
                <a:lnTo>
                  <a:pt x="33143" y="46467"/>
                </a:lnTo>
                <a:lnTo>
                  <a:pt x="29226" y="50505"/>
                </a:lnTo>
                <a:lnTo>
                  <a:pt x="24984" y="54199"/>
                </a:lnTo>
                <a:lnTo>
                  <a:pt x="20445" y="57522"/>
                </a:lnTo>
                <a:lnTo>
                  <a:pt x="15642" y="60450"/>
                </a:lnTo>
                <a:lnTo>
                  <a:pt x="10610" y="62963"/>
                </a:lnTo>
                <a:lnTo>
                  <a:pt x="5383" y="65043"/>
                </a:lnTo>
                <a:lnTo>
                  <a:pt x="0" y="66675"/>
                </a:lnTo>
              </a:path>
            </a:pathLst>
          </a:custGeom>
          <a:noFill/>
          <a:ln w="16668" cap="rnd">
            <a:solidFill>
              <a:srgbClr val="FFFFFF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42900" y="5463778"/>
            <a:ext cx="0" cy="41672"/>
          </a:xfrm>
          <a:prstGeom prst="line">
            <a:avLst/>
          </a:prstGeom>
          <a:ln w="16668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7896" y="5505450"/>
            <a:ext cx="50007" cy="0"/>
          </a:xfrm>
          <a:prstGeom prst="line">
            <a:avLst/>
          </a:prstGeom>
          <a:ln w="16668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1228" y="5538787"/>
            <a:ext cx="83343" cy="0"/>
          </a:xfrm>
          <a:prstGeom prst="line">
            <a:avLst/>
          </a:prstGeom>
          <a:ln w="16668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Merito"/>
          <p:cNvSpPr txBox="1"/>
          <p:nvPr/>
        </p:nvSpPr>
        <p:spPr>
          <a:xfrm>
            <a:off x="819150" y="5257800"/>
            <a:ext cx="110109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pt-BR" dirty="0">
                <a:solidFill>
                  <a:srgbClr val="CC0000"/>
                </a:solidFill>
                <a:latin typeface="Arial"/>
              </a:rPr>
              <a:t>Lead quente passa a ser mérito, não direito: quem converte recebe mais, quem não converte recebe menos</a:t>
            </a:r>
          </a:p>
        </p:txBody>
      </p:sp>
      <p:sp>
        <p:nvSpPr>
          <p:cNvPr id="54" name="Fonte"/>
          <p:cNvSpPr txBox="1"/>
          <p:nvPr/>
        </p:nvSpPr>
        <p:spPr>
          <a:xfrm>
            <a:off x="171450" y="5781675"/>
            <a:ext cx="85725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lang="pt-BR" dirty="0">
                <a:solidFill>
                  <a:srgbClr val="333333"/>
                </a:solidFill>
                <a:latin typeface="Arial"/>
              </a:rPr>
              <a:t>Fonte: análise Bain; discussão com liderança comercial Localiza Seminovos</a:t>
            </a:r>
          </a:p>
        </p:txBody>
      </p:sp>
      <p:sp>
        <p:nvSpPr>
          <p:cNvPr id="55" name="Marca"/>
          <p:cNvSpPr txBox="1"/>
          <p:nvPr/>
        </p:nvSpPr>
        <p:spPr>
          <a:xfrm>
            <a:off x="9163050" y="5781675"/>
            <a:ext cx="2266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spc="200" lang="pt-BR" dirty="0">
                <a:solidFill>
                  <a:srgbClr val="CC0000"/>
                </a:solidFill>
                <a:latin typeface="Arial"/>
              </a:rPr>
              <a:t>BAIN &amp; COMPANY</a:t>
            </a:r>
          </a:p>
        </p:txBody>
      </p:sp>
      <p:sp>
        <p:nvSpPr>
          <p:cNvPr id="56" name="Marca simbolo"/>
          <p:cNvSpPr/>
          <p:nvPr/>
        </p:nvSpPr>
        <p:spPr>
          <a:xfrm>
            <a:off x="11563350" y="5791200"/>
            <a:ext cx="142875" cy="142875"/>
          </a:xfrm>
          <a:prstGeom prst="ellipse">
            <a:avLst/>
          </a:prstGeom>
          <a:noFill/>
          <a:ln w="19050">
            <a:solidFill>
              <a:srgbClr val="CC0000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Marca ponto"/>
          <p:cNvSpPr/>
          <p:nvPr/>
        </p:nvSpPr>
        <p:spPr>
          <a:xfrm>
            <a:off x="11668125" y="5762625"/>
            <a:ext cx="38100" cy="3810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Pagina"/>
          <p:cNvSpPr txBox="1"/>
          <p:nvPr/>
        </p:nvSpPr>
        <p:spPr>
          <a:xfrm>
            <a:off x="11887200" y="5781675"/>
            <a:ext cx="1333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" b="0" lang="pt-BR" dirty="0">
                <a:solidFill>
                  <a:srgbClr val="55555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quente: comunicar, priorizar, avisar e realocar</dc:title>
  <dc:subject/>
  <dc:creator>ConsultingInnovation@bain.com</dc:creator>
  <cp:keywords/>
  <dc:description>generated using python-pptx</dc:description>
  <cp:lastModifiedBy>ConsultingInnovation@bain.com</cp:lastModifiedBy>
  <cp:revision>1</cp:revision>
  <dcterms:created xsi:type="dcterms:W3CDTF">2013-01-27T09:14:16Z</dcterms:created>
  <dcterms:modified xsi:type="dcterms:W3CDTF">2013-01-27T09:15:58Z</dcterms:modified>
  <cp:category/>
</cp:coreProperties>
</file>