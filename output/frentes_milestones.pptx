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txBody>
          <a:bodyPr rtlCol="0" anchor="ctr" lIns="0" rIns="0" tIns="0" bIns="0"/>
          <a:lstStyle/>
          <a:p>
            <a:pPr algn="ctr"/>
          </a:p>
        </p:txBody>
      </p:sp>
      <p:sp>
        <p:nvSpPr>
          <p:cNvPr id="3" name="TextBox 2"/>
          <p:cNvSpPr txBox="1"/>
          <p:nvPr/>
        </p:nvSpPr>
        <p:spPr>
          <a:xfrm>
            <a:off x="384048" y="274320"/>
            <a:ext cx="7996711" cy="146304"/>
          </a:xfrm>
          <a:prstGeom prst="rect">
            <a:avLst/>
          </a:prstGeom>
          <a:noFill/>
        </p:spPr>
        <p:txBody>
          <a:bodyPr wrap="square" lIns="0" rIns="0" tIns="0" bIns="0" anchor="t">
            <a:spAutoFit/>
          </a:bodyPr>
          <a:lstStyle/>
          <a:p>
            <a:pPr algn="l">
              <a:lnSpc>
                <a:spcPct val="122000"/>
              </a:lnSpc>
            </a:pPr>
            <a:r>
              <a:rPr sz="750" b="1" i="0">
                <a:solidFill>
                  <a:srgbClr val="1A1A1A"/>
                </a:solidFill>
                <a:latin typeface="Arial"/>
              </a:rPr>
              <a:t>Lead-to-Sales  ·  Painel de Controle</a:t>
            </a:r>
            <a:r>
              <a:rPr sz="750" b="0" i="0">
                <a:solidFill>
                  <a:srgbClr val="757575"/>
                </a:solidFill>
                <a:latin typeface="Arial"/>
              </a:rPr>
              <a:t>   |   Aceleração Seminovos</a:t>
            </a:r>
          </a:p>
        </p:txBody>
      </p:sp>
      <p:sp>
        <p:nvSpPr>
          <p:cNvPr id="4" name="TextBox 3"/>
          <p:cNvSpPr txBox="1"/>
          <p:nvPr/>
        </p:nvSpPr>
        <p:spPr>
          <a:xfrm>
            <a:off x="9796241" y="274320"/>
            <a:ext cx="2011680" cy="146304"/>
          </a:xfrm>
          <a:prstGeom prst="rect">
            <a:avLst/>
          </a:prstGeom>
          <a:noFill/>
        </p:spPr>
        <p:txBody>
          <a:bodyPr wrap="square" lIns="0" rIns="0" tIns="0" bIns="0" anchor="t">
            <a:spAutoFit/>
          </a:bodyPr>
          <a:lstStyle/>
          <a:p>
            <a:pPr algn="r">
              <a:lnSpc>
                <a:spcPct val="122000"/>
              </a:lnSpc>
            </a:pPr>
            <a:r>
              <a:rPr sz="750" b="0" i="0">
                <a:solidFill>
                  <a:srgbClr val="757575"/>
                </a:solidFill>
                <a:latin typeface="Arial"/>
              </a:rPr>
              <a:t>Frente 1 de 6</a:t>
            </a:r>
          </a:p>
        </p:txBody>
      </p:sp>
      <p:sp>
        <p:nvSpPr>
          <p:cNvPr id="5" name="Rectangle 4"/>
          <p:cNvSpPr/>
          <p:nvPr/>
        </p:nvSpPr>
        <p:spPr>
          <a:xfrm>
            <a:off x="384048" y="512064"/>
            <a:ext cx="11423873" cy="1007745"/>
          </a:xfrm>
          <a:prstGeom prst="rect">
            <a:avLst/>
          </a:prstGeom>
          <a:solidFill>
            <a:srgbClr val="F7F7F7"/>
          </a:solidFill>
          <a:ln w="9525">
            <a:solidFill>
              <a:srgbClr val="E2E2E2"/>
            </a:solidFill>
          </a:ln>
          <a:effectLst/>
        </p:spPr>
        <p:txBody>
          <a:bodyPr rtlCol="0" anchor="ctr" lIns="0" rIns="0" tIns="0" bIns="0"/>
          <a:lstStyle/>
          <a:p>
            <a:pPr algn="ctr"/>
          </a:p>
        </p:txBody>
      </p:sp>
      <p:sp>
        <p:nvSpPr>
          <p:cNvPr id="6" name="Rectangle 5"/>
          <p:cNvSpPr/>
          <p:nvPr/>
        </p:nvSpPr>
        <p:spPr>
          <a:xfrm>
            <a:off x="384048" y="512064"/>
            <a:ext cx="68580" cy="1007745"/>
          </a:xfrm>
          <a:prstGeom prst="rect">
            <a:avLst/>
          </a:prstGeom>
          <a:solidFill>
            <a:srgbClr val="78DE1F"/>
          </a:solidFill>
          <a:ln>
            <a:noFill/>
          </a:ln>
          <a:effectLst/>
        </p:spPr>
        <p:txBody>
          <a:bodyPr rtlCol="0" anchor="ctr" lIns="0" rIns="0" tIns="0" bIns="0"/>
          <a:lstStyle/>
          <a:p>
            <a:pPr algn="ctr"/>
          </a:p>
        </p:txBody>
      </p:sp>
      <p:sp>
        <p:nvSpPr>
          <p:cNvPr id="7" name="Oval 6"/>
          <p:cNvSpPr/>
          <p:nvPr/>
        </p:nvSpPr>
        <p:spPr>
          <a:xfrm>
            <a:off x="690372" y="658368"/>
            <a:ext cx="256032" cy="256032"/>
          </a:xfrm>
          <a:prstGeom prst="ellipse">
            <a:avLst/>
          </a:prstGeom>
          <a:solidFill>
            <a:srgbClr val="78DE1F"/>
          </a:solidFill>
          <a:ln>
            <a:noFill/>
          </a:ln>
          <a:effectLst/>
        </p:spPr>
        <p:txBody>
          <a:bodyPr rtlCol="0" anchor="ctr" lIns="0" rIns="0" tIns="0" bIns="0"/>
          <a:lstStyle/>
          <a:p>
            <a:pPr algn="ctr"/>
          </a:p>
        </p:txBody>
      </p:sp>
      <p:sp>
        <p:nvSpPr>
          <p:cNvPr id="8" name="TextBox 7"/>
          <p:cNvSpPr txBox="1"/>
          <p:nvPr/>
        </p:nvSpPr>
        <p:spPr>
          <a:xfrm>
            <a:off x="690372" y="699516"/>
            <a:ext cx="256032" cy="182880"/>
          </a:xfrm>
          <a:prstGeom prst="rect">
            <a:avLst/>
          </a:prstGeom>
          <a:noFill/>
        </p:spPr>
        <p:txBody>
          <a:bodyPr wrap="square" lIns="0" rIns="0" tIns="0" bIns="0" anchor="t">
            <a:spAutoFit/>
          </a:bodyPr>
          <a:lstStyle/>
          <a:p>
            <a:pPr algn="ctr">
              <a:lnSpc>
                <a:spcPct val="122000"/>
              </a:lnSpc>
            </a:pPr>
            <a:r>
              <a:rPr sz="1100" b="1" i="0">
                <a:solidFill>
                  <a:srgbClr val="1A1A1A"/>
                </a:solidFill>
                <a:latin typeface="Arial"/>
              </a:rPr>
              <a:t>1</a:t>
            </a:r>
          </a:p>
        </p:txBody>
      </p:sp>
      <p:sp>
        <p:nvSpPr>
          <p:cNvPr id="9" name="TextBox 8"/>
          <p:cNvSpPr txBox="1"/>
          <p:nvPr/>
        </p:nvSpPr>
        <p:spPr>
          <a:xfrm>
            <a:off x="1074420" y="658368"/>
            <a:ext cx="6289517" cy="193675"/>
          </a:xfrm>
          <a:prstGeom prst="rect">
            <a:avLst/>
          </a:prstGeom>
          <a:noFill/>
        </p:spPr>
        <p:txBody>
          <a:bodyPr wrap="square" lIns="0" rIns="0" tIns="0" bIns="0" anchor="t">
            <a:spAutoFit/>
          </a:bodyPr>
          <a:lstStyle/>
          <a:p>
            <a:pPr algn="l">
              <a:lnSpc>
                <a:spcPct val="122000"/>
              </a:lnSpc>
            </a:pPr>
            <a:r>
              <a:rPr sz="1250" b="1" i="0">
                <a:solidFill>
                  <a:srgbClr val="1A1A1A"/>
                </a:solidFill>
                <a:latin typeface="Arial"/>
              </a:rPr>
              <a:t>Planejamento integrado mkt | vendas</a:t>
            </a:r>
          </a:p>
        </p:txBody>
      </p:sp>
      <p:sp>
        <p:nvSpPr>
          <p:cNvPr id="10" name="TextBox 9"/>
          <p:cNvSpPr txBox="1"/>
          <p:nvPr/>
        </p:nvSpPr>
        <p:spPr>
          <a:xfrm>
            <a:off x="1074420" y="978408"/>
            <a:ext cx="6289517" cy="395096"/>
          </a:xfrm>
          <a:prstGeom prst="rect">
            <a:avLst/>
          </a:prstGeom>
          <a:noFill/>
        </p:spPr>
        <p:txBody>
          <a:bodyPr wrap="square" lIns="0" rIns="0" tIns="0" bIns="0" anchor="t">
            <a:spAutoFit/>
          </a:bodyPr>
          <a:lstStyle/>
          <a:p>
            <a:pPr algn="l">
              <a:lnSpc>
                <a:spcPct val="122000"/>
              </a:lnSpc>
            </a:pPr>
            <a:r>
              <a:rPr sz="850" b="0" i="0">
                <a:solidFill>
                  <a:srgbClr val="6B6B6B"/>
                </a:solidFill>
                <a:latin typeface="Arial"/>
              </a:rPr>
              <a:t>Aprimorar o planejamento integrado e colaborativo entre marketing e vendas para dimensionar a necessidade de vendas de curto prazo, desdobrando-a em planos de geração de leads e planos comerciais de conversão, com ambições compartilhadas entre as áreas.</a:t>
            </a:r>
          </a:p>
        </p:txBody>
      </p:sp>
      <p:sp>
        <p:nvSpPr>
          <p:cNvPr id="11" name="TextBox 10"/>
          <p:cNvSpPr txBox="1"/>
          <p:nvPr/>
        </p:nvSpPr>
        <p:spPr>
          <a:xfrm>
            <a:off x="7638257" y="658368"/>
            <a:ext cx="1572768" cy="100711"/>
          </a:xfrm>
          <a:prstGeom prst="rect">
            <a:avLst/>
          </a:prstGeom>
          <a:noFill/>
        </p:spPr>
        <p:txBody>
          <a:bodyPr wrap="square" lIns="0" rIns="0" tIns="0" bIns="0" anchor="t">
            <a:spAutoFit/>
          </a:bodyPr>
          <a:lstStyle/>
          <a:p>
            <a:pPr algn="l">
              <a:lnSpc>
                <a:spcPct val="122000"/>
              </a:lnSpc>
            </a:pPr>
            <a:r>
              <a:rPr sz="650" b="1" i="0">
                <a:solidFill>
                  <a:srgbClr val="757575"/>
                </a:solidFill>
                <a:latin typeface="Arial"/>
              </a:rPr>
              <a:t>LÍDER(ES)</a:t>
            </a:r>
          </a:p>
        </p:txBody>
      </p:sp>
      <p:sp>
        <p:nvSpPr>
          <p:cNvPr id="12" name="TextBox 11"/>
          <p:cNvSpPr txBox="1"/>
          <p:nvPr/>
        </p:nvSpPr>
        <p:spPr>
          <a:xfrm>
            <a:off x="7638257" y="804799"/>
            <a:ext cx="1572768" cy="247903"/>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Leonardo Viali, Luiz Santi e João Azevedo</a:t>
            </a:r>
          </a:p>
        </p:txBody>
      </p:sp>
      <p:sp>
        <p:nvSpPr>
          <p:cNvPr id="13" name="TextBox 12"/>
          <p:cNvSpPr txBox="1"/>
          <p:nvPr/>
        </p:nvSpPr>
        <p:spPr>
          <a:xfrm>
            <a:off x="9412193" y="658368"/>
            <a:ext cx="2212848" cy="100711"/>
          </a:xfrm>
          <a:prstGeom prst="rect">
            <a:avLst/>
          </a:prstGeom>
          <a:noFill/>
        </p:spPr>
        <p:txBody>
          <a:bodyPr wrap="square" lIns="0" rIns="0" tIns="0" bIns="0" anchor="t">
            <a:spAutoFit/>
          </a:bodyPr>
          <a:lstStyle/>
          <a:p>
            <a:pPr algn="l">
              <a:lnSpc>
                <a:spcPct val="122000"/>
              </a:lnSpc>
            </a:pPr>
            <a:r>
              <a:rPr sz="650" b="1" i="0">
                <a:solidFill>
                  <a:srgbClr val="757575"/>
                </a:solidFill>
                <a:latin typeface="Arial"/>
              </a:rPr>
              <a:t>TIME DE TRABALHO</a:t>
            </a:r>
          </a:p>
        </p:txBody>
      </p:sp>
      <p:sp>
        <p:nvSpPr>
          <p:cNvPr id="14" name="TextBox 13"/>
          <p:cNvSpPr txBox="1"/>
          <p:nvPr/>
        </p:nvSpPr>
        <p:spPr>
          <a:xfrm>
            <a:off x="9412193" y="804799"/>
            <a:ext cx="2212848" cy="247903"/>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Vitor Moraes, Juliana Ribas</a:t>
            </a:r>
          </a:p>
        </p:txBody>
      </p:sp>
      <p:sp>
        <p:nvSpPr>
          <p:cNvPr id="15" name="TextBox 14"/>
          <p:cNvSpPr txBox="1"/>
          <p:nvPr/>
        </p:nvSpPr>
        <p:spPr>
          <a:xfrm>
            <a:off x="384048" y="1702689"/>
            <a:ext cx="2743200" cy="155448"/>
          </a:xfrm>
          <a:prstGeom prst="rect">
            <a:avLst/>
          </a:prstGeom>
          <a:noFill/>
        </p:spPr>
        <p:txBody>
          <a:bodyPr wrap="square" lIns="0" rIns="0" tIns="0" bIns="0" anchor="t">
            <a:spAutoFit/>
          </a:bodyPr>
          <a:lstStyle/>
          <a:p>
            <a:pPr algn="l">
              <a:lnSpc>
                <a:spcPct val="122000"/>
              </a:lnSpc>
            </a:pPr>
            <a:r>
              <a:rPr sz="950" b="1" i="0">
                <a:solidFill>
                  <a:srgbClr val="1A1A1A"/>
                </a:solidFill>
                <a:latin typeface="Arial"/>
              </a:rPr>
              <a:t>Milestones</a:t>
            </a:r>
          </a:p>
        </p:txBody>
      </p:sp>
      <p:sp>
        <p:nvSpPr>
          <p:cNvPr id="16" name="TextBox 15"/>
          <p:cNvSpPr txBox="1"/>
          <p:nvPr/>
        </p:nvSpPr>
        <p:spPr>
          <a:xfrm>
            <a:off x="452628" y="1935861"/>
            <a:ext cx="503089"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a:t>
            </a:r>
          </a:p>
        </p:txBody>
      </p:sp>
      <p:sp>
        <p:nvSpPr>
          <p:cNvPr id="17" name="TextBox 16"/>
          <p:cNvSpPr txBox="1"/>
          <p:nvPr/>
        </p:nvSpPr>
        <p:spPr>
          <a:xfrm>
            <a:off x="1092877" y="1935861"/>
            <a:ext cx="2698228"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Milestone</a:t>
            </a:r>
          </a:p>
        </p:txBody>
      </p:sp>
      <p:sp>
        <p:nvSpPr>
          <p:cNvPr id="18" name="TextBox 17"/>
          <p:cNvSpPr txBox="1"/>
          <p:nvPr/>
        </p:nvSpPr>
        <p:spPr>
          <a:xfrm>
            <a:off x="3928266" y="1935861"/>
            <a:ext cx="1106752"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Responsável</a:t>
            </a:r>
          </a:p>
        </p:txBody>
      </p:sp>
      <p:sp>
        <p:nvSpPr>
          <p:cNvPr id="19" name="TextBox 18"/>
          <p:cNvSpPr txBox="1"/>
          <p:nvPr/>
        </p:nvSpPr>
        <p:spPr>
          <a:xfrm>
            <a:off x="5172178" y="1935861"/>
            <a:ext cx="649431"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Prazo</a:t>
            </a:r>
          </a:p>
        </p:txBody>
      </p:sp>
      <p:sp>
        <p:nvSpPr>
          <p:cNvPr id="20" name="TextBox 19"/>
          <p:cNvSpPr txBox="1"/>
          <p:nvPr/>
        </p:nvSpPr>
        <p:spPr>
          <a:xfrm>
            <a:off x="5958770" y="1935861"/>
            <a:ext cx="731749" cy="123951"/>
          </a:xfrm>
          <a:prstGeom prst="rect">
            <a:avLst/>
          </a:prstGeom>
          <a:noFill/>
        </p:spPr>
        <p:txBody>
          <a:bodyPr wrap="square" lIns="0" rIns="0" tIns="0" bIns="0" anchor="t">
            <a:spAutoFit/>
          </a:bodyPr>
          <a:lstStyle/>
          <a:p>
            <a:pPr algn="ctr">
              <a:lnSpc>
                <a:spcPct val="122000"/>
              </a:lnSpc>
            </a:pPr>
            <a:r>
              <a:rPr sz="800" b="1" i="0">
                <a:solidFill>
                  <a:srgbClr val="757575"/>
                </a:solidFill>
                <a:latin typeface="Arial"/>
              </a:rPr>
              <a:t>Status</a:t>
            </a:r>
          </a:p>
        </p:txBody>
      </p:sp>
      <p:sp>
        <p:nvSpPr>
          <p:cNvPr id="21" name="TextBox 20"/>
          <p:cNvSpPr txBox="1"/>
          <p:nvPr/>
        </p:nvSpPr>
        <p:spPr>
          <a:xfrm>
            <a:off x="6827679" y="1935861"/>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Progresso recente</a:t>
            </a:r>
          </a:p>
        </p:txBody>
      </p:sp>
      <p:sp>
        <p:nvSpPr>
          <p:cNvPr id="22" name="TextBox 21"/>
          <p:cNvSpPr txBox="1"/>
          <p:nvPr/>
        </p:nvSpPr>
        <p:spPr>
          <a:xfrm>
            <a:off x="8510620" y="1935861"/>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Próximos passos</a:t>
            </a:r>
          </a:p>
        </p:txBody>
      </p:sp>
      <p:sp>
        <p:nvSpPr>
          <p:cNvPr id="23" name="TextBox 22"/>
          <p:cNvSpPr txBox="1"/>
          <p:nvPr/>
        </p:nvSpPr>
        <p:spPr>
          <a:xfrm>
            <a:off x="10193560" y="1935861"/>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Pontos a escalar</a:t>
            </a:r>
          </a:p>
        </p:txBody>
      </p:sp>
      <p:cxnSp>
        <p:nvCxnSpPr>
          <p:cNvPr id="24" name="Connector 23"/>
          <p:cNvCxnSpPr/>
          <p:nvPr/>
        </p:nvCxnSpPr>
        <p:spPr>
          <a:xfrm>
            <a:off x="384048" y="2164969"/>
            <a:ext cx="11423873" cy="0"/>
          </a:xfrm>
          <a:prstGeom prst="line">
            <a:avLst/>
          </a:prstGeom>
          <a:ln w="12700">
            <a:solidFill>
              <a:srgbClr val="1A1A1A"/>
            </a:solidFill>
          </a:ln>
          <a:effectLst/>
        </p:spPr>
      </p:cxnSp>
      <p:sp>
        <p:nvSpPr>
          <p:cNvPr id="25" name="TextBox 24"/>
          <p:cNvSpPr txBox="1"/>
          <p:nvPr/>
        </p:nvSpPr>
        <p:spPr>
          <a:xfrm>
            <a:off x="452628" y="2215261"/>
            <a:ext cx="503089" cy="85021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1.1.1</a:t>
            </a:r>
          </a:p>
        </p:txBody>
      </p:sp>
      <p:sp>
        <p:nvSpPr>
          <p:cNvPr id="26" name="TextBox 25"/>
          <p:cNvSpPr txBox="1"/>
          <p:nvPr/>
        </p:nvSpPr>
        <p:spPr>
          <a:xfrm>
            <a:off x="1092877" y="2215261"/>
            <a:ext cx="2698228" cy="85021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Planejamento de vendas de curto prazo melhorado e em execução, com necessidade de vendas definida por loja, tipo de veículo e mês</a:t>
            </a:r>
          </a:p>
        </p:txBody>
      </p:sp>
      <p:sp>
        <p:nvSpPr>
          <p:cNvPr id="27" name="TextBox 26"/>
          <p:cNvSpPr txBox="1"/>
          <p:nvPr/>
        </p:nvSpPr>
        <p:spPr>
          <a:xfrm>
            <a:off x="3928266" y="2215261"/>
            <a:ext cx="1106752" cy="85021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Vitor Moraes</a:t>
            </a:r>
          </a:p>
        </p:txBody>
      </p:sp>
      <p:sp>
        <p:nvSpPr>
          <p:cNvPr id="28" name="TextBox 27"/>
          <p:cNvSpPr txBox="1"/>
          <p:nvPr/>
        </p:nvSpPr>
        <p:spPr>
          <a:xfrm>
            <a:off x="5172178" y="2215261"/>
            <a:ext cx="649431" cy="85021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ago/26 (TBC)</a:t>
            </a:r>
          </a:p>
        </p:txBody>
      </p:sp>
      <p:sp>
        <p:nvSpPr>
          <p:cNvPr id="29" name="Rounded Rectangle 28"/>
          <p:cNvSpPr/>
          <p:nvPr/>
        </p:nvSpPr>
        <p:spPr>
          <a:xfrm>
            <a:off x="5958770" y="2226233"/>
            <a:ext cx="731749" cy="169164"/>
          </a:xfrm>
          <a:prstGeom prst="roundRect">
            <a:avLst>
              <a:gd name="adj" fmla="val 50000"/>
            </a:avLst>
          </a:prstGeom>
          <a:solidFill>
            <a:srgbClr val="FFF8E1"/>
          </a:solidFill>
          <a:ln>
            <a:noFill/>
          </a:ln>
          <a:effectLst/>
        </p:spPr>
        <p:txBody>
          <a:bodyPr rtlCol="0" anchor="ctr" lIns="0" rIns="0" tIns="0" bIns="0"/>
          <a:lstStyle/>
          <a:p>
            <a:pPr algn="ctr"/>
          </a:p>
        </p:txBody>
      </p:sp>
      <p:sp>
        <p:nvSpPr>
          <p:cNvPr id="30" name="TextBox 29"/>
          <p:cNvSpPr txBox="1"/>
          <p:nvPr/>
        </p:nvSpPr>
        <p:spPr>
          <a:xfrm>
            <a:off x="5958770" y="2226233"/>
            <a:ext cx="731749" cy="169164"/>
          </a:xfrm>
          <a:prstGeom prst="rect">
            <a:avLst/>
          </a:prstGeom>
          <a:noFill/>
        </p:spPr>
        <p:txBody>
          <a:bodyPr wrap="square" lIns="0" rIns="0" tIns="0" bIns="0" anchor="ctr">
            <a:spAutoFit/>
          </a:bodyPr>
          <a:lstStyle/>
          <a:p>
            <a:pPr algn="ctr">
              <a:lnSpc>
                <a:spcPct val="122000"/>
              </a:lnSpc>
            </a:pPr>
            <a:r>
              <a:rPr sz="750" b="1" i="0">
                <a:solidFill>
                  <a:srgbClr val="6B5700"/>
                </a:solidFill>
                <a:latin typeface="Arial"/>
              </a:rPr>
              <a:t>Em progresso</a:t>
            </a:r>
          </a:p>
        </p:txBody>
      </p:sp>
      <p:sp>
        <p:nvSpPr>
          <p:cNvPr id="31" name="Rectangle 30"/>
          <p:cNvSpPr/>
          <p:nvPr/>
        </p:nvSpPr>
        <p:spPr>
          <a:xfrm>
            <a:off x="6800247" y="2206117"/>
            <a:ext cx="1600644" cy="868502"/>
          </a:xfrm>
          <a:prstGeom prst="rect">
            <a:avLst/>
          </a:prstGeom>
          <a:solidFill>
            <a:srgbClr val="FFFFFF"/>
          </a:solidFill>
          <a:ln w="6350">
            <a:solidFill>
              <a:srgbClr val="D5D5D5"/>
            </a:solidFill>
          </a:ln>
          <a:effectLst/>
        </p:spPr>
        <p:txBody>
          <a:bodyPr rtlCol="0" anchor="ctr" lIns="0" rIns="0" tIns="0" bIns="0"/>
          <a:lstStyle/>
          <a:p>
            <a:pPr algn="ctr"/>
          </a:p>
        </p:txBody>
      </p:sp>
      <p:sp>
        <p:nvSpPr>
          <p:cNvPr id="32" name="TextBox 31"/>
          <p:cNvSpPr txBox="1"/>
          <p:nvPr/>
        </p:nvSpPr>
        <p:spPr>
          <a:xfrm>
            <a:off x="6855111" y="2233549"/>
            <a:ext cx="1490916" cy="81363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33" name="Rectangle 32"/>
          <p:cNvSpPr/>
          <p:nvPr/>
        </p:nvSpPr>
        <p:spPr>
          <a:xfrm>
            <a:off x="8483188" y="2206117"/>
            <a:ext cx="1600644" cy="868502"/>
          </a:xfrm>
          <a:prstGeom prst="rect">
            <a:avLst/>
          </a:prstGeom>
          <a:solidFill>
            <a:srgbClr val="FFFFFF"/>
          </a:solidFill>
          <a:ln w="6350">
            <a:solidFill>
              <a:srgbClr val="D5D5D5"/>
            </a:solidFill>
          </a:ln>
          <a:effectLst/>
        </p:spPr>
        <p:txBody>
          <a:bodyPr rtlCol="0" anchor="ctr" lIns="0" rIns="0" tIns="0" bIns="0"/>
          <a:lstStyle/>
          <a:p>
            <a:pPr algn="ctr"/>
          </a:p>
        </p:txBody>
      </p:sp>
      <p:sp>
        <p:nvSpPr>
          <p:cNvPr id="34" name="TextBox 33"/>
          <p:cNvSpPr txBox="1"/>
          <p:nvPr/>
        </p:nvSpPr>
        <p:spPr>
          <a:xfrm>
            <a:off x="8538052" y="2233549"/>
            <a:ext cx="1490916" cy="81363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35" name="Rectangle 34"/>
          <p:cNvSpPr/>
          <p:nvPr/>
        </p:nvSpPr>
        <p:spPr>
          <a:xfrm>
            <a:off x="10166128" y="2206117"/>
            <a:ext cx="1600644" cy="868502"/>
          </a:xfrm>
          <a:prstGeom prst="rect">
            <a:avLst/>
          </a:prstGeom>
          <a:solidFill>
            <a:srgbClr val="FFFFFF"/>
          </a:solidFill>
          <a:ln w="6350">
            <a:solidFill>
              <a:srgbClr val="D5D5D5"/>
            </a:solidFill>
          </a:ln>
          <a:effectLst/>
        </p:spPr>
        <p:txBody>
          <a:bodyPr rtlCol="0" anchor="ctr" lIns="0" rIns="0" tIns="0" bIns="0"/>
          <a:lstStyle/>
          <a:p>
            <a:pPr algn="ctr"/>
          </a:p>
        </p:txBody>
      </p:sp>
      <p:sp>
        <p:nvSpPr>
          <p:cNvPr id="36" name="TextBox 35"/>
          <p:cNvSpPr txBox="1"/>
          <p:nvPr/>
        </p:nvSpPr>
        <p:spPr>
          <a:xfrm>
            <a:off x="10220992" y="2233549"/>
            <a:ext cx="1490916" cy="81363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37" name="Connector 36"/>
          <p:cNvCxnSpPr/>
          <p:nvPr/>
        </p:nvCxnSpPr>
        <p:spPr>
          <a:xfrm>
            <a:off x="384048" y="3115767"/>
            <a:ext cx="11423873" cy="0"/>
          </a:xfrm>
          <a:prstGeom prst="line">
            <a:avLst/>
          </a:prstGeom>
          <a:ln w="6350">
            <a:solidFill>
              <a:srgbClr val="ECECEC"/>
            </a:solidFill>
          </a:ln>
          <a:effectLst/>
        </p:spPr>
      </p:cxnSp>
      <p:sp>
        <p:nvSpPr>
          <p:cNvPr id="38" name="TextBox 37"/>
          <p:cNvSpPr txBox="1"/>
          <p:nvPr/>
        </p:nvSpPr>
        <p:spPr>
          <a:xfrm>
            <a:off x="452628" y="3166059"/>
            <a:ext cx="503089" cy="72626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1.2.1</a:t>
            </a:r>
          </a:p>
        </p:txBody>
      </p:sp>
      <p:sp>
        <p:nvSpPr>
          <p:cNvPr id="39" name="TextBox 38"/>
          <p:cNvSpPr txBox="1"/>
          <p:nvPr/>
        </p:nvSpPr>
        <p:spPr>
          <a:xfrm>
            <a:off x="1092877" y="3166059"/>
            <a:ext cx="2698228" cy="72626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Planejamento de geração de leads melhorado e em execução</a:t>
            </a:r>
          </a:p>
        </p:txBody>
      </p:sp>
      <p:sp>
        <p:nvSpPr>
          <p:cNvPr id="40" name="TextBox 39"/>
          <p:cNvSpPr txBox="1"/>
          <p:nvPr/>
        </p:nvSpPr>
        <p:spPr>
          <a:xfrm>
            <a:off x="3928266" y="3166059"/>
            <a:ext cx="1106752" cy="72626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Juliana Ribas</a:t>
            </a:r>
          </a:p>
        </p:txBody>
      </p:sp>
      <p:sp>
        <p:nvSpPr>
          <p:cNvPr id="41" name="TextBox 40"/>
          <p:cNvSpPr txBox="1"/>
          <p:nvPr/>
        </p:nvSpPr>
        <p:spPr>
          <a:xfrm>
            <a:off x="5172178" y="3166059"/>
            <a:ext cx="649431" cy="72626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ago/26 (TBC)</a:t>
            </a:r>
          </a:p>
        </p:txBody>
      </p:sp>
      <p:sp>
        <p:nvSpPr>
          <p:cNvPr id="42" name="Rounded Rectangle 41"/>
          <p:cNvSpPr/>
          <p:nvPr/>
        </p:nvSpPr>
        <p:spPr>
          <a:xfrm>
            <a:off x="5958770" y="3177032"/>
            <a:ext cx="731749" cy="169164"/>
          </a:xfrm>
          <a:prstGeom prst="roundRect">
            <a:avLst>
              <a:gd name="adj" fmla="val 50000"/>
            </a:avLst>
          </a:prstGeom>
          <a:solidFill>
            <a:srgbClr val="FFF8E1"/>
          </a:solidFill>
          <a:ln>
            <a:noFill/>
          </a:ln>
          <a:effectLst/>
        </p:spPr>
        <p:txBody>
          <a:bodyPr rtlCol="0" anchor="ctr" lIns="0" rIns="0" tIns="0" bIns="0"/>
          <a:lstStyle/>
          <a:p>
            <a:pPr algn="ctr"/>
          </a:p>
        </p:txBody>
      </p:sp>
      <p:sp>
        <p:nvSpPr>
          <p:cNvPr id="43" name="TextBox 42"/>
          <p:cNvSpPr txBox="1"/>
          <p:nvPr/>
        </p:nvSpPr>
        <p:spPr>
          <a:xfrm>
            <a:off x="5958770" y="3177032"/>
            <a:ext cx="731749" cy="169164"/>
          </a:xfrm>
          <a:prstGeom prst="rect">
            <a:avLst/>
          </a:prstGeom>
          <a:noFill/>
        </p:spPr>
        <p:txBody>
          <a:bodyPr wrap="square" lIns="0" rIns="0" tIns="0" bIns="0" anchor="ctr">
            <a:spAutoFit/>
          </a:bodyPr>
          <a:lstStyle/>
          <a:p>
            <a:pPr algn="ctr">
              <a:lnSpc>
                <a:spcPct val="122000"/>
              </a:lnSpc>
            </a:pPr>
            <a:r>
              <a:rPr sz="750" b="1" i="0">
                <a:solidFill>
                  <a:srgbClr val="6B5700"/>
                </a:solidFill>
                <a:latin typeface="Arial"/>
              </a:rPr>
              <a:t>Em progresso</a:t>
            </a:r>
          </a:p>
        </p:txBody>
      </p:sp>
      <p:sp>
        <p:nvSpPr>
          <p:cNvPr id="44" name="Rectangle 43"/>
          <p:cNvSpPr/>
          <p:nvPr/>
        </p:nvSpPr>
        <p:spPr>
          <a:xfrm>
            <a:off x="6800247" y="3156915"/>
            <a:ext cx="1600644" cy="744550"/>
          </a:xfrm>
          <a:prstGeom prst="rect">
            <a:avLst/>
          </a:prstGeom>
          <a:solidFill>
            <a:srgbClr val="FFFFFF"/>
          </a:solidFill>
          <a:ln w="6350">
            <a:solidFill>
              <a:srgbClr val="D5D5D5"/>
            </a:solidFill>
          </a:ln>
          <a:effectLst/>
        </p:spPr>
        <p:txBody>
          <a:bodyPr rtlCol="0" anchor="ctr" lIns="0" rIns="0" tIns="0" bIns="0"/>
          <a:lstStyle/>
          <a:p>
            <a:pPr algn="ctr"/>
          </a:p>
        </p:txBody>
      </p:sp>
      <p:sp>
        <p:nvSpPr>
          <p:cNvPr id="45" name="TextBox 44"/>
          <p:cNvSpPr txBox="1"/>
          <p:nvPr/>
        </p:nvSpPr>
        <p:spPr>
          <a:xfrm>
            <a:off x="6855111" y="3184347"/>
            <a:ext cx="1490916" cy="68968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46" name="Rectangle 45"/>
          <p:cNvSpPr/>
          <p:nvPr/>
        </p:nvSpPr>
        <p:spPr>
          <a:xfrm>
            <a:off x="8483188" y="3156915"/>
            <a:ext cx="1600644" cy="744550"/>
          </a:xfrm>
          <a:prstGeom prst="rect">
            <a:avLst/>
          </a:prstGeom>
          <a:solidFill>
            <a:srgbClr val="FFFFFF"/>
          </a:solidFill>
          <a:ln w="6350">
            <a:solidFill>
              <a:srgbClr val="D5D5D5"/>
            </a:solidFill>
          </a:ln>
          <a:effectLst/>
        </p:spPr>
        <p:txBody>
          <a:bodyPr rtlCol="0" anchor="ctr" lIns="0" rIns="0" tIns="0" bIns="0"/>
          <a:lstStyle/>
          <a:p>
            <a:pPr algn="ctr"/>
          </a:p>
        </p:txBody>
      </p:sp>
      <p:sp>
        <p:nvSpPr>
          <p:cNvPr id="47" name="TextBox 46"/>
          <p:cNvSpPr txBox="1"/>
          <p:nvPr/>
        </p:nvSpPr>
        <p:spPr>
          <a:xfrm>
            <a:off x="8538052" y="3184347"/>
            <a:ext cx="1490916" cy="68968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48" name="Rectangle 47"/>
          <p:cNvSpPr/>
          <p:nvPr/>
        </p:nvSpPr>
        <p:spPr>
          <a:xfrm>
            <a:off x="10166128" y="3156915"/>
            <a:ext cx="1600644" cy="744550"/>
          </a:xfrm>
          <a:prstGeom prst="rect">
            <a:avLst/>
          </a:prstGeom>
          <a:solidFill>
            <a:srgbClr val="FFFFFF"/>
          </a:solidFill>
          <a:ln w="6350">
            <a:solidFill>
              <a:srgbClr val="D5D5D5"/>
            </a:solidFill>
          </a:ln>
          <a:effectLst/>
        </p:spPr>
        <p:txBody>
          <a:bodyPr rtlCol="0" anchor="ctr" lIns="0" rIns="0" tIns="0" bIns="0"/>
          <a:lstStyle/>
          <a:p>
            <a:pPr algn="ctr"/>
          </a:p>
        </p:txBody>
      </p:sp>
      <p:sp>
        <p:nvSpPr>
          <p:cNvPr id="49" name="TextBox 48"/>
          <p:cNvSpPr txBox="1"/>
          <p:nvPr/>
        </p:nvSpPr>
        <p:spPr>
          <a:xfrm>
            <a:off x="10220992" y="3184347"/>
            <a:ext cx="1490916" cy="68968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50" name="Connector 49"/>
          <p:cNvCxnSpPr/>
          <p:nvPr/>
        </p:nvCxnSpPr>
        <p:spPr>
          <a:xfrm>
            <a:off x="384048" y="3942613"/>
            <a:ext cx="11423873" cy="0"/>
          </a:xfrm>
          <a:prstGeom prst="line">
            <a:avLst/>
          </a:prstGeom>
          <a:ln w="6350">
            <a:solidFill>
              <a:srgbClr val="ECECEC"/>
            </a:solidFill>
          </a:ln>
          <a:effectLst/>
        </p:spPr>
      </p:cxnSp>
      <p:sp>
        <p:nvSpPr>
          <p:cNvPr id="51" name="TextBox 50"/>
          <p:cNvSpPr txBox="1"/>
          <p:nvPr/>
        </p:nvSpPr>
        <p:spPr>
          <a:xfrm>
            <a:off x="452628" y="3992905"/>
            <a:ext cx="503089" cy="85021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1.3.1</a:t>
            </a:r>
          </a:p>
        </p:txBody>
      </p:sp>
      <p:sp>
        <p:nvSpPr>
          <p:cNvPr id="52" name="TextBox 51"/>
          <p:cNvSpPr txBox="1"/>
          <p:nvPr/>
        </p:nvSpPr>
        <p:spPr>
          <a:xfrm>
            <a:off x="1092877" y="3992905"/>
            <a:ext cx="2698228" cy="85021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Planejamento de conversão de leads em vendas evoluído, com dimensionamento de capacidade, produtividade e conversão das estruturas de venda</a:t>
            </a:r>
          </a:p>
        </p:txBody>
      </p:sp>
      <p:sp>
        <p:nvSpPr>
          <p:cNvPr id="53" name="TextBox 52"/>
          <p:cNvSpPr txBox="1"/>
          <p:nvPr/>
        </p:nvSpPr>
        <p:spPr>
          <a:xfrm>
            <a:off x="3928266" y="3992905"/>
            <a:ext cx="1106752" cy="85021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Juliana Ribas</a:t>
            </a:r>
          </a:p>
        </p:txBody>
      </p:sp>
      <p:sp>
        <p:nvSpPr>
          <p:cNvPr id="54" name="TextBox 53"/>
          <p:cNvSpPr txBox="1"/>
          <p:nvPr/>
        </p:nvSpPr>
        <p:spPr>
          <a:xfrm>
            <a:off x="5172178" y="3992905"/>
            <a:ext cx="649431" cy="85021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S3 set/26 (TBC)</a:t>
            </a:r>
          </a:p>
        </p:txBody>
      </p:sp>
      <p:sp>
        <p:nvSpPr>
          <p:cNvPr id="55" name="Rounded Rectangle 54"/>
          <p:cNvSpPr/>
          <p:nvPr/>
        </p:nvSpPr>
        <p:spPr>
          <a:xfrm>
            <a:off x="5958770" y="4003878"/>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56" name="TextBox 55"/>
          <p:cNvSpPr txBox="1"/>
          <p:nvPr/>
        </p:nvSpPr>
        <p:spPr>
          <a:xfrm>
            <a:off x="5958770" y="4003878"/>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57" name="Rectangle 56"/>
          <p:cNvSpPr/>
          <p:nvPr/>
        </p:nvSpPr>
        <p:spPr>
          <a:xfrm>
            <a:off x="6800247" y="3983761"/>
            <a:ext cx="1600644" cy="868502"/>
          </a:xfrm>
          <a:prstGeom prst="rect">
            <a:avLst/>
          </a:prstGeom>
          <a:solidFill>
            <a:srgbClr val="FFFFFF"/>
          </a:solidFill>
          <a:ln w="6350">
            <a:solidFill>
              <a:srgbClr val="D5D5D5"/>
            </a:solidFill>
          </a:ln>
          <a:effectLst/>
        </p:spPr>
        <p:txBody>
          <a:bodyPr rtlCol="0" anchor="ctr" lIns="0" rIns="0" tIns="0" bIns="0"/>
          <a:lstStyle/>
          <a:p>
            <a:pPr algn="ctr"/>
          </a:p>
        </p:txBody>
      </p:sp>
      <p:sp>
        <p:nvSpPr>
          <p:cNvPr id="58" name="TextBox 57"/>
          <p:cNvSpPr txBox="1"/>
          <p:nvPr/>
        </p:nvSpPr>
        <p:spPr>
          <a:xfrm>
            <a:off x="6855111" y="4011193"/>
            <a:ext cx="1490916" cy="81363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59" name="Rectangle 58"/>
          <p:cNvSpPr/>
          <p:nvPr/>
        </p:nvSpPr>
        <p:spPr>
          <a:xfrm>
            <a:off x="8483188" y="3983761"/>
            <a:ext cx="1600644" cy="868502"/>
          </a:xfrm>
          <a:prstGeom prst="rect">
            <a:avLst/>
          </a:prstGeom>
          <a:solidFill>
            <a:srgbClr val="FFFFFF"/>
          </a:solidFill>
          <a:ln w="6350">
            <a:solidFill>
              <a:srgbClr val="D5D5D5"/>
            </a:solidFill>
          </a:ln>
          <a:effectLst/>
        </p:spPr>
        <p:txBody>
          <a:bodyPr rtlCol="0" anchor="ctr" lIns="0" rIns="0" tIns="0" bIns="0"/>
          <a:lstStyle/>
          <a:p>
            <a:pPr algn="ctr"/>
          </a:p>
        </p:txBody>
      </p:sp>
      <p:sp>
        <p:nvSpPr>
          <p:cNvPr id="60" name="TextBox 59"/>
          <p:cNvSpPr txBox="1"/>
          <p:nvPr/>
        </p:nvSpPr>
        <p:spPr>
          <a:xfrm>
            <a:off x="8538052" y="4011193"/>
            <a:ext cx="1490916" cy="81363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61" name="Rectangle 60"/>
          <p:cNvSpPr/>
          <p:nvPr/>
        </p:nvSpPr>
        <p:spPr>
          <a:xfrm>
            <a:off x="10166128" y="3983761"/>
            <a:ext cx="1600644" cy="868502"/>
          </a:xfrm>
          <a:prstGeom prst="rect">
            <a:avLst/>
          </a:prstGeom>
          <a:solidFill>
            <a:srgbClr val="FFFFFF"/>
          </a:solidFill>
          <a:ln w="6350">
            <a:solidFill>
              <a:srgbClr val="D5D5D5"/>
            </a:solidFill>
          </a:ln>
          <a:effectLst/>
        </p:spPr>
        <p:txBody>
          <a:bodyPr rtlCol="0" anchor="ctr" lIns="0" rIns="0" tIns="0" bIns="0"/>
          <a:lstStyle/>
          <a:p>
            <a:pPr algn="ctr"/>
          </a:p>
        </p:txBody>
      </p:sp>
      <p:sp>
        <p:nvSpPr>
          <p:cNvPr id="62" name="TextBox 61"/>
          <p:cNvSpPr txBox="1"/>
          <p:nvPr/>
        </p:nvSpPr>
        <p:spPr>
          <a:xfrm>
            <a:off x="10220992" y="4011193"/>
            <a:ext cx="1490916" cy="81363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63" name="Connector 62"/>
          <p:cNvCxnSpPr/>
          <p:nvPr/>
        </p:nvCxnSpPr>
        <p:spPr>
          <a:xfrm>
            <a:off x="384048" y="4893411"/>
            <a:ext cx="11423873" cy="0"/>
          </a:xfrm>
          <a:prstGeom prst="line">
            <a:avLst/>
          </a:prstGeom>
          <a:ln w="6350">
            <a:solidFill>
              <a:srgbClr val="ECECEC"/>
            </a:solidFill>
          </a:ln>
          <a:effectLst/>
        </p:spPr>
      </p:cxnSp>
      <p:sp>
        <p:nvSpPr>
          <p:cNvPr id="64" name="TextBox 63"/>
          <p:cNvSpPr txBox="1"/>
          <p:nvPr/>
        </p:nvSpPr>
        <p:spPr>
          <a:xfrm>
            <a:off x="452628" y="4943703"/>
            <a:ext cx="503089" cy="72626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1.4.1 / 1.5.1</a:t>
            </a:r>
          </a:p>
        </p:txBody>
      </p:sp>
      <p:sp>
        <p:nvSpPr>
          <p:cNvPr id="65" name="TextBox 64"/>
          <p:cNvSpPr txBox="1"/>
          <p:nvPr/>
        </p:nvSpPr>
        <p:spPr>
          <a:xfrm>
            <a:off x="1092877" y="4943703"/>
            <a:ext cx="2698228" cy="72626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Telemetria de geração e conversão de leads aprimorada</a:t>
            </a:r>
          </a:p>
        </p:txBody>
      </p:sp>
      <p:sp>
        <p:nvSpPr>
          <p:cNvPr id="66" name="TextBox 65"/>
          <p:cNvSpPr txBox="1"/>
          <p:nvPr/>
        </p:nvSpPr>
        <p:spPr>
          <a:xfrm>
            <a:off x="3928266" y="4943703"/>
            <a:ext cx="1106752" cy="72626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Vitor Moraes</a:t>
            </a:r>
          </a:p>
        </p:txBody>
      </p:sp>
      <p:sp>
        <p:nvSpPr>
          <p:cNvPr id="67" name="TextBox 66"/>
          <p:cNvSpPr txBox="1"/>
          <p:nvPr/>
        </p:nvSpPr>
        <p:spPr>
          <a:xfrm>
            <a:off x="5172178" y="4943703"/>
            <a:ext cx="649431" cy="72626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set/26 (TBC)</a:t>
            </a:r>
          </a:p>
        </p:txBody>
      </p:sp>
      <p:sp>
        <p:nvSpPr>
          <p:cNvPr id="68" name="Rounded Rectangle 67"/>
          <p:cNvSpPr/>
          <p:nvPr/>
        </p:nvSpPr>
        <p:spPr>
          <a:xfrm>
            <a:off x="5958770" y="4954676"/>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69" name="TextBox 68"/>
          <p:cNvSpPr txBox="1"/>
          <p:nvPr/>
        </p:nvSpPr>
        <p:spPr>
          <a:xfrm>
            <a:off x="5958770" y="4954676"/>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70" name="Rectangle 69"/>
          <p:cNvSpPr/>
          <p:nvPr/>
        </p:nvSpPr>
        <p:spPr>
          <a:xfrm>
            <a:off x="6800247" y="4934559"/>
            <a:ext cx="1600644" cy="744550"/>
          </a:xfrm>
          <a:prstGeom prst="rect">
            <a:avLst/>
          </a:prstGeom>
          <a:solidFill>
            <a:srgbClr val="FFFFFF"/>
          </a:solidFill>
          <a:ln w="6350">
            <a:solidFill>
              <a:srgbClr val="D5D5D5"/>
            </a:solidFill>
          </a:ln>
          <a:effectLst/>
        </p:spPr>
        <p:txBody>
          <a:bodyPr rtlCol="0" anchor="ctr" lIns="0" rIns="0" tIns="0" bIns="0"/>
          <a:lstStyle/>
          <a:p>
            <a:pPr algn="ctr"/>
          </a:p>
        </p:txBody>
      </p:sp>
      <p:sp>
        <p:nvSpPr>
          <p:cNvPr id="71" name="TextBox 70"/>
          <p:cNvSpPr txBox="1"/>
          <p:nvPr/>
        </p:nvSpPr>
        <p:spPr>
          <a:xfrm>
            <a:off x="6855111" y="4961991"/>
            <a:ext cx="1490916" cy="68968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72" name="Rectangle 71"/>
          <p:cNvSpPr/>
          <p:nvPr/>
        </p:nvSpPr>
        <p:spPr>
          <a:xfrm>
            <a:off x="8483188" y="4934559"/>
            <a:ext cx="1600644" cy="744550"/>
          </a:xfrm>
          <a:prstGeom prst="rect">
            <a:avLst/>
          </a:prstGeom>
          <a:solidFill>
            <a:srgbClr val="FFFFFF"/>
          </a:solidFill>
          <a:ln w="6350">
            <a:solidFill>
              <a:srgbClr val="D5D5D5"/>
            </a:solidFill>
          </a:ln>
          <a:effectLst/>
        </p:spPr>
        <p:txBody>
          <a:bodyPr rtlCol="0" anchor="ctr" lIns="0" rIns="0" tIns="0" bIns="0"/>
          <a:lstStyle/>
          <a:p>
            <a:pPr algn="ctr"/>
          </a:p>
        </p:txBody>
      </p:sp>
      <p:sp>
        <p:nvSpPr>
          <p:cNvPr id="73" name="TextBox 72"/>
          <p:cNvSpPr txBox="1"/>
          <p:nvPr/>
        </p:nvSpPr>
        <p:spPr>
          <a:xfrm>
            <a:off x="8538052" y="4961991"/>
            <a:ext cx="1490916" cy="68968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74" name="Rectangle 73"/>
          <p:cNvSpPr/>
          <p:nvPr/>
        </p:nvSpPr>
        <p:spPr>
          <a:xfrm>
            <a:off x="10166128" y="4934559"/>
            <a:ext cx="1600644" cy="744550"/>
          </a:xfrm>
          <a:prstGeom prst="rect">
            <a:avLst/>
          </a:prstGeom>
          <a:solidFill>
            <a:srgbClr val="FFFFFF"/>
          </a:solidFill>
          <a:ln w="6350">
            <a:solidFill>
              <a:srgbClr val="D5D5D5"/>
            </a:solidFill>
          </a:ln>
          <a:effectLst/>
        </p:spPr>
        <p:txBody>
          <a:bodyPr rtlCol="0" anchor="ctr" lIns="0" rIns="0" tIns="0" bIns="0"/>
          <a:lstStyle/>
          <a:p>
            <a:pPr algn="ctr"/>
          </a:p>
        </p:txBody>
      </p:sp>
      <p:sp>
        <p:nvSpPr>
          <p:cNvPr id="75" name="TextBox 74"/>
          <p:cNvSpPr txBox="1"/>
          <p:nvPr/>
        </p:nvSpPr>
        <p:spPr>
          <a:xfrm>
            <a:off x="10220992" y="4961991"/>
            <a:ext cx="1490916" cy="68968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76" name="Connector 75"/>
          <p:cNvCxnSpPr/>
          <p:nvPr/>
        </p:nvCxnSpPr>
        <p:spPr>
          <a:xfrm>
            <a:off x="384048" y="5720257"/>
            <a:ext cx="11423873" cy="0"/>
          </a:xfrm>
          <a:prstGeom prst="line">
            <a:avLst/>
          </a:prstGeom>
          <a:ln w="6350">
            <a:solidFill>
              <a:srgbClr val="ECECEC"/>
            </a:solidFill>
          </a:ln>
          <a:effectLst/>
        </p:spPr>
      </p:cxnSp>
      <p:sp>
        <p:nvSpPr>
          <p:cNvPr id="77" name="TextBox 76"/>
          <p:cNvSpPr txBox="1"/>
          <p:nvPr/>
        </p:nvSpPr>
        <p:spPr>
          <a:xfrm>
            <a:off x="452628" y="5770549"/>
            <a:ext cx="503089" cy="72626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1.6.1</a:t>
            </a:r>
          </a:p>
        </p:txBody>
      </p:sp>
      <p:sp>
        <p:nvSpPr>
          <p:cNvPr id="78" name="TextBox 77"/>
          <p:cNvSpPr txBox="1"/>
          <p:nvPr/>
        </p:nvSpPr>
        <p:spPr>
          <a:xfrm>
            <a:off x="1092877" y="5770549"/>
            <a:ext cx="2698228" cy="72626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Fóruns, governança e rotina recorrente de planejamento mensal integrado implantados</a:t>
            </a:r>
          </a:p>
        </p:txBody>
      </p:sp>
      <p:sp>
        <p:nvSpPr>
          <p:cNvPr id="79" name="TextBox 78"/>
          <p:cNvSpPr txBox="1"/>
          <p:nvPr/>
        </p:nvSpPr>
        <p:spPr>
          <a:xfrm>
            <a:off x="3928266" y="5770549"/>
            <a:ext cx="1106752" cy="72626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Glauco Zebral + Dico Gomes</a:t>
            </a:r>
          </a:p>
        </p:txBody>
      </p:sp>
      <p:sp>
        <p:nvSpPr>
          <p:cNvPr id="80" name="TextBox 79"/>
          <p:cNvSpPr txBox="1"/>
          <p:nvPr/>
        </p:nvSpPr>
        <p:spPr>
          <a:xfrm>
            <a:off x="5172178" y="5770549"/>
            <a:ext cx="649431" cy="72626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S1 set/26</a:t>
            </a:r>
          </a:p>
        </p:txBody>
      </p:sp>
      <p:sp>
        <p:nvSpPr>
          <p:cNvPr id="81" name="Rounded Rectangle 80"/>
          <p:cNvSpPr/>
          <p:nvPr/>
        </p:nvSpPr>
        <p:spPr>
          <a:xfrm>
            <a:off x="5958770" y="5781522"/>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82" name="TextBox 81"/>
          <p:cNvSpPr txBox="1"/>
          <p:nvPr/>
        </p:nvSpPr>
        <p:spPr>
          <a:xfrm>
            <a:off x="5958770" y="5781522"/>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83" name="Rectangle 82"/>
          <p:cNvSpPr/>
          <p:nvPr/>
        </p:nvSpPr>
        <p:spPr>
          <a:xfrm>
            <a:off x="6800247" y="5761405"/>
            <a:ext cx="1600644" cy="744550"/>
          </a:xfrm>
          <a:prstGeom prst="rect">
            <a:avLst/>
          </a:prstGeom>
          <a:solidFill>
            <a:srgbClr val="FFFFFF"/>
          </a:solidFill>
          <a:ln w="6350">
            <a:solidFill>
              <a:srgbClr val="D5D5D5"/>
            </a:solidFill>
          </a:ln>
          <a:effectLst/>
        </p:spPr>
        <p:txBody>
          <a:bodyPr rtlCol="0" anchor="ctr" lIns="0" rIns="0" tIns="0" bIns="0"/>
          <a:lstStyle/>
          <a:p>
            <a:pPr algn="ctr"/>
          </a:p>
        </p:txBody>
      </p:sp>
      <p:sp>
        <p:nvSpPr>
          <p:cNvPr id="84" name="TextBox 83"/>
          <p:cNvSpPr txBox="1"/>
          <p:nvPr/>
        </p:nvSpPr>
        <p:spPr>
          <a:xfrm>
            <a:off x="6855111" y="5788837"/>
            <a:ext cx="1490916" cy="68968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85" name="Rectangle 84"/>
          <p:cNvSpPr/>
          <p:nvPr/>
        </p:nvSpPr>
        <p:spPr>
          <a:xfrm>
            <a:off x="8483188" y="5761405"/>
            <a:ext cx="1600644" cy="744550"/>
          </a:xfrm>
          <a:prstGeom prst="rect">
            <a:avLst/>
          </a:prstGeom>
          <a:solidFill>
            <a:srgbClr val="FFFFFF"/>
          </a:solidFill>
          <a:ln w="6350">
            <a:solidFill>
              <a:srgbClr val="D5D5D5"/>
            </a:solidFill>
          </a:ln>
          <a:effectLst/>
        </p:spPr>
        <p:txBody>
          <a:bodyPr rtlCol="0" anchor="ctr" lIns="0" rIns="0" tIns="0" bIns="0"/>
          <a:lstStyle/>
          <a:p>
            <a:pPr algn="ctr"/>
          </a:p>
        </p:txBody>
      </p:sp>
      <p:sp>
        <p:nvSpPr>
          <p:cNvPr id="86" name="TextBox 85"/>
          <p:cNvSpPr txBox="1"/>
          <p:nvPr/>
        </p:nvSpPr>
        <p:spPr>
          <a:xfrm>
            <a:off x="8538052" y="5788837"/>
            <a:ext cx="1490916" cy="68968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87" name="Rectangle 86"/>
          <p:cNvSpPr/>
          <p:nvPr/>
        </p:nvSpPr>
        <p:spPr>
          <a:xfrm>
            <a:off x="10166128" y="5761405"/>
            <a:ext cx="1600644" cy="744550"/>
          </a:xfrm>
          <a:prstGeom prst="rect">
            <a:avLst/>
          </a:prstGeom>
          <a:solidFill>
            <a:srgbClr val="FFFFFF"/>
          </a:solidFill>
          <a:ln w="6350">
            <a:solidFill>
              <a:srgbClr val="D5D5D5"/>
            </a:solidFill>
          </a:ln>
          <a:effectLst/>
        </p:spPr>
        <p:txBody>
          <a:bodyPr rtlCol="0" anchor="ctr" lIns="0" rIns="0" tIns="0" bIns="0"/>
          <a:lstStyle/>
          <a:p>
            <a:pPr algn="ctr"/>
          </a:p>
        </p:txBody>
      </p:sp>
      <p:sp>
        <p:nvSpPr>
          <p:cNvPr id="88" name="TextBox 87"/>
          <p:cNvSpPr txBox="1"/>
          <p:nvPr/>
        </p:nvSpPr>
        <p:spPr>
          <a:xfrm>
            <a:off x="10220992" y="5788837"/>
            <a:ext cx="1490916" cy="68968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89" name="Connector 88"/>
          <p:cNvCxnSpPr/>
          <p:nvPr/>
        </p:nvCxnSpPr>
        <p:spPr>
          <a:xfrm>
            <a:off x="384048" y="6547104"/>
            <a:ext cx="11423873" cy="0"/>
          </a:xfrm>
          <a:prstGeom prst="line">
            <a:avLst/>
          </a:prstGeom>
          <a:ln w="6350">
            <a:solidFill>
              <a:srgbClr val="D5D5D5"/>
            </a:solidFill>
          </a:ln>
          <a:effectLst/>
        </p:spPr>
      </p:cxnSp>
      <p:cxnSp>
        <p:nvCxnSpPr>
          <p:cNvPr id="90" name="Connector 89"/>
          <p:cNvCxnSpPr/>
          <p:nvPr/>
        </p:nvCxnSpPr>
        <p:spPr>
          <a:xfrm>
            <a:off x="384048" y="6583680"/>
            <a:ext cx="11423873" cy="0"/>
          </a:xfrm>
          <a:prstGeom prst="line">
            <a:avLst/>
          </a:prstGeom>
          <a:ln w="6350">
            <a:solidFill>
              <a:srgbClr val="E2E2E2"/>
            </a:solidFill>
          </a:ln>
          <a:effectLst/>
        </p:spPr>
      </p:cxnSp>
      <p:sp>
        <p:nvSpPr>
          <p:cNvPr id="91" name="TextBox 90"/>
          <p:cNvSpPr txBox="1"/>
          <p:nvPr/>
        </p:nvSpPr>
        <p:spPr>
          <a:xfrm>
            <a:off x="384048" y="6624828"/>
            <a:ext cx="9139098" cy="128016"/>
          </a:xfrm>
          <a:prstGeom prst="rect">
            <a:avLst/>
          </a:prstGeom>
          <a:noFill/>
        </p:spPr>
        <p:txBody>
          <a:bodyPr wrap="square" lIns="0" rIns="0" tIns="0" bIns="0" anchor="t">
            <a:spAutoFit/>
          </a:bodyPr>
          <a:lstStyle/>
          <a:p>
            <a:pPr algn="l">
              <a:lnSpc>
                <a:spcPct val="122000"/>
              </a:lnSpc>
            </a:pPr>
            <a:r>
              <a:rPr sz="650" b="0" i="0">
                <a:solidFill>
                  <a:srgbClr val="757575"/>
                </a:solidFill>
                <a:latin typeface="Arial"/>
              </a:rPr>
              <a:t>Fonte: Painel de Controle Lead-to-Sales — Aceleração Seminovos</a:t>
            </a:r>
          </a:p>
        </p:txBody>
      </p:sp>
      <p:sp>
        <p:nvSpPr>
          <p:cNvPr id="92" name="TextBox 91"/>
          <p:cNvSpPr txBox="1"/>
          <p:nvPr/>
        </p:nvSpPr>
        <p:spPr>
          <a:xfrm>
            <a:off x="10893521" y="6624828"/>
            <a:ext cx="914400" cy="128016"/>
          </a:xfrm>
          <a:prstGeom prst="rect">
            <a:avLst/>
          </a:prstGeom>
          <a:noFill/>
        </p:spPr>
        <p:txBody>
          <a:bodyPr wrap="square" lIns="0" rIns="0" tIns="0" bIns="0" anchor="t">
            <a:spAutoFit/>
          </a:bodyPr>
          <a:lstStyle/>
          <a:p>
            <a:pPr algn="r">
              <a:lnSpc>
                <a:spcPct val="122000"/>
              </a:lnSpc>
            </a:pPr>
            <a:r>
              <a:rPr sz="650" b="0" i="0">
                <a:solidFill>
                  <a:srgbClr val="757575"/>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txBody>
          <a:bodyPr rtlCol="0" anchor="ctr" lIns="0" rIns="0" tIns="0" bIns="0"/>
          <a:lstStyle/>
          <a:p>
            <a:pPr algn="ctr"/>
          </a:p>
        </p:txBody>
      </p:sp>
      <p:sp>
        <p:nvSpPr>
          <p:cNvPr id="3" name="TextBox 2"/>
          <p:cNvSpPr txBox="1"/>
          <p:nvPr/>
        </p:nvSpPr>
        <p:spPr>
          <a:xfrm>
            <a:off x="384048" y="274320"/>
            <a:ext cx="7996711" cy="146304"/>
          </a:xfrm>
          <a:prstGeom prst="rect">
            <a:avLst/>
          </a:prstGeom>
          <a:noFill/>
        </p:spPr>
        <p:txBody>
          <a:bodyPr wrap="square" lIns="0" rIns="0" tIns="0" bIns="0" anchor="t">
            <a:spAutoFit/>
          </a:bodyPr>
          <a:lstStyle/>
          <a:p>
            <a:pPr algn="l">
              <a:lnSpc>
                <a:spcPct val="122000"/>
              </a:lnSpc>
            </a:pPr>
            <a:r>
              <a:rPr sz="750" b="1" i="0">
                <a:solidFill>
                  <a:srgbClr val="1A1A1A"/>
                </a:solidFill>
                <a:latin typeface="Arial"/>
              </a:rPr>
              <a:t>Lead-to-Sales  ·  Painel de Controle</a:t>
            </a:r>
            <a:r>
              <a:rPr sz="750" b="0" i="0">
                <a:solidFill>
                  <a:srgbClr val="757575"/>
                </a:solidFill>
                <a:latin typeface="Arial"/>
              </a:rPr>
              <a:t>   |   Aceleração Seminovos</a:t>
            </a:r>
          </a:p>
        </p:txBody>
      </p:sp>
      <p:sp>
        <p:nvSpPr>
          <p:cNvPr id="4" name="TextBox 3"/>
          <p:cNvSpPr txBox="1"/>
          <p:nvPr/>
        </p:nvSpPr>
        <p:spPr>
          <a:xfrm>
            <a:off x="9796241" y="274320"/>
            <a:ext cx="2011680" cy="146304"/>
          </a:xfrm>
          <a:prstGeom prst="rect">
            <a:avLst/>
          </a:prstGeom>
          <a:noFill/>
        </p:spPr>
        <p:txBody>
          <a:bodyPr wrap="square" lIns="0" rIns="0" tIns="0" bIns="0" anchor="t">
            <a:spAutoFit/>
          </a:bodyPr>
          <a:lstStyle/>
          <a:p>
            <a:pPr algn="r">
              <a:lnSpc>
                <a:spcPct val="122000"/>
              </a:lnSpc>
            </a:pPr>
            <a:r>
              <a:rPr sz="750" b="0" i="0">
                <a:solidFill>
                  <a:srgbClr val="757575"/>
                </a:solidFill>
                <a:latin typeface="Arial"/>
              </a:rPr>
              <a:t>Frente 2 de 6</a:t>
            </a:r>
          </a:p>
        </p:txBody>
      </p:sp>
      <p:sp>
        <p:nvSpPr>
          <p:cNvPr id="5" name="Rectangle 4"/>
          <p:cNvSpPr/>
          <p:nvPr/>
        </p:nvSpPr>
        <p:spPr>
          <a:xfrm>
            <a:off x="384048" y="512064"/>
            <a:ext cx="11423873" cy="876046"/>
          </a:xfrm>
          <a:prstGeom prst="rect">
            <a:avLst/>
          </a:prstGeom>
          <a:solidFill>
            <a:srgbClr val="F7F7F7"/>
          </a:solidFill>
          <a:ln w="9525">
            <a:solidFill>
              <a:srgbClr val="E2E2E2"/>
            </a:solidFill>
          </a:ln>
          <a:effectLst/>
        </p:spPr>
        <p:txBody>
          <a:bodyPr rtlCol="0" anchor="ctr" lIns="0" rIns="0" tIns="0" bIns="0"/>
          <a:lstStyle/>
          <a:p>
            <a:pPr algn="ctr"/>
          </a:p>
        </p:txBody>
      </p:sp>
      <p:sp>
        <p:nvSpPr>
          <p:cNvPr id="6" name="Rectangle 5"/>
          <p:cNvSpPr/>
          <p:nvPr/>
        </p:nvSpPr>
        <p:spPr>
          <a:xfrm>
            <a:off x="384048" y="512064"/>
            <a:ext cx="68580" cy="876046"/>
          </a:xfrm>
          <a:prstGeom prst="rect">
            <a:avLst/>
          </a:prstGeom>
          <a:solidFill>
            <a:srgbClr val="78DE1F"/>
          </a:solidFill>
          <a:ln>
            <a:noFill/>
          </a:ln>
          <a:effectLst/>
        </p:spPr>
        <p:txBody>
          <a:bodyPr rtlCol="0" anchor="ctr" lIns="0" rIns="0" tIns="0" bIns="0"/>
          <a:lstStyle/>
          <a:p>
            <a:pPr algn="ctr"/>
          </a:p>
        </p:txBody>
      </p:sp>
      <p:sp>
        <p:nvSpPr>
          <p:cNvPr id="7" name="Oval 6"/>
          <p:cNvSpPr/>
          <p:nvPr/>
        </p:nvSpPr>
        <p:spPr>
          <a:xfrm>
            <a:off x="690372" y="658368"/>
            <a:ext cx="256032" cy="256032"/>
          </a:xfrm>
          <a:prstGeom prst="ellipse">
            <a:avLst/>
          </a:prstGeom>
          <a:solidFill>
            <a:srgbClr val="78DE1F"/>
          </a:solidFill>
          <a:ln>
            <a:noFill/>
          </a:ln>
          <a:effectLst/>
        </p:spPr>
        <p:txBody>
          <a:bodyPr rtlCol="0" anchor="ctr" lIns="0" rIns="0" tIns="0" bIns="0"/>
          <a:lstStyle/>
          <a:p>
            <a:pPr algn="ctr"/>
          </a:p>
        </p:txBody>
      </p:sp>
      <p:sp>
        <p:nvSpPr>
          <p:cNvPr id="8" name="TextBox 7"/>
          <p:cNvSpPr txBox="1"/>
          <p:nvPr/>
        </p:nvSpPr>
        <p:spPr>
          <a:xfrm>
            <a:off x="690372" y="699516"/>
            <a:ext cx="256032" cy="182880"/>
          </a:xfrm>
          <a:prstGeom prst="rect">
            <a:avLst/>
          </a:prstGeom>
          <a:noFill/>
        </p:spPr>
        <p:txBody>
          <a:bodyPr wrap="square" lIns="0" rIns="0" tIns="0" bIns="0" anchor="t">
            <a:spAutoFit/>
          </a:bodyPr>
          <a:lstStyle/>
          <a:p>
            <a:pPr algn="ctr">
              <a:lnSpc>
                <a:spcPct val="122000"/>
              </a:lnSpc>
            </a:pPr>
            <a:r>
              <a:rPr sz="1100" b="1" i="0">
                <a:solidFill>
                  <a:srgbClr val="1A1A1A"/>
                </a:solidFill>
                <a:latin typeface="Arial"/>
              </a:rPr>
              <a:t>2</a:t>
            </a:r>
          </a:p>
        </p:txBody>
      </p:sp>
      <p:sp>
        <p:nvSpPr>
          <p:cNvPr id="9" name="TextBox 8"/>
          <p:cNvSpPr txBox="1"/>
          <p:nvPr/>
        </p:nvSpPr>
        <p:spPr>
          <a:xfrm>
            <a:off x="1074420" y="658368"/>
            <a:ext cx="6289517" cy="193675"/>
          </a:xfrm>
          <a:prstGeom prst="rect">
            <a:avLst/>
          </a:prstGeom>
          <a:noFill/>
        </p:spPr>
        <p:txBody>
          <a:bodyPr wrap="square" lIns="0" rIns="0" tIns="0" bIns="0" anchor="t">
            <a:spAutoFit/>
          </a:bodyPr>
          <a:lstStyle/>
          <a:p>
            <a:pPr algn="l">
              <a:lnSpc>
                <a:spcPct val="122000"/>
              </a:lnSpc>
            </a:pPr>
            <a:r>
              <a:rPr sz="1250" b="1" i="0">
                <a:solidFill>
                  <a:srgbClr val="1A1A1A"/>
                </a:solidFill>
                <a:latin typeface="Arial"/>
              </a:rPr>
              <a:t>Tratamento, priorização e alocação de leads</a:t>
            </a:r>
          </a:p>
        </p:txBody>
      </p:sp>
      <p:sp>
        <p:nvSpPr>
          <p:cNvPr id="10" name="TextBox 9"/>
          <p:cNvSpPr txBox="1"/>
          <p:nvPr/>
        </p:nvSpPr>
        <p:spPr>
          <a:xfrm>
            <a:off x="1074420" y="978408"/>
            <a:ext cx="6289517" cy="263397"/>
          </a:xfrm>
          <a:prstGeom prst="rect">
            <a:avLst/>
          </a:prstGeom>
          <a:noFill/>
        </p:spPr>
        <p:txBody>
          <a:bodyPr wrap="square" lIns="0" rIns="0" tIns="0" bIns="0" anchor="t">
            <a:spAutoFit/>
          </a:bodyPr>
          <a:lstStyle/>
          <a:p>
            <a:pPr algn="l">
              <a:lnSpc>
                <a:spcPct val="122000"/>
              </a:lnSpc>
            </a:pPr>
            <a:r>
              <a:rPr sz="850" b="0" i="0">
                <a:solidFill>
                  <a:srgbClr val="6B6B6B"/>
                </a:solidFill>
                <a:latin typeface="Arial"/>
              </a:rPr>
              <a:t>Melhorar a experiência dos clientes em prospecção, o entendimento de suas necessidades, a priorização dos leads com maior potencial de conversão e a alocação às estruturas de vendas com maior chance de conversão.</a:t>
            </a:r>
          </a:p>
        </p:txBody>
      </p:sp>
      <p:sp>
        <p:nvSpPr>
          <p:cNvPr id="11" name="TextBox 10"/>
          <p:cNvSpPr txBox="1"/>
          <p:nvPr/>
        </p:nvSpPr>
        <p:spPr>
          <a:xfrm>
            <a:off x="7638257" y="658368"/>
            <a:ext cx="1572768" cy="100711"/>
          </a:xfrm>
          <a:prstGeom prst="rect">
            <a:avLst/>
          </a:prstGeom>
          <a:noFill/>
        </p:spPr>
        <p:txBody>
          <a:bodyPr wrap="square" lIns="0" rIns="0" tIns="0" bIns="0" anchor="t">
            <a:spAutoFit/>
          </a:bodyPr>
          <a:lstStyle/>
          <a:p>
            <a:pPr algn="l">
              <a:lnSpc>
                <a:spcPct val="122000"/>
              </a:lnSpc>
            </a:pPr>
            <a:r>
              <a:rPr sz="650" b="1" i="0">
                <a:solidFill>
                  <a:srgbClr val="757575"/>
                </a:solidFill>
                <a:latin typeface="Arial"/>
              </a:rPr>
              <a:t>LÍDER(ES)</a:t>
            </a:r>
          </a:p>
        </p:txBody>
      </p:sp>
      <p:sp>
        <p:nvSpPr>
          <p:cNvPr id="12" name="TextBox 11"/>
          <p:cNvSpPr txBox="1"/>
          <p:nvPr/>
        </p:nvSpPr>
        <p:spPr>
          <a:xfrm>
            <a:off x="7638257" y="804799"/>
            <a:ext cx="1572768" cy="123951"/>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Eloah Aguiar</a:t>
            </a:r>
          </a:p>
        </p:txBody>
      </p:sp>
      <p:sp>
        <p:nvSpPr>
          <p:cNvPr id="13" name="TextBox 12"/>
          <p:cNvSpPr txBox="1"/>
          <p:nvPr/>
        </p:nvSpPr>
        <p:spPr>
          <a:xfrm>
            <a:off x="9412193" y="658368"/>
            <a:ext cx="2212848" cy="100711"/>
          </a:xfrm>
          <a:prstGeom prst="rect">
            <a:avLst/>
          </a:prstGeom>
          <a:noFill/>
        </p:spPr>
        <p:txBody>
          <a:bodyPr wrap="square" lIns="0" rIns="0" tIns="0" bIns="0" anchor="t">
            <a:spAutoFit/>
          </a:bodyPr>
          <a:lstStyle/>
          <a:p>
            <a:pPr algn="l">
              <a:lnSpc>
                <a:spcPct val="122000"/>
              </a:lnSpc>
            </a:pPr>
            <a:r>
              <a:rPr sz="650" b="1" i="0">
                <a:solidFill>
                  <a:srgbClr val="757575"/>
                </a:solidFill>
                <a:latin typeface="Arial"/>
              </a:rPr>
              <a:t>TIME DE TRABALHO</a:t>
            </a:r>
          </a:p>
        </p:txBody>
      </p:sp>
      <p:sp>
        <p:nvSpPr>
          <p:cNvPr id="14" name="TextBox 13"/>
          <p:cNvSpPr txBox="1"/>
          <p:nvPr/>
        </p:nvSpPr>
        <p:spPr>
          <a:xfrm>
            <a:off x="9412193" y="804799"/>
            <a:ext cx="2212848" cy="123951"/>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Thais Pimenta, Luma Gomes e João Azevedo</a:t>
            </a:r>
          </a:p>
        </p:txBody>
      </p:sp>
      <p:sp>
        <p:nvSpPr>
          <p:cNvPr id="15" name="TextBox 14"/>
          <p:cNvSpPr txBox="1"/>
          <p:nvPr/>
        </p:nvSpPr>
        <p:spPr>
          <a:xfrm>
            <a:off x="384048" y="1570990"/>
            <a:ext cx="2743200" cy="155448"/>
          </a:xfrm>
          <a:prstGeom prst="rect">
            <a:avLst/>
          </a:prstGeom>
          <a:noFill/>
        </p:spPr>
        <p:txBody>
          <a:bodyPr wrap="square" lIns="0" rIns="0" tIns="0" bIns="0" anchor="t">
            <a:spAutoFit/>
          </a:bodyPr>
          <a:lstStyle/>
          <a:p>
            <a:pPr algn="l">
              <a:lnSpc>
                <a:spcPct val="122000"/>
              </a:lnSpc>
            </a:pPr>
            <a:r>
              <a:rPr sz="950" b="1" i="0">
                <a:solidFill>
                  <a:srgbClr val="1A1A1A"/>
                </a:solidFill>
                <a:latin typeface="Arial"/>
              </a:rPr>
              <a:t>Milestones</a:t>
            </a:r>
          </a:p>
        </p:txBody>
      </p:sp>
      <p:sp>
        <p:nvSpPr>
          <p:cNvPr id="16" name="TextBox 15"/>
          <p:cNvSpPr txBox="1"/>
          <p:nvPr/>
        </p:nvSpPr>
        <p:spPr>
          <a:xfrm>
            <a:off x="452628" y="1804162"/>
            <a:ext cx="503089"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a:t>
            </a:r>
          </a:p>
        </p:txBody>
      </p:sp>
      <p:sp>
        <p:nvSpPr>
          <p:cNvPr id="17" name="TextBox 16"/>
          <p:cNvSpPr txBox="1"/>
          <p:nvPr/>
        </p:nvSpPr>
        <p:spPr>
          <a:xfrm>
            <a:off x="1092877" y="1804162"/>
            <a:ext cx="2698228"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Milestone</a:t>
            </a:r>
          </a:p>
        </p:txBody>
      </p:sp>
      <p:sp>
        <p:nvSpPr>
          <p:cNvPr id="18" name="TextBox 17"/>
          <p:cNvSpPr txBox="1"/>
          <p:nvPr/>
        </p:nvSpPr>
        <p:spPr>
          <a:xfrm>
            <a:off x="3928266" y="1804162"/>
            <a:ext cx="1106752"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Responsável</a:t>
            </a:r>
          </a:p>
        </p:txBody>
      </p:sp>
      <p:sp>
        <p:nvSpPr>
          <p:cNvPr id="19" name="TextBox 18"/>
          <p:cNvSpPr txBox="1"/>
          <p:nvPr/>
        </p:nvSpPr>
        <p:spPr>
          <a:xfrm>
            <a:off x="5172178" y="1804162"/>
            <a:ext cx="649431"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Prazo</a:t>
            </a:r>
          </a:p>
        </p:txBody>
      </p:sp>
      <p:sp>
        <p:nvSpPr>
          <p:cNvPr id="20" name="TextBox 19"/>
          <p:cNvSpPr txBox="1"/>
          <p:nvPr/>
        </p:nvSpPr>
        <p:spPr>
          <a:xfrm>
            <a:off x="5958770" y="1804162"/>
            <a:ext cx="731749" cy="123951"/>
          </a:xfrm>
          <a:prstGeom prst="rect">
            <a:avLst/>
          </a:prstGeom>
          <a:noFill/>
        </p:spPr>
        <p:txBody>
          <a:bodyPr wrap="square" lIns="0" rIns="0" tIns="0" bIns="0" anchor="t">
            <a:spAutoFit/>
          </a:bodyPr>
          <a:lstStyle/>
          <a:p>
            <a:pPr algn="ctr">
              <a:lnSpc>
                <a:spcPct val="122000"/>
              </a:lnSpc>
            </a:pPr>
            <a:r>
              <a:rPr sz="800" b="1" i="0">
                <a:solidFill>
                  <a:srgbClr val="757575"/>
                </a:solidFill>
                <a:latin typeface="Arial"/>
              </a:rPr>
              <a:t>Status</a:t>
            </a:r>
          </a:p>
        </p:txBody>
      </p:sp>
      <p:sp>
        <p:nvSpPr>
          <p:cNvPr id="21" name="TextBox 20"/>
          <p:cNvSpPr txBox="1"/>
          <p:nvPr/>
        </p:nvSpPr>
        <p:spPr>
          <a:xfrm>
            <a:off x="6827679" y="1804162"/>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Progresso recente</a:t>
            </a:r>
          </a:p>
        </p:txBody>
      </p:sp>
      <p:sp>
        <p:nvSpPr>
          <p:cNvPr id="22" name="TextBox 21"/>
          <p:cNvSpPr txBox="1"/>
          <p:nvPr/>
        </p:nvSpPr>
        <p:spPr>
          <a:xfrm>
            <a:off x="8510620" y="1804162"/>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Próximos passos</a:t>
            </a:r>
          </a:p>
        </p:txBody>
      </p:sp>
      <p:sp>
        <p:nvSpPr>
          <p:cNvPr id="23" name="TextBox 22"/>
          <p:cNvSpPr txBox="1"/>
          <p:nvPr/>
        </p:nvSpPr>
        <p:spPr>
          <a:xfrm>
            <a:off x="10193560" y="1804162"/>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Pontos a escalar</a:t>
            </a:r>
          </a:p>
        </p:txBody>
      </p:sp>
      <p:cxnSp>
        <p:nvCxnSpPr>
          <p:cNvPr id="24" name="Connector 23"/>
          <p:cNvCxnSpPr/>
          <p:nvPr/>
        </p:nvCxnSpPr>
        <p:spPr>
          <a:xfrm>
            <a:off x="384048" y="2033270"/>
            <a:ext cx="11423873" cy="0"/>
          </a:xfrm>
          <a:prstGeom prst="line">
            <a:avLst/>
          </a:prstGeom>
          <a:ln w="12700">
            <a:solidFill>
              <a:srgbClr val="1A1A1A"/>
            </a:solidFill>
          </a:ln>
          <a:effectLst/>
        </p:spPr>
      </p:cxnSp>
      <p:sp>
        <p:nvSpPr>
          <p:cNvPr id="25" name="TextBox 24"/>
          <p:cNvSpPr txBox="1"/>
          <p:nvPr/>
        </p:nvSpPr>
        <p:spPr>
          <a:xfrm>
            <a:off x="452628" y="2083562"/>
            <a:ext cx="503089" cy="45742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2.1.1</a:t>
            </a:r>
          </a:p>
        </p:txBody>
      </p:sp>
      <p:sp>
        <p:nvSpPr>
          <p:cNvPr id="26" name="TextBox 25"/>
          <p:cNvSpPr txBox="1"/>
          <p:nvPr/>
        </p:nvSpPr>
        <p:spPr>
          <a:xfrm>
            <a:off x="1092877" y="2083562"/>
            <a:ext cx="2698228" cy="45742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Ativos de captação melhorados (landing pages, WhatsApp)</a:t>
            </a:r>
          </a:p>
        </p:txBody>
      </p:sp>
      <p:sp>
        <p:nvSpPr>
          <p:cNvPr id="27" name="TextBox 26"/>
          <p:cNvSpPr txBox="1"/>
          <p:nvPr/>
        </p:nvSpPr>
        <p:spPr>
          <a:xfrm>
            <a:off x="3928266" y="2083562"/>
            <a:ext cx="1106752" cy="45742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Luma Gomes e Thais Pimenta</a:t>
            </a:r>
          </a:p>
        </p:txBody>
      </p:sp>
      <p:sp>
        <p:nvSpPr>
          <p:cNvPr id="28" name="TextBox 27"/>
          <p:cNvSpPr txBox="1"/>
          <p:nvPr/>
        </p:nvSpPr>
        <p:spPr>
          <a:xfrm>
            <a:off x="5172178" y="2083562"/>
            <a:ext cx="649431" cy="45742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S3 ago/26</a:t>
            </a:r>
          </a:p>
        </p:txBody>
      </p:sp>
      <p:sp>
        <p:nvSpPr>
          <p:cNvPr id="29" name="Rounded Rectangle 28"/>
          <p:cNvSpPr/>
          <p:nvPr/>
        </p:nvSpPr>
        <p:spPr>
          <a:xfrm>
            <a:off x="5958770" y="2094534"/>
            <a:ext cx="731749" cy="169164"/>
          </a:xfrm>
          <a:prstGeom prst="roundRect">
            <a:avLst>
              <a:gd name="adj" fmla="val 50000"/>
            </a:avLst>
          </a:prstGeom>
          <a:solidFill>
            <a:srgbClr val="FFF8E1"/>
          </a:solidFill>
          <a:ln>
            <a:noFill/>
          </a:ln>
          <a:effectLst/>
        </p:spPr>
        <p:txBody>
          <a:bodyPr rtlCol="0" anchor="ctr" lIns="0" rIns="0" tIns="0" bIns="0"/>
          <a:lstStyle/>
          <a:p>
            <a:pPr algn="ctr"/>
          </a:p>
        </p:txBody>
      </p:sp>
      <p:sp>
        <p:nvSpPr>
          <p:cNvPr id="30" name="TextBox 29"/>
          <p:cNvSpPr txBox="1"/>
          <p:nvPr/>
        </p:nvSpPr>
        <p:spPr>
          <a:xfrm>
            <a:off x="5958770" y="2094534"/>
            <a:ext cx="731749" cy="169164"/>
          </a:xfrm>
          <a:prstGeom prst="rect">
            <a:avLst/>
          </a:prstGeom>
          <a:noFill/>
        </p:spPr>
        <p:txBody>
          <a:bodyPr wrap="square" lIns="0" rIns="0" tIns="0" bIns="0" anchor="ctr">
            <a:spAutoFit/>
          </a:bodyPr>
          <a:lstStyle/>
          <a:p>
            <a:pPr algn="ctr">
              <a:lnSpc>
                <a:spcPct val="122000"/>
              </a:lnSpc>
            </a:pPr>
            <a:r>
              <a:rPr sz="750" b="1" i="0">
                <a:solidFill>
                  <a:srgbClr val="6B5700"/>
                </a:solidFill>
                <a:latin typeface="Arial"/>
              </a:rPr>
              <a:t>Em progresso</a:t>
            </a:r>
          </a:p>
        </p:txBody>
      </p:sp>
      <p:sp>
        <p:nvSpPr>
          <p:cNvPr id="31" name="Rectangle 30"/>
          <p:cNvSpPr/>
          <p:nvPr/>
        </p:nvSpPr>
        <p:spPr>
          <a:xfrm>
            <a:off x="6800247" y="2074418"/>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32" name="TextBox 31"/>
          <p:cNvSpPr txBox="1"/>
          <p:nvPr/>
        </p:nvSpPr>
        <p:spPr>
          <a:xfrm>
            <a:off x="6855111" y="2101850"/>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33" name="Rectangle 32"/>
          <p:cNvSpPr/>
          <p:nvPr/>
        </p:nvSpPr>
        <p:spPr>
          <a:xfrm>
            <a:off x="8483188" y="2074418"/>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34" name="TextBox 33"/>
          <p:cNvSpPr txBox="1"/>
          <p:nvPr/>
        </p:nvSpPr>
        <p:spPr>
          <a:xfrm>
            <a:off x="8538052" y="2101850"/>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35" name="Rectangle 34"/>
          <p:cNvSpPr/>
          <p:nvPr/>
        </p:nvSpPr>
        <p:spPr>
          <a:xfrm>
            <a:off x="10166128" y="2074418"/>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36" name="TextBox 35"/>
          <p:cNvSpPr txBox="1"/>
          <p:nvPr/>
        </p:nvSpPr>
        <p:spPr>
          <a:xfrm>
            <a:off x="10220992" y="2101850"/>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37" name="Connector 36"/>
          <p:cNvCxnSpPr/>
          <p:nvPr/>
        </p:nvCxnSpPr>
        <p:spPr>
          <a:xfrm>
            <a:off x="384048" y="2591276"/>
            <a:ext cx="11423873" cy="0"/>
          </a:xfrm>
          <a:prstGeom prst="line">
            <a:avLst/>
          </a:prstGeom>
          <a:ln w="6350">
            <a:solidFill>
              <a:srgbClr val="ECECEC"/>
            </a:solidFill>
          </a:ln>
          <a:effectLst/>
        </p:spPr>
      </p:cxnSp>
      <p:sp>
        <p:nvSpPr>
          <p:cNvPr id="38" name="TextBox 37"/>
          <p:cNvSpPr txBox="1"/>
          <p:nvPr/>
        </p:nvSpPr>
        <p:spPr>
          <a:xfrm>
            <a:off x="452628" y="2641568"/>
            <a:ext cx="503089" cy="58137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2.2.1</a:t>
            </a:r>
          </a:p>
        </p:txBody>
      </p:sp>
      <p:sp>
        <p:nvSpPr>
          <p:cNvPr id="39" name="TextBox 38"/>
          <p:cNvSpPr txBox="1"/>
          <p:nvPr/>
        </p:nvSpPr>
        <p:spPr>
          <a:xfrm>
            <a:off x="1092877" y="2641568"/>
            <a:ext cx="2698228" cy="58137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Informações capturadas no site (ex.: localização por IP) integradas e disponíveis para todos os canais de atendimento</a:t>
            </a:r>
          </a:p>
        </p:txBody>
      </p:sp>
      <p:sp>
        <p:nvSpPr>
          <p:cNvPr id="40" name="TextBox 39"/>
          <p:cNvSpPr txBox="1"/>
          <p:nvPr/>
        </p:nvSpPr>
        <p:spPr>
          <a:xfrm>
            <a:off x="3928266" y="2641568"/>
            <a:ext cx="1106752" cy="58137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Luma Gomes</a:t>
            </a:r>
          </a:p>
        </p:txBody>
      </p:sp>
      <p:sp>
        <p:nvSpPr>
          <p:cNvPr id="41" name="TextBox 40"/>
          <p:cNvSpPr txBox="1"/>
          <p:nvPr/>
        </p:nvSpPr>
        <p:spPr>
          <a:xfrm>
            <a:off x="5172178" y="2641568"/>
            <a:ext cx="649431" cy="58137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S1 set/26</a:t>
            </a:r>
          </a:p>
        </p:txBody>
      </p:sp>
      <p:sp>
        <p:nvSpPr>
          <p:cNvPr id="42" name="Rounded Rectangle 41"/>
          <p:cNvSpPr/>
          <p:nvPr/>
        </p:nvSpPr>
        <p:spPr>
          <a:xfrm>
            <a:off x="5958770" y="2652541"/>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43" name="TextBox 42"/>
          <p:cNvSpPr txBox="1"/>
          <p:nvPr/>
        </p:nvSpPr>
        <p:spPr>
          <a:xfrm>
            <a:off x="5958770" y="2652541"/>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44" name="Rectangle 43"/>
          <p:cNvSpPr/>
          <p:nvPr/>
        </p:nvSpPr>
        <p:spPr>
          <a:xfrm>
            <a:off x="6800247" y="2632424"/>
            <a:ext cx="1600644" cy="599662"/>
          </a:xfrm>
          <a:prstGeom prst="rect">
            <a:avLst/>
          </a:prstGeom>
          <a:solidFill>
            <a:srgbClr val="FFFFFF"/>
          </a:solidFill>
          <a:ln w="6350">
            <a:solidFill>
              <a:srgbClr val="D5D5D5"/>
            </a:solidFill>
          </a:ln>
          <a:effectLst/>
        </p:spPr>
        <p:txBody>
          <a:bodyPr rtlCol="0" anchor="ctr" lIns="0" rIns="0" tIns="0" bIns="0"/>
          <a:lstStyle/>
          <a:p>
            <a:pPr algn="ctr"/>
          </a:p>
        </p:txBody>
      </p:sp>
      <p:sp>
        <p:nvSpPr>
          <p:cNvPr id="45" name="TextBox 44"/>
          <p:cNvSpPr txBox="1"/>
          <p:nvPr/>
        </p:nvSpPr>
        <p:spPr>
          <a:xfrm>
            <a:off x="6855111" y="2659856"/>
            <a:ext cx="1490916" cy="54479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46" name="Rectangle 45"/>
          <p:cNvSpPr/>
          <p:nvPr/>
        </p:nvSpPr>
        <p:spPr>
          <a:xfrm>
            <a:off x="8483188" y="2632424"/>
            <a:ext cx="1600644" cy="599662"/>
          </a:xfrm>
          <a:prstGeom prst="rect">
            <a:avLst/>
          </a:prstGeom>
          <a:solidFill>
            <a:srgbClr val="FFFFFF"/>
          </a:solidFill>
          <a:ln w="6350">
            <a:solidFill>
              <a:srgbClr val="D5D5D5"/>
            </a:solidFill>
          </a:ln>
          <a:effectLst/>
        </p:spPr>
        <p:txBody>
          <a:bodyPr rtlCol="0" anchor="ctr" lIns="0" rIns="0" tIns="0" bIns="0"/>
          <a:lstStyle/>
          <a:p>
            <a:pPr algn="ctr"/>
          </a:p>
        </p:txBody>
      </p:sp>
      <p:sp>
        <p:nvSpPr>
          <p:cNvPr id="47" name="TextBox 46"/>
          <p:cNvSpPr txBox="1"/>
          <p:nvPr/>
        </p:nvSpPr>
        <p:spPr>
          <a:xfrm>
            <a:off x="8538052" y="2659856"/>
            <a:ext cx="1490916" cy="54479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48" name="Rectangle 47"/>
          <p:cNvSpPr/>
          <p:nvPr/>
        </p:nvSpPr>
        <p:spPr>
          <a:xfrm>
            <a:off x="10166128" y="2632424"/>
            <a:ext cx="1600644" cy="599662"/>
          </a:xfrm>
          <a:prstGeom prst="rect">
            <a:avLst/>
          </a:prstGeom>
          <a:solidFill>
            <a:srgbClr val="FFFFFF"/>
          </a:solidFill>
          <a:ln w="6350">
            <a:solidFill>
              <a:srgbClr val="D5D5D5"/>
            </a:solidFill>
          </a:ln>
          <a:effectLst/>
        </p:spPr>
        <p:txBody>
          <a:bodyPr rtlCol="0" anchor="ctr" lIns="0" rIns="0" tIns="0" bIns="0"/>
          <a:lstStyle/>
          <a:p>
            <a:pPr algn="ctr"/>
          </a:p>
        </p:txBody>
      </p:sp>
      <p:sp>
        <p:nvSpPr>
          <p:cNvPr id="49" name="TextBox 48"/>
          <p:cNvSpPr txBox="1"/>
          <p:nvPr/>
        </p:nvSpPr>
        <p:spPr>
          <a:xfrm>
            <a:off x="10220992" y="2659856"/>
            <a:ext cx="1490916" cy="54479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50" name="Connector 49"/>
          <p:cNvCxnSpPr/>
          <p:nvPr/>
        </p:nvCxnSpPr>
        <p:spPr>
          <a:xfrm>
            <a:off x="384048" y="3273234"/>
            <a:ext cx="11423873" cy="0"/>
          </a:xfrm>
          <a:prstGeom prst="line">
            <a:avLst/>
          </a:prstGeom>
          <a:ln w="6350">
            <a:solidFill>
              <a:srgbClr val="ECECEC"/>
            </a:solidFill>
          </a:ln>
          <a:effectLst/>
        </p:spPr>
      </p:cxnSp>
      <p:sp>
        <p:nvSpPr>
          <p:cNvPr id="51" name="TextBox 50"/>
          <p:cNvSpPr txBox="1"/>
          <p:nvPr/>
        </p:nvSpPr>
        <p:spPr>
          <a:xfrm>
            <a:off x="452628" y="3323526"/>
            <a:ext cx="503089" cy="45742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2.3.1</a:t>
            </a:r>
          </a:p>
        </p:txBody>
      </p:sp>
      <p:sp>
        <p:nvSpPr>
          <p:cNvPr id="52" name="TextBox 51"/>
          <p:cNvSpPr txBox="1"/>
          <p:nvPr/>
        </p:nvSpPr>
        <p:spPr>
          <a:xfrm>
            <a:off x="1092877" y="3323526"/>
            <a:ext cx="2698228" cy="45742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Lead score evoluído com novas variáveis (score B3 de propensão a financiamento, renda presumida etc.)</a:t>
            </a:r>
          </a:p>
        </p:txBody>
      </p:sp>
      <p:sp>
        <p:nvSpPr>
          <p:cNvPr id="53" name="TextBox 52"/>
          <p:cNvSpPr txBox="1"/>
          <p:nvPr/>
        </p:nvSpPr>
        <p:spPr>
          <a:xfrm>
            <a:off x="3928266" y="3323526"/>
            <a:ext cx="1106752" cy="45742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João Azevedo</a:t>
            </a:r>
          </a:p>
        </p:txBody>
      </p:sp>
      <p:sp>
        <p:nvSpPr>
          <p:cNvPr id="54" name="TextBox 53"/>
          <p:cNvSpPr txBox="1"/>
          <p:nvPr/>
        </p:nvSpPr>
        <p:spPr>
          <a:xfrm>
            <a:off x="5172178" y="3323526"/>
            <a:ext cx="649431" cy="45742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S3 out/26</a:t>
            </a:r>
          </a:p>
        </p:txBody>
      </p:sp>
      <p:sp>
        <p:nvSpPr>
          <p:cNvPr id="55" name="Rounded Rectangle 54"/>
          <p:cNvSpPr/>
          <p:nvPr/>
        </p:nvSpPr>
        <p:spPr>
          <a:xfrm>
            <a:off x="5958770" y="3334499"/>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56" name="TextBox 55"/>
          <p:cNvSpPr txBox="1"/>
          <p:nvPr/>
        </p:nvSpPr>
        <p:spPr>
          <a:xfrm>
            <a:off x="5958770" y="3334499"/>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57" name="Rectangle 56"/>
          <p:cNvSpPr/>
          <p:nvPr/>
        </p:nvSpPr>
        <p:spPr>
          <a:xfrm>
            <a:off x="6800247" y="3314382"/>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58" name="TextBox 57"/>
          <p:cNvSpPr txBox="1"/>
          <p:nvPr/>
        </p:nvSpPr>
        <p:spPr>
          <a:xfrm>
            <a:off x="6855111" y="3341814"/>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59" name="Rectangle 58"/>
          <p:cNvSpPr/>
          <p:nvPr/>
        </p:nvSpPr>
        <p:spPr>
          <a:xfrm>
            <a:off x="8483188" y="3314382"/>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60" name="TextBox 59"/>
          <p:cNvSpPr txBox="1"/>
          <p:nvPr/>
        </p:nvSpPr>
        <p:spPr>
          <a:xfrm>
            <a:off x="8538052" y="3341814"/>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61" name="Rectangle 60"/>
          <p:cNvSpPr/>
          <p:nvPr/>
        </p:nvSpPr>
        <p:spPr>
          <a:xfrm>
            <a:off x="10166128" y="3314382"/>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62" name="TextBox 61"/>
          <p:cNvSpPr txBox="1"/>
          <p:nvPr/>
        </p:nvSpPr>
        <p:spPr>
          <a:xfrm>
            <a:off x="10220992" y="3341814"/>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63" name="Connector 62"/>
          <p:cNvCxnSpPr/>
          <p:nvPr/>
        </p:nvCxnSpPr>
        <p:spPr>
          <a:xfrm>
            <a:off x="384048" y="3831240"/>
            <a:ext cx="11423873" cy="0"/>
          </a:xfrm>
          <a:prstGeom prst="line">
            <a:avLst/>
          </a:prstGeom>
          <a:ln w="6350">
            <a:solidFill>
              <a:srgbClr val="ECECEC"/>
            </a:solidFill>
          </a:ln>
          <a:effectLst/>
        </p:spPr>
      </p:cxnSp>
      <p:sp>
        <p:nvSpPr>
          <p:cNvPr id="64" name="TextBox 63"/>
          <p:cNvSpPr txBox="1"/>
          <p:nvPr/>
        </p:nvSpPr>
        <p:spPr>
          <a:xfrm>
            <a:off x="452628" y="3881532"/>
            <a:ext cx="503089" cy="45742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2.4.1</a:t>
            </a:r>
          </a:p>
        </p:txBody>
      </p:sp>
      <p:sp>
        <p:nvSpPr>
          <p:cNvPr id="65" name="TextBox 64"/>
          <p:cNvSpPr txBox="1"/>
          <p:nvPr/>
        </p:nvSpPr>
        <p:spPr>
          <a:xfrm>
            <a:off x="1092877" y="3881532"/>
            <a:ext cx="2698228" cy="45742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Novo modelo de alocação em lojas desenhado</a:t>
            </a:r>
          </a:p>
        </p:txBody>
      </p:sp>
      <p:sp>
        <p:nvSpPr>
          <p:cNvPr id="66" name="TextBox 65"/>
          <p:cNvSpPr txBox="1"/>
          <p:nvPr/>
        </p:nvSpPr>
        <p:spPr>
          <a:xfrm>
            <a:off x="3928266" y="3881532"/>
            <a:ext cx="1106752" cy="45742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Luma Gomes e Yure Cangussu</a:t>
            </a:r>
          </a:p>
        </p:txBody>
      </p:sp>
      <p:sp>
        <p:nvSpPr>
          <p:cNvPr id="67" name="TextBox 66"/>
          <p:cNvSpPr txBox="1"/>
          <p:nvPr/>
        </p:nvSpPr>
        <p:spPr>
          <a:xfrm>
            <a:off x="5172178" y="3881532"/>
            <a:ext cx="649431" cy="45742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S1 ago/26</a:t>
            </a:r>
          </a:p>
        </p:txBody>
      </p:sp>
      <p:sp>
        <p:nvSpPr>
          <p:cNvPr id="68" name="Rounded Rectangle 67"/>
          <p:cNvSpPr/>
          <p:nvPr/>
        </p:nvSpPr>
        <p:spPr>
          <a:xfrm>
            <a:off x="5958770" y="3892505"/>
            <a:ext cx="731749" cy="169164"/>
          </a:xfrm>
          <a:prstGeom prst="roundRect">
            <a:avLst>
              <a:gd name="adj" fmla="val 50000"/>
            </a:avLst>
          </a:prstGeom>
          <a:solidFill>
            <a:srgbClr val="FFF8E1"/>
          </a:solidFill>
          <a:ln>
            <a:noFill/>
          </a:ln>
          <a:effectLst/>
        </p:spPr>
        <p:txBody>
          <a:bodyPr rtlCol="0" anchor="ctr" lIns="0" rIns="0" tIns="0" bIns="0"/>
          <a:lstStyle/>
          <a:p>
            <a:pPr algn="ctr"/>
          </a:p>
        </p:txBody>
      </p:sp>
      <p:sp>
        <p:nvSpPr>
          <p:cNvPr id="69" name="TextBox 68"/>
          <p:cNvSpPr txBox="1"/>
          <p:nvPr/>
        </p:nvSpPr>
        <p:spPr>
          <a:xfrm>
            <a:off x="5958770" y="3892505"/>
            <a:ext cx="731749" cy="169164"/>
          </a:xfrm>
          <a:prstGeom prst="rect">
            <a:avLst/>
          </a:prstGeom>
          <a:noFill/>
        </p:spPr>
        <p:txBody>
          <a:bodyPr wrap="square" lIns="0" rIns="0" tIns="0" bIns="0" anchor="ctr">
            <a:spAutoFit/>
          </a:bodyPr>
          <a:lstStyle/>
          <a:p>
            <a:pPr algn="ctr">
              <a:lnSpc>
                <a:spcPct val="122000"/>
              </a:lnSpc>
            </a:pPr>
            <a:r>
              <a:rPr sz="750" b="1" i="0">
                <a:solidFill>
                  <a:srgbClr val="6B5700"/>
                </a:solidFill>
                <a:latin typeface="Arial"/>
              </a:rPr>
              <a:t>Em progresso</a:t>
            </a:r>
          </a:p>
        </p:txBody>
      </p:sp>
      <p:sp>
        <p:nvSpPr>
          <p:cNvPr id="70" name="Rectangle 69"/>
          <p:cNvSpPr/>
          <p:nvPr/>
        </p:nvSpPr>
        <p:spPr>
          <a:xfrm>
            <a:off x="6800247" y="3872388"/>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71" name="TextBox 70"/>
          <p:cNvSpPr txBox="1"/>
          <p:nvPr/>
        </p:nvSpPr>
        <p:spPr>
          <a:xfrm>
            <a:off x="6855111" y="3899820"/>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72" name="Rectangle 71"/>
          <p:cNvSpPr/>
          <p:nvPr/>
        </p:nvSpPr>
        <p:spPr>
          <a:xfrm>
            <a:off x="8483188" y="3872388"/>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73" name="TextBox 72"/>
          <p:cNvSpPr txBox="1"/>
          <p:nvPr/>
        </p:nvSpPr>
        <p:spPr>
          <a:xfrm>
            <a:off x="8538052" y="3899820"/>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74" name="Rectangle 73"/>
          <p:cNvSpPr/>
          <p:nvPr/>
        </p:nvSpPr>
        <p:spPr>
          <a:xfrm>
            <a:off x="10166128" y="3872388"/>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75" name="TextBox 74"/>
          <p:cNvSpPr txBox="1"/>
          <p:nvPr/>
        </p:nvSpPr>
        <p:spPr>
          <a:xfrm>
            <a:off x="10220992" y="3899820"/>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76" name="Connector 75"/>
          <p:cNvCxnSpPr/>
          <p:nvPr/>
        </p:nvCxnSpPr>
        <p:spPr>
          <a:xfrm>
            <a:off x="384048" y="4389247"/>
            <a:ext cx="11423873" cy="0"/>
          </a:xfrm>
          <a:prstGeom prst="line">
            <a:avLst/>
          </a:prstGeom>
          <a:ln w="6350">
            <a:solidFill>
              <a:srgbClr val="ECECEC"/>
            </a:solidFill>
          </a:ln>
          <a:effectLst/>
        </p:spPr>
      </p:cxnSp>
      <p:sp>
        <p:nvSpPr>
          <p:cNvPr id="77" name="TextBox 76"/>
          <p:cNvSpPr txBox="1"/>
          <p:nvPr/>
        </p:nvSpPr>
        <p:spPr>
          <a:xfrm>
            <a:off x="452628" y="4439539"/>
            <a:ext cx="503089" cy="38325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2.4.2</a:t>
            </a:r>
          </a:p>
        </p:txBody>
      </p:sp>
      <p:sp>
        <p:nvSpPr>
          <p:cNvPr id="78" name="TextBox 77"/>
          <p:cNvSpPr txBox="1"/>
          <p:nvPr/>
        </p:nvSpPr>
        <p:spPr>
          <a:xfrm>
            <a:off x="1092877" y="4439539"/>
            <a:ext cx="2698228" cy="38325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Piloto com nova lógica de roteamento lançado</a:t>
            </a:r>
          </a:p>
        </p:txBody>
      </p:sp>
      <p:sp>
        <p:nvSpPr>
          <p:cNvPr id="79" name="TextBox 78"/>
          <p:cNvSpPr txBox="1"/>
          <p:nvPr/>
        </p:nvSpPr>
        <p:spPr>
          <a:xfrm>
            <a:off x="3928266" y="4439539"/>
            <a:ext cx="1106752" cy="38325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Luma Gomes</a:t>
            </a:r>
          </a:p>
        </p:txBody>
      </p:sp>
      <p:sp>
        <p:nvSpPr>
          <p:cNvPr id="80" name="TextBox 79"/>
          <p:cNvSpPr txBox="1"/>
          <p:nvPr/>
        </p:nvSpPr>
        <p:spPr>
          <a:xfrm>
            <a:off x="5172178" y="4439539"/>
            <a:ext cx="649431" cy="38325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S2 ago/26</a:t>
            </a:r>
          </a:p>
        </p:txBody>
      </p:sp>
      <p:sp>
        <p:nvSpPr>
          <p:cNvPr id="81" name="Rounded Rectangle 80"/>
          <p:cNvSpPr/>
          <p:nvPr/>
        </p:nvSpPr>
        <p:spPr>
          <a:xfrm>
            <a:off x="5991256" y="4450511"/>
            <a:ext cx="666776" cy="169164"/>
          </a:xfrm>
          <a:prstGeom prst="roundRect">
            <a:avLst>
              <a:gd name="adj" fmla="val 50000"/>
            </a:avLst>
          </a:prstGeom>
          <a:solidFill>
            <a:srgbClr val="E6F7EE"/>
          </a:solidFill>
          <a:ln>
            <a:noFill/>
          </a:ln>
          <a:effectLst/>
        </p:spPr>
        <p:txBody>
          <a:bodyPr rtlCol="0" anchor="ctr" lIns="0" rIns="0" tIns="0" bIns="0"/>
          <a:lstStyle/>
          <a:p>
            <a:pPr algn="ctr"/>
          </a:p>
        </p:txBody>
      </p:sp>
      <p:sp>
        <p:nvSpPr>
          <p:cNvPr id="82" name="TextBox 81"/>
          <p:cNvSpPr txBox="1"/>
          <p:nvPr/>
        </p:nvSpPr>
        <p:spPr>
          <a:xfrm>
            <a:off x="5991256" y="4450511"/>
            <a:ext cx="666776" cy="169164"/>
          </a:xfrm>
          <a:prstGeom prst="rect">
            <a:avLst/>
          </a:prstGeom>
          <a:noFill/>
        </p:spPr>
        <p:txBody>
          <a:bodyPr wrap="square" lIns="0" rIns="0" tIns="0" bIns="0" anchor="ctr">
            <a:spAutoFit/>
          </a:bodyPr>
          <a:lstStyle/>
          <a:p>
            <a:pPr algn="ctr">
              <a:lnSpc>
                <a:spcPct val="122000"/>
              </a:lnSpc>
            </a:pPr>
            <a:r>
              <a:rPr sz="750" b="1" i="0">
                <a:solidFill>
                  <a:srgbClr val="146A3D"/>
                </a:solidFill>
                <a:latin typeface="Arial"/>
              </a:rPr>
              <a:t>Concluído</a:t>
            </a:r>
          </a:p>
        </p:txBody>
      </p:sp>
      <p:sp>
        <p:nvSpPr>
          <p:cNvPr id="83" name="Rectangle 82"/>
          <p:cNvSpPr/>
          <p:nvPr/>
        </p:nvSpPr>
        <p:spPr>
          <a:xfrm>
            <a:off x="6800247" y="4430395"/>
            <a:ext cx="1600644" cy="401542"/>
          </a:xfrm>
          <a:prstGeom prst="rect">
            <a:avLst/>
          </a:prstGeom>
          <a:solidFill>
            <a:srgbClr val="FFFFFF"/>
          </a:solidFill>
          <a:ln w="6350">
            <a:solidFill>
              <a:srgbClr val="D5D5D5"/>
            </a:solidFill>
          </a:ln>
          <a:effectLst/>
        </p:spPr>
        <p:txBody>
          <a:bodyPr rtlCol="0" anchor="ctr" lIns="0" rIns="0" tIns="0" bIns="0"/>
          <a:lstStyle/>
          <a:p>
            <a:pPr algn="ctr"/>
          </a:p>
        </p:txBody>
      </p:sp>
      <p:sp>
        <p:nvSpPr>
          <p:cNvPr id="84" name="TextBox 83"/>
          <p:cNvSpPr txBox="1"/>
          <p:nvPr/>
        </p:nvSpPr>
        <p:spPr>
          <a:xfrm>
            <a:off x="6855111" y="4457827"/>
            <a:ext cx="1490916" cy="34667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85" name="Rectangle 84"/>
          <p:cNvSpPr/>
          <p:nvPr/>
        </p:nvSpPr>
        <p:spPr>
          <a:xfrm>
            <a:off x="8483188" y="4430395"/>
            <a:ext cx="1600644" cy="401542"/>
          </a:xfrm>
          <a:prstGeom prst="rect">
            <a:avLst/>
          </a:prstGeom>
          <a:solidFill>
            <a:srgbClr val="FFFFFF"/>
          </a:solidFill>
          <a:ln w="6350">
            <a:solidFill>
              <a:srgbClr val="D5D5D5"/>
            </a:solidFill>
          </a:ln>
          <a:effectLst/>
        </p:spPr>
        <p:txBody>
          <a:bodyPr rtlCol="0" anchor="ctr" lIns="0" rIns="0" tIns="0" bIns="0"/>
          <a:lstStyle/>
          <a:p>
            <a:pPr algn="ctr"/>
          </a:p>
        </p:txBody>
      </p:sp>
      <p:sp>
        <p:nvSpPr>
          <p:cNvPr id="86" name="TextBox 85"/>
          <p:cNvSpPr txBox="1"/>
          <p:nvPr/>
        </p:nvSpPr>
        <p:spPr>
          <a:xfrm>
            <a:off x="8538052" y="4457827"/>
            <a:ext cx="1490916" cy="34667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87" name="Rectangle 86"/>
          <p:cNvSpPr/>
          <p:nvPr/>
        </p:nvSpPr>
        <p:spPr>
          <a:xfrm>
            <a:off x="10166128" y="4430395"/>
            <a:ext cx="1600644" cy="401542"/>
          </a:xfrm>
          <a:prstGeom prst="rect">
            <a:avLst/>
          </a:prstGeom>
          <a:solidFill>
            <a:srgbClr val="FFFFFF"/>
          </a:solidFill>
          <a:ln w="6350">
            <a:solidFill>
              <a:srgbClr val="D5D5D5"/>
            </a:solidFill>
          </a:ln>
          <a:effectLst/>
        </p:spPr>
        <p:txBody>
          <a:bodyPr rtlCol="0" anchor="ctr" lIns="0" rIns="0" tIns="0" bIns="0"/>
          <a:lstStyle/>
          <a:p>
            <a:pPr algn="ctr"/>
          </a:p>
        </p:txBody>
      </p:sp>
      <p:sp>
        <p:nvSpPr>
          <p:cNvPr id="88" name="TextBox 87"/>
          <p:cNvSpPr txBox="1"/>
          <p:nvPr/>
        </p:nvSpPr>
        <p:spPr>
          <a:xfrm>
            <a:off x="10220992" y="4457827"/>
            <a:ext cx="1490916" cy="34667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89" name="Connector 88"/>
          <p:cNvCxnSpPr/>
          <p:nvPr/>
        </p:nvCxnSpPr>
        <p:spPr>
          <a:xfrm>
            <a:off x="384048" y="4873085"/>
            <a:ext cx="11423873" cy="0"/>
          </a:xfrm>
          <a:prstGeom prst="line">
            <a:avLst/>
          </a:prstGeom>
          <a:ln w="6350">
            <a:solidFill>
              <a:srgbClr val="ECECEC"/>
            </a:solidFill>
          </a:ln>
          <a:effectLst/>
        </p:spPr>
      </p:cxnSp>
      <p:sp>
        <p:nvSpPr>
          <p:cNvPr id="90" name="TextBox 89"/>
          <p:cNvSpPr txBox="1"/>
          <p:nvPr/>
        </p:nvSpPr>
        <p:spPr>
          <a:xfrm>
            <a:off x="452628" y="4923377"/>
            <a:ext cx="503089" cy="45742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2.4.3</a:t>
            </a:r>
          </a:p>
        </p:txBody>
      </p:sp>
      <p:sp>
        <p:nvSpPr>
          <p:cNvPr id="91" name="TextBox 90"/>
          <p:cNvSpPr txBox="1"/>
          <p:nvPr/>
        </p:nvSpPr>
        <p:spPr>
          <a:xfrm>
            <a:off x="1092877" y="4923377"/>
            <a:ext cx="2698228" cy="45742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Novo modelo de alocação de leads em lojas escalado para todas as lojas</a:t>
            </a:r>
          </a:p>
        </p:txBody>
      </p:sp>
      <p:sp>
        <p:nvSpPr>
          <p:cNvPr id="92" name="TextBox 91"/>
          <p:cNvSpPr txBox="1"/>
          <p:nvPr/>
        </p:nvSpPr>
        <p:spPr>
          <a:xfrm>
            <a:off x="3928266" y="4923377"/>
            <a:ext cx="1106752" cy="45742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Luma Gomes</a:t>
            </a:r>
          </a:p>
        </p:txBody>
      </p:sp>
      <p:sp>
        <p:nvSpPr>
          <p:cNvPr id="93" name="TextBox 92"/>
          <p:cNvSpPr txBox="1"/>
          <p:nvPr/>
        </p:nvSpPr>
        <p:spPr>
          <a:xfrm>
            <a:off x="5172178" y="4923377"/>
            <a:ext cx="649431" cy="45742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S2 out/26</a:t>
            </a:r>
          </a:p>
        </p:txBody>
      </p:sp>
      <p:sp>
        <p:nvSpPr>
          <p:cNvPr id="94" name="Rounded Rectangle 93"/>
          <p:cNvSpPr/>
          <p:nvPr/>
        </p:nvSpPr>
        <p:spPr>
          <a:xfrm>
            <a:off x="5958770" y="4934350"/>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95" name="TextBox 94"/>
          <p:cNvSpPr txBox="1"/>
          <p:nvPr/>
        </p:nvSpPr>
        <p:spPr>
          <a:xfrm>
            <a:off x="5958770" y="4934350"/>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96" name="Rectangle 95"/>
          <p:cNvSpPr/>
          <p:nvPr/>
        </p:nvSpPr>
        <p:spPr>
          <a:xfrm>
            <a:off x="6800247" y="4914233"/>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97" name="TextBox 96"/>
          <p:cNvSpPr txBox="1"/>
          <p:nvPr/>
        </p:nvSpPr>
        <p:spPr>
          <a:xfrm>
            <a:off x="6855111" y="4941665"/>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98" name="Rectangle 97"/>
          <p:cNvSpPr/>
          <p:nvPr/>
        </p:nvSpPr>
        <p:spPr>
          <a:xfrm>
            <a:off x="8483188" y="4914233"/>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99" name="TextBox 98"/>
          <p:cNvSpPr txBox="1"/>
          <p:nvPr/>
        </p:nvSpPr>
        <p:spPr>
          <a:xfrm>
            <a:off x="8538052" y="4941665"/>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00" name="Rectangle 99"/>
          <p:cNvSpPr/>
          <p:nvPr/>
        </p:nvSpPr>
        <p:spPr>
          <a:xfrm>
            <a:off x="10166128" y="4914233"/>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101" name="TextBox 100"/>
          <p:cNvSpPr txBox="1"/>
          <p:nvPr/>
        </p:nvSpPr>
        <p:spPr>
          <a:xfrm>
            <a:off x="10220992" y="4941665"/>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102" name="Connector 101"/>
          <p:cNvCxnSpPr/>
          <p:nvPr/>
        </p:nvCxnSpPr>
        <p:spPr>
          <a:xfrm>
            <a:off x="384048" y="5431091"/>
            <a:ext cx="11423873" cy="0"/>
          </a:xfrm>
          <a:prstGeom prst="line">
            <a:avLst/>
          </a:prstGeom>
          <a:ln w="6350">
            <a:solidFill>
              <a:srgbClr val="ECECEC"/>
            </a:solidFill>
          </a:ln>
          <a:effectLst/>
        </p:spPr>
      </p:cxnSp>
      <p:sp>
        <p:nvSpPr>
          <p:cNvPr id="103" name="TextBox 102"/>
          <p:cNvSpPr txBox="1"/>
          <p:nvPr/>
        </p:nvSpPr>
        <p:spPr>
          <a:xfrm>
            <a:off x="452628" y="5481383"/>
            <a:ext cx="503089" cy="45742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2.4.4</a:t>
            </a:r>
          </a:p>
        </p:txBody>
      </p:sp>
      <p:sp>
        <p:nvSpPr>
          <p:cNvPr id="104" name="TextBox 103"/>
          <p:cNvSpPr txBox="1"/>
          <p:nvPr/>
        </p:nvSpPr>
        <p:spPr>
          <a:xfrm>
            <a:off x="1092877" y="5481383"/>
            <a:ext cx="2698228" cy="45742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Piloto de alocação total dos leads na Liza, com transbordo para a Central, lançado</a:t>
            </a:r>
          </a:p>
        </p:txBody>
      </p:sp>
      <p:sp>
        <p:nvSpPr>
          <p:cNvPr id="105" name="TextBox 104"/>
          <p:cNvSpPr txBox="1"/>
          <p:nvPr/>
        </p:nvSpPr>
        <p:spPr>
          <a:xfrm>
            <a:off x="3928266" y="5481383"/>
            <a:ext cx="1106752" cy="45742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Luma Gomes e Yure Cangussu</a:t>
            </a:r>
          </a:p>
        </p:txBody>
      </p:sp>
      <p:sp>
        <p:nvSpPr>
          <p:cNvPr id="106" name="TextBox 105"/>
          <p:cNvSpPr txBox="1"/>
          <p:nvPr/>
        </p:nvSpPr>
        <p:spPr>
          <a:xfrm>
            <a:off x="5172178" y="5481383"/>
            <a:ext cx="649431" cy="45742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out/26</a:t>
            </a:r>
          </a:p>
        </p:txBody>
      </p:sp>
      <p:sp>
        <p:nvSpPr>
          <p:cNvPr id="107" name="Rounded Rectangle 106"/>
          <p:cNvSpPr/>
          <p:nvPr/>
        </p:nvSpPr>
        <p:spPr>
          <a:xfrm>
            <a:off x="5958770" y="5492356"/>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108" name="TextBox 107"/>
          <p:cNvSpPr txBox="1"/>
          <p:nvPr/>
        </p:nvSpPr>
        <p:spPr>
          <a:xfrm>
            <a:off x="5958770" y="5492356"/>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109" name="Rectangle 108"/>
          <p:cNvSpPr/>
          <p:nvPr/>
        </p:nvSpPr>
        <p:spPr>
          <a:xfrm>
            <a:off x="6800247" y="5472239"/>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110" name="TextBox 109"/>
          <p:cNvSpPr txBox="1"/>
          <p:nvPr/>
        </p:nvSpPr>
        <p:spPr>
          <a:xfrm>
            <a:off x="6855111" y="5499671"/>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11" name="Rectangle 110"/>
          <p:cNvSpPr/>
          <p:nvPr/>
        </p:nvSpPr>
        <p:spPr>
          <a:xfrm>
            <a:off x="8483188" y="5472239"/>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112" name="TextBox 111"/>
          <p:cNvSpPr txBox="1"/>
          <p:nvPr/>
        </p:nvSpPr>
        <p:spPr>
          <a:xfrm>
            <a:off x="8538052" y="5499671"/>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13" name="Rectangle 112"/>
          <p:cNvSpPr/>
          <p:nvPr/>
        </p:nvSpPr>
        <p:spPr>
          <a:xfrm>
            <a:off x="10166128" y="5472239"/>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114" name="TextBox 113"/>
          <p:cNvSpPr txBox="1"/>
          <p:nvPr/>
        </p:nvSpPr>
        <p:spPr>
          <a:xfrm>
            <a:off x="10220992" y="5499671"/>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115" name="Connector 114"/>
          <p:cNvCxnSpPr/>
          <p:nvPr/>
        </p:nvCxnSpPr>
        <p:spPr>
          <a:xfrm>
            <a:off x="384048" y="5989097"/>
            <a:ext cx="11423873" cy="0"/>
          </a:xfrm>
          <a:prstGeom prst="line">
            <a:avLst/>
          </a:prstGeom>
          <a:ln w="6350">
            <a:solidFill>
              <a:srgbClr val="ECECEC"/>
            </a:solidFill>
          </a:ln>
          <a:effectLst/>
        </p:spPr>
      </p:cxnSp>
      <p:sp>
        <p:nvSpPr>
          <p:cNvPr id="116" name="TextBox 115"/>
          <p:cNvSpPr txBox="1"/>
          <p:nvPr/>
        </p:nvSpPr>
        <p:spPr>
          <a:xfrm>
            <a:off x="452628" y="6039389"/>
            <a:ext cx="503089" cy="45742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2.4.5</a:t>
            </a:r>
          </a:p>
        </p:txBody>
      </p:sp>
      <p:sp>
        <p:nvSpPr>
          <p:cNvPr id="117" name="TextBox 116"/>
          <p:cNvSpPr txBox="1"/>
          <p:nvPr/>
        </p:nvSpPr>
        <p:spPr>
          <a:xfrm>
            <a:off x="1092877" y="6039389"/>
            <a:ext cx="2698228" cy="45742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Modelo de clusterização revisado com base nas distâncias entre lojas e leads alocados</a:t>
            </a:r>
          </a:p>
        </p:txBody>
      </p:sp>
      <p:sp>
        <p:nvSpPr>
          <p:cNvPr id="118" name="TextBox 117"/>
          <p:cNvSpPr txBox="1"/>
          <p:nvPr/>
        </p:nvSpPr>
        <p:spPr>
          <a:xfrm>
            <a:off x="3928266" y="6039389"/>
            <a:ext cx="1106752" cy="45742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João Azevedo</a:t>
            </a:r>
          </a:p>
        </p:txBody>
      </p:sp>
      <p:sp>
        <p:nvSpPr>
          <p:cNvPr id="119" name="TextBox 118"/>
          <p:cNvSpPr txBox="1"/>
          <p:nvPr/>
        </p:nvSpPr>
        <p:spPr>
          <a:xfrm>
            <a:off x="5172178" y="6039389"/>
            <a:ext cx="649431" cy="45742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S2 set/26</a:t>
            </a:r>
          </a:p>
        </p:txBody>
      </p:sp>
      <p:sp>
        <p:nvSpPr>
          <p:cNvPr id="120" name="Rounded Rectangle 119"/>
          <p:cNvSpPr/>
          <p:nvPr/>
        </p:nvSpPr>
        <p:spPr>
          <a:xfrm>
            <a:off x="5958770" y="6050362"/>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121" name="TextBox 120"/>
          <p:cNvSpPr txBox="1"/>
          <p:nvPr/>
        </p:nvSpPr>
        <p:spPr>
          <a:xfrm>
            <a:off x="5958770" y="6050362"/>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122" name="Rectangle 121"/>
          <p:cNvSpPr/>
          <p:nvPr/>
        </p:nvSpPr>
        <p:spPr>
          <a:xfrm>
            <a:off x="6800247" y="6030245"/>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123" name="TextBox 122"/>
          <p:cNvSpPr txBox="1"/>
          <p:nvPr/>
        </p:nvSpPr>
        <p:spPr>
          <a:xfrm>
            <a:off x="6855111" y="6057677"/>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24" name="Rectangle 123"/>
          <p:cNvSpPr/>
          <p:nvPr/>
        </p:nvSpPr>
        <p:spPr>
          <a:xfrm>
            <a:off x="8483188" y="6030245"/>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125" name="TextBox 124"/>
          <p:cNvSpPr txBox="1"/>
          <p:nvPr/>
        </p:nvSpPr>
        <p:spPr>
          <a:xfrm>
            <a:off x="8538052" y="6057677"/>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26" name="Rectangle 125"/>
          <p:cNvSpPr/>
          <p:nvPr/>
        </p:nvSpPr>
        <p:spPr>
          <a:xfrm>
            <a:off x="10166128" y="6030245"/>
            <a:ext cx="1600644" cy="475710"/>
          </a:xfrm>
          <a:prstGeom prst="rect">
            <a:avLst/>
          </a:prstGeom>
          <a:solidFill>
            <a:srgbClr val="FFFFFF"/>
          </a:solidFill>
          <a:ln w="6350">
            <a:solidFill>
              <a:srgbClr val="D5D5D5"/>
            </a:solidFill>
          </a:ln>
          <a:effectLst/>
        </p:spPr>
        <p:txBody>
          <a:bodyPr rtlCol="0" anchor="ctr" lIns="0" rIns="0" tIns="0" bIns="0"/>
          <a:lstStyle/>
          <a:p>
            <a:pPr algn="ctr"/>
          </a:p>
        </p:txBody>
      </p:sp>
      <p:sp>
        <p:nvSpPr>
          <p:cNvPr id="127" name="TextBox 126"/>
          <p:cNvSpPr txBox="1"/>
          <p:nvPr/>
        </p:nvSpPr>
        <p:spPr>
          <a:xfrm>
            <a:off x="10220992" y="6057677"/>
            <a:ext cx="1490916" cy="42084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128" name="Connector 127"/>
          <p:cNvCxnSpPr/>
          <p:nvPr/>
        </p:nvCxnSpPr>
        <p:spPr>
          <a:xfrm>
            <a:off x="384048" y="6547104"/>
            <a:ext cx="11423873" cy="0"/>
          </a:xfrm>
          <a:prstGeom prst="line">
            <a:avLst/>
          </a:prstGeom>
          <a:ln w="6350">
            <a:solidFill>
              <a:srgbClr val="D5D5D5"/>
            </a:solidFill>
          </a:ln>
          <a:effectLst/>
        </p:spPr>
      </p:cxnSp>
      <p:cxnSp>
        <p:nvCxnSpPr>
          <p:cNvPr id="129" name="Connector 128"/>
          <p:cNvCxnSpPr/>
          <p:nvPr/>
        </p:nvCxnSpPr>
        <p:spPr>
          <a:xfrm>
            <a:off x="384048" y="6583680"/>
            <a:ext cx="11423873" cy="0"/>
          </a:xfrm>
          <a:prstGeom prst="line">
            <a:avLst/>
          </a:prstGeom>
          <a:ln w="6350">
            <a:solidFill>
              <a:srgbClr val="E2E2E2"/>
            </a:solidFill>
          </a:ln>
          <a:effectLst/>
        </p:spPr>
      </p:cxnSp>
      <p:sp>
        <p:nvSpPr>
          <p:cNvPr id="130" name="TextBox 129"/>
          <p:cNvSpPr txBox="1"/>
          <p:nvPr/>
        </p:nvSpPr>
        <p:spPr>
          <a:xfrm>
            <a:off x="384048" y="6624828"/>
            <a:ext cx="9139098" cy="128016"/>
          </a:xfrm>
          <a:prstGeom prst="rect">
            <a:avLst/>
          </a:prstGeom>
          <a:noFill/>
        </p:spPr>
        <p:txBody>
          <a:bodyPr wrap="square" lIns="0" rIns="0" tIns="0" bIns="0" anchor="t">
            <a:spAutoFit/>
          </a:bodyPr>
          <a:lstStyle/>
          <a:p>
            <a:pPr algn="l">
              <a:lnSpc>
                <a:spcPct val="122000"/>
              </a:lnSpc>
            </a:pPr>
            <a:r>
              <a:rPr sz="650" b="0" i="0">
                <a:solidFill>
                  <a:srgbClr val="757575"/>
                </a:solidFill>
                <a:latin typeface="Arial"/>
              </a:rPr>
              <a:t>Fonte: Painel de Controle Lead-to-Sales — Aceleração Seminovos</a:t>
            </a:r>
          </a:p>
        </p:txBody>
      </p:sp>
      <p:sp>
        <p:nvSpPr>
          <p:cNvPr id="131" name="TextBox 130"/>
          <p:cNvSpPr txBox="1"/>
          <p:nvPr/>
        </p:nvSpPr>
        <p:spPr>
          <a:xfrm>
            <a:off x="10893521" y="6624828"/>
            <a:ext cx="914400" cy="128016"/>
          </a:xfrm>
          <a:prstGeom prst="rect">
            <a:avLst/>
          </a:prstGeom>
          <a:noFill/>
        </p:spPr>
        <p:txBody>
          <a:bodyPr wrap="square" lIns="0" rIns="0" tIns="0" bIns="0" anchor="t">
            <a:spAutoFit/>
          </a:bodyPr>
          <a:lstStyle/>
          <a:p>
            <a:pPr algn="r">
              <a:lnSpc>
                <a:spcPct val="122000"/>
              </a:lnSpc>
            </a:pPr>
            <a:r>
              <a:rPr sz="650" b="0" i="0">
                <a:solidFill>
                  <a:srgbClr val="757575"/>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txBody>
          <a:bodyPr rtlCol="0" anchor="ctr" lIns="0" rIns="0" tIns="0" bIns="0"/>
          <a:lstStyle/>
          <a:p>
            <a:pPr algn="ctr"/>
          </a:p>
        </p:txBody>
      </p:sp>
      <p:sp>
        <p:nvSpPr>
          <p:cNvPr id="3" name="TextBox 2"/>
          <p:cNvSpPr txBox="1"/>
          <p:nvPr/>
        </p:nvSpPr>
        <p:spPr>
          <a:xfrm>
            <a:off x="384048" y="274320"/>
            <a:ext cx="7996711" cy="146304"/>
          </a:xfrm>
          <a:prstGeom prst="rect">
            <a:avLst/>
          </a:prstGeom>
          <a:noFill/>
        </p:spPr>
        <p:txBody>
          <a:bodyPr wrap="square" lIns="0" rIns="0" tIns="0" bIns="0" anchor="t">
            <a:spAutoFit/>
          </a:bodyPr>
          <a:lstStyle/>
          <a:p>
            <a:pPr algn="l">
              <a:lnSpc>
                <a:spcPct val="122000"/>
              </a:lnSpc>
            </a:pPr>
            <a:r>
              <a:rPr sz="750" b="1" i="0">
                <a:solidFill>
                  <a:srgbClr val="1A1A1A"/>
                </a:solidFill>
                <a:latin typeface="Arial"/>
              </a:rPr>
              <a:t>Lead-to-Sales  ·  Painel de Controle</a:t>
            </a:r>
            <a:r>
              <a:rPr sz="750" b="0" i="0">
                <a:solidFill>
                  <a:srgbClr val="757575"/>
                </a:solidFill>
                <a:latin typeface="Arial"/>
              </a:rPr>
              <a:t>   |   Aceleração Seminovos</a:t>
            </a:r>
          </a:p>
        </p:txBody>
      </p:sp>
      <p:sp>
        <p:nvSpPr>
          <p:cNvPr id="4" name="TextBox 3"/>
          <p:cNvSpPr txBox="1"/>
          <p:nvPr/>
        </p:nvSpPr>
        <p:spPr>
          <a:xfrm>
            <a:off x="9796241" y="274320"/>
            <a:ext cx="2011680" cy="146304"/>
          </a:xfrm>
          <a:prstGeom prst="rect">
            <a:avLst/>
          </a:prstGeom>
          <a:noFill/>
        </p:spPr>
        <p:txBody>
          <a:bodyPr wrap="square" lIns="0" rIns="0" tIns="0" bIns="0" anchor="t">
            <a:spAutoFit/>
          </a:bodyPr>
          <a:lstStyle/>
          <a:p>
            <a:pPr algn="r">
              <a:lnSpc>
                <a:spcPct val="122000"/>
              </a:lnSpc>
            </a:pPr>
            <a:r>
              <a:rPr sz="750" b="0" i="0">
                <a:solidFill>
                  <a:srgbClr val="757575"/>
                </a:solidFill>
                <a:latin typeface="Arial"/>
              </a:rPr>
              <a:t>Frente 3 de 6</a:t>
            </a:r>
          </a:p>
        </p:txBody>
      </p:sp>
      <p:sp>
        <p:nvSpPr>
          <p:cNvPr id="5" name="Rectangle 4"/>
          <p:cNvSpPr/>
          <p:nvPr/>
        </p:nvSpPr>
        <p:spPr>
          <a:xfrm>
            <a:off x="384048" y="512064"/>
            <a:ext cx="11423873" cy="876046"/>
          </a:xfrm>
          <a:prstGeom prst="rect">
            <a:avLst/>
          </a:prstGeom>
          <a:solidFill>
            <a:srgbClr val="F7F7F7"/>
          </a:solidFill>
          <a:ln w="9525">
            <a:solidFill>
              <a:srgbClr val="E2E2E2"/>
            </a:solidFill>
          </a:ln>
          <a:effectLst/>
        </p:spPr>
        <p:txBody>
          <a:bodyPr rtlCol="0" anchor="ctr" lIns="0" rIns="0" tIns="0" bIns="0"/>
          <a:lstStyle/>
          <a:p>
            <a:pPr algn="ctr"/>
          </a:p>
        </p:txBody>
      </p:sp>
      <p:sp>
        <p:nvSpPr>
          <p:cNvPr id="6" name="Rectangle 5"/>
          <p:cNvSpPr/>
          <p:nvPr/>
        </p:nvSpPr>
        <p:spPr>
          <a:xfrm>
            <a:off x="384048" y="512064"/>
            <a:ext cx="68580" cy="876046"/>
          </a:xfrm>
          <a:prstGeom prst="rect">
            <a:avLst/>
          </a:prstGeom>
          <a:solidFill>
            <a:srgbClr val="78DE1F"/>
          </a:solidFill>
          <a:ln>
            <a:noFill/>
          </a:ln>
          <a:effectLst/>
        </p:spPr>
        <p:txBody>
          <a:bodyPr rtlCol="0" anchor="ctr" lIns="0" rIns="0" tIns="0" bIns="0"/>
          <a:lstStyle/>
          <a:p>
            <a:pPr algn="ctr"/>
          </a:p>
        </p:txBody>
      </p:sp>
      <p:sp>
        <p:nvSpPr>
          <p:cNvPr id="7" name="Oval 6"/>
          <p:cNvSpPr/>
          <p:nvPr/>
        </p:nvSpPr>
        <p:spPr>
          <a:xfrm>
            <a:off x="690372" y="658368"/>
            <a:ext cx="256032" cy="256032"/>
          </a:xfrm>
          <a:prstGeom prst="ellipse">
            <a:avLst/>
          </a:prstGeom>
          <a:solidFill>
            <a:srgbClr val="78DE1F"/>
          </a:solidFill>
          <a:ln>
            <a:noFill/>
          </a:ln>
          <a:effectLst/>
        </p:spPr>
        <p:txBody>
          <a:bodyPr rtlCol="0" anchor="ctr" lIns="0" rIns="0" tIns="0" bIns="0"/>
          <a:lstStyle/>
          <a:p>
            <a:pPr algn="ctr"/>
          </a:p>
        </p:txBody>
      </p:sp>
      <p:sp>
        <p:nvSpPr>
          <p:cNvPr id="8" name="TextBox 7"/>
          <p:cNvSpPr txBox="1"/>
          <p:nvPr/>
        </p:nvSpPr>
        <p:spPr>
          <a:xfrm>
            <a:off x="690372" y="699516"/>
            <a:ext cx="256032" cy="182880"/>
          </a:xfrm>
          <a:prstGeom prst="rect">
            <a:avLst/>
          </a:prstGeom>
          <a:noFill/>
        </p:spPr>
        <p:txBody>
          <a:bodyPr wrap="square" lIns="0" rIns="0" tIns="0" bIns="0" anchor="t">
            <a:spAutoFit/>
          </a:bodyPr>
          <a:lstStyle/>
          <a:p>
            <a:pPr algn="ctr">
              <a:lnSpc>
                <a:spcPct val="122000"/>
              </a:lnSpc>
            </a:pPr>
            <a:r>
              <a:rPr sz="1100" b="1" i="0">
                <a:solidFill>
                  <a:srgbClr val="1A1A1A"/>
                </a:solidFill>
                <a:latin typeface="Arial"/>
              </a:rPr>
              <a:t>3</a:t>
            </a:r>
          </a:p>
        </p:txBody>
      </p:sp>
      <p:sp>
        <p:nvSpPr>
          <p:cNvPr id="9" name="TextBox 8"/>
          <p:cNvSpPr txBox="1"/>
          <p:nvPr/>
        </p:nvSpPr>
        <p:spPr>
          <a:xfrm>
            <a:off x="1074420" y="658368"/>
            <a:ext cx="6289517" cy="193675"/>
          </a:xfrm>
          <a:prstGeom prst="rect">
            <a:avLst/>
          </a:prstGeom>
          <a:noFill/>
        </p:spPr>
        <p:txBody>
          <a:bodyPr wrap="square" lIns="0" rIns="0" tIns="0" bIns="0" anchor="t">
            <a:spAutoFit/>
          </a:bodyPr>
          <a:lstStyle/>
          <a:p>
            <a:pPr algn="l">
              <a:lnSpc>
                <a:spcPct val="122000"/>
              </a:lnSpc>
            </a:pPr>
            <a:r>
              <a:rPr sz="1250" b="1" i="0">
                <a:solidFill>
                  <a:srgbClr val="1A1A1A"/>
                </a:solidFill>
                <a:latin typeface="Arial"/>
              </a:rPr>
              <a:t>Atendimento agêntico (Liza)</a:t>
            </a:r>
          </a:p>
        </p:txBody>
      </p:sp>
      <p:sp>
        <p:nvSpPr>
          <p:cNvPr id="10" name="TextBox 9"/>
          <p:cNvSpPr txBox="1"/>
          <p:nvPr/>
        </p:nvSpPr>
        <p:spPr>
          <a:xfrm>
            <a:off x="1074420" y="978408"/>
            <a:ext cx="6289517" cy="263397"/>
          </a:xfrm>
          <a:prstGeom prst="rect">
            <a:avLst/>
          </a:prstGeom>
          <a:noFill/>
        </p:spPr>
        <p:txBody>
          <a:bodyPr wrap="square" lIns="0" rIns="0" tIns="0" bIns="0" anchor="t">
            <a:spAutoFit/>
          </a:bodyPr>
          <a:lstStyle/>
          <a:p>
            <a:pPr algn="l">
              <a:lnSpc>
                <a:spcPct val="122000"/>
              </a:lnSpc>
            </a:pPr>
            <a:r>
              <a:rPr sz="850" b="0" i="0">
                <a:solidFill>
                  <a:srgbClr val="6B6B6B"/>
                </a:solidFill>
                <a:latin typeface="Arial"/>
              </a:rPr>
              <a:t>Usar a Liza para entender a necessidade do cliente, direcioná-lo à loja mais aderente e maximizar, inicialmente, a conversão em comparecimento — além de aumentar a produtividade do vendedor humano no primeiro atendimento.</a:t>
            </a:r>
          </a:p>
        </p:txBody>
      </p:sp>
      <p:sp>
        <p:nvSpPr>
          <p:cNvPr id="11" name="TextBox 10"/>
          <p:cNvSpPr txBox="1"/>
          <p:nvPr/>
        </p:nvSpPr>
        <p:spPr>
          <a:xfrm>
            <a:off x="7638257" y="658368"/>
            <a:ext cx="1572768" cy="100711"/>
          </a:xfrm>
          <a:prstGeom prst="rect">
            <a:avLst/>
          </a:prstGeom>
          <a:noFill/>
        </p:spPr>
        <p:txBody>
          <a:bodyPr wrap="square" lIns="0" rIns="0" tIns="0" bIns="0" anchor="t">
            <a:spAutoFit/>
          </a:bodyPr>
          <a:lstStyle/>
          <a:p>
            <a:pPr algn="l">
              <a:lnSpc>
                <a:spcPct val="122000"/>
              </a:lnSpc>
            </a:pPr>
            <a:r>
              <a:rPr sz="650" b="1" i="0">
                <a:solidFill>
                  <a:srgbClr val="757575"/>
                </a:solidFill>
                <a:latin typeface="Arial"/>
              </a:rPr>
              <a:t>LÍDER(ES)</a:t>
            </a:r>
          </a:p>
        </p:txBody>
      </p:sp>
      <p:sp>
        <p:nvSpPr>
          <p:cNvPr id="12" name="TextBox 11"/>
          <p:cNvSpPr txBox="1"/>
          <p:nvPr/>
        </p:nvSpPr>
        <p:spPr>
          <a:xfrm>
            <a:off x="7638257" y="804799"/>
            <a:ext cx="1572768" cy="123951"/>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Isadora Barreto</a:t>
            </a:r>
          </a:p>
        </p:txBody>
      </p:sp>
      <p:sp>
        <p:nvSpPr>
          <p:cNvPr id="13" name="TextBox 12"/>
          <p:cNvSpPr txBox="1"/>
          <p:nvPr/>
        </p:nvSpPr>
        <p:spPr>
          <a:xfrm>
            <a:off x="9412193" y="658368"/>
            <a:ext cx="2212848" cy="100711"/>
          </a:xfrm>
          <a:prstGeom prst="rect">
            <a:avLst/>
          </a:prstGeom>
          <a:noFill/>
        </p:spPr>
        <p:txBody>
          <a:bodyPr wrap="square" lIns="0" rIns="0" tIns="0" bIns="0" anchor="t">
            <a:spAutoFit/>
          </a:bodyPr>
          <a:lstStyle/>
          <a:p>
            <a:pPr algn="l">
              <a:lnSpc>
                <a:spcPct val="122000"/>
              </a:lnSpc>
            </a:pPr>
            <a:r>
              <a:rPr sz="650" b="1" i="0">
                <a:solidFill>
                  <a:srgbClr val="757575"/>
                </a:solidFill>
                <a:latin typeface="Arial"/>
              </a:rPr>
              <a:t>TIME DE TRABALHO</a:t>
            </a:r>
          </a:p>
        </p:txBody>
      </p:sp>
      <p:sp>
        <p:nvSpPr>
          <p:cNvPr id="14" name="TextBox 13"/>
          <p:cNvSpPr txBox="1"/>
          <p:nvPr/>
        </p:nvSpPr>
        <p:spPr>
          <a:xfrm>
            <a:off x="9412193" y="804799"/>
            <a:ext cx="2212848" cy="123951"/>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Lucas Lima</a:t>
            </a:r>
          </a:p>
        </p:txBody>
      </p:sp>
      <p:sp>
        <p:nvSpPr>
          <p:cNvPr id="15" name="TextBox 14"/>
          <p:cNvSpPr txBox="1"/>
          <p:nvPr/>
        </p:nvSpPr>
        <p:spPr>
          <a:xfrm>
            <a:off x="384048" y="1570990"/>
            <a:ext cx="2743200" cy="155448"/>
          </a:xfrm>
          <a:prstGeom prst="rect">
            <a:avLst/>
          </a:prstGeom>
          <a:noFill/>
        </p:spPr>
        <p:txBody>
          <a:bodyPr wrap="square" lIns="0" rIns="0" tIns="0" bIns="0" anchor="t">
            <a:spAutoFit/>
          </a:bodyPr>
          <a:lstStyle/>
          <a:p>
            <a:pPr algn="l">
              <a:lnSpc>
                <a:spcPct val="122000"/>
              </a:lnSpc>
            </a:pPr>
            <a:r>
              <a:rPr sz="950" b="1" i="0">
                <a:solidFill>
                  <a:srgbClr val="1A1A1A"/>
                </a:solidFill>
                <a:latin typeface="Arial"/>
              </a:rPr>
              <a:t>Milestones</a:t>
            </a:r>
          </a:p>
        </p:txBody>
      </p:sp>
      <p:sp>
        <p:nvSpPr>
          <p:cNvPr id="16" name="TextBox 15"/>
          <p:cNvSpPr txBox="1"/>
          <p:nvPr/>
        </p:nvSpPr>
        <p:spPr>
          <a:xfrm>
            <a:off x="452628" y="1804162"/>
            <a:ext cx="503089"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a:t>
            </a:r>
          </a:p>
        </p:txBody>
      </p:sp>
      <p:sp>
        <p:nvSpPr>
          <p:cNvPr id="17" name="TextBox 16"/>
          <p:cNvSpPr txBox="1"/>
          <p:nvPr/>
        </p:nvSpPr>
        <p:spPr>
          <a:xfrm>
            <a:off x="1092877" y="1804162"/>
            <a:ext cx="2698228"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Milestone</a:t>
            </a:r>
          </a:p>
        </p:txBody>
      </p:sp>
      <p:sp>
        <p:nvSpPr>
          <p:cNvPr id="18" name="TextBox 17"/>
          <p:cNvSpPr txBox="1"/>
          <p:nvPr/>
        </p:nvSpPr>
        <p:spPr>
          <a:xfrm>
            <a:off x="3928266" y="1804162"/>
            <a:ext cx="1106752"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Responsável</a:t>
            </a:r>
          </a:p>
        </p:txBody>
      </p:sp>
      <p:sp>
        <p:nvSpPr>
          <p:cNvPr id="19" name="TextBox 18"/>
          <p:cNvSpPr txBox="1"/>
          <p:nvPr/>
        </p:nvSpPr>
        <p:spPr>
          <a:xfrm>
            <a:off x="5172178" y="1804162"/>
            <a:ext cx="649431"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Prazo</a:t>
            </a:r>
          </a:p>
        </p:txBody>
      </p:sp>
      <p:sp>
        <p:nvSpPr>
          <p:cNvPr id="20" name="TextBox 19"/>
          <p:cNvSpPr txBox="1"/>
          <p:nvPr/>
        </p:nvSpPr>
        <p:spPr>
          <a:xfrm>
            <a:off x="5958770" y="1804162"/>
            <a:ext cx="731749" cy="123951"/>
          </a:xfrm>
          <a:prstGeom prst="rect">
            <a:avLst/>
          </a:prstGeom>
          <a:noFill/>
        </p:spPr>
        <p:txBody>
          <a:bodyPr wrap="square" lIns="0" rIns="0" tIns="0" bIns="0" anchor="t">
            <a:spAutoFit/>
          </a:bodyPr>
          <a:lstStyle/>
          <a:p>
            <a:pPr algn="ctr">
              <a:lnSpc>
                <a:spcPct val="122000"/>
              </a:lnSpc>
            </a:pPr>
            <a:r>
              <a:rPr sz="800" b="1" i="0">
                <a:solidFill>
                  <a:srgbClr val="757575"/>
                </a:solidFill>
                <a:latin typeface="Arial"/>
              </a:rPr>
              <a:t>Status</a:t>
            </a:r>
          </a:p>
        </p:txBody>
      </p:sp>
      <p:sp>
        <p:nvSpPr>
          <p:cNvPr id="21" name="TextBox 20"/>
          <p:cNvSpPr txBox="1"/>
          <p:nvPr/>
        </p:nvSpPr>
        <p:spPr>
          <a:xfrm>
            <a:off x="6827679" y="1804162"/>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Progresso recente</a:t>
            </a:r>
          </a:p>
        </p:txBody>
      </p:sp>
      <p:sp>
        <p:nvSpPr>
          <p:cNvPr id="22" name="TextBox 21"/>
          <p:cNvSpPr txBox="1"/>
          <p:nvPr/>
        </p:nvSpPr>
        <p:spPr>
          <a:xfrm>
            <a:off x="8510620" y="1804162"/>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Próximos passos</a:t>
            </a:r>
          </a:p>
        </p:txBody>
      </p:sp>
      <p:sp>
        <p:nvSpPr>
          <p:cNvPr id="23" name="TextBox 22"/>
          <p:cNvSpPr txBox="1"/>
          <p:nvPr/>
        </p:nvSpPr>
        <p:spPr>
          <a:xfrm>
            <a:off x="10193560" y="1804162"/>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Pontos a escalar</a:t>
            </a:r>
          </a:p>
        </p:txBody>
      </p:sp>
      <p:cxnSp>
        <p:nvCxnSpPr>
          <p:cNvPr id="24" name="Connector 23"/>
          <p:cNvCxnSpPr/>
          <p:nvPr/>
        </p:nvCxnSpPr>
        <p:spPr>
          <a:xfrm>
            <a:off x="384048" y="2033270"/>
            <a:ext cx="11423873" cy="0"/>
          </a:xfrm>
          <a:prstGeom prst="line">
            <a:avLst/>
          </a:prstGeom>
          <a:ln w="12700">
            <a:solidFill>
              <a:srgbClr val="1A1A1A"/>
            </a:solidFill>
          </a:ln>
          <a:effectLst/>
        </p:spPr>
      </p:cxnSp>
      <p:sp>
        <p:nvSpPr>
          <p:cNvPr id="25" name="TextBox 24"/>
          <p:cNvSpPr txBox="1"/>
          <p:nvPr/>
        </p:nvSpPr>
        <p:spPr>
          <a:xfrm>
            <a:off x="452628" y="2083562"/>
            <a:ext cx="503089" cy="632786"/>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3.1.1 / 3.2.1 / 3.3.1</a:t>
            </a:r>
          </a:p>
        </p:txBody>
      </p:sp>
      <p:sp>
        <p:nvSpPr>
          <p:cNvPr id="26" name="TextBox 25"/>
          <p:cNvSpPr txBox="1"/>
          <p:nvPr/>
        </p:nvSpPr>
        <p:spPr>
          <a:xfrm>
            <a:off x="1092877" y="2083562"/>
            <a:ext cx="2698228" cy="632786"/>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Melhorias dos pontos críticos da jornada: captura e validação de informações, condução da conversa, recomendações de veículos/lojas e simulação financeira</a:t>
            </a:r>
          </a:p>
        </p:txBody>
      </p:sp>
      <p:sp>
        <p:nvSpPr>
          <p:cNvPr id="27" name="TextBox 26"/>
          <p:cNvSpPr txBox="1"/>
          <p:nvPr/>
        </p:nvSpPr>
        <p:spPr>
          <a:xfrm>
            <a:off x="3928266" y="2083562"/>
            <a:ext cx="1106752" cy="632786"/>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Isadora Barreto e Lucas Lima</a:t>
            </a:r>
          </a:p>
        </p:txBody>
      </p:sp>
      <p:sp>
        <p:nvSpPr>
          <p:cNvPr id="28" name="TextBox 27"/>
          <p:cNvSpPr txBox="1"/>
          <p:nvPr/>
        </p:nvSpPr>
        <p:spPr>
          <a:xfrm>
            <a:off x="5172178" y="2083562"/>
            <a:ext cx="649431" cy="632786"/>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ago/26 – set/26</a:t>
            </a:r>
          </a:p>
        </p:txBody>
      </p:sp>
      <p:sp>
        <p:nvSpPr>
          <p:cNvPr id="29" name="Rounded Rectangle 28"/>
          <p:cNvSpPr/>
          <p:nvPr/>
        </p:nvSpPr>
        <p:spPr>
          <a:xfrm>
            <a:off x="5958770" y="2094534"/>
            <a:ext cx="731749" cy="169164"/>
          </a:xfrm>
          <a:prstGeom prst="roundRect">
            <a:avLst>
              <a:gd name="adj" fmla="val 50000"/>
            </a:avLst>
          </a:prstGeom>
          <a:solidFill>
            <a:srgbClr val="FFF8E1"/>
          </a:solidFill>
          <a:ln>
            <a:noFill/>
          </a:ln>
          <a:effectLst/>
        </p:spPr>
        <p:txBody>
          <a:bodyPr rtlCol="0" anchor="ctr" lIns="0" rIns="0" tIns="0" bIns="0"/>
          <a:lstStyle/>
          <a:p>
            <a:pPr algn="ctr"/>
          </a:p>
        </p:txBody>
      </p:sp>
      <p:sp>
        <p:nvSpPr>
          <p:cNvPr id="30" name="TextBox 29"/>
          <p:cNvSpPr txBox="1"/>
          <p:nvPr/>
        </p:nvSpPr>
        <p:spPr>
          <a:xfrm>
            <a:off x="5958770" y="2094534"/>
            <a:ext cx="731749" cy="169164"/>
          </a:xfrm>
          <a:prstGeom prst="rect">
            <a:avLst/>
          </a:prstGeom>
          <a:noFill/>
        </p:spPr>
        <p:txBody>
          <a:bodyPr wrap="square" lIns="0" rIns="0" tIns="0" bIns="0" anchor="ctr">
            <a:spAutoFit/>
          </a:bodyPr>
          <a:lstStyle/>
          <a:p>
            <a:pPr algn="ctr">
              <a:lnSpc>
                <a:spcPct val="122000"/>
              </a:lnSpc>
            </a:pPr>
            <a:r>
              <a:rPr sz="750" b="1" i="0">
                <a:solidFill>
                  <a:srgbClr val="6B5700"/>
                </a:solidFill>
                <a:latin typeface="Arial"/>
              </a:rPr>
              <a:t>Em progresso</a:t>
            </a:r>
          </a:p>
        </p:txBody>
      </p:sp>
      <p:sp>
        <p:nvSpPr>
          <p:cNvPr id="31" name="Rectangle 30"/>
          <p:cNvSpPr/>
          <p:nvPr/>
        </p:nvSpPr>
        <p:spPr>
          <a:xfrm>
            <a:off x="6800247" y="2074418"/>
            <a:ext cx="1600644" cy="651074"/>
          </a:xfrm>
          <a:prstGeom prst="rect">
            <a:avLst/>
          </a:prstGeom>
          <a:solidFill>
            <a:srgbClr val="FFFFFF"/>
          </a:solidFill>
          <a:ln w="6350">
            <a:solidFill>
              <a:srgbClr val="D5D5D5"/>
            </a:solidFill>
          </a:ln>
          <a:effectLst/>
        </p:spPr>
        <p:txBody>
          <a:bodyPr rtlCol="0" anchor="ctr" lIns="0" rIns="0" tIns="0" bIns="0"/>
          <a:lstStyle/>
          <a:p>
            <a:pPr algn="ctr"/>
          </a:p>
        </p:txBody>
      </p:sp>
      <p:sp>
        <p:nvSpPr>
          <p:cNvPr id="32" name="TextBox 31"/>
          <p:cNvSpPr txBox="1"/>
          <p:nvPr/>
        </p:nvSpPr>
        <p:spPr>
          <a:xfrm>
            <a:off x="6855111" y="2101850"/>
            <a:ext cx="1490916" cy="596210"/>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33" name="Rectangle 32"/>
          <p:cNvSpPr/>
          <p:nvPr/>
        </p:nvSpPr>
        <p:spPr>
          <a:xfrm>
            <a:off x="8483188" y="2074418"/>
            <a:ext cx="1600644" cy="651074"/>
          </a:xfrm>
          <a:prstGeom prst="rect">
            <a:avLst/>
          </a:prstGeom>
          <a:solidFill>
            <a:srgbClr val="FFFFFF"/>
          </a:solidFill>
          <a:ln w="6350">
            <a:solidFill>
              <a:srgbClr val="D5D5D5"/>
            </a:solidFill>
          </a:ln>
          <a:effectLst/>
        </p:spPr>
        <p:txBody>
          <a:bodyPr rtlCol="0" anchor="ctr" lIns="0" rIns="0" tIns="0" bIns="0"/>
          <a:lstStyle/>
          <a:p>
            <a:pPr algn="ctr"/>
          </a:p>
        </p:txBody>
      </p:sp>
      <p:sp>
        <p:nvSpPr>
          <p:cNvPr id="34" name="TextBox 33"/>
          <p:cNvSpPr txBox="1"/>
          <p:nvPr/>
        </p:nvSpPr>
        <p:spPr>
          <a:xfrm>
            <a:off x="8538052" y="2101850"/>
            <a:ext cx="1490916" cy="596210"/>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35" name="Rectangle 34"/>
          <p:cNvSpPr/>
          <p:nvPr/>
        </p:nvSpPr>
        <p:spPr>
          <a:xfrm>
            <a:off x="10166128" y="2074418"/>
            <a:ext cx="1600644" cy="651074"/>
          </a:xfrm>
          <a:prstGeom prst="rect">
            <a:avLst/>
          </a:prstGeom>
          <a:solidFill>
            <a:srgbClr val="FFFFFF"/>
          </a:solidFill>
          <a:ln w="6350">
            <a:solidFill>
              <a:srgbClr val="D5D5D5"/>
            </a:solidFill>
          </a:ln>
          <a:effectLst/>
        </p:spPr>
        <p:txBody>
          <a:bodyPr rtlCol="0" anchor="ctr" lIns="0" rIns="0" tIns="0" bIns="0"/>
          <a:lstStyle/>
          <a:p>
            <a:pPr algn="ctr"/>
          </a:p>
        </p:txBody>
      </p:sp>
      <p:sp>
        <p:nvSpPr>
          <p:cNvPr id="36" name="TextBox 35"/>
          <p:cNvSpPr txBox="1"/>
          <p:nvPr/>
        </p:nvSpPr>
        <p:spPr>
          <a:xfrm>
            <a:off x="10220992" y="2101850"/>
            <a:ext cx="1490916" cy="596210"/>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37" name="Connector 36"/>
          <p:cNvCxnSpPr/>
          <p:nvPr/>
        </p:nvCxnSpPr>
        <p:spPr>
          <a:xfrm>
            <a:off x="384048" y="2766640"/>
            <a:ext cx="11423873" cy="0"/>
          </a:xfrm>
          <a:prstGeom prst="line">
            <a:avLst/>
          </a:prstGeom>
          <a:ln w="6350">
            <a:solidFill>
              <a:srgbClr val="ECECEC"/>
            </a:solidFill>
          </a:ln>
          <a:effectLst/>
        </p:spPr>
      </p:cxnSp>
      <p:sp>
        <p:nvSpPr>
          <p:cNvPr id="38" name="TextBox 37"/>
          <p:cNvSpPr txBox="1"/>
          <p:nvPr/>
        </p:nvSpPr>
        <p:spPr>
          <a:xfrm>
            <a:off x="452628" y="2816932"/>
            <a:ext cx="503089" cy="50883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3.4.1</a:t>
            </a:r>
          </a:p>
        </p:txBody>
      </p:sp>
      <p:sp>
        <p:nvSpPr>
          <p:cNvPr id="39" name="TextBox 38"/>
          <p:cNvSpPr txBox="1"/>
          <p:nvPr/>
        </p:nvSpPr>
        <p:spPr>
          <a:xfrm>
            <a:off x="1092877" y="2816932"/>
            <a:ext cx="2698228" cy="50883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Entendimento das situações de troca de veículo (trade-in) implementado</a:t>
            </a:r>
          </a:p>
        </p:txBody>
      </p:sp>
      <p:sp>
        <p:nvSpPr>
          <p:cNvPr id="40" name="TextBox 39"/>
          <p:cNvSpPr txBox="1"/>
          <p:nvPr/>
        </p:nvSpPr>
        <p:spPr>
          <a:xfrm>
            <a:off x="3928266" y="2816932"/>
            <a:ext cx="1106752" cy="50883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Isadora Barreto e Lucas Lima</a:t>
            </a:r>
          </a:p>
        </p:txBody>
      </p:sp>
      <p:sp>
        <p:nvSpPr>
          <p:cNvPr id="41" name="TextBox 40"/>
          <p:cNvSpPr txBox="1"/>
          <p:nvPr/>
        </p:nvSpPr>
        <p:spPr>
          <a:xfrm>
            <a:off x="5172178" y="2816932"/>
            <a:ext cx="649431" cy="50883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out/26 – nov/26</a:t>
            </a:r>
          </a:p>
        </p:txBody>
      </p:sp>
      <p:sp>
        <p:nvSpPr>
          <p:cNvPr id="42" name="Rounded Rectangle 41"/>
          <p:cNvSpPr/>
          <p:nvPr/>
        </p:nvSpPr>
        <p:spPr>
          <a:xfrm>
            <a:off x="5958770" y="2827905"/>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43" name="TextBox 42"/>
          <p:cNvSpPr txBox="1"/>
          <p:nvPr/>
        </p:nvSpPr>
        <p:spPr>
          <a:xfrm>
            <a:off x="5958770" y="2827905"/>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44" name="Rectangle 43"/>
          <p:cNvSpPr/>
          <p:nvPr/>
        </p:nvSpPr>
        <p:spPr>
          <a:xfrm>
            <a:off x="6800247" y="2807788"/>
            <a:ext cx="1600644" cy="527122"/>
          </a:xfrm>
          <a:prstGeom prst="rect">
            <a:avLst/>
          </a:prstGeom>
          <a:solidFill>
            <a:srgbClr val="FFFFFF"/>
          </a:solidFill>
          <a:ln w="6350">
            <a:solidFill>
              <a:srgbClr val="D5D5D5"/>
            </a:solidFill>
          </a:ln>
          <a:effectLst/>
        </p:spPr>
        <p:txBody>
          <a:bodyPr rtlCol="0" anchor="ctr" lIns="0" rIns="0" tIns="0" bIns="0"/>
          <a:lstStyle/>
          <a:p>
            <a:pPr algn="ctr"/>
          </a:p>
        </p:txBody>
      </p:sp>
      <p:sp>
        <p:nvSpPr>
          <p:cNvPr id="45" name="TextBox 44"/>
          <p:cNvSpPr txBox="1"/>
          <p:nvPr/>
        </p:nvSpPr>
        <p:spPr>
          <a:xfrm>
            <a:off x="6855111" y="2835220"/>
            <a:ext cx="1490916" cy="47225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46" name="Rectangle 45"/>
          <p:cNvSpPr/>
          <p:nvPr/>
        </p:nvSpPr>
        <p:spPr>
          <a:xfrm>
            <a:off x="8483188" y="2807788"/>
            <a:ext cx="1600644" cy="527122"/>
          </a:xfrm>
          <a:prstGeom prst="rect">
            <a:avLst/>
          </a:prstGeom>
          <a:solidFill>
            <a:srgbClr val="FFFFFF"/>
          </a:solidFill>
          <a:ln w="6350">
            <a:solidFill>
              <a:srgbClr val="D5D5D5"/>
            </a:solidFill>
          </a:ln>
          <a:effectLst/>
        </p:spPr>
        <p:txBody>
          <a:bodyPr rtlCol="0" anchor="ctr" lIns="0" rIns="0" tIns="0" bIns="0"/>
          <a:lstStyle/>
          <a:p>
            <a:pPr algn="ctr"/>
          </a:p>
        </p:txBody>
      </p:sp>
      <p:sp>
        <p:nvSpPr>
          <p:cNvPr id="47" name="TextBox 46"/>
          <p:cNvSpPr txBox="1"/>
          <p:nvPr/>
        </p:nvSpPr>
        <p:spPr>
          <a:xfrm>
            <a:off x="8538052" y="2835220"/>
            <a:ext cx="1490916" cy="47225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48" name="Rectangle 47"/>
          <p:cNvSpPr/>
          <p:nvPr/>
        </p:nvSpPr>
        <p:spPr>
          <a:xfrm>
            <a:off x="10166128" y="2807788"/>
            <a:ext cx="1600644" cy="527122"/>
          </a:xfrm>
          <a:prstGeom prst="rect">
            <a:avLst/>
          </a:prstGeom>
          <a:solidFill>
            <a:srgbClr val="FFFFFF"/>
          </a:solidFill>
          <a:ln w="6350">
            <a:solidFill>
              <a:srgbClr val="D5D5D5"/>
            </a:solidFill>
          </a:ln>
          <a:effectLst/>
        </p:spPr>
        <p:txBody>
          <a:bodyPr rtlCol="0" anchor="ctr" lIns="0" rIns="0" tIns="0" bIns="0"/>
          <a:lstStyle/>
          <a:p>
            <a:pPr algn="ctr"/>
          </a:p>
        </p:txBody>
      </p:sp>
      <p:sp>
        <p:nvSpPr>
          <p:cNvPr id="49" name="TextBox 48"/>
          <p:cNvSpPr txBox="1"/>
          <p:nvPr/>
        </p:nvSpPr>
        <p:spPr>
          <a:xfrm>
            <a:off x="10220992" y="2835220"/>
            <a:ext cx="1490916" cy="47225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50" name="Connector 49"/>
          <p:cNvCxnSpPr/>
          <p:nvPr/>
        </p:nvCxnSpPr>
        <p:spPr>
          <a:xfrm>
            <a:off x="384048" y="3376059"/>
            <a:ext cx="11423873" cy="0"/>
          </a:xfrm>
          <a:prstGeom prst="line">
            <a:avLst/>
          </a:prstGeom>
          <a:ln w="6350">
            <a:solidFill>
              <a:srgbClr val="ECECEC"/>
            </a:solidFill>
          </a:ln>
          <a:effectLst/>
        </p:spPr>
      </p:cxnSp>
      <p:sp>
        <p:nvSpPr>
          <p:cNvPr id="51" name="TextBox 50"/>
          <p:cNvSpPr txBox="1"/>
          <p:nvPr/>
        </p:nvSpPr>
        <p:spPr>
          <a:xfrm>
            <a:off x="452628" y="3426351"/>
            <a:ext cx="503089" cy="50883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3.5.1</a:t>
            </a:r>
          </a:p>
        </p:txBody>
      </p:sp>
      <p:sp>
        <p:nvSpPr>
          <p:cNvPr id="52" name="TextBox 51"/>
          <p:cNvSpPr txBox="1"/>
          <p:nvPr/>
        </p:nvSpPr>
        <p:spPr>
          <a:xfrm>
            <a:off x="1092877" y="3426351"/>
            <a:ext cx="2698228" cy="50883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Limites de interação e regras de encerramento ou transbordo das conversas definidos e implementados</a:t>
            </a:r>
          </a:p>
        </p:txBody>
      </p:sp>
      <p:sp>
        <p:nvSpPr>
          <p:cNvPr id="53" name="TextBox 52"/>
          <p:cNvSpPr txBox="1"/>
          <p:nvPr/>
        </p:nvSpPr>
        <p:spPr>
          <a:xfrm>
            <a:off x="3928266" y="3426351"/>
            <a:ext cx="1106752" cy="50883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Isadora Barreto e Lucas Lima</a:t>
            </a:r>
          </a:p>
        </p:txBody>
      </p:sp>
      <p:sp>
        <p:nvSpPr>
          <p:cNvPr id="54" name="TextBox 53"/>
          <p:cNvSpPr txBox="1"/>
          <p:nvPr/>
        </p:nvSpPr>
        <p:spPr>
          <a:xfrm>
            <a:off x="5172178" y="3426351"/>
            <a:ext cx="649431" cy="50883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set/26 – out/26</a:t>
            </a:r>
          </a:p>
        </p:txBody>
      </p:sp>
      <p:sp>
        <p:nvSpPr>
          <p:cNvPr id="55" name="Rounded Rectangle 54"/>
          <p:cNvSpPr/>
          <p:nvPr/>
        </p:nvSpPr>
        <p:spPr>
          <a:xfrm>
            <a:off x="5958770" y="3437323"/>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56" name="TextBox 55"/>
          <p:cNvSpPr txBox="1"/>
          <p:nvPr/>
        </p:nvSpPr>
        <p:spPr>
          <a:xfrm>
            <a:off x="5958770" y="3437323"/>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57" name="Rectangle 56"/>
          <p:cNvSpPr/>
          <p:nvPr/>
        </p:nvSpPr>
        <p:spPr>
          <a:xfrm>
            <a:off x="6800247" y="3417207"/>
            <a:ext cx="1600644" cy="527122"/>
          </a:xfrm>
          <a:prstGeom prst="rect">
            <a:avLst/>
          </a:prstGeom>
          <a:solidFill>
            <a:srgbClr val="FFFFFF"/>
          </a:solidFill>
          <a:ln w="6350">
            <a:solidFill>
              <a:srgbClr val="D5D5D5"/>
            </a:solidFill>
          </a:ln>
          <a:effectLst/>
        </p:spPr>
        <p:txBody>
          <a:bodyPr rtlCol="0" anchor="ctr" lIns="0" rIns="0" tIns="0" bIns="0"/>
          <a:lstStyle/>
          <a:p>
            <a:pPr algn="ctr"/>
          </a:p>
        </p:txBody>
      </p:sp>
      <p:sp>
        <p:nvSpPr>
          <p:cNvPr id="58" name="TextBox 57"/>
          <p:cNvSpPr txBox="1"/>
          <p:nvPr/>
        </p:nvSpPr>
        <p:spPr>
          <a:xfrm>
            <a:off x="6855111" y="3444639"/>
            <a:ext cx="1490916" cy="47225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59" name="Rectangle 58"/>
          <p:cNvSpPr/>
          <p:nvPr/>
        </p:nvSpPr>
        <p:spPr>
          <a:xfrm>
            <a:off x="8483188" y="3417207"/>
            <a:ext cx="1600644" cy="527122"/>
          </a:xfrm>
          <a:prstGeom prst="rect">
            <a:avLst/>
          </a:prstGeom>
          <a:solidFill>
            <a:srgbClr val="FFFFFF"/>
          </a:solidFill>
          <a:ln w="6350">
            <a:solidFill>
              <a:srgbClr val="D5D5D5"/>
            </a:solidFill>
          </a:ln>
          <a:effectLst/>
        </p:spPr>
        <p:txBody>
          <a:bodyPr rtlCol="0" anchor="ctr" lIns="0" rIns="0" tIns="0" bIns="0"/>
          <a:lstStyle/>
          <a:p>
            <a:pPr algn="ctr"/>
          </a:p>
        </p:txBody>
      </p:sp>
      <p:sp>
        <p:nvSpPr>
          <p:cNvPr id="60" name="TextBox 59"/>
          <p:cNvSpPr txBox="1"/>
          <p:nvPr/>
        </p:nvSpPr>
        <p:spPr>
          <a:xfrm>
            <a:off x="8538052" y="3444639"/>
            <a:ext cx="1490916" cy="47225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61" name="Rectangle 60"/>
          <p:cNvSpPr/>
          <p:nvPr/>
        </p:nvSpPr>
        <p:spPr>
          <a:xfrm>
            <a:off x="10166128" y="3417207"/>
            <a:ext cx="1600644" cy="527122"/>
          </a:xfrm>
          <a:prstGeom prst="rect">
            <a:avLst/>
          </a:prstGeom>
          <a:solidFill>
            <a:srgbClr val="FFFFFF"/>
          </a:solidFill>
          <a:ln w="6350">
            <a:solidFill>
              <a:srgbClr val="D5D5D5"/>
            </a:solidFill>
          </a:ln>
          <a:effectLst/>
        </p:spPr>
        <p:txBody>
          <a:bodyPr rtlCol="0" anchor="ctr" lIns="0" rIns="0" tIns="0" bIns="0"/>
          <a:lstStyle/>
          <a:p>
            <a:pPr algn="ctr"/>
          </a:p>
        </p:txBody>
      </p:sp>
      <p:sp>
        <p:nvSpPr>
          <p:cNvPr id="62" name="TextBox 61"/>
          <p:cNvSpPr txBox="1"/>
          <p:nvPr/>
        </p:nvSpPr>
        <p:spPr>
          <a:xfrm>
            <a:off x="10220992" y="3444639"/>
            <a:ext cx="1490916" cy="47225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63" name="Connector 62"/>
          <p:cNvCxnSpPr/>
          <p:nvPr/>
        </p:nvCxnSpPr>
        <p:spPr>
          <a:xfrm>
            <a:off x="384048" y="3985477"/>
            <a:ext cx="11423873" cy="0"/>
          </a:xfrm>
          <a:prstGeom prst="line">
            <a:avLst/>
          </a:prstGeom>
          <a:ln w="6350">
            <a:solidFill>
              <a:srgbClr val="ECECEC"/>
            </a:solidFill>
          </a:ln>
          <a:effectLst/>
        </p:spPr>
      </p:cxnSp>
      <p:sp>
        <p:nvSpPr>
          <p:cNvPr id="64" name="TextBox 63"/>
          <p:cNvSpPr txBox="1"/>
          <p:nvPr/>
        </p:nvSpPr>
        <p:spPr>
          <a:xfrm>
            <a:off x="452628" y="4035769"/>
            <a:ext cx="503089" cy="50883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3.6.1</a:t>
            </a:r>
          </a:p>
        </p:txBody>
      </p:sp>
      <p:sp>
        <p:nvSpPr>
          <p:cNvPr id="65" name="TextBox 64"/>
          <p:cNvSpPr txBox="1"/>
          <p:nvPr/>
        </p:nvSpPr>
        <p:spPr>
          <a:xfrm>
            <a:off x="1092877" y="4035769"/>
            <a:ext cx="2698228" cy="50883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Integração entre Liza e atendimento humano, com transbordo inteligente, implementada</a:t>
            </a:r>
          </a:p>
        </p:txBody>
      </p:sp>
      <p:sp>
        <p:nvSpPr>
          <p:cNvPr id="66" name="TextBox 65"/>
          <p:cNvSpPr txBox="1"/>
          <p:nvPr/>
        </p:nvSpPr>
        <p:spPr>
          <a:xfrm>
            <a:off x="3928266" y="4035769"/>
            <a:ext cx="1106752" cy="50883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Isadora Barreto e Lucas Lima</a:t>
            </a:r>
          </a:p>
        </p:txBody>
      </p:sp>
      <p:sp>
        <p:nvSpPr>
          <p:cNvPr id="67" name="TextBox 66"/>
          <p:cNvSpPr txBox="1"/>
          <p:nvPr/>
        </p:nvSpPr>
        <p:spPr>
          <a:xfrm>
            <a:off x="5172178" y="4035769"/>
            <a:ext cx="649431" cy="50883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nov/26 – jan/27</a:t>
            </a:r>
          </a:p>
        </p:txBody>
      </p:sp>
      <p:sp>
        <p:nvSpPr>
          <p:cNvPr id="68" name="Rounded Rectangle 67"/>
          <p:cNvSpPr/>
          <p:nvPr/>
        </p:nvSpPr>
        <p:spPr>
          <a:xfrm>
            <a:off x="5958770" y="4046742"/>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69" name="TextBox 68"/>
          <p:cNvSpPr txBox="1"/>
          <p:nvPr/>
        </p:nvSpPr>
        <p:spPr>
          <a:xfrm>
            <a:off x="5958770" y="4046742"/>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70" name="Rectangle 69"/>
          <p:cNvSpPr/>
          <p:nvPr/>
        </p:nvSpPr>
        <p:spPr>
          <a:xfrm>
            <a:off x="6800247" y="4026625"/>
            <a:ext cx="1600644" cy="527122"/>
          </a:xfrm>
          <a:prstGeom prst="rect">
            <a:avLst/>
          </a:prstGeom>
          <a:solidFill>
            <a:srgbClr val="FFFFFF"/>
          </a:solidFill>
          <a:ln w="6350">
            <a:solidFill>
              <a:srgbClr val="D5D5D5"/>
            </a:solidFill>
          </a:ln>
          <a:effectLst/>
        </p:spPr>
        <p:txBody>
          <a:bodyPr rtlCol="0" anchor="ctr" lIns="0" rIns="0" tIns="0" bIns="0"/>
          <a:lstStyle/>
          <a:p>
            <a:pPr algn="ctr"/>
          </a:p>
        </p:txBody>
      </p:sp>
      <p:sp>
        <p:nvSpPr>
          <p:cNvPr id="71" name="TextBox 70"/>
          <p:cNvSpPr txBox="1"/>
          <p:nvPr/>
        </p:nvSpPr>
        <p:spPr>
          <a:xfrm>
            <a:off x="6855111" y="4054057"/>
            <a:ext cx="1490916" cy="47225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72" name="Rectangle 71"/>
          <p:cNvSpPr/>
          <p:nvPr/>
        </p:nvSpPr>
        <p:spPr>
          <a:xfrm>
            <a:off x="8483188" y="4026625"/>
            <a:ext cx="1600644" cy="527122"/>
          </a:xfrm>
          <a:prstGeom prst="rect">
            <a:avLst/>
          </a:prstGeom>
          <a:solidFill>
            <a:srgbClr val="FFFFFF"/>
          </a:solidFill>
          <a:ln w="6350">
            <a:solidFill>
              <a:srgbClr val="D5D5D5"/>
            </a:solidFill>
          </a:ln>
          <a:effectLst/>
        </p:spPr>
        <p:txBody>
          <a:bodyPr rtlCol="0" anchor="ctr" lIns="0" rIns="0" tIns="0" bIns="0"/>
          <a:lstStyle/>
          <a:p>
            <a:pPr algn="ctr"/>
          </a:p>
        </p:txBody>
      </p:sp>
      <p:sp>
        <p:nvSpPr>
          <p:cNvPr id="73" name="TextBox 72"/>
          <p:cNvSpPr txBox="1"/>
          <p:nvPr/>
        </p:nvSpPr>
        <p:spPr>
          <a:xfrm>
            <a:off x="8538052" y="4054057"/>
            <a:ext cx="1490916" cy="47225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74" name="Rectangle 73"/>
          <p:cNvSpPr/>
          <p:nvPr/>
        </p:nvSpPr>
        <p:spPr>
          <a:xfrm>
            <a:off x="10166128" y="4026625"/>
            <a:ext cx="1600644" cy="527122"/>
          </a:xfrm>
          <a:prstGeom prst="rect">
            <a:avLst/>
          </a:prstGeom>
          <a:solidFill>
            <a:srgbClr val="FFFFFF"/>
          </a:solidFill>
          <a:ln w="6350">
            <a:solidFill>
              <a:srgbClr val="D5D5D5"/>
            </a:solidFill>
          </a:ln>
          <a:effectLst/>
        </p:spPr>
        <p:txBody>
          <a:bodyPr rtlCol="0" anchor="ctr" lIns="0" rIns="0" tIns="0" bIns="0"/>
          <a:lstStyle/>
          <a:p>
            <a:pPr algn="ctr"/>
          </a:p>
        </p:txBody>
      </p:sp>
      <p:sp>
        <p:nvSpPr>
          <p:cNvPr id="75" name="TextBox 74"/>
          <p:cNvSpPr txBox="1"/>
          <p:nvPr/>
        </p:nvSpPr>
        <p:spPr>
          <a:xfrm>
            <a:off x="10220992" y="4054057"/>
            <a:ext cx="1490916" cy="47225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76" name="Connector 75"/>
          <p:cNvCxnSpPr/>
          <p:nvPr/>
        </p:nvCxnSpPr>
        <p:spPr>
          <a:xfrm>
            <a:off x="384048" y="4594896"/>
            <a:ext cx="11423873" cy="0"/>
          </a:xfrm>
          <a:prstGeom prst="line">
            <a:avLst/>
          </a:prstGeom>
          <a:ln w="6350">
            <a:solidFill>
              <a:srgbClr val="ECECEC"/>
            </a:solidFill>
          </a:ln>
          <a:effectLst/>
        </p:spPr>
      </p:cxnSp>
      <p:sp>
        <p:nvSpPr>
          <p:cNvPr id="77" name="TextBox 76"/>
          <p:cNvSpPr txBox="1"/>
          <p:nvPr/>
        </p:nvSpPr>
        <p:spPr>
          <a:xfrm>
            <a:off x="452628" y="4645188"/>
            <a:ext cx="503089" cy="50883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3.7.1</a:t>
            </a:r>
          </a:p>
        </p:txBody>
      </p:sp>
      <p:sp>
        <p:nvSpPr>
          <p:cNvPr id="78" name="TextBox 77"/>
          <p:cNvSpPr txBox="1"/>
          <p:nvPr/>
        </p:nvSpPr>
        <p:spPr>
          <a:xfrm>
            <a:off x="1092877" y="4645188"/>
            <a:ext cx="2698228" cy="50883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Expansão da Liza para atendimento dos ~120 mil leads gerados pelas campanhas Meta WhatsApp</a:t>
            </a:r>
          </a:p>
        </p:txBody>
      </p:sp>
      <p:sp>
        <p:nvSpPr>
          <p:cNvPr id="79" name="TextBox 78"/>
          <p:cNvSpPr txBox="1"/>
          <p:nvPr/>
        </p:nvSpPr>
        <p:spPr>
          <a:xfrm>
            <a:off x="3928266" y="4645188"/>
            <a:ext cx="1106752" cy="50883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Isadora Barreto e Lucas Lima</a:t>
            </a:r>
          </a:p>
        </p:txBody>
      </p:sp>
      <p:sp>
        <p:nvSpPr>
          <p:cNvPr id="80" name="TextBox 79"/>
          <p:cNvSpPr txBox="1"/>
          <p:nvPr/>
        </p:nvSpPr>
        <p:spPr>
          <a:xfrm>
            <a:off x="5172178" y="4645188"/>
            <a:ext cx="649431" cy="50883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jan/27</a:t>
            </a:r>
          </a:p>
        </p:txBody>
      </p:sp>
      <p:sp>
        <p:nvSpPr>
          <p:cNvPr id="81" name="Rounded Rectangle 80"/>
          <p:cNvSpPr/>
          <p:nvPr/>
        </p:nvSpPr>
        <p:spPr>
          <a:xfrm>
            <a:off x="5958770" y="4656161"/>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82" name="TextBox 81"/>
          <p:cNvSpPr txBox="1"/>
          <p:nvPr/>
        </p:nvSpPr>
        <p:spPr>
          <a:xfrm>
            <a:off x="5958770" y="4656161"/>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83" name="Rectangle 82"/>
          <p:cNvSpPr/>
          <p:nvPr/>
        </p:nvSpPr>
        <p:spPr>
          <a:xfrm>
            <a:off x="6800247" y="4636044"/>
            <a:ext cx="1600644" cy="527122"/>
          </a:xfrm>
          <a:prstGeom prst="rect">
            <a:avLst/>
          </a:prstGeom>
          <a:solidFill>
            <a:srgbClr val="FFFFFF"/>
          </a:solidFill>
          <a:ln w="6350">
            <a:solidFill>
              <a:srgbClr val="D5D5D5"/>
            </a:solidFill>
          </a:ln>
          <a:effectLst/>
        </p:spPr>
        <p:txBody>
          <a:bodyPr rtlCol="0" anchor="ctr" lIns="0" rIns="0" tIns="0" bIns="0"/>
          <a:lstStyle/>
          <a:p>
            <a:pPr algn="ctr"/>
          </a:p>
        </p:txBody>
      </p:sp>
      <p:sp>
        <p:nvSpPr>
          <p:cNvPr id="84" name="TextBox 83"/>
          <p:cNvSpPr txBox="1"/>
          <p:nvPr/>
        </p:nvSpPr>
        <p:spPr>
          <a:xfrm>
            <a:off x="6855111" y="4663476"/>
            <a:ext cx="1490916" cy="47225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85" name="Rectangle 84"/>
          <p:cNvSpPr/>
          <p:nvPr/>
        </p:nvSpPr>
        <p:spPr>
          <a:xfrm>
            <a:off x="8483188" y="4636044"/>
            <a:ext cx="1600644" cy="527122"/>
          </a:xfrm>
          <a:prstGeom prst="rect">
            <a:avLst/>
          </a:prstGeom>
          <a:solidFill>
            <a:srgbClr val="FFFFFF"/>
          </a:solidFill>
          <a:ln w="6350">
            <a:solidFill>
              <a:srgbClr val="D5D5D5"/>
            </a:solidFill>
          </a:ln>
          <a:effectLst/>
        </p:spPr>
        <p:txBody>
          <a:bodyPr rtlCol="0" anchor="ctr" lIns="0" rIns="0" tIns="0" bIns="0"/>
          <a:lstStyle/>
          <a:p>
            <a:pPr algn="ctr"/>
          </a:p>
        </p:txBody>
      </p:sp>
      <p:sp>
        <p:nvSpPr>
          <p:cNvPr id="86" name="TextBox 85"/>
          <p:cNvSpPr txBox="1"/>
          <p:nvPr/>
        </p:nvSpPr>
        <p:spPr>
          <a:xfrm>
            <a:off x="8538052" y="4663476"/>
            <a:ext cx="1490916" cy="47225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87" name="Rectangle 86"/>
          <p:cNvSpPr/>
          <p:nvPr/>
        </p:nvSpPr>
        <p:spPr>
          <a:xfrm>
            <a:off x="10166128" y="4636044"/>
            <a:ext cx="1600644" cy="527122"/>
          </a:xfrm>
          <a:prstGeom prst="rect">
            <a:avLst/>
          </a:prstGeom>
          <a:solidFill>
            <a:srgbClr val="FFFFFF"/>
          </a:solidFill>
          <a:ln w="6350">
            <a:solidFill>
              <a:srgbClr val="D5D5D5"/>
            </a:solidFill>
          </a:ln>
          <a:effectLst/>
        </p:spPr>
        <p:txBody>
          <a:bodyPr rtlCol="0" anchor="ctr" lIns="0" rIns="0" tIns="0" bIns="0"/>
          <a:lstStyle/>
          <a:p>
            <a:pPr algn="ctr"/>
          </a:p>
        </p:txBody>
      </p:sp>
      <p:sp>
        <p:nvSpPr>
          <p:cNvPr id="88" name="TextBox 87"/>
          <p:cNvSpPr txBox="1"/>
          <p:nvPr/>
        </p:nvSpPr>
        <p:spPr>
          <a:xfrm>
            <a:off x="10220992" y="4663476"/>
            <a:ext cx="1490916" cy="47225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89" name="Connector 88"/>
          <p:cNvCxnSpPr/>
          <p:nvPr/>
        </p:nvCxnSpPr>
        <p:spPr>
          <a:xfrm>
            <a:off x="384048" y="5204314"/>
            <a:ext cx="11423873" cy="0"/>
          </a:xfrm>
          <a:prstGeom prst="line">
            <a:avLst/>
          </a:prstGeom>
          <a:ln w="6350">
            <a:solidFill>
              <a:srgbClr val="ECECEC"/>
            </a:solidFill>
          </a:ln>
          <a:effectLst/>
        </p:spPr>
      </p:cxnSp>
      <p:sp>
        <p:nvSpPr>
          <p:cNvPr id="90" name="TextBox 89"/>
          <p:cNvSpPr txBox="1"/>
          <p:nvPr/>
        </p:nvSpPr>
        <p:spPr>
          <a:xfrm>
            <a:off x="452628" y="5254606"/>
            <a:ext cx="503089" cy="50883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3.8.1</a:t>
            </a:r>
          </a:p>
        </p:txBody>
      </p:sp>
      <p:sp>
        <p:nvSpPr>
          <p:cNvPr id="91" name="TextBox 90"/>
          <p:cNvSpPr txBox="1"/>
          <p:nvPr/>
        </p:nvSpPr>
        <p:spPr>
          <a:xfrm>
            <a:off x="1092877" y="5254606"/>
            <a:ext cx="2698228" cy="50883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Gestão de performance da Liza aprimorada com uso de agentes de IA (ex.: Alethe.IA)</a:t>
            </a:r>
          </a:p>
        </p:txBody>
      </p:sp>
      <p:sp>
        <p:nvSpPr>
          <p:cNvPr id="92" name="TextBox 91"/>
          <p:cNvSpPr txBox="1"/>
          <p:nvPr/>
        </p:nvSpPr>
        <p:spPr>
          <a:xfrm>
            <a:off x="3928266" y="5254606"/>
            <a:ext cx="1106752" cy="50883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Isadora Barreto e Lucas Lima</a:t>
            </a:r>
          </a:p>
        </p:txBody>
      </p:sp>
      <p:sp>
        <p:nvSpPr>
          <p:cNvPr id="93" name="TextBox 92"/>
          <p:cNvSpPr txBox="1"/>
          <p:nvPr/>
        </p:nvSpPr>
        <p:spPr>
          <a:xfrm>
            <a:off x="5172178" y="5254606"/>
            <a:ext cx="649431" cy="50883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jan/27 – fev/27</a:t>
            </a:r>
          </a:p>
        </p:txBody>
      </p:sp>
      <p:sp>
        <p:nvSpPr>
          <p:cNvPr id="94" name="Rounded Rectangle 93"/>
          <p:cNvSpPr/>
          <p:nvPr/>
        </p:nvSpPr>
        <p:spPr>
          <a:xfrm>
            <a:off x="5958770" y="5265579"/>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95" name="TextBox 94"/>
          <p:cNvSpPr txBox="1"/>
          <p:nvPr/>
        </p:nvSpPr>
        <p:spPr>
          <a:xfrm>
            <a:off x="5958770" y="5265579"/>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96" name="Rectangle 95"/>
          <p:cNvSpPr/>
          <p:nvPr/>
        </p:nvSpPr>
        <p:spPr>
          <a:xfrm>
            <a:off x="6800247" y="5245462"/>
            <a:ext cx="1600644" cy="527122"/>
          </a:xfrm>
          <a:prstGeom prst="rect">
            <a:avLst/>
          </a:prstGeom>
          <a:solidFill>
            <a:srgbClr val="FFFFFF"/>
          </a:solidFill>
          <a:ln w="6350">
            <a:solidFill>
              <a:srgbClr val="D5D5D5"/>
            </a:solidFill>
          </a:ln>
          <a:effectLst/>
        </p:spPr>
        <p:txBody>
          <a:bodyPr rtlCol="0" anchor="ctr" lIns="0" rIns="0" tIns="0" bIns="0"/>
          <a:lstStyle/>
          <a:p>
            <a:pPr algn="ctr"/>
          </a:p>
        </p:txBody>
      </p:sp>
      <p:sp>
        <p:nvSpPr>
          <p:cNvPr id="97" name="TextBox 96"/>
          <p:cNvSpPr txBox="1"/>
          <p:nvPr/>
        </p:nvSpPr>
        <p:spPr>
          <a:xfrm>
            <a:off x="6855111" y="5272894"/>
            <a:ext cx="1490916" cy="47225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98" name="Rectangle 97"/>
          <p:cNvSpPr/>
          <p:nvPr/>
        </p:nvSpPr>
        <p:spPr>
          <a:xfrm>
            <a:off x="8483188" y="5245462"/>
            <a:ext cx="1600644" cy="527122"/>
          </a:xfrm>
          <a:prstGeom prst="rect">
            <a:avLst/>
          </a:prstGeom>
          <a:solidFill>
            <a:srgbClr val="FFFFFF"/>
          </a:solidFill>
          <a:ln w="6350">
            <a:solidFill>
              <a:srgbClr val="D5D5D5"/>
            </a:solidFill>
          </a:ln>
          <a:effectLst/>
        </p:spPr>
        <p:txBody>
          <a:bodyPr rtlCol="0" anchor="ctr" lIns="0" rIns="0" tIns="0" bIns="0"/>
          <a:lstStyle/>
          <a:p>
            <a:pPr algn="ctr"/>
          </a:p>
        </p:txBody>
      </p:sp>
      <p:sp>
        <p:nvSpPr>
          <p:cNvPr id="99" name="TextBox 98"/>
          <p:cNvSpPr txBox="1"/>
          <p:nvPr/>
        </p:nvSpPr>
        <p:spPr>
          <a:xfrm>
            <a:off x="8538052" y="5272894"/>
            <a:ext cx="1490916" cy="47225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00" name="Rectangle 99"/>
          <p:cNvSpPr/>
          <p:nvPr/>
        </p:nvSpPr>
        <p:spPr>
          <a:xfrm>
            <a:off x="10166128" y="5245462"/>
            <a:ext cx="1600644" cy="527122"/>
          </a:xfrm>
          <a:prstGeom prst="rect">
            <a:avLst/>
          </a:prstGeom>
          <a:solidFill>
            <a:srgbClr val="FFFFFF"/>
          </a:solidFill>
          <a:ln w="6350">
            <a:solidFill>
              <a:srgbClr val="D5D5D5"/>
            </a:solidFill>
          </a:ln>
          <a:effectLst/>
        </p:spPr>
        <p:txBody>
          <a:bodyPr rtlCol="0" anchor="ctr" lIns="0" rIns="0" tIns="0" bIns="0"/>
          <a:lstStyle/>
          <a:p>
            <a:pPr algn="ctr"/>
          </a:p>
        </p:txBody>
      </p:sp>
      <p:sp>
        <p:nvSpPr>
          <p:cNvPr id="101" name="TextBox 100"/>
          <p:cNvSpPr txBox="1"/>
          <p:nvPr/>
        </p:nvSpPr>
        <p:spPr>
          <a:xfrm>
            <a:off x="10220992" y="5272894"/>
            <a:ext cx="1490916" cy="47225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102" name="Connector 101"/>
          <p:cNvCxnSpPr/>
          <p:nvPr/>
        </p:nvCxnSpPr>
        <p:spPr>
          <a:xfrm>
            <a:off x="384048" y="5813733"/>
            <a:ext cx="11423873" cy="0"/>
          </a:xfrm>
          <a:prstGeom prst="line">
            <a:avLst/>
          </a:prstGeom>
          <a:ln w="6350">
            <a:solidFill>
              <a:srgbClr val="ECECEC"/>
            </a:solidFill>
          </a:ln>
          <a:effectLst/>
        </p:spPr>
      </p:cxnSp>
      <p:sp>
        <p:nvSpPr>
          <p:cNvPr id="103" name="TextBox 102"/>
          <p:cNvSpPr txBox="1"/>
          <p:nvPr/>
        </p:nvSpPr>
        <p:spPr>
          <a:xfrm>
            <a:off x="452628" y="5864025"/>
            <a:ext cx="503089" cy="632786"/>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3.9.1</a:t>
            </a:r>
          </a:p>
        </p:txBody>
      </p:sp>
      <p:sp>
        <p:nvSpPr>
          <p:cNvPr id="104" name="TextBox 103"/>
          <p:cNvSpPr txBox="1"/>
          <p:nvPr/>
        </p:nvSpPr>
        <p:spPr>
          <a:xfrm>
            <a:off x="1092877" y="5864025"/>
            <a:ext cx="2698228" cy="632786"/>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Ferramenta de IA consultiva implementada, com recomendações de abordagem integradas ao fluxo de vendas</a:t>
            </a:r>
          </a:p>
        </p:txBody>
      </p:sp>
      <p:sp>
        <p:nvSpPr>
          <p:cNvPr id="105" name="TextBox 104"/>
          <p:cNvSpPr txBox="1"/>
          <p:nvPr/>
        </p:nvSpPr>
        <p:spPr>
          <a:xfrm>
            <a:off x="3928266" y="5864025"/>
            <a:ext cx="1106752" cy="632786"/>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Isadora Barreto e Lucas Lima</a:t>
            </a:r>
          </a:p>
        </p:txBody>
      </p:sp>
      <p:sp>
        <p:nvSpPr>
          <p:cNvPr id="106" name="TextBox 105"/>
          <p:cNvSpPr txBox="1"/>
          <p:nvPr/>
        </p:nvSpPr>
        <p:spPr>
          <a:xfrm>
            <a:off x="5172178" y="5864025"/>
            <a:ext cx="649431" cy="632786"/>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mar/27 – abr/27</a:t>
            </a:r>
          </a:p>
        </p:txBody>
      </p:sp>
      <p:sp>
        <p:nvSpPr>
          <p:cNvPr id="107" name="Rounded Rectangle 106"/>
          <p:cNvSpPr/>
          <p:nvPr/>
        </p:nvSpPr>
        <p:spPr>
          <a:xfrm>
            <a:off x="5958770" y="5874998"/>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108" name="TextBox 107"/>
          <p:cNvSpPr txBox="1"/>
          <p:nvPr/>
        </p:nvSpPr>
        <p:spPr>
          <a:xfrm>
            <a:off x="5958770" y="5874998"/>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109" name="Rectangle 108"/>
          <p:cNvSpPr/>
          <p:nvPr/>
        </p:nvSpPr>
        <p:spPr>
          <a:xfrm>
            <a:off x="6800247" y="5854881"/>
            <a:ext cx="1600644" cy="651074"/>
          </a:xfrm>
          <a:prstGeom prst="rect">
            <a:avLst/>
          </a:prstGeom>
          <a:solidFill>
            <a:srgbClr val="FFFFFF"/>
          </a:solidFill>
          <a:ln w="6350">
            <a:solidFill>
              <a:srgbClr val="D5D5D5"/>
            </a:solidFill>
          </a:ln>
          <a:effectLst/>
        </p:spPr>
        <p:txBody>
          <a:bodyPr rtlCol="0" anchor="ctr" lIns="0" rIns="0" tIns="0" bIns="0"/>
          <a:lstStyle/>
          <a:p>
            <a:pPr algn="ctr"/>
          </a:p>
        </p:txBody>
      </p:sp>
      <p:sp>
        <p:nvSpPr>
          <p:cNvPr id="110" name="TextBox 109"/>
          <p:cNvSpPr txBox="1"/>
          <p:nvPr/>
        </p:nvSpPr>
        <p:spPr>
          <a:xfrm>
            <a:off x="6855111" y="5882313"/>
            <a:ext cx="1490916" cy="596210"/>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11" name="Rectangle 110"/>
          <p:cNvSpPr/>
          <p:nvPr/>
        </p:nvSpPr>
        <p:spPr>
          <a:xfrm>
            <a:off x="8483188" y="5854881"/>
            <a:ext cx="1600644" cy="651074"/>
          </a:xfrm>
          <a:prstGeom prst="rect">
            <a:avLst/>
          </a:prstGeom>
          <a:solidFill>
            <a:srgbClr val="FFFFFF"/>
          </a:solidFill>
          <a:ln w="6350">
            <a:solidFill>
              <a:srgbClr val="D5D5D5"/>
            </a:solidFill>
          </a:ln>
          <a:effectLst/>
        </p:spPr>
        <p:txBody>
          <a:bodyPr rtlCol="0" anchor="ctr" lIns="0" rIns="0" tIns="0" bIns="0"/>
          <a:lstStyle/>
          <a:p>
            <a:pPr algn="ctr"/>
          </a:p>
        </p:txBody>
      </p:sp>
      <p:sp>
        <p:nvSpPr>
          <p:cNvPr id="112" name="TextBox 111"/>
          <p:cNvSpPr txBox="1"/>
          <p:nvPr/>
        </p:nvSpPr>
        <p:spPr>
          <a:xfrm>
            <a:off x="8538052" y="5882313"/>
            <a:ext cx="1490916" cy="596210"/>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13" name="Rectangle 112"/>
          <p:cNvSpPr/>
          <p:nvPr/>
        </p:nvSpPr>
        <p:spPr>
          <a:xfrm>
            <a:off x="10166128" y="5854881"/>
            <a:ext cx="1600644" cy="651074"/>
          </a:xfrm>
          <a:prstGeom prst="rect">
            <a:avLst/>
          </a:prstGeom>
          <a:solidFill>
            <a:srgbClr val="FFFFFF"/>
          </a:solidFill>
          <a:ln w="6350">
            <a:solidFill>
              <a:srgbClr val="D5D5D5"/>
            </a:solidFill>
          </a:ln>
          <a:effectLst/>
        </p:spPr>
        <p:txBody>
          <a:bodyPr rtlCol="0" anchor="ctr" lIns="0" rIns="0" tIns="0" bIns="0"/>
          <a:lstStyle/>
          <a:p>
            <a:pPr algn="ctr"/>
          </a:p>
        </p:txBody>
      </p:sp>
      <p:sp>
        <p:nvSpPr>
          <p:cNvPr id="114" name="TextBox 113"/>
          <p:cNvSpPr txBox="1"/>
          <p:nvPr/>
        </p:nvSpPr>
        <p:spPr>
          <a:xfrm>
            <a:off x="10220992" y="5882313"/>
            <a:ext cx="1490916" cy="596210"/>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115" name="Connector 114"/>
          <p:cNvCxnSpPr/>
          <p:nvPr/>
        </p:nvCxnSpPr>
        <p:spPr>
          <a:xfrm>
            <a:off x="384048" y="6547104"/>
            <a:ext cx="11423873" cy="0"/>
          </a:xfrm>
          <a:prstGeom prst="line">
            <a:avLst/>
          </a:prstGeom>
          <a:ln w="6350">
            <a:solidFill>
              <a:srgbClr val="D5D5D5"/>
            </a:solidFill>
          </a:ln>
          <a:effectLst/>
        </p:spPr>
      </p:cxnSp>
      <p:cxnSp>
        <p:nvCxnSpPr>
          <p:cNvPr id="116" name="Connector 115"/>
          <p:cNvCxnSpPr/>
          <p:nvPr/>
        </p:nvCxnSpPr>
        <p:spPr>
          <a:xfrm>
            <a:off x="384048" y="6583680"/>
            <a:ext cx="11423873" cy="0"/>
          </a:xfrm>
          <a:prstGeom prst="line">
            <a:avLst/>
          </a:prstGeom>
          <a:ln w="6350">
            <a:solidFill>
              <a:srgbClr val="E2E2E2"/>
            </a:solidFill>
          </a:ln>
          <a:effectLst/>
        </p:spPr>
      </p:cxnSp>
      <p:sp>
        <p:nvSpPr>
          <p:cNvPr id="117" name="TextBox 116"/>
          <p:cNvSpPr txBox="1"/>
          <p:nvPr/>
        </p:nvSpPr>
        <p:spPr>
          <a:xfrm>
            <a:off x="384048" y="6624828"/>
            <a:ext cx="9139098" cy="128016"/>
          </a:xfrm>
          <a:prstGeom prst="rect">
            <a:avLst/>
          </a:prstGeom>
          <a:noFill/>
        </p:spPr>
        <p:txBody>
          <a:bodyPr wrap="square" lIns="0" rIns="0" tIns="0" bIns="0" anchor="t">
            <a:spAutoFit/>
          </a:bodyPr>
          <a:lstStyle/>
          <a:p>
            <a:pPr algn="l">
              <a:lnSpc>
                <a:spcPct val="122000"/>
              </a:lnSpc>
            </a:pPr>
            <a:r>
              <a:rPr sz="650" b="0" i="0">
                <a:solidFill>
                  <a:srgbClr val="757575"/>
                </a:solidFill>
                <a:latin typeface="Arial"/>
              </a:rPr>
              <a:t>Fonte: Painel de Controle Lead-to-Sales — Aceleração Seminovos</a:t>
            </a:r>
          </a:p>
        </p:txBody>
      </p:sp>
      <p:sp>
        <p:nvSpPr>
          <p:cNvPr id="118" name="TextBox 117"/>
          <p:cNvSpPr txBox="1"/>
          <p:nvPr/>
        </p:nvSpPr>
        <p:spPr>
          <a:xfrm>
            <a:off x="10893521" y="6624828"/>
            <a:ext cx="914400" cy="128016"/>
          </a:xfrm>
          <a:prstGeom prst="rect">
            <a:avLst/>
          </a:prstGeom>
          <a:noFill/>
        </p:spPr>
        <p:txBody>
          <a:bodyPr wrap="square" lIns="0" rIns="0" tIns="0" bIns="0" anchor="t">
            <a:spAutoFit/>
          </a:bodyPr>
          <a:lstStyle/>
          <a:p>
            <a:pPr algn="r">
              <a:lnSpc>
                <a:spcPct val="122000"/>
              </a:lnSpc>
            </a:pPr>
            <a:r>
              <a:rPr sz="650" b="0" i="0">
                <a:solidFill>
                  <a:srgbClr val="757575"/>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txBody>
          <a:bodyPr rtlCol="0" anchor="ctr" lIns="0" rIns="0" tIns="0" bIns="0"/>
          <a:lstStyle/>
          <a:p>
            <a:pPr algn="ctr"/>
          </a:p>
        </p:txBody>
      </p:sp>
      <p:sp>
        <p:nvSpPr>
          <p:cNvPr id="3" name="TextBox 2"/>
          <p:cNvSpPr txBox="1"/>
          <p:nvPr/>
        </p:nvSpPr>
        <p:spPr>
          <a:xfrm>
            <a:off x="384048" y="274320"/>
            <a:ext cx="7996711" cy="146304"/>
          </a:xfrm>
          <a:prstGeom prst="rect">
            <a:avLst/>
          </a:prstGeom>
          <a:noFill/>
        </p:spPr>
        <p:txBody>
          <a:bodyPr wrap="square" lIns="0" rIns="0" tIns="0" bIns="0" anchor="t">
            <a:spAutoFit/>
          </a:bodyPr>
          <a:lstStyle/>
          <a:p>
            <a:pPr algn="l">
              <a:lnSpc>
                <a:spcPct val="122000"/>
              </a:lnSpc>
            </a:pPr>
            <a:r>
              <a:rPr sz="750" b="1" i="0">
                <a:solidFill>
                  <a:srgbClr val="1A1A1A"/>
                </a:solidFill>
                <a:latin typeface="Arial"/>
              </a:rPr>
              <a:t>Lead-to-Sales  ·  Painel de Controle</a:t>
            </a:r>
            <a:r>
              <a:rPr sz="750" b="0" i="0">
                <a:solidFill>
                  <a:srgbClr val="757575"/>
                </a:solidFill>
                <a:latin typeface="Arial"/>
              </a:rPr>
              <a:t>   |   Aceleração Seminovos</a:t>
            </a:r>
          </a:p>
        </p:txBody>
      </p:sp>
      <p:sp>
        <p:nvSpPr>
          <p:cNvPr id="4" name="TextBox 3"/>
          <p:cNvSpPr txBox="1"/>
          <p:nvPr/>
        </p:nvSpPr>
        <p:spPr>
          <a:xfrm>
            <a:off x="9796241" y="274320"/>
            <a:ext cx="2011680" cy="146304"/>
          </a:xfrm>
          <a:prstGeom prst="rect">
            <a:avLst/>
          </a:prstGeom>
          <a:noFill/>
        </p:spPr>
        <p:txBody>
          <a:bodyPr wrap="square" lIns="0" rIns="0" tIns="0" bIns="0" anchor="t">
            <a:spAutoFit/>
          </a:bodyPr>
          <a:lstStyle/>
          <a:p>
            <a:pPr algn="r">
              <a:lnSpc>
                <a:spcPct val="122000"/>
              </a:lnSpc>
            </a:pPr>
            <a:r>
              <a:rPr sz="750" b="0" i="0">
                <a:solidFill>
                  <a:srgbClr val="757575"/>
                </a:solidFill>
                <a:latin typeface="Arial"/>
              </a:rPr>
              <a:t>Frente 4 de 6</a:t>
            </a:r>
          </a:p>
        </p:txBody>
      </p:sp>
      <p:sp>
        <p:nvSpPr>
          <p:cNvPr id="5" name="Rectangle 4"/>
          <p:cNvSpPr/>
          <p:nvPr/>
        </p:nvSpPr>
        <p:spPr>
          <a:xfrm>
            <a:off x="384048" y="512064"/>
            <a:ext cx="11423873" cy="876046"/>
          </a:xfrm>
          <a:prstGeom prst="rect">
            <a:avLst/>
          </a:prstGeom>
          <a:solidFill>
            <a:srgbClr val="F7F7F7"/>
          </a:solidFill>
          <a:ln w="9525">
            <a:solidFill>
              <a:srgbClr val="E2E2E2"/>
            </a:solidFill>
          </a:ln>
          <a:effectLst/>
        </p:spPr>
        <p:txBody>
          <a:bodyPr rtlCol="0" anchor="ctr" lIns="0" rIns="0" tIns="0" bIns="0"/>
          <a:lstStyle/>
          <a:p>
            <a:pPr algn="ctr"/>
          </a:p>
        </p:txBody>
      </p:sp>
      <p:sp>
        <p:nvSpPr>
          <p:cNvPr id="6" name="Rectangle 5"/>
          <p:cNvSpPr/>
          <p:nvPr/>
        </p:nvSpPr>
        <p:spPr>
          <a:xfrm>
            <a:off x="384048" y="512064"/>
            <a:ext cx="68580" cy="876046"/>
          </a:xfrm>
          <a:prstGeom prst="rect">
            <a:avLst/>
          </a:prstGeom>
          <a:solidFill>
            <a:srgbClr val="78DE1F"/>
          </a:solidFill>
          <a:ln>
            <a:noFill/>
          </a:ln>
          <a:effectLst/>
        </p:spPr>
        <p:txBody>
          <a:bodyPr rtlCol="0" anchor="ctr" lIns="0" rIns="0" tIns="0" bIns="0"/>
          <a:lstStyle/>
          <a:p>
            <a:pPr algn="ctr"/>
          </a:p>
        </p:txBody>
      </p:sp>
      <p:sp>
        <p:nvSpPr>
          <p:cNvPr id="7" name="Oval 6"/>
          <p:cNvSpPr/>
          <p:nvPr/>
        </p:nvSpPr>
        <p:spPr>
          <a:xfrm>
            <a:off x="690372" y="658368"/>
            <a:ext cx="256032" cy="256032"/>
          </a:xfrm>
          <a:prstGeom prst="ellipse">
            <a:avLst/>
          </a:prstGeom>
          <a:solidFill>
            <a:srgbClr val="78DE1F"/>
          </a:solidFill>
          <a:ln>
            <a:noFill/>
          </a:ln>
          <a:effectLst/>
        </p:spPr>
        <p:txBody>
          <a:bodyPr rtlCol="0" anchor="ctr" lIns="0" rIns="0" tIns="0" bIns="0"/>
          <a:lstStyle/>
          <a:p>
            <a:pPr algn="ctr"/>
          </a:p>
        </p:txBody>
      </p:sp>
      <p:sp>
        <p:nvSpPr>
          <p:cNvPr id="8" name="TextBox 7"/>
          <p:cNvSpPr txBox="1"/>
          <p:nvPr/>
        </p:nvSpPr>
        <p:spPr>
          <a:xfrm>
            <a:off x="690372" y="699516"/>
            <a:ext cx="256032" cy="182880"/>
          </a:xfrm>
          <a:prstGeom prst="rect">
            <a:avLst/>
          </a:prstGeom>
          <a:noFill/>
        </p:spPr>
        <p:txBody>
          <a:bodyPr wrap="square" lIns="0" rIns="0" tIns="0" bIns="0" anchor="t">
            <a:spAutoFit/>
          </a:bodyPr>
          <a:lstStyle/>
          <a:p>
            <a:pPr algn="ctr">
              <a:lnSpc>
                <a:spcPct val="122000"/>
              </a:lnSpc>
            </a:pPr>
            <a:r>
              <a:rPr sz="1100" b="1" i="0">
                <a:solidFill>
                  <a:srgbClr val="1A1A1A"/>
                </a:solidFill>
                <a:latin typeface="Arial"/>
              </a:rPr>
              <a:t>4</a:t>
            </a:r>
          </a:p>
        </p:txBody>
      </p:sp>
      <p:sp>
        <p:nvSpPr>
          <p:cNvPr id="9" name="TextBox 8"/>
          <p:cNvSpPr txBox="1"/>
          <p:nvPr/>
        </p:nvSpPr>
        <p:spPr>
          <a:xfrm>
            <a:off x="1074420" y="658368"/>
            <a:ext cx="6289517" cy="193675"/>
          </a:xfrm>
          <a:prstGeom prst="rect">
            <a:avLst/>
          </a:prstGeom>
          <a:noFill/>
        </p:spPr>
        <p:txBody>
          <a:bodyPr wrap="square" lIns="0" rIns="0" tIns="0" bIns="0" anchor="t">
            <a:spAutoFit/>
          </a:bodyPr>
          <a:lstStyle/>
          <a:p>
            <a:pPr algn="l">
              <a:lnSpc>
                <a:spcPct val="122000"/>
              </a:lnSpc>
            </a:pPr>
            <a:r>
              <a:rPr sz="1250" b="1" i="0">
                <a:solidFill>
                  <a:srgbClr val="1A1A1A"/>
                </a:solidFill>
                <a:latin typeface="Arial"/>
              </a:rPr>
              <a:t>Atendimento pela Central</a:t>
            </a:r>
          </a:p>
        </p:txBody>
      </p:sp>
      <p:sp>
        <p:nvSpPr>
          <p:cNvPr id="10" name="TextBox 9"/>
          <p:cNvSpPr txBox="1"/>
          <p:nvPr/>
        </p:nvSpPr>
        <p:spPr>
          <a:xfrm>
            <a:off x="1074420" y="978408"/>
            <a:ext cx="6289517" cy="263397"/>
          </a:xfrm>
          <a:prstGeom prst="rect">
            <a:avLst/>
          </a:prstGeom>
          <a:noFill/>
        </p:spPr>
        <p:txBody>
          <a:bodyPr wrap="square" lIns="0" rIns="0" tIns="0" bIns="0" anchor="t">
            <a:spAutoFit/>
          </a:bodyPr>
          <a:lstStyle/>
          <a:p>
            <a:pPr algn="l">
              <a:lnSpc>
                <a:spcPct val="122000"/>
              </a:lnSpc>
            </a:pPr>
            <a:r>
              <a:rPr sz="850" b="0" i="0">
                <a:solidFill>
                  <a:srgbClr val="6B6B6B"/>
                </a:solidFill>
                <a:latin typeface="Arial"/>
              </a:rPr>
              <a:t>Melhorar a experiência dos clientes atendidos pela Central (via transbordo da Liza ou escolha do cliente), direcioná-los à loja mais aderente e maximizar, inicialmente, a conversão em comparecimento.</a:t>
            </a:r>
          </a:p>
        </p:txBody>
      </p:sp>
      <p:sp>
        <p:nvSpPr>
          <p:cNvPr id="11" name="TextBox 10"/>
          <p:cNvSpPr txBox="1"/>
          <p:nvPr/>
        </p:nvSpPr>
        <p:spPr>
          <a:xfrm>
            <a:off x="7638257" y="658368"/>
            <a:ext cx="1572768" cy="100711"/>
          </a:xfrm>
          <a:prstGeom prst="rect">
            <a:avLst/>
          </a:prstGeom>
          <a:noFill/>
        </p:spPr>
        <p:txBody>
          <a:bodyPr wrap="square" lIns="0" rIns="0" tIns="0" bIns="0" anchor="t">
            <a:spAutoFit/>
          </a:bodyPr>
          <a:lstStyle/>
          <a:p>
            <a:pPr algn="l">
              <a:lnSpc>
                <a:spcPct val="122000"/>
              </a:lnSpc>
            </a:pPr>
            <a:r>
              <a:rPr sz="650" b="1" i="0">
                <a:solidFill>
                  <a:srgbClr val="757575"/>
                </a:solidFill>
                <a:latin typeface="Arial"/>
              </a:rPr>
              <a:t>LÍDER(ES)</a:t>
            </a:r>
          </a:p>
        </p:txBody>
      </p:sp>
      <p:sp>
        <p:nvSpPr>
          <p:cNvPr id="12" name="TextBox 11"/>
          <p:cNvSpPr txBox="1"/>
          <p:nvPr/>
        </p:nvSpPr>
        <p:spPr>
          <a:xfrm>
            <a:off x="7638257" y="804799"/>
            <a:ext cx="1572768" cy="247903"/>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Rafael Vidal</a:t>
            </a:r>
          </a:p>
        </p:txBody>
      </p:sp>
      <p:sp>
        <p:nvSpPr>
          <p:cNvPr id="13" name="TextBox 12"/>
          <p:cNvSpPr txBox="1"/>
          <p:nvPr/>
        </p:nvSpPr>
        <p:spPr>
          <a:xfrm>
            <a:off x="9412193" y="658368"/>
            <a:ext cx="2212848" cy="100711"/>
          </a:xfrm>
          <a:prstGeom prst="rect">
            <a:avLst/>
          </a:prstGeom>
          <a:noFill/>
        </p:spPr>
        <p:txBody>
          <a:bodyPr wrap="square" lIns="0" rIns="0" tIns="0" bIns="0" anchor="t">
            <a:spAutoFit/>
          </a:bodyPr>
          <a:lstStyle/>
          <a:p>
            <a:pPr algn="l">
              <a:lnSpc>
                <a:spcPct val="122000"/>
              </a:lnSpc>
            </a:pPr>
            <a:r>
              <a:rPr sz="650" b="1" i="0">
                <a:solidFill>
                  <a:srgbClr val="757575"/>
                </a:solidFill>
                <a:latin typeface="Arial"/>
              </a:rPr>
              <a:t>TIME DE TRABALHO</a:t>
            </a:r>
          </a:p>
        </p:txBody>
      </p:sp>
      <p:sp>
        <p:nvSpPr>
          <p:cNvPr id="14" name="TextBox 13"/>
          <p:cNvSpPr txBox="1"/>
          <p:nvPr/>
        </p:nvSpPr>
        <p:spPr>
          <a:xfrm>
            <a:off x="9412193" y="804799"/>
            <a:ext cx="2212848" cy="247903"/>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Vitor Sueth (time do João Azevedo), Luis Dutra (time da Eloah Aguiar) e Rômulo Rodrigo</a:t>
            </a:r>
          </a:p>
        </p:txBody>
      </p:sp>
      <p:sp>
        <p:nvSpPr>
          <p:cNvPr id="15" name="TextBox 14"/>
          <p:cNvSpPr txBox="1"/>
          <p:nvPr/>
        </p:nvSpPr>
        <p:spPr>
          <a:xfrm>
            <a:off x="384048" y="1570990"/>
            <a:ext cx="2743200" cy="155448"/>
          </a:xfrm>
          <a:prstGeom prst="rect">
            <a:avLst/>
          </a:prstGeom>
          <a:noFill/>
        </p:spPr>
        <p:txBody>
          <a:bodyPr wrap="square" lIns="0" rIns="0" tIns="0" bIns="0" anchor="t">
            <a:spAutoFit/>
          </a:bodyPr>
          <a:lstStyle/>
          <a:p>
            <a:pPr algn="l">
              <a:lnSpc>
                <a:spcPct val="122000"/>
              </a:lnSpc>
            </a:pPr>
            <a:r>
              <a:rPr sz="950" b="1" i="0">
                <a:solidFill>
                  <a:srgbClr val="1A1A1A"/>
                </a:solidFill>
                <a:latin typeface="Arial"/>
              </a:rPr>
              <a:t>Milestones</a:t>
            </a:r>
          </a:p>
        </p:txBody>
      </p:sp>
      <p:sp>
        <p:nvSpPr>
          <p:cNvPr id="16" name="TextBox 15"/>
          <p:cNvSpPr txBox="1"/>
          <p:nvPr/>
        </p:nvSpPr>
        <p:spPr>
          <a:xfrm>
            <a:off x="452628" y="1804162"/>
            <a:ext cx="503089"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a:t>
            </a:r>
          </a:p>
        </p:txBody>
      </p:sp>
      <p:sp>
        <p:nvSpPr>
          <p:cNvPr id="17" name="TextBox 16"/>
          <p:cNvSpPr txBox="1"/>
          <p:nvPr/>
        </p:nvSpPr>
        <p:spPr>
          <a:xfrm>
            <a:off x="1092877" y="1804162"/>
            <a:ext cx="2698228"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Milestone</a:t>
            </a:r>
          </a:p>
        </p:txBody>
      </p:sp>
      <p:sp>
        <p:nvSpPr>
          <p:cNvPr id="18" name="TextBox 17"/>
          <p:cNvSpPr txBox="1"/>
          <p:nvPr/>
        </p:nvSpPr>
        <p:spPr>
          <a:xfrm>
            <a:off x="3928266" y="1804162"/>
            <a:ext cx="1106752"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Responsável</a:t>
            </a:r>
          </a:p>
        </p:txBody>
      </p:sp>
      <p:sp>
        <p:nvSpPr>
          <p:cNvPr id="19" name="TextBox 18"/>
          <p:cNvSpPr txBox="1"/>
          <p:nvPr/>
        </p:nvSpPr>
        <p:spPr>
          <a:xfrm>
            <a:off x="5172178" y="1804162"/>
            <a:ext cx="649431"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Prazo</a:t>
            </a:r>
          </a:p>
        </p:txBody>
      </p:sp>
      <p:sp>
        <p:nvSpPr>
          <p:cNvPr id="20" name="TextBox 19"/>
          <p:cNvSpPr txBox="1"/>
          <p:nvPr/>
        </p:nvSpPr>
        <p:spPr>
          <a:xfrm>
            <a:off x="5958770" y="1804162"/>
            <a:ext cx="731749" cy="123951"/>
          </a:xfrm>
          <a:prstGeom prst="rect">
            <a:avLst/>
          </a:prstGeom>
          <a:noFill/>
        </p:spPr>
        <p:txBody>
          <a:bodyPr wrap="square" lIns="0" rIns="0" tIns="0" bIns="0" anchor="t">
            <a:spAutoFit/>
          </a:bodyPr>
          <a:lstStyle/>
          <a:p>
            <a:pPr algn="ctr">
              <a:lnSpc>
                <a:spcPct val="122000"/>
              </a:lnSpc>
            </a:pPr>
            <a:r>
              <a:rPr sz="800" b="1" i="0">
                <a:solidFill>
                  <a:srgbClr val="757575"/>
                </a:solidFill>
                <a:latin typeface="Arial"/>
              </a:rPr>
              <a:t>Status</a:t>
            </a:r>
          </a:p>
        </p:txBody>
      </p:sp>
      <p:sp>
        <p:nvSpPr>
          <p:cNvPr id="21" name="TextBox 20"/>
          <p:cNvSpPr txBox="1"/>
          <p:nvPr/>
        </p:nvSpPr>
        <p:spPr>
          <a:xfrm>
            <a:off x="6827679" y="1804162"/>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Progresso recente</a:t>
            </a:r>
          </a:p>
        </p:txBody>
      </p:sp>
      <p:sp>
        <p:nvSpPr>
          <p:cNvPr id="22" name="TextBox 21"/>
          <p:cNvSpPr txBox="1"/>
          <p:nvPr/>
        </p:nvSpPr>
        <p:spPr>
          <a:xfrm>
            <a:off x="8510620" y="1804162"/>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Próximos passos</a:t>
            </a:r>
          </a:p>
        </p:txBody>
      </p:sp>
      <p:sp>
        <p:nvSpPr>
          <p:cNvPr id="23" name="TextBox 22"/>
          <p:cNvSpPr txBox="1"/>
          <p:nvPr/>
        </p:nvSpPr>
        <p:spPr>
          <a:xfrm>
            <a:off x="10193560" y="1804162"/>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Pontos a escalar</a:t>
            </a:r>
          </a:p>
        </p:txBody>
      </p:sp>
      <p:cxnSp>
        <p:nvCxnSpPr>
          <p:cNvPr id="24" name="Connector 23"/>
          <p:cNvCxnSpPr/>
          <p:nvPr/>
        </p:nvCxnSpPr>
        <p:spPr>
          <a:xfrm>
            <a:off x="384048" y="2033270"/>
            <a:ext cx="11423873" cy="0"/>
          </a:xfrm>
          <a:prstGeom prst="line">
            <a:avLst/>
          </a:prstGeom>
          <a:ln w="12700">
            <a:solidFill>
              <a:srgbClr val="1A1A1A"/>
            </a:solidFill>
          </a:ln>
          <a:effectLst/>
        </p:spPr>
      </p:cxnSp>
      <p:sp>
        <p:nvSpPr>
          <p:cNvPr id="25" name="TextBox 24"/>
          <p:cNvSpPr txBox="1"/>
          <p:nvPr/>
        </p:nvSpPr>
        <p:spPr>
          <a:xfrm>
            <a:off x="452628" y="2083562"/>
            <a:ext cx="503089" cy="602276"/>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4.1.1</a:t>
            </a:r>
          </a:p>
        </p:txBody>
      </p:sp>
      <p:sp>
        <p:nvSpPr>
          <p:cNvPr id="26" name="TextBox 25"/>
          <p:cNvSpPr txBox="1"/>
          <p:nvPr/>
        </p:nvSpPr>
        <p:spPr>
          <a:xfrm>
            <a:off x="1092877" y="2083562"/>
            <a:ext cx="2698228" cy="602276"/>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Melhores práticas de atendimento na Central mapeadas</a:t>
            </a:r>
          </a:p>
        </p:txBody>
      </p:sp>
      <p:sp>
        <p:nvSpPr>
          <p:cNvPr id="27" name="TextBox 26"/>
          <p:cNvSpPr txBox="1"/>
          <p:nvPr/>
        </p:nvSpPr>
        <p:spPr>
          <a:xfrm>
            <a:off x="3928266" y="2083562"/>
            <a:ext cx="1106752" cy="602276"/>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Luis Dutra</a:t>
            </a:r>
          </a:p>
        </p:txBody>
      </p:sp>
      <p:sp>
        <p:nvSpPr>
          <p:cNvPr id="28" name="TextBox 27"/>
          <p:cNvSpPr txBox="1"/>
          <p:nvPr/>
        </p:nvSpPr>
        <p:spPr>
          <a:xfrm>
            <a:off x="5172178" y="2083562"/>
            <a:ext cx="649431" cy="602276"/>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ago/26</a:t>
            </a:r>
          </a:p>
        </p:txBody>
      </p:sp>
      <p:sp>
        <p:nvSpPr>
          <p:cNvPr id="29" name="Rounded Rectangle 28"/>
          <p:cNvSpPr/>
          <p:nvPr/>
        </p:nvSpPr>
        <p:spPr>
          <a:xfrm>
            <a:off x="5958770" y="2094534"/>
            <a:ext cx="731749" cy="169164"/>
          </a:xfrm>
          <a:prstGeom prst="roundRect">
            <a:avLst>
              <a:gd name="adj" fmla="val 50000"/>
            </a:avLst>
          </a:prstGeom>
          <a:solidFill>
            <a:srgbClr val="FFF8E1"/>
          </a:solidFill>
          <a:ln>
            <a:noFill/>
          </a:ln>
          <a:effectLst/>
        </p:spPr>
        <p:txBody>
          <a:bodyPr rtlCol="0" anchor="ctr" lIns="0" rIns="0" tIns="0" bIns="0"/>
          <a:lstStyle/>
          <a:p>
            <a:pPr algn="ctr"/>
          </a:p>
        </p:txBody>
      </p:sp>
      <p:sp>
        <p:nvSpPr>
          <p:cNvPr id="30" name="TextBox 29"/>
          <p:cNvSpPr txBox="1"/>
          <p:nvPr/>
        </p:nvSpPr>
        <p:spPr>
          <a:xfrm>
            <a:off x="5958770" y="2094534"/>
            <a:ext cx="731749" cy="169164"/>
          </a:xfrm>
          <a:prstGeom prst="rect">
            <a:avLst/>
          </a:prstGeom>
          <a:noFill/>
        </p:spPr>
        <p:txBody>
          <a:bodyPr wrap="square" lIns="0" rIns="0" tIns="0" bIns="0" anchor="ctr">
            <a:spAutoFit/>
          </a:bodyPr>
          <a:lstStyle/>
          <a:p>
            <a:pPr algn="ctr">
              <a:lnSpc>
                <a:spcPct val="122000"/>
              </a:lnSpc>
            </a:pPr>
            <a:r>
              <a:rPr sz="750" b="1" i="0">
                <a:solidFill>
                  <a:srgbClr val="6B5700"/>
                </a:solidFill>
                <a:latin typeface="Arial"/>
              </a:rPr>
              <a:t>Em progresso</a:t>
            </a:r>
          </a:p>
        </p:txBody>
      </p:sp>
      <p:sp>
        <p:nvSpPr>
          <p:cNvPr id="31" name="Rectangle 30"/>
          <p:cNvSpPr/>
          <p:nvPr/>
        </p:nvSpPr>
        <p:spPr>
          <a:xfrm>
            <a:off x="6800247" y="2074418"/>
            <a:ext cx="1600644" cy="620564"/>
          </a:xfrm>
          <a:prstGeom prst="rect">
            <a:avLst/>
          </a:prstGeom>
          <a:solidFill>
            <a:srgbClr val="FFFFFF"/>
          </a:solidFill>
          <a:ln w="6350">
            <a:solidFill>
              <a:srgbClr val="D5D5D5"/>
            </a:solidFill>
          </a:ln>
          <a:effectLst/>
        </p:spPr>
        <p:txBody>
          <a:bodyPr rtlCol="0" anchor="ctr" lIns="0" rIns="0" tIns="0" bIns="0"/>
          <a:lstStyle/>
          <a:p>
            <a:pPr algn="ctr"/>
          </a:p>
        </p:txBody>
      </p:sp>
      <p:sp>
        <p:nvSpPr>
          <p:cNvPr id="32" name="TextBox 31"/>
          <p:cNvSpPr txBox="1"/>
          <p:nvPr/>
        </p:nvSpPr>
        <p:spPr>
          <a:xfrm>
            <a:off x="6855111" y="2101850"/>
            <a:ext cx="1490916" cy="565700"/>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33" name="Rectangle 32"/>
          <p:cNvSpPr/>
          <p:nvPr/>
        </p:nvSpPr>
        <p:spPr>
          <a:xfrm>
            <a:off x="8483188" y="2074418"/>
            <a:ext cx="1600644" cy="620564"/>
          </a:xfrm>
          <a:prstGeom prst="rect">
            <a:avLst/>
          </a:prstGeom>
          <a:solidFill>
            <a:srgbClr val="FFFFFF"/>
          </a:solidFill>
          <a:ln w="6350">
            <a:solidFill>
              <a:srgbClr val="D5D5D5"/>
            </a:solidFill>
          </a:ln>
          <a:effectLst/>
        </p:spPr>
        <p:txBody>
          <a:bodyPr rtlCol="0" anchor="ctr" lIns="0" rIns="0" tIns="0" bIns="0"/>
          <a:lstStyle/>
          <a:p>
            <a:pPr algn="ctr"/>
          </a:p>
        </p:txBody>
      </p:sp>
      <p:sp>
        <p:nvSpPr>
          <p:cNvPr id="34" name="TextBox 33"/>
          <p:cNvSpPr txBox="1"/>
          <p:nvPr/>
        </p:nvSpPr>
        <p:spPr>
          <a:xfrm>
            <a:off x="8538052" y="2101850"/>
            <a:ext cx="1490916" cy="565700"/>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35" name="Rectangle 34"/>
          <p:cNvSpPr/>
          <p:nvPr/>
        </p:nvSpPr>
        <p:spPr>
          <a:xfrm>
            <a:off x="10166128" y="2074418"/>
            <a:ext cx="1600644" cy="620564"/>
          </a:xfrm>
          <a:prstGeom prst="rect">
            <a:avLst/>
          </a:prstGeom>
          <a:solidFill>
            <a:srgbClr val="FFFFFF"/>
          </a:solidFill>
          <a:ln w="6350">
            <a:solidFill>
              <a:srgbClr val="D5D5D5"/>
            </a:solidFill>
          </a:ln>
          <a:effectLst/>
        </p:spPr>
        <p:txBody>
          <a:bodyPr rtlCol="0" anchor="ctr" lIns="0" rIns="0" tIns="0" bIns="0"/>
          <a:lstStyle/>
          <a:p>
            <a:pPr algn="ctr"/>
          </a:p>
        </p:txBody>
      </p:sp>
      <p:sp>
        <p:nvSpPr>
          <p:cNvPr id="36" name="TextBox 35"/>
          <p:cNvSpPr txBox="1"/>
          <p:nvPr/>
        </p:nvSpPr>
        <p:spPr>
          <a:xfrm>
            <a:off x="10220992" y="2101850"/>
            <a:ext cx="1490916" cy="565700"/>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37" name="Connector 36"/>
          <p:cNvCxnSpPr/>
          <p:nvPr/>
        </p:nvCxnSpPr>
        <p:spPr>
          <a:xfrm>
            <a:off x="384048" y="2736130"/>
            <a:ext cx="11423873" cy="0"/>
          </a:xfrm>
          <a:prstGeom prst="line">
            <a:avLst/>
          </a:prstGeom>
          <a:ln w="6350">
            <a:solidFill>
              <a:srgbClr val="ECECEC"/>
            </a:solidFill>
          </a:ln>
          <a:effectLst/>
        </p:spPr>
      </p:cxnSp>
      <p:sp>
        <p:nvSpPr>
          <p:cNvPr id="38" name="TextBox 37"/>
          <p:cNvSpPr txBox="1"/>
          <p:nvPr/>
        </p:nvSpPr>
        <p:spPr>
          <a:xfrm>
            <a:off x="452628" y="2786422"/>
            <a:ext cx="503089" cy="67644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4.2.1</a:t>
            </a:r>
          </a:p>
        </p:txBody>
      </p:sp>
      <p:sp>
        <p:nvSpPr>
          <p:cNvPr id="39" name="TextBox 38"/>
          <p:cNvSpPr txBox="1"/>
          <p:nvPr/>
        </p:nvSpPr>
        <p:spPr>
          <a:xfrm>
            <a:off x="1092877" y="2786422"/>
            <a:ext cx="2698228" cy="67644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Modelo de treinamento e nova rotina de gestão de performance dos RDVs evoluídos</a:t>
            </a:r>
          </a:p>
        </p:txBody>
      </p:sp>
      <p:sp>
        <p:nvSpPr>
          <p:cNvPr id="40" name="TextBox 39"/>
          <p:cNvSpPr txBox="1"/>
          <p:nvPr/>
        </p:nvSpPr>
        <p:spPr>
          <a:xfrm>
            <a:off x="3928266" y="2786422"/>
            <a:ext cx="1106752" cy="67644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Rômulo Rodrigo</a:t>
            </a:r>
          </a:p>
        </p:txBody>
      </p:sp>
      <p:sp>
        <p:nvSpPr>
          <p:cNvPr id="41" name="TextBox 40"/>
          <p:cNvSpPr txBox="1"/>
          <p:nvPr/>
        </p:nvSpPr>
        <p:spPr>
          <a:xfrm>
            <a:off x="5172178" y="2786422"/>
            <a:ext cx="649431" cy="67644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S2 set/26</a:t>
            </a:r>
          </a:p>
        </p:txBody>
      </p:sp>
      <p:sp>
        <p:nvSpPr>
          <p:cNvPr id="42" name="Rounded Rectangle 41"/>
          <p:cNvSpPr/>
          <p:nvPr/>
        </p:nvSpPr>
        <p:spPr>
          <a:xfrm>
            <a:off x="5958770" y="2797395"/>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43" name="TextBox 42"/>
          <p:cNvSpPr txBox="1"/>
          <p:nvPr/>
        </p:nvSpPr>
        <p:spPr>
          <a:xfrm>
            <a:off x="5958770" y="2797395"/>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44" name="Rectangle 43"/>
          <p:cNvSpPr/>
          <p:nvPr/>
        </p:nvSpPr>
        <p:spPr>
          <a:xfrm>
            <a:off x="6800247" y="2777278"/>
            <a:ext cx="1600644" cy="694732"/>
          </a:xfrm>
          <a:prstGeom prst="rect">
            <a:avLst/>
          </a:prstGeom>
          <a:solidFill>
            <a:srgbClr val="FFFFFF"/>
          </a:solidFill>
          <a:ln w="6350">
            <a:solidFill>
              <a:srgbClr val="D5D5D5"/>
            </a:solidFill>
          </a:ln>
          <a:effectLst/>
        </p:spPr>
        <p:txBody>
          <a:bodyPr rtlCol="0" anchor="ctr" lIns="0" rIns="0" tIns="0" bIns="0"/>
          <a:lstStyle/>
          <a:p>
            <a:pPr algn="ctr"/>
          </a:p>
        </p:txBody>
      </p:sp>
      <p:sp>
        <p:nvSpPr>
          <p:cNvPr id="45" name="TextBox 44"/>
          <p:cNvSpPr txBox="1"/>
          <p:nvPr/>
        </p:nvSpPr>
        <p:spPr>
          <a:xfrm>
            <a:off x="6855111" y="2804710"/>
            <a:ext cx="1490916" cy="63986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46" name="Rectangle 45"/>
          <p:cNvSpPr/>
          <p:nvPr/>
        </p:nvSpPr>
        <p:spPr>
          <a:xfrm>
            <a:off x="8483188" y="2777278"/>
            <a:ext cx="1600644" cy="694732"/>
          </a:xfrm>
          <a:prstGeom prst="rect">
            <a:avLst/>
          </a:prstGeom>
          <a:solidFill>
            <a:srgbClr val="FFFFFF"/>
          </a:solidFill>
          <a:ln w="6350">
            <a:solidFill>
              <a:srgbClr val="D5D5D5"/>
            </a:solidFill>
          </a:ln>
          <a:effectLst/>
        </p:spPr>
        <p:txBody>
          <a:bodyPr rtlCol="0" anchor="ctr" lIns="0" rIns="0" tIns="0" bIns="0"/>
          <a:lstStyle/>
          <a:p>
            <a:pPr algn="ctr"/>
          </a:p>
        </p:txBody>
      </p:sp>
      <p:sp>
        <p:nvSpPr>
          <p:cNvPr id="47" name="TextBox 46"/>
          <p:cNvSpPr txBox="1"/>
          <p:nvPr/>
        </p:nvSpPr>
        <p:spPr>
          <a:xfrm>
            <a:off x="8538052" y="2804710"/>
            <a:ext cx="1490916" cy="63986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48" name="Rectangle 47"/>
          <p:cNvSpPr/>
          <p:nvPr/>
        </p:nvSpPr>
        <p:spPr>
          <a:xfrm>
            <a:off x="10166128" y="2777278"/>
            <a:ext cx="1600644" cy="694732"/>
          </a:xfrm>
          <a:prstGeom prst="rect">
            <a:avLst/>
          </a:prstGeom>
          <a:solidFill>
            <a:srgbClr val="FFFFFF"/>
          </a:solidFill>
          <a:ln w="6350">
            <a:solidFill>
              <a:srgbClr val="D5D5D5"/>
            </a:solidFill>
          </a:ln>
          <a:effectLst/>
        </p:spPr>
        <p:txBody>
          <a:bodyPr rtlCol="0" anchor="ctr" lIns="0" rIns="0" tIns="0" bIns="0"/>
          <a:lstStyle/>
          <a:p>
            <a:pPr algn="ctr"/>
          </a:p>
        </p:txBody>
      </p:sp>
      <p:sp>
        <p:nvSpPr>
          <p:cNvPr id="49" name="TextBox 48"/>
          <p:cNvSpPr txBox="1"/>
          <p:nvPr/>
        </p:nvSpPr>
        <p:spPr>
          <a:xfrm>
            <a:off x="10220992" y="2804710"/>
            <a:ext cx="1490916" cy="63986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50" name="Connector 49"/>
          <p:cNvCxnSpPr/>
          <p:nvPr/>
        </p:nvCxnSpPr>
        <p:spPr>
          <a:xfrm>
            <a:off x="384048" y="3513158"/>
            <a:ext cx="11423873" cy="0"/>
          </a:xfrm>
          <a:prstGeom prst="line">
            <a:avLst/>
          </a:prstGeom>
          <a:ln w="6350">
            <a:solidFill>
              <a:srgbClr val="ECECEC"/>
            </a:solidFill>
          </a:ln>
          <a:effectLst/>
        </p:spPr>
      </p:cxnSp>
      <p:sp>
        <p:nvSpPr>
          <p:cNvPr id="51" name="TextBox 50"/>
          <p:cNvSpPr txBox="1"/>
          <p:nvPr/>
        </p:nvSpPr>
        <p:spPr>
          <a:xfrm>
            <a:off x="452628" y="3563450"/>
            <a:ext cx="503089" cy="67644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4.3.1</a:t>
            </a:r>
          </a:p>
        </p:txBody>
      </p:sp>
      <p:sp>
        <p:nvSpPr>
          <p:cNvPr id="52" name="TextBox 51"/>
          <p:cNvSpPr txBox="1"/>
          <p:nvPr/>
        </p:nvSpPr>
        <p:spPr>
          <a:xfrm>
            <a:off x="1092877" y="3563450"/>
            <a:ext cx="2698228" cy="67644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Teste com contratação de atendentes mais qualificados (classe 13 vs. classe 10) realizado</a:t>
            </a:r>
          </a:p>
        </p:txBody>
      </p:sp>
      <p:sp>
        <p:nvSpPr>
          <p:cNvPr id="53" name="TextBox 52"/>
          <p:cNvSpPr txBox="1"/>
          <p:nvPr/>
        </p:nvSpPr>
        <p:spPr>
          <a:xfrm>
            <a:off x="3928266" y="3563450"/>
            <a:ext cx="1106752" cy="67644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Eloah Aguiar e Rômulo Rodrigo</a:t>
            </a:r>
          </a:p>
        </p:txBody>
      </p:sp>
      <p:sp>
        <p:nvSpPr>
          <p:cNvPr id="54" name="TextBox 53"/>
          <p:cNvSpPr txBox="1"/>
          <p:nvPr/>
        </p:nvSpPr>
        <p:spPr>
          <a:xfrm>
            <a:off x="5172178" y="3563450"/>
            <a:ext cx="649431" cy="67644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S3 set/26</a:t>
            </a:r>
          </a:p>
        </p:txBody>
      </p:sp>
      <p:sp>
        <p:nvSpPr>
          <p:cNvPr id="55" name="Rounded Rectangle 54"/>
          <p:cNvSpPr/>
          <p:nvPr/>
        </p:nvSpPr>
        <p:spPr>
          <a:xfrm>
            <a:off x="5958770" y="3574423"/>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56" name="TextBox 55"/>
          <p:cNvSpPr txBox="1"/>
          <p:nvPr/>
        </p:nvSpPr>
        <p:spPr>
          <a:xfrm>
            <a:off x="5958770" y="3574423"/>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57" name="Rectangle 56"/>
          <p:cNvSpPr/>
          <p:nvPr/>
        </p:nvSpPr>
        <p:spPr>
          <a:xfrm>
            <a:off x="6800247" y="3554306"/>
            <a:ext cx="1600644" cy="694732"/>
          </a:xfrm>
          <a:prstGeom prst="rect">
            <a:avLst/>
          </a:prstGeom>
          <a:solidFill>
            <a:srgbClr val="FFFFFF"/>
          </a:solidFill>
          <a:ln w="6350">
            <a:solidFill>
              <a:srgbClr val="D5D5D5"/>
            </a:solidFill>
          </a:ln>
          <a:effectLst/>
        </p:spPr>
        <p:txBody>
          <a:bodyPr rtlCol="0" anchor="ctr" lIns="0" rIns="0" tIns="0" bIns="0"/>
          <a:lstStyle/>
          <a:p>
            <a:pPr algn="ctr"/>
          </a:p>
        </p:txBody>
      </p:sp>
      <p:sp>
        <p:nvSpPr>
          <p:cNvPr id="58" name="TextBox 57"/>
          <p:cNvSpPr txBox="1"/>
          <p:nvPr/>
        </p:nvSpPr>
        <p:spPr>
          <a:xfrm>
            <a:off x="6855111" y="3581738"/>
            <a:ext cx="1490916" cy="63986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59" name="Rectangle 58"/>
          <p:cNvSpPr/>
          <p:nvPr/>
        </p:nvSpPr>
        <p:spPr>
          <a:xfrm>
            <a:off x="8483188" y="3554306"/>
            <a:ext cx="1600644" cy="694732"/>
          </a:xfrm>
          <a:prstGeom prst="rect">
            <a:avLst/>
          </a:prstGeom>
          <a:solidFill>
            <a:srgbClr val="FFFFFF"/>
          </a:solidFill>
          <a:ln w="6350">
            <a:solidFill>
              <a:srgbClr val="D5D5D5"/>
            </a:solidFill>
          </a:ln>
          <a:effectLst/>
        </p:spPr>
        <p:txBody>
          <a:bodyPr rtlCol="0" anchor="ctr" lIns="0" rIns="0" tIns="0" bIns="0"/>
          <a:lstStyle/>
          <a:p>
            <a:pPr algn="ctr"/>
          </a:p>
        </p:txBody>
      </p:sp>
      <p:sp>
        <p:nvSpPr>
          <p:cNvPr id="60" name="TextBox 59"/>
          <p:cNvSpPr txBox="1"/>
          <p:nvPr/>
        </p:nvSpPr>
        <p:spPr>
          <a:xfrm>
            <a:off x="8538052" y="3581738"/>
            <a:ext cx="1490916" cy="63986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61" name="Rectangle 60"/>
          <p:cNvSpPr/>
          <p:nvPr/>
        </p:nvSpPr>
        <p:spPr>
          <a:xfrm>
            <a:off x="10166128" y="3554306"/>
            <a:ext cx="1600644" cy="694732"/>
          </a:xfrm>
          <a:prstGeom prst="rect">
            <a:avLst/>
          </a:prstGeom>
          <a:solidFill>
            <a:srgbClr val="FFFFFF"/>
          </a:solidFill>
          <a:ln w="6350">
            <a:solidFill>
              <a:srgbClr val="D5D5D5"/>
            </a:solidFill>
          </a:ln>
          <a:effectLst/>
        </p:spPr>
        <p:txBody>
          <a:bodyPr rtlCol="0" anchor="ctr" lIns="0" rIns="0" tIns="0" bIns="0"/>
          <a:lstStyle/>
          <a:p>
            <a:pPr algn="ctr"/>
          </a:p>
        </p:txBody>
      </p:sp>
      <p:sp>
        <p:nvSpPr>
          <p:cNvPr id="62" name="TextBox 61"/>
          <p:cNvSpPr txBox="1"/>
          <p:nvPr/>
        </p:nvSpPr>
        <p:spPr>
          <a:xfrm>
            <a:off x="10220992" y="3581738"/>
            <a:ext cx="1490916" cy="63986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63" name="Connector 62"/>
          <p:cNvCxnSpPr/>
          <p:nvPr/>
        </p:nvCxnSpPr>
        <p:spPr>
          <a:xfrm>
            <a:off x="384048" y="4290187"/>
            <a:ext cx="11423873" cy="0"/>
          </a:xfrm>
          <a:prstGeom prst="line">
            <a:avLst/>
          </a:prstGeom>
          <a:ln w="6350">
            <a:solidFill>
              <a:srgbClr val="ECECEC"/>
            </a:solidFill>
          </a:ln>
          <a:effectLst/>
        </p:spPr>
      </p:cxnSp>
      <p:sp>
        <p:nvSpPr>
          <p:cNvPr id="64" name="TextBox 63"/>
          <p:cNvSpPr txBox="1"/>
          <p:nvPr/>
        </p:nvSpPr>
        <p:spPr>
          <a:xfrm>
            <a:off x="452628" y="4340479"/>
            <a:ext cx="503089" cy="602276"/>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4.4.1</a:t>
            </a:r>
          </a:p>
        </p:txBody>
      </p:sp>
      <p:sp>
        <p:nvSpPr>
          <p:cNvPr id="65" name="TextBox 64"/>
          <p:cNvSpPr txBox="1"/>
          <p:nvPr/>
        </p:nvSpPr>
        <p:spPr>
          <a:xfrm>
            <a:off x="1092877" y="4340479"/>
            <a:ext cx="2698228" cy="602276"/>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Rotina de gestão de performance implementada</a:t>
            </a:r>
          </a:p>
        </p:txBody>
      </p:sp>
      <p:sp>
        <p:nvSpPr>
          <p:cNvPr id="66" name="TextBox 65"/>
          <p:cNvSpPr txBox="1"/>
          <p:nvPr/>
        </p:nvSpPr>
        <p:spPr>
          <a:xfrm>
            <a:off x="3928266" y="4340479"/>
            <a:ext cx="1106752" cy="602276"/>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Vitor Sueth</a:t>
            </a:r>
          </a:p>
        </p:txBody>
      </p:sp>
      <p:sp>
        <p:nvSpPr>
          <p:cNvPr id="67" name="TextBox 66"/>
          <p:cNvSpPr txBox="1"/>
          <p:nvPr/>
        </p:nvSpPr>
        <p:spPr>
          <a:xfrm>
            <a:off x="5172178" y="4340479"/>
            <a:ext cx="649431" cy="602276"/>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ago/26</a:t>
            </a:r>
          </a:p>
        </p:txBody>
      </p:sp>
      <p:sp>
        <p:nvSpPr>
          <p:cNvPr id="68" name="Rounded Rectangle 67"/>
          <p:cNvSpPr/>
          <p:nvPr/>
        </p:nvSpPr>
        <p:spPr>
          <a:xfrm>
            <a:off x="5958770" y="4351451"/>
            <a:ext cx="731749" cy="169164"/>
          </a:xfrm>
          <a:prstGeom prst="roundRect">
            <a:avLst>
              <a:gd name="adj" fmla="val 50000"/>
            </a:avLst>
          </a:prstGeom>
          <a:solidFill>
            <a:srgbClr val="FFF8E1"/>
          </a:solidFill>
          <a:ln>
            <a:noFill/>
          </a:ln>
          <a:effectLst/>
        </p:spPr>
        <p:txBody>
          <a:bodyPr rtlCol="0" anchor="ctr" lIns="0" rIns="0" tIns="0" bIns="0"/>
          <a:lstStyle/>
          <a:p>
            <a:pPr algn="ctr"/>
          </a:p>
        </p:txBody>
      </p:sp>
      <p:sp>
        <p:nvSpPr>
          <p:cNvPr id="69" name="TextBox 68"/>
          <p:cNvSpPr txBox="1"/>
          <p:nvPr/>
        </p:nvSpPr>
        <p:spPr>
          <a:xfrm>
            <a:off x="5958770" y="4351451"/>
            <a:ext cx="731749" cy="169164"/>
          </a:xfrm>
          <a:prstGeom prst="rect">
            <a:avLst/>
          </a:prstGeom>
          <a:noFill/>
        </p:spPr>
        <p:txBody>
          <a:bodyPr wrap="square" lIns="0" rIns="0" tIns="0" bIns="0" anchor="ctr">
            <a:spAutoFit/>
          </a:bodyPr>
          <a:lstStyle/>
          <a:p>
            <a:pPr algn="ctr">
              <a:lnSpc>
                <a:spcPct val="122000"/>
              </a:lnSpc>
            </a:pPr>
            <a:r>
              <a:rPr sz="750" b="1" i="0">
                <a:solidFill>
                  <a:srgbClr val="6B5700"/>
                </a:solidFill>
                <a:latin typeface="Arial"/>
              </a:rPr>
              <a:t>Em progresso</a:t>
            </a:r>
          </a:p>
        </p:txBody>
      </p:sp>
      <p:sp>
        <p:nvSpPr>
          <p:cNvPr id="70" name="Rectangle 69"/>
          <p:cNvSpPr/>
          <p:nvPr/>
        </p:nvSpPr>
        <p:spPr>
          <a:xfrm>
            <a:off x="6800247" y="4331335"/>
            <a:ext cx="1600644" cy="620564"/>
          </a:xfrm>
          <a:prstGeom prst="rect">
            <a:avLst/>
          </a:prstGeom>
          <a:solidFill>
            <a:srgbClr val="FFFFFF"/>
          </a:solidFill>
          <a:ln w="6350">
            <a:solidFill>
              <a:srgbClr val="D5D5D5"/>
            </a:solidFill>
          </a:ln>
          <a:effectLst/>
        </p:spPr>
        <p:txBody>
          <a:bodyPr rtlCol="0" anchor="ctr" lIns="0" rIns="0" tIns="0" bIns="0"/>
          <a:lstStyle/>
          <a:p>
            <a:pPr algn="ctr"/>
          </a:p>
        </p:txBody>
      </p:sp>
      <p:sp>
        <p:nvSpPr>
          <p:cNvPr id="71" name="TextBox 70"/>
          <p:cNvSpPr txBox="1"/>
          <p:nvPr/>
        </p:nvSpPr>
        <p:spPr>
          <a:xfrm>
            <a:off x="6855111" y="4358767"/>
            <a:ext cx="1490916" cy="565700"/>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72" name="Rectangle 71"/>
          <p:cNvSpPr/>
          <p:nvPr/>
        </p:nvSpPr>
        <p:spPr>
          <a:xfrm>
            <a:off x="8483188" y="4331335"/>
            <a:ext cx="1600644" cy="620564"/>
          </a:xfrm>
          <a:prstGeom prst="rect">
            <a:avLst/>
          </a:prstGeom>
          <a:solidFill>
            <a:srgbClr val="FFFFFF"/>
          </a:solidFill>
          <a:ln w="6350">
            <a:solidFill>
              <a:srgbClr val="D5D5D5"/>
            </a:solidFill>
          </a:ln>
          <a:effectLst/>
        </p:spPr>
        <p:txBody>
          <a:bodyPr rtlCol="0" anchor="ctr" lIns="0" rIns="0" tIns="0" bIns="0"/>
          <a:lstStyle/>
          <a:p>
            <a:pPr algn="ctr"/>
          </a:p>
        </p:txBody>
      </p:sp>
      <p:sp>
        <p:nvSpPr>
          <p:cNvPr id="73" name="TextBox 72"/>
          <p:cNvSpPr txBox="1"/>
          <p:nvPr/>
        </p:nvSpPr>
        <p:spPr>
          <a:xfrm>
            <a:off x="8538052" y="4358767"/>
            <a:ext cx="1490916" cy="565700"/>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74" name="Rectangle 73"/>
          <p:cNvSpPr/>
          <p:nvPr/>
        </p:nvSpPr>
        <p:spPr>
          <a:xfrm>
            <a:off x="10166128" y="4331335"/>
            <a:ext cx="1600644" cy="620564"/>
          </a:xfrm>
          <a:prstGeom prst="rect">
            <a:avLst/>
          </a:prstGeom>
          <a:solidFill>
            <a:srgbClr val="FFFFFF"/>
          </a:solidFill>
          <a:ln w="6350">
            <a:solidFill>
              <a:srgbClr val="D5D5D5"/>
            </a:solidFill>
          </a:ln>
          <a:effectLst/>
        </p:spPr>
        <p:txBody>
          <a:bodyPr rtlCol="0" anchor="ctr" lIns="0" rIns="0" tIns="0" bIns="0"/>
          <a:lstStyle/>
          <a:p>
            <a:pPr algn="ctr"/>
          </a:p>
        </p:txBody>
      </p:sp>
      <p:sp>
        <p:nvSpPr>
          <p:cNvPr id="75" name="TextBox 74"/>
          <p:cNvSpPr txBox="1"/>
          <p:nvPr/>
        </p:nvSpPr>
        <p:spPr>
          <a:xfrm>
            <a:off x="10220992" y="4358767"/>
            <a:ext cx="1490916" cy="565700"/>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76" name="Connector 75"/>
          <p:cNvCxnSpPr/>
          <p:nvPr/>
        </p:nvCxnSpPr>
        <p:spPr>
          <a:xfrm>
            <a:off x="384048" y="4993047"/>
            <a:ext cx="11423873" cy="0"/>
          </a:xfrm>
          <a:prstGeom prst="line">
            <a:avLst/>
          </a:prstGeom>
          <a:ln w="6350">
            <a:solidFill>
              <a:srgbClr val="ECECEC"/>
            </a:solidFill>
          </a:ln>
          <a:effectLst/>
        </p:spPr>
      </p:cxnSp>
      <p:sp>
        <p:nvSpPr>
          <p:cNvPr id="77" name="TextBox 76"/>
          <p:cNvSpPr txBox="1"/>
          <p:nvPr/>
        </p:nvSpPr>
        <p:spPr>
          <a:xfrm>
            <a:off x="452628" y="5043339"/>
            <a:ext cx="503089" cy="67644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4.5.1</a:t>
            </a:r>
          </a:p>
        </p:txBody>
      </p:sp>
      <p:sp>
        <p:nvSpPr>
          <p:cNvPr id="78" name="TextBox 77"/>
          <p:cNvSpPr txBox="1"/>
          <p:nvPr/>
        </p:nvSpPr>
        <p:spPr>
          <a:xfrm>
            <a:off x="1092877" y="5043339"/>
            <a:ext cx="2698228" cy="67644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Piloto de atendimento da Central em lojas do varejo lançado</a:t>
            </a:r>
          </a:p>
        </p:txBody>
      </p:sp>
      <p:sp>
        <p:nvSpPr>
          <p:cNvPr id="79" name="TextBox 78"/>
          <p:cNvSpPr txBox="1"/>
          <p:nvPr/>
        </p:nvSpPr>
        <p:spPr>
          <a:xfrm>
            <a:off x="3928266" y="5043339"/>
            <a:ext cx="1106752" cy="67644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Rômulo Rodrigo</a:t>
            </a:r>
          </a:p>
        </p:txBody>
      </p:sp>
      <p:sp>
        <p:nvSpPr>
          <p:cNvPr id="80" name="TextBox 79"/>
          <p:cNvSpPr txBox="1"/>
          <p:nvPr/>
        </p:nvSpPr>
        <p:spPr>
          <a:xfrm>
            <a:off x="5172178" y="5043339"/>
            <a:ext cx="649431" cy="67644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ago/26</a:t>
            </a:r>
          </a:p>
        </p:txBody>
      </p:sp>
      <p:sp>
        <p:nvSpPr>
          <p:cNvPr id="81" name="Rounded Rectangle 80"/>
          <p:cNvSpPr/>
          <p:nvPr/>
        </p:nvSpPr>
        <p:spPr>
          <a:xfrm>
            <a:off x="5991256" y="5054312"/>
            <a:ext cx="666776" cy="169164"/>
          </a:xfrm>
          <a:prstGeom prst="roundRect">
            <a:avLst>
              <a:gd name="adj" fmla="val 50000"/>
            </a:avLst>
          </a:prstGeom>
          <a:solidFill>
            <a:srgbClr val="E6F7EE"/>
          </a:solidFill>
          <a:ln>
            <a:noFill/>
          </a:ln>
          <a:effectLst/>
        </p:spPr>
        <p:txBody>
          <a:bodyPr rtlCol="0" anchor="ctr" lIns="0" rIns="0" tIns="0" bIns="0"/>
          <a:lstStyle/>
          <a:p>
            <a:pPr algn="ctr"/>
          </a:p>
        </p:txBody>
      </p:sp>
      <p:sp>
        <p:nvSpPr>
          <p:cNvPr id="82" name="TextBox 81"/>
          <p:cNvSpPr txBox="1"/>
          <p:nvPr/>
        </p:nvSpPr>
        <p:spPr>
          <a:xfrm>
            <a:off x="5991256" y="5054312"/>
            <a:ext cx="666776" cy="169164"/>
          </a:xfrm>
          <a:prstGeom prst="rect">
            <a:avLst/>
          </a:prstGeom>
          <a:noFill/>
        </p:spPr>
        <p:txBody>
          <a:bodyPr wrap="square" lIns="0" rIns="0" tIns="0" bIns="0" anchor="ctr">
            <a:spAutoFit/>
          </a:bodyPr>
          <a:lstStyle/>
          <a:p>
            <a:pPr algn="ctr">
              <a:lnSpc>
                <a:spcPct val="122000"/>
              </a:lnSpc>
            </a:pPr>
            <a:r>
              <a:rPr sz="750" b="1" i="0">
                <a:solidFill>
                  <a:srgbClr val="146A3D"/>
                </a:solidFill>
                <a:latin typeface="Arial"/>
              </a:rPr>
              <a:t>Concluído</a:t>
            </a:r>
          </a:p>
        </p:txBody>
      </p:sp>
      <p:sp>
        <p:nvSpPr>
          <p:cNvPr id="83" name="Rectangle 82"/>
          <p:cNvSpPr/>
          <p:nvPr/>
        </p:nvSpPr>
        <p:spPr>
          <a:xfrm>
            <a:off x="6800247" y="5034195"/>
            <a:ext cx="1600644" cy="694732"/>
          </a:xfrm>
          <a:prstGeom prst="rect">
            <a:avLst/>
          </a:prstGeom>
          <a:solidFill>
            <a:srgbClr val="FFFFFF"/>
          </a:solidFill>
          <a:ln w="6350">
            <a:solidFill>
              <a:srgbClr val="D5D5D5"/>
            </a:solidFill>
          </a:ln>
          <a:effectLst/>
        </p:spPr>
        <p:txBody>
          <a:bodyPr rtlCol="0" anchor="ctr" lIns="0" rIns="0" tIns="0" bIns="0"/>
          <a:lstStyle/>
          <a:p>
            <a:pPr algn="ctr"/>
          </a:p>
        </p:txBody>
      </p:sp>
      <p:sp>
        <p:nvSpPr>
          <p:cNvPr id="84" name="TextBox 83"/>
          <p:cNvSpPr txBox="1"/>
          <p:nvPr/>
        </p:nvSpPr>
        <p:spPr>
          <a:xfrm>
            <a:off x="6855111" y="5061627"/>
            <a:ext cx="1490916" cy="63986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85" name="Rectangle 84"/>
          <p:cNvSpPr/>
          <p:nvPr/>
        </p:nvSpPr>
        <p:spPr>
          <a:xfrm>
            <a:off x="8483188" y="5034195"/>
            <a:ext cx="1600644" cy="694732"/>
          </a:xfrm>
          <a:prstGeom prst="rect">
            <a:avLst/>
          </a:prstGeom>
          <a:solidFill>
            <a:srgbClr val="FFFFFF"/>
          </a:solidFill>
          <a:ln w="6350">
            <a:solidFill>
              <a:srgbClr val="D5D5D5"/>
            </a:solidFill>
          </a:ln>
          <a:effectLst/>
        </p:spPr>
        <p:txBody>
          <a:bodyPr rtlCol="0" anchor="ctr" lIns="0" rIns="0" tIns="0" bIns="0"/>
          <a:lstStyle/>
          <a:p>
            <a:pPr algn="ctr"/>
          </a:p>
        </p:txBody>
      </p:sp>
      <p:sp>
        <p:nvSpPr>
          <p:cNvPr id="86" name="TextBox 85"/>
          <p:cNvSpPr txBox="1"/>
          <p:nvPr/>
        </p:nvSpPr>
        <p:spPr>
          <a:xfrm>
            <a:off x="8538052" y="5061627"/>
            <a:ext cx="1490916" cy="63986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87" name="Rectangle 86"/>
          <p:cNvSpPr/>
          <p:nvPr/>
        </p:nvSpPr>
        <p:spPr>
          <a:xfrm>
            <a:off x="10166128" y="5034195"/>
            <a:ext cx="1600644" cy="694732"/>
          </a:xfrm>
          <a:prstGeom prst="rect">
            <a:avLst/>
          </a:prstGeom>
          <a:solidFill>
            <a:srgbClr val="FFFFFF"/>
          </a:solidFill>
          <a:ln w="6350">
            <a:solidFill>
              <a:srgbClr val="D5D5D5"/>
            </a:solidFill>
          </a:ln>
          <a:effectLst/>
        </p:spPr>
        <p:txBody>
          <a:bodyPr rtlCol="0" anchor="ctr" lIns="0" rIns="0" tIns="0" bIns="0"/>
          <a:lstStyle/>
          <a:p>
            <a:pPr algn="ctr"/>
          </a:p>
        </p:txBody>
      </p:sp>
      <p:sp>
        <p:nvSpPr>
          <p:cNvPr id="88" name="TextBox 87"/>
          <p:cNvSpPr txBox="1"/>
          <p:nvPr/>
        </p:nvSpPr>
        <p:spPr>
          <a:xfrm>
            <a:off x="10220992" y="5061627"/>
            <a:ext cx="1490916" cy="63986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89" name="Connector 88"/>
          <p:cNvCxnSpPr/>
          <p:nvPr/>
        </p:nvCxnSpPr>
        <p:spPr>
          <a:xfrm>
            <a:off x="384048" y="5770075"/>
            <a:ext cx="11423873" cy="0"/>
          </a:xfrm>
          <a:prstGeom prst="line">
            <a:avLst/>
          </a:prstGeom>
          <a:ln w="6350">
            <a:solidFill>
              <a:srgbClr val="ECECEC"/>
            </a:solidFill>
          </a:ln>
          <a:effectLst/>
        </p:spPr>
      </p:cxnSp>
      <p:sp>
        <p:nvSpPr>
          <p:cNvPr id="90" name="TextBox 89"/>
          <p:cNvSpPr txBox="1"/>
          <p:nvPr/>
        </p:nvSpPr>
        <p:spPr>
          <a:xfrm>
            <a:off x="452628" y="5820367"/>
            <a:ext cx="503089" cy="67644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4.5.2</a:t>
            </a:r>
          </a:p>
        </p:txBody>
      </p:sp>
      <p:sp>
        <p:nvSpPr>
          <p:cNvPr id="91" name="TextBox 90"/>
          <p:cNvSpPr txBox="1"/>
          <p:nvPr/>
        </p:nvSpPr>
        <p:spPr>
          <a:xfrm>
            <a:off x="1092877" y="5820367"/>
            <a:ext cx="2698228" cy="67644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Piloto de atendimento da Central em lojas do varejo expandido (condicionado a resultados favoráveis)</a:t>
            </a:r>
          </a:p>
        </p:txBody>
      </p:sp>
      <p:sp>
        <p:nvSpPr>
          <p:cNvPr id="92" name="TextBox 91"/>
          <p:cNvSpPr txBox="1"/>
          <p:nvPr/>
        </p:nvSpPr>
        <p:spPr>
          <a:xfrm>
            <a:off x="3928266" y="5820367"/>
            <a:ext cx="1106752" cy="67644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Rômulo Rodrigo</a:t>
            </a:r>
          </a:p>
        </p:txBody>
      </p:sp>
      <p:sp>
        <p:nvSpPr>
          <p:cNvPr id="93" name="TextBox 92"/>
          <p:cNvSpPr txBox="1"/>
          <p:nvPr/>
        </p:nvSpPr>
        <p:spPr>
          <a:xfrm>
            <a:off x="5172178" y="5820367"/>
            <a:ext cx="649431" cy="67644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dez/26</a:t>
            </a:r>
          </a:p>
        </p:txBody>
      </p:sp>
      <p:sp>
        <p:nvSpPr>
          <p:cNvPr id="94" name="Rounded Rectangle 93"/>
          <p:cNvSpPr/>
          <p:nvPr/>
        </p:nvSpPr>
        <p:spPr>
          <a:xfrm>
            <a:off x="5958770" y="5831340"/>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95" name="TextBox 94"/>
          <p:cNvSpPr txBox="1"/>
          <p:nvPr/>
        </p:nvSpPr>
        <p:spPr>
          <a:xfrm>
            <a:off x="5958770" y="5831340"/>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96" name="Rectangle 95"/>
          <p:cNvSpPr/>
          <p:nvPr/>
        </p:nvSpPr>
        <p:spPr>
          <a:xfrm>
            <a:off x="6800247" y="5811223"/>
            <a:ext cx="1600644" cy="694732"/>
          </a:xfrm>
          <a:prstGeom prst="rect">
            <a:avLst/>
          </a:prstGeom>
          <a:solidFill>
            <a:srgbClr val="FFFFFF"/>
          </a:solidFill>
          <a:ln w="6350">
            <a:solidFill>
              <a:srgbClr val="D5D5D5"/>
            </a:solidFill>
          </a:ln>
          <a:effectLst/>
        </p:spPr>
        <p:txBody>
          <a:bodyPr rtlCol="0" anchor="ctr" lIns="0" rIns="0" tIns="0" bIns="0"/>
          <a:lstStyle/>
          <a:p>
            <a:pPr algn="ctr"/>
          </a:p>
        </p:txBody>
      </p:sp>
      <p:sp>
        <p:nvSpPr>
          <p:cNvPr id="97" name="TextBox 96"/>
          <p:cNvSpPr txBox="1"/>
          <p:nvPr/>
        </p:nvSpPr>
        <p:spPr>
          <a:xfrm>
            <a:off x="6855111" y="5838655"/>
            <a:ext cx="1490916" cy="63986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98" name="Rectangle 97"/>
          <p:cNvSpPr/>
          <p:nvPr/>
        </p:nvSpPr>
        <p:spPr>
          <a:xfrm>
            <a:off x="8483188" y="5811223"/>
            <a:ext cx="1600644" cy="694732"/>
          </a:xfrm>
          <a:prstGeom prst="rect">
            <a:avLst/>
          </a:prstGeom>
          <a:solidFill>
            <a:srgbClr val="FFFFFF"/>
          </a:solidFill>
          <a:ln w="6350">
            <a:solidFill>
              <a:srgbClr val="D5D5D5"/>
            </a:solidFill>
          </a:ln>
          <a:effectLst/>
        </p:spPr>
        <p:txBody>
          <a:bodyPr rtlCol="0" anchor="ctr" lIns="0" rIns="0" tIns="0" bIns="0"/>
          <a:lstStyle/>
          <a:p>
            <a:pPr algn="ctr"/>
          </a:p>
        </p:txBody>
      </p:sp>
      <p:sp>
        <p:nvSpPr>
          <p:cNvPr id="99" name="TextBox 98"/>
          <p:cNvSpPr txBox="1"/>
          <p:nvPr/>
        </p:nvSpPr>
        <p:spPr>
          <a:xfrm>
            <a:off x="8538052" y="5838655"/>
            <a:ext cx="1490916" cy="63986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00" name="Rectangle 99"/>
          <p:cNvSpPr/>
          <p:nvPr/>
        </p:nvSpPr>
        <p:spPr>
          <a:xfrm>
            <a:off x="10166128" y="5811223"/>
            <a:ext cx="1600644" cy="694732"/>
          </a:xfrm>
          <a:prstGeom prst="rect">
            <a:avLst/>
          </a:prstGeom>
          <a:solidFill>
            <a:srgbClr val="FFFFFF"/>
          </a:solidFill>
          <a:ln w="6350">
            <a:solidFill>
              <a:srgbClr val="D5D5D5"/>
            </a:solidFill>
          </a:ln>
          <a:effectLst/>
        </p:spPr>
        <p:txBody>
          <a:bodyPr rtlCol="0" anchor="ctr" lIns="0" rIns="0" tIns="0" bIns="0"/>
          <a:lstStyle/>
          <a:p>
            <a:pPr algn="ctr"/>
          </a:p>
        </p:txBody>
      </p:sp>
      <p:sp>
        <p:nvSpPr>
          <p:cNvPr id="101" name="TextBox 100"/>
          <p:cNvSpPr txBox="1"/>
          <p:nvPr/>
        </p:nvSpPr>
        <p:spPr>
          <a:xfrm>
            <a:off x="10220992" y="5838655"/>
            <a:ext cx="1490916" cy="63986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102" name="Connector 101"/>
          <p:cNvCxnSpPr/>
          <p:nvPr/>
        </p:nvCxnSpPr>
        <p:spPr>
          <a:xfrm>
            <a:off x="384048" y="6547104"/>
            <a:ext cx="11423873" cy="0"/>
          </a:xfrm>
          <a:prstGeom prst="line">
            <a:avLst/>
          </a:prstGeom>
          <a:ln w="6350">
            <a:solidFill>
              <a:srgbClr val="D5D5D5"/>
            </a:solidFill>
          </a:ln>
          <a:effectLst/>
        </p:spPr>
      </p:cxnSp>
      <p:cxnSp>
        <p:nvCxnSpPr>
          <p:cNvPr id="103" name="Connector 102"/>
          <p:cNvCxnSpPr/>
          <p:nvPr/>
        </p:nvCxnSpPr>
        <p:spPr>
          <a:xfrm>
            <a:off x="384048" y="6583680"/>
            <a:ext cx="11423873" cy="0"/>
          </a:xfrm>
          <a:prstGeom prst="line">
            <a:avLst/>
          </a:prstGeom>
          <a:ln w="6350">
            <a:solidFill>
              <a:srgbClr val="E2E2E2"/>
            </a:solidFill>
          </a:ln>
          <a:effectLst/>
        </p:spPr>
      </p:cxnSp>
      <p:sp>
        <p:nvSpPr>
          <p:cNvPr id="104" name="TextBox 103"/>
          <p:cNvSpPr txBox="1"/>
          <p:nvPr/>
        </p:nvSpPr>
        <p:spPr>
          <a:xfrm>
            <a:off x="384048" y="6624828"/>
            <a:ext cx="9139098" cy="128016"/>
          </a:xfrm>
          <a:prstGeom prst="rect">
            <a:avLst/>
          </a:prstGeom>
          <a:noFill/>
        </p:spPr>
        <p:txBody>
          <a:bodyPr wrap="square" lIns="0" rIns="0" tIns="0" bIns="0" anchor="t">
            <a:spAutoFit/>
          </a:bodyPr>
          <a:lstStyle/>
          <a:p>
            <a:pPr algn="l">
              <a:lnSpc>
                <a:spcPct val="122000"/>
              </a:lnSpc>
            </a:pPr>
            <a:r>
              <a:rPr sz="650" b="0" i="0">
                <a:solidFill>
                  <a:srgbClr val="757575"/>
                </a:solidFill>
                <a:latin typeface="Arial"/>
              </a:rPr>
              <a:t>Fonte: Painel de Controle Lead-to-Sales — Aceleração Seminovos</a:t>
            </a:r>
          </a:p>
        </p:txBody>
      </p:sp>
      <p:sp>
        <p:nvSpPr>
          <p:cNvPr id="105" name="TextBox 104"/>
          <p:cNvSpPr txBox="1"/>
          <p:nvPr/>
        </p:nvSpPr>
        <p:spPr>
          <a:xfrm>
            <a:off x="10893521" y="6624828"/>
            <a:ext cx="914400" cy="128016"/>
          </a:xfrm>
          <a:prstGeom prst="rect">
            <a:avLst/>
          </a:prstGeom>
          <a:noFill/>
        </p:spPr>
        <p:txBody>
          <a:bodyPr wrap="square" lIns="0" rIns="0" tIns="0" bIns="0" anchor="t">
            <a:spAutoFit/>
          </a:bodyPr>
          <a:lstStyle/>
          <a:p>
            <a:pPr algn="r">
              <a:lnSpc>
                <a:spcPct val="122000"/>
              </a:lnSpc>
            </a:pPr>
            <a:r>
              <a:rPr sz="650" b="0" i="0">
                <a:solidFill>
                  <a:srgbClr val="757575"/>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txBody>
          <a:bodyPr rtlCol="0" anchor="ctr" lIns="0" rIns="0" tIns="0" bIns="0"/>
          <a:lstStyle/>
          <a:p>
            <a:pPr algn="ctr"/>
          </a:p>
        </p:txBody>
      </p:sp>
      <p:sp>
        <p:nvSpPr>
          <p:cNvPr id="3" name="TextBox 2"/>
          <p:cNvSpPr txBox="1"/>
          <p:nvPr/>
        </p:nvSpPr>
        <p:spPr>
          <a:xfrm>
            <a:off x="384048" y="274320"/>
            <a:ext cx="7996711" cy="146304"/>
          </a:xfrm>
          <a:prstGeom prst="rect">
            <a:avLst/>
          </a:prstGeom>
          <a:noFill/>
        </p:spPr>
        <p:txBody>
          <a:bodyPr wrap="square" lIns="0" rIns="0" tIns="0" bIns="0" anchor="t">
            <a:spAutoFit/>
          </a:bodyPr>
          <a:lstStyle/>
          <a:p>
            <a:pPr algn="l">
              <a:lnSpc>
                <a:spcPct val="122000"/>
              </a:lnSpc>
            </a:pPr>
            <a:r>
              <a:rPr sz="750" b="1" i="0">
                <a:solidFill>
                  <a:srgbClr val="1A1A1A"/>
                </a:solidFill>
                <a:latin typeface="Arial"/>
              </a:rPr>
              <a:t>Lead-to-Sales  ·  Painel de Controle</a:t>
            </a:r>
            <a:r>
              <a:rPr sz="750" b="0" i="0">
                <a:solidFill>
                  <a:srgbClr val="757575"/>
                </a:solidFill>
                <a:latin typeface="Arial"/>
              </a:rPr>
              <a:t>   |   Aceleração Seminovos</a:t>
            </a:r>
          </a:p>
        </p:txBody>
      </p:sp>
      <p:sp>
        <p:nvSpPr>
          <p:cNvPr id="4" name="TextBox 3"/>
          <p:cNvSpPr txBox="1"/>
          <p:nvPr/>
        </p:nvSpPr>
        <p:spPr>
          <a:xfrm>
            <a:off x="9796241" y="274320"/>
            <a:ext cx="2011680" cy="146304"/>
          </a:xfrm>
          <a:prstGeom prst="rect">
            <a:avLst/>
          </a:prstGeom>
          <a:noFill/>
        </p:spPr>
        <p:txBody>
          <a:bodyPr wrap="square" lIns="0" rIns="0" tIns="0" bIns="0" anchor="t">
            <a:spAutoFit/>
          </a:bodyPr>
          <a:lstStyle/>
          <a:p>
            <a:pPr algn="r">
              <a:lnSpc>
                <a:spcPct val="122000"/>
              </a:lnSpc>
            </a:pPr>
            <a:r>
              <a:rPr sz="750" b="0" i="0">
                <a:solidFill>
                  <a:srgbClr val="757575"/>
                </a:solidFill>
                <a:latin typeface="Arial"/>
              </a:rPr>
              <a:t>Frente 5 de 6</a:t>
            </a:r>
          </a:p>
        </p:txBody>
      </p:sp>
      <p:sp>
        <p:nvSpPr>
          <p:cNvPr id="5" name="Rectangle 4"/>
          <p:cNvSpPr/>
          <p:nvPr/>
        </p:nvSpPr>
        <p:spPr>
          <a:xfrm>
            <a:off x="384048" y="512064"/>
            <a:ext cx="11423873" cy="876046"/>
          </a:xfrm>
          <a:prstGeom prst="rect">
            <a:avLst/>
          </a:prstGeom>
          <a:solidFill>
            <a:srgbClr val="F7F7F7"/>
          </a:solidFill>
          <a:ln w="9525">
            <a:solidFill>
              <a:srgbClr val="E2E2E2"/>
            </a:solidFill>
          </a:ln>
          <a:effectLst/>
        </p:spPr>
        <p:txBody>
          <a:bodyPr rtlCol="0" anchor="ctr" lIns="0" rIns="0" tIns="0" bIns="0"/>
          <a:lstStyle/>
          <a:p>
            <a:pPr algn="ctr"/>
          </a:p>
        </p:txBody>
      </p:sp>
      <p:sp>
        <p:nvSpPr>
          <p:cNvPr id="6" name="Rectangle 5"/>
          <p:cNvSpPr/>
          <p:nvPr/>
        </p:nvSpPr>
        <p:spPr>
          <a:xfrm>
            <a:off x="384048" y="512064"/>
            <a:ext cx="68580" cy="876046"/>
          </a:xfrm>
          <a:prstGeom prst="rect">
            <a:avLst/>
          </a:prstGeom>
          <a:solidFill>
            <a:srgbClr val="78DE1F"/>
          </a:solidFill>
          <a:ln>
            <a:noFill/>
          </a:ln>
          <a:effectLst/>
        </p:spPr>
        <p:txBody>
          <a:bodyPr rtlCol="0" anchor="ctr" lIns="0" rIns="0" tIns="0" bIns="0"/>
          <a:lstStyle/>
          <a:p>
            <a:pPr algn="ctr"/>
          </a:p>
        </p:txBody>
      </p:sp>
      <p:sp>
        <p:nvSpPr>
          <p:cNvPr id="7" name="Oval 6"/>
          <p:cNvSpPr/>
          <p:nvPr/>
        </p:nvSpPr>
        <p:spPr>
          <a:xfrm>
            <a:off x="690372" y="658368"/>
            <a:ext cx="256032" cy="256032"/>
          </a:xfrm>
          <a:prstGeom prst="ellipse">
            <a:avLst/>
          </a:prstGeom>
          <a:solidFill>
            <a:srgbClr val="78DE1F"/>
          </a:solidFill>
          <a:ln>
            <a:noFill/>
          </a:ln>
          <a:effectLst/>
        </p:spPr>
        <p:txBody>
          <a:bodyPr rtlCol="0" anchor="ctr" lIns="0" rIns="0" tIns="0" bIns="0"/>
          <a:lstStyle/>
          <a:p>
            <a:pPr algn="ctr"/>
          </a:p>
        </p:txBody>
      </p:sp>
      <p:sp>
        <p:nvSpPr>
          <p:cNvPr id="8" name="TextBox 7"/>
          <p:cNvSpPr txBox="1"/>
          <p:nvPr/>
        </p:nvSpPr>
        <p:spPr>
          <a:xfrm>
            <a:off x="690372" y="699516"/>
            <a:ext cx="256032" cy="182880"/>
          </a:xfrm>
          <a:prstGeom prst="rect">
            <a:avLst/>
          </a:prstGeom>
          <a:noFill/>
        </p:spPr>
        <p:txBody>
          <a:bodyPr wrap="square" lIns="0" rIns="0" tIns="0" bIns="0" anchor="t">
            <a:spAutoFit/>
          </a:bodyPr>
          <a:lstStyle/>
          <a:p>
            <a:pPr algn="ctr">
              <a:lnSpc>
                <a:spcPct val="122000"/>
              </a:lnSpc>
            </a:pPr>
            <a:r>
              <a:rPr sz="1100" b="1" i="0">
                <a:solidFill>
                  <a:srgbClr val="1A1A1A"/>
                </a:solidFill>
                <a:latin typeface="Arial"/>
              </a:rPr>
              <a:t>5</a:t>
            </a:r>
          </a:p>
        </p:txBody>
      </p:sp>
      <p:sp>
        <p:nvSpPr>
          <p:cNvPr id="9" name="TextBox 8"/>
          <p:cNvSpPr txBox="1"/>
          <p:nvPr/>
        </p:nvSpPr>
        <p:spPr>
          <a:xfrm>
            <a:off x="1074420" y="658368"/>
            <a:ext cx="6289517" cy="193675"/>
          </a:xfrm>
          <a:prstGeom prst="rect">
            <a:avLst/>
          </a:prstGeom>
          <a:noFill/>
        </p:spPr>
        <p:txBody>
          <a:bodyPr wrap="square" lIns="0" rIns="0" tIns="0" bIns="0" anchor="t">
            <a:spAutoFit/>
          </a:bodyPr>
          <a:lstStyle/>
          <a:p>
            <a:pPr algn="l">
              <a:lnSpc>
                <a:spcPct val="122000"/>
              </a:lnSpc>
            </a:pPr>
            <a:r>
              <a:rPr sz="1250" b="1" i="0">
                <a:solidFill>
                  <a:srgbClr val="1A1A1A"/>
                </a:solidFill>
                <a:latin typeface="Arial"/>
              </a:rPr>
              <a:t>Atendimento em loja</a:t>
            </a:r>
          </a:p>
        </p:txBody>
      </p:sp>
      <p:sp>
        <p:nvSpPr>
          <p:cNvPr id="10" name="TextBox 9"/>
          <p:cNvSpPr txBox="1"/>
          <p:nvPr/>
        </p:nvSpPr>
        <p:spPr>
          <a:xfrm>
            <a:off x="1074420" y="978408"/>
            <a:ext cx="6289517" cy="263397"/>
          </a:xfrm>
          <a:prstGeom prst="rect">
            <a:avLst/>
          </a:prstGeom>
          <a:noFill/>
        </p:spPr>
        <p:txBody>
          <a:bodyPr wrap="square" lIns="0" rIns="0" tIns="0" bIns="0" anchor="t">
            <a:spAutoFit/>
          </a:bodyPr>
          <a:lstStyle/>
          <a:p>
            <a:pPr algn="l">
              <a:lnSpc>
                <a:spcPct val="122000"/>
              </a:lnSpc>
            </a:pPr>
            <a:r>
              <a:rPr sz="850" b="0" i="0">
                <a:solidFill>
                  <a:srgbClr val="6B6B6B"/>
                </a:solidFill>
                <a:latin typeface="Arial"/>
              </a:rPr>
              <a:t>Melhorar a experiência dos clientes nos atendimentos realizados pelos CVs e aumentar a conversão em venda, via melhores práticas de atendimento, treinamento e gestão de performance com visibilidade completa do funil.</a:t>
            </a:r>
          </a:p>
        </p:txBody>
      </p:sp>
      <p:sp>
        <p:nvSpPr>
          <p:cNvPr id="11" name="TextBox 10"/>
          <p:cNvSpPr txBox="1"/>
          <p:nvPr/>
        </p:nvSpPr>
        <p:spPr>
          <a:xfrm>
            <a:off x="7638257" y="658368"/>
            <a:ext cx="1572768" cy="100711"/>
          </a:xfrm>
          <a:prstGeom prst="rect">
            <a:avLst/>
          </a:prstGeom>
          <a:noFill/>
        </p:spPr>
        <p:txBody>
          <a:bodyPr wrap="square" lIns="0" rIns="0" tIns="0" bIns="0" anchor="t">
            <a:spAutoFit/>
          </a:bodyPr>
          <a:lstStyle/>
          <a:p>
            <a:pPr algn="l">
              <a:lnSpc>
                <a:spcPct val="122000"/>
              </a:lnSpc>
            </a:pPr>
            <a:r>
              <a:rPr sz="650" b="1" i="0">
                <a:solidFill>
                  <a:srgbClr val="757575"/>
                </a:solidFill>
                <a:latin typeface="Arial"/>
              </a:rPr>
              <a:t>LÍDER(ES)</a:t>
            </a:r>
          </a:p>
        </p:txBody>
      </p:sp>
      <p:sp>
        <p:nvSpPr>
          <p:cNvPr id="12" name="TextBox 11"/>
          <p:cNvSpPr txBox="1"/>
          <p:nvPr/>
        </p:nvSpPr>
        <p:spPr>
          <a:xfrm>
            <a:off x="7638257" y="804799"/>
            <a:ext cx="1572768" cy="123951"/>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Eloah Aguiar</a:t>
            </a:r>
          </a:p>
        </p:txBody>
      </p:sp>
      <p:sp>
        <p:nvSpPr>
          <p:cNvPr id="13" name="TextBox 12"/>
          <p:cNvSpPr txBox="1"/>
          <p:nvPr/>
        </p:nvSpPr>
        <p:spPr>
          <a:xfrm>
            <a:off x="9412193" y="658368"/>
            <a:ext cx="2212848" cy="100711"/>
          </a:xfrm>
          <a:prstGeom prst="rect">
            <a:avLst/>
          </a:prstGeom>
          <a:noFill/>
        </p:spPr>
        <p:txBody>
          <a:bodyPr wrap="square" lIns="0" rIns="0" tIns="0" bIns="0" anchor="t">
            <a:spAutoFit/>
          </a:bodyPr>
          <a:lstStyle/>
          <a:p>
            <a:pPr algn="l">
              <a:lnSpc>
                <a:spcPct val="122000"/>
              </a:lnSpc>
            </a:pPr>
            <a:r>
              <a:rPr sz="650" b="1" i="0">
                <a:solidFill>
                  <a:srgbClr val="757575"/>
                </a:solidFill>
                <a:latin typeface="Arial"/>
              </a:rPr>
              <a:t>TIME DE TRABALHO</a:t>
            </a:r>
          </a:p>
        </p:txBody>
      </p:sp>
      <p:sp>
        <p:nvSpPr>
          <p:cNvPr id="14" name="TextBox 13"/>
          <p:cNvSpPr txBox="1"/>
          <p:nvPr/>
        </p:nvSpPr>
        <p:spPr>
          <a:xfrm>
            <a:off x="9412193" y="804799"/>
            <a:ext cx="2212848" cy="123951"/>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Pablo Chaves e Isadora Savaget</a:t>
            </a:r>
          </a:p>
        </p:txBody>
      </p:sp>
      <p:sp>
        <p:nvSpPr>
          <p:cNvPr id="15" name="TextBox 14"/>
          <p:cNvSpPr txBox="1"/>
          <p:nvPr/>
        </p:nvSpPr>
        <p:spPr>
          <a:xfrm>
            <a:off x="384048" y="1570990"/>
            <a:ext cx="2743200" cy="155448"/>
          </a:xfrm>
          <a:prstGeom prst="rect">
            <a:avLst/>
          </a:prstGeom>
          <a:noFill/>
        </p:spPr>
        <p:txBody>
          <a:bodyPr wrap="square" lIns="0" rIns="0" tIns="0" bIns="0" anchor="t">
            <a:spAutoFit/>
          </a:bodyPr>
          <a:lstStyle/>
          <a:p>
            <a:pPr algn="l">
              <a:lnSpc>
                <a:spcPct val="122000"/>
              </a:lnSpc>
            </a:pPr>
            <a:r>
              <a:rPr sz="950" b="1" i="0">
                <a:solidFill>
                  <a:srgbClr val="1A1A1A"/>
                </a:solidFill>
                <a:latin typeface="Arial"/>
              </a:rPr>
              <a:t>Milestones</a:t>
            </a:r>
          </a:p>
        </p:txBody>
      </p:sp>
      <p:sp>
        <p:nvSpPr>
          <p:cNvPr id="16" name="TextBox 15"/>
          <p:cNvSpPr txBox="1"/>
          <p:nvPr/>
        </p:nvSpPr>
        <p:spPr>
          <a:xfrm>
            <a:off x="452628" y="1804162"/>
            <a:ext cx="503089"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a:t>
            </a:r>
          </a:p>
        </p:txBody>
      </p:sp>
      <p:sp>
        <p:nvSpPr>
          <p:cNvPr id="17" name="TextBox 16"/>
          <p:cNvSpPr txBox="1"/>
          <p:nvPr/>
        </p:nvSpPr>
        <p:spPr>
          <a:xfrm>
            <a:off x="1092877" y="1804162"/>
            <a:ext cx="2698228"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Milestone</a:t>
            </a:r>
          </a:p>
        </p:txBody>
      </p:sp>
      <p:sp>
        <p:nvSpPr>
          <p:cNvPr id="18" name="TextBox 17"/>
          <p:cNvSpPr txBox="1"/>
          <p:nvPr/>
        </p:nvSpPr>
        <p:spPr>
          <a:xfrm>
            <a:off x="3928266" y="1804162"/>
            <a:ext cx="1106752"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Responsável</a:t>
            </a:r>
          </a:p>
        </p:txBody>
      </p:sp>
      <p:sp>
        <p:nvSpPr>
          <p:cNvPr id="19" name="TextBox 18"/>
          <p:cNvSpPr txBox="1"/>
          <p:nvPr/>
        </p:nvSpPr>
        <p:spPr>
          <a:xfrm>
            <a:off x="5172178" y="1804162"/>
            <a:ext cx="649431"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Prazo</a:t>
            </a:r>
          </a:p>
        </p:txBody>
      </p:sp>
      <p:sp>
        <p:nvSpPr>
          <p:cNvPr id="20" name="TextBox 19"/>
          <p:cNvSpPr txBox="1"/>
          <p:nvPr/>
        </p:nvSpPr>
        <p:spPr>
          <a:xfrm>
            <a:off x="5958770" y="1804162"/>
            <a:ext cx="731749" cy="123951"/>
          </a:xfrm>
          <a:prstGeom prst="rect">
            <a:avLst/>
          </a:prstGeom>
          <a:noFill/>
        </p:spPr>
        <p:txBody>
          <a:bodyPr wrap="square" lIns="0" rIns="0" tIns="0" bIns="0" anchor="t">
            <a:spAutoFit/>
          </a:bodyPr>
          <a:lstStyle/>
          <a:p>
            <a:pPr algn="ctr">
              <a:lnSpc>
                <a:spcPct val="122000"/>
              </a:lnSpc>
            </a:pPr>
            <a:r>
              <a:rPr sz="800" b="1" i="0">
                <a:solidFill>
                  <a:srgbClr val="757575"/>
                </a:solidFill>
                <a:latin typeface="Arial"/>
              </a:rPr>
              <a:t>Status</a:t>
            </a:r>
          </a:p>
        </p:txBody>
      </p:sp>
      <p:sp>
        <p:nvSpPr>
          <p:cNvPr id="21" name="TextBox 20"/>
          <p:cNvSpPr txBox="1"/>
          <p:nvPr/>
        </p:nvSpPr>
        <p:spPr>
          <a:xfrm>
            <a:off x="6827679" y="1804162"/>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Progresso recente</a:t>
            </a:r>
          </a:p>
        </p:txBody>
      </p:sp>
      <p:sp>
        <p:nvSpPr>
          <p:cNvPr id="22" name="TextBox 21"/>
          <p:cNvSpPr txBox="1"/>
          <p:nvPr/>
        </p:nvSpPr>
        <p:spPr>
          <a:xfrm>
            <a:off x="8510620" y="1804162"/>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Próximos passos</a:t>
            </a:r>
          </a:p>
        </p:txBody>
      </p:sp>
      <p:sp>
        <p:nvSpPr>
          <p:cNvPr id="23" name="TextBox 22"/>
          <p:cNvSpPr txBox="1"/>
          <p:nvPr/>
        </p:nvSpPr>
        <p:spPr>
          <a:xfrm>
            <a:off x="10193560" y="1804162"/>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Pontos a escalar</a:t>
            </a:r>
          </a:p>
        </p:txBody>
      </p:sp>
      <p:cxnSp>
        <p:nvCxnSpPr>
          <p:cNvPr id="24" name="Connector 23"/>
          <p:cNvCxnSpPr/>
          <p:nvPr/>
        </p:nvCxnSpPr>
        <p:spPr>
          <a:xfrm>
            <a:off x="384048" y="2033270"/>
            <a:ext cx="11423873" cy="0"/>
          </a:xfrm>
          <a:prstGeom prst="line">
            <a:avLst/>
          </a:prstGeom>
          <a:ln w="12700">
            <a:solidFill>
              <a:srgbClr val="1A1A1A"/>
            </a:solidFill>
          </a:ln>
          <a:effectLst/>
        </p:spPr>
      </p:cxnSp>
      <p:sp>
        <p:nvSpPr>
          <p:cNvPr id="25" name="TextBox 24"/>
          <p:cNvSpPr txBox="1"/>
          <p:nvPr/>
        </p:nvSpPr>
        <p:spPr>
          <a:xfrm>
            <a:off x="452628" y="2083562"/>
            <a:ext cx="503089" cy="1271016"/>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5.1.1</a:t>
            </a:r>
          </a:p>
        </p:txBody>
      </p:sp>
      <p:sp>
        <p:nvSpPr>
          <p:cNvPr id="26" name="TextBox 25"/>
          <p:cNvSpPr txBox="1"/>
          <p:nvPr/>
        </p:nvSpPr>
        <p:spPr>
          <a:xfrm>
            <a:off x="1092877" y="2083562"/>
            <a:ext cx="2698228" cy="1271016"/>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Solução de atendimento via WhatsApp Business integrado ao Slack expandida para todas as lojas do varejo, em ondas mensais (1 loja jul., 28 ago., 80 set., 156 out., 235 nov., 256 dez.)</a:t>
            </a:r>
          </a:p>
        </p:txBody>
      </p:sp>
      <p:sp>
        <p:nvSpPr>
          <p:cNvPr id="27" name="TextBox 26"/>
          <p:cNvSpPr txBox="1"/>
          <p:nvPr/>
        </p:nvSpPr>
        <p:spPr>
          <a:xfrm>
            <a:off x="3928266" y="2083562"/>
            <a:ext cx="1106752" cy="1271016"/>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Isadora Savaget e Denys Damm</a:t>
            </a:r>
          </a:p>
        </p:txBody>
      </p:sp>
      <p:sp>
        <p:nvSpPr>
          <p:cNvPr id="28" name="TextBox 27"/>
          <p:cNvSpPr txBox="1"/>
          <p:nvPr/>
        </p:nvSpPr>
        <p:spPr>
          <a:xfrm>
            <a:off x="5172178" y="2083562"/>
            <a:ext cx="649431" cy="1271016"/>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dez/26 (TBC)</a:t>
            </a:r>
          </a:p>
        </p:txBody>
      </p:sp>
      <p:sp>
        <p:nvSpPr>
          <p:cNvPr id="29" name="Rounded Rectangle 28"/>
          <p:cNvSpPr/>
          <p:nvPr/>
        </p:nvSpPr>
        <p:spPr>
          <a:xfrm>
            <a:off x="5958770" y="2094534"/>
            <a:ext cx="731749" cy="169164"/>
          </a:xfrm>
          <a:prstGeom prst="roundRect">
            <a:avLst>
              <a:gd name="adj" fmla="val 50000"/>
            </a:avLst>
          </a:prstGeom>
          <a:solidFill>
            <a:srgbClr val="FFF8E1"/>
          </a:solidFill>
          <a:ln>
            <a:noFill/>
          </a:ln>
          <a:effectLst/>
        </p:spPr>
        <p:txBody>
          <a:bodyPr rtlCol="0" anchor="ctr" lIns="0" rIns="0" tIns="0" bIns="0"/>
          <a:lstStyle/>
          <a:p>
            <a:pPr algn="ctr"/>
          </a:p>
        </p:txBody>
      </p:sp>
      <p:sp>
        <p:nvSpPr>
          <p:cNvPr id="30" name="TextBox 29"/>
          <p:cNvSpPr txBox="1"/>
          <p:nvPr/>
        </p:nvSpPr>
        <p:spPr>
          <a:xfrm>
            <a:off x="5958770" y="2094534"/>
            <a:ext cx="731749" cy="169164"/>
          </a:xfrm>
          <a:prstGeom prst="rect">
            <a:avLst/>
          </a:prstGeom>
          <a:noFill/>
        </p:spPr>
        <p:txBody>
          <a:bodyPr wrap="square" lIns="0" rIns="0" tIns="0" bIns="0" anchor="ctr">
            <a:spAutoFit/>
          </a:bodyPr>
          <a:lstStyle/>
          <a:p>
            <a:pPr algn="ctr">
              <a:lnSpc>
                <a:spcPct val="122000"/>
              </a:lnSpc>
            </a:pPr>
            <a:r>
              <a:rPr sz="750" b="1" i="0">
                <a:solidFill>
                  <a:srgbClr val="6B5700"/>
                </a:solidFill>
                <a:latin typeface="Arial"/>
              </a:rPr>
              <a:t>Em progresso</a:t>
            </a:r>
          </a:p>
        </p:txBody>
      </p:sp>
      <p:sp>
        <p:nvSpPr>
          <p:cNvPr id="31" name="Rectangle 30"/>
          <p:cNvSpPr/>
          <p:nvPr/>
        </p:nvSpPr>
        <p:spPr>
          <a:xfrm>
            <a:off x="6800247" y="2074418"/>
            <a:ext cx="1600644" cy="1289304"/>
          </a:xfrm>
          <a:prstGeom prst="rect">
            <a:avLst/>
          </a:prstGeom>
          <a:solidFill>
            <a:srgbClr val="FFFFFF"/>
          </a:solidFill>
          <a:ln w="6350">
            <a:solidFill>
              <a:srgbClr val="D5D5D5"/>
            </a:solidFill>
          </a:ln>
          <a:effectLst/>
        </p:spPr>
        <p:txBody>
          <a:bodyPr rtlCol="0" anchor="ctr" lIns="0" rIns="0" tIns="0" bIns="0"/>
          <a:lstStyle/>
          <a:p>
            <a:pPr algn="ctr"/>
          </a:p>
        </p:txBody>
      </p:sp>
      <p:sp>
        <p:nvSpPr>
          <p:cNvPr id="32" name="TextBox 31"/>
          <p:cNvSpPr txBox="1"/>
          <p:nvPr/>
        </p:nvSpPr>
        <p:spPr>
          <a:xfrm>
            <a:off x="6855111" y="2101850"/>
            <a:ext cx="1490916" cy="1234439"/>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33" name="Rectangle 32"/>
          <p:cNvSpPr/>
          <p:nvPr/>
        </p:nvSpPr>
        <p:spPr>
          <a:xfrm>
            <a:off x="8483188" y="2074418"/>
            <a:ext cx="1600644" cy="1289304"/>
          </a:xfrm>
          <a:prstGeom prst="rect">
            <a:avLst/>
          </a:prstGeom>
          <a:solidFill>
            <a:srgbClr val="FFFFFF"/>
          </a:solidFill>
          <a:ln w="6350">
            <a:solidFill>
              <a:srgbClr val="D5D5D5"/>
            </a:solidFill>
          </a:ln>
          <a:effectLst/>
        </p:spPr>
        <p:txBody>
          <a:bodyPr rtlCol="0" anchor="ctr" lIns="0" rIns="0" tIns="0" bIns="0"/>
          <a:lstStyle/>
          <a:p>
            <a:pPr algn="ctr"/>
          </a:p>
        </p:txBody>
      </p:sp>
      <p:sp>
        <p:nvSpPr>
          <p:cNvPr id="34" name="TextBox 33"/>
          <p:cNvSpPr txBox="1"/>
          <p:nvPr/>
        </p:nvSpPr>
        <p:spPr>
          <a:xfrm>
            <a:off x="8538052" y="2101850"/>
            <a:ext cx="1490916" cy="1234439"/>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35" name="Rectangle 34"/>
          <p:cNvSpPr/>
          <p:nvPr/>
        </p:nvSpPr>
        <p:spPr>
          <a:xfrm>
            <a:off x="10166128" y="2074418"/>
            <a:ext cx="1600644" cy="1289304"/>
          </a:xfrm>
          <a:prstGeom prst="rect">
            <a:avLst/>
          </a:prstGeom>
          <a:solidFill>
            <a:srgbClr val="FFFFFF"/>
          </a:solidFill>
          <a:ln w="6350">
            <a:solidFill>
              <a:srgbClr val="D5D5D5"/>
            </a:solidFill>
          </a:ln>
          <a:effectLst/>
        </p:spPr>
        <p:txBody>
          <a:bodyPr rtlCol="0" anchor="ctr" lIns="0" rIns="0" tIns="0" bIns="0"/>
          <a:lstStyle/>
          <a:p>
            <a:pPr algn="ctr"/>
          </a:p>
        </p:txBody>
      </p:sp>
      <p:sp>
        <p:nvSpPr>
          <p:cNvPr id="36" name="TextBox 35"/>
          <p:cNvSpPr txBox="1"/>
          <p:nvPr/>
        </p:nvSpPr>
        <p:spPr>
          <a:xfrm>
            <a:off x="10220992" y="2101850"/>
            <a:ext cx="1490916" cy="1234439"/>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37" name="Connector 36"/>
          <p:cNvCxnSpPr/>
          <p:nvPr/>
        </p:nvCxnSpPr>
        <p:spPr>
          <a:xfrm>
            <a:off x="384048" y="3404870"/>
            <a:ext cx="11423873" cy="0"/>
          </a:xfrm>
          <a:prstGeom prst="line">
            <a:avLst/>
          </a:prstGeom>
          <a:ln w="6350">
            <a:solidFill>
              <a:srgbClr val="ECECEC"/>
            </a:solidFill>
          </a:ln>
          <a:effectLst/>
        </p:spPr>
      </p:cxnSp>
      <p:sp>
        <p:nvSpPr>
          <p:cNvPr id="38" name="TextBox 37"/>
          <p:cNvSpPr txBox="1"/>
          <p:nvPr/>
        </p:nvSpPr>
        <p:spPr>
          <a:xfrm>
            <a:off x="452628" y="3455162"/>
            <a:ext cx="503089" cy="1271016"/>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5.2.1</a:t>
            </a:r>
          </a:p>
        </p:txBody>
      </p:sp>
      <p:sp>
        <p:nvSpPr>
          <p:cNvPr id="39" name="TextBox 38"/>
          <p:cNvSpPr txBox="1"/>
          <p:nvPr/>
        </p:nvSpPr>
        <p:spPr>
          <a:xfrm>
            <a:off x="1092877" y="3455162"/>
            <a:ext cx="2698228" cy="1271016"/>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Inteligência de gestão da performance dos CVs implementada, combinando indicadores do funil e dados qualitativos via Alethe.IA</a:t>
            </a:r>
          </a:p>
        </p:txBody>
      </p:sp>
      <p:sp>
        <p:nvSpPr>
          <p:cNvPr id="40" name="TextBox 39"/>
          <p:cNvSpPr txBox="1"/>
          <p:nvPr/>
        </p:nvSpPr>
        <p:spPr>
          <a:xfrm>
            <a:off x="3928266" y="3455162"/>
            <a:ext cx="1106752" cy="1271016"/>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Isadora Savaget</a:t>
            </a:r>
          </a:p>
        </p:txBody>
      </p:sp>
      <p:sp>
        <p:nvSpPr>
          <p:cNvPr id="41" name="TextBox 40"/>
          <p:cNvSpPr txBox="1"/>
          <p:nvPr/>
        </p:nvSpPr>
        <p:spPr>
          <a:xfrm>
            <a:off x="5172178" y="3455162"/>
            <a:ext cx="649431" cy="1271016"/>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set/26</a:t>
            </a:r>
          </a:p>
        </p:txBody>
      </p:sp>
      <p:sp>
        <p:nvSpPr>
          <p:cNvPr id="42" name="Rounded Rectangle 41"/>
          <p:cNvSpPr/>
          <p:nvPr/>
        </p:nvSpPr>
        <p:spPr>
          <a:xfrm>
            <a:off x="5958770" y="3466134"/>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43" name="TextBox 42"/>
          <p:cNvSpPr txBox="1"/>
          <p:nvPr/>
        </p:nvSpPr>
        <p:spPr>
          <a:xfrm>
            <a:off x="5958770" y="3466134"/>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44" name="Rectangle 43"/>
          <p:cNvSpPr/>
          <p:nvPr/>
        </p:nvSpPr>
        <p:spPr>
          <a:xfrm>
            <a:off x="6800247" y="3446018"/>
            <a:ext cx="1600644" cy="1289304"/>
          </a:xfrm>
          <a:prstGeom prst="rect">
            <a:avLst/>
          </a:prstGeom>
          <a:solidFill>
            <a:srgbClr val="FFFFFF"/>
          </a:solidFill>
          <a:ln w="6350">
            <a:solidFill>
              <a:srgbClr val="D5D5D5"/>
            </a:solidFill>
          </a:ln>
          <a:effectLst/>
        </p:spPr>
        <p:txBody>
          <a:bodyPr rtlCol="0" anchor="ctr" lIns="0" rIns="0" tIns="0" bIns="0"/>
          <a:lstStyle/>
          <a:p>
            <a:pPr algn="ctr"/>
          </a:p>
        </p:txBody>
      </p:sp>
      <p:sp>
        <p:nvSpPr>
          <p:cNvPr id="45" name="TextBox 44"/>
          <p:cNvSpPr txBox="1"/>
          <p:nvPr/>
        </p:nvSpPr>
        <p:spPr>
          <a:xfrm>
            <a:off x="6855111" y="3473450"/>
            <a:ext cx="1490916" cy="1234439"/>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46" name="Rectangle 45"/>
          <p:cNvSpPr/>
          <p:nvPr/>
        </p:nvSpPr>
        <p:spPr>
          <a:xfrm>
            <a:off x="8483188" y="3446018"/>
            <a:ext cx="1600644" cy="1289304"/>
          </a:xfrm>
          <a:prstGeom prst="rect">
            <a:avLst/>
          </a:prstGeom>
          <a:solidFill>
            <a:srgbClr val="FFFFFF"/>
          </a:solidFill>
          <a:ln w="6350">
            <a:solidFill>
              <a:srgbClr val="D5D5D5"/>
            </a:solidFill>
          </a:ln>
          <a:effectLst/>
        </p:spPr>
        <p:txBody>
          <a:bodyPr rtlCol="0" anchor="ctr" lIns="0" rIns="0" tIns="0" bIns="0"/>
          <a:lstStyle/>
          <a:p>
            <a:pPr algn="ctr"/>
          </a:p>
        </p:txBody>
      </p:sp>
      <p:sp>
        <p:nvSpPr>
          <p:cNvPr id="47" name="TextBox 46"/>
          <p:cNvSpPr txBox="1"/>
          <p:nvPr/>
        </p:nvSpPr>
        <p:spPr>
          <a:xfrm>
            <a:off x="8538052" y="3473450"/>
            <a:ext cx="1490916" cy="1234439"/>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48" name="Rectangle 47"/>
          <p:cNvSpPr/>
          <p:nvPr/>
        </p:nvSpPr>
        <p:spPr>
          <a:xfrm>
            <a:off x="10166128" y="3446018"/>
            <a:ext cx="1600644" cy="1289304"/>
          </a:xfrm>
          <a:prstGeom prst="rect">
            <a:avLst/>
          </a:prstGeom>
          <a:solidFill>
            <a:srgbClr val="FFFFFF"/>
          </a:solidFill>
          <a:ln w="6350">
            <a:solidFill>
              <a:srgbClr val="D5D5D5"/>
            </a:solidFill>
          </a:ln>
          <a:effectLst/>
        </p:spPr>
        <p:txBody>
          <a:bodyPr rtlCol="0" anchor="ctr" lIns="0" rIns="0" tIns="0" bIns="0"/>
          <a:lstStyle/>
          <a:p>
            <a:pPr algn="ctr"/>
          </a:p>
        </p:txBody>
      </p:sp>
      <p:sp>
        <p:nvSpPr>
          <p:cNvPr id="49" name="TextBox 48"/>
          <p:cNvSpPr txBox="1"/>
          <p:nvPr/>
        </p:nvSpPr>
        <p:spPr>
          <a:xfrm>
            <a:off x="10220992" y="3473450"/>
            <a:ext cx="1490916" cy="1234439"/>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50" name="Connector 49"/>
          <p:cNvCxnSpPr/>
          <p:nvPr/>
        </p:nvCxnSpPr>
        <p:spPr>
          <a:xfrm>
            <a:off x="384048" y="4776470"/>
            <a:ext cx="11423873" cy="0"/>
          </a:xfrm>
          <a:prstGeom prst="line">
            <a:avLst/>
          </a:prstGeom>
          <a:ln w="6350">
            <a:solidFill>
              <a:srgbClr val="ECECEC"/>
            </a:solidFill>
          </a:ln>
          <a:effectLst/>
        </p:spPr>
      </p:cxnSp>
      <p:sp>
        <p:nvSpPr>
          <p:cNvPr id="51" name="TextBox 50"/>
          <p:cNvSpPr txBox="1"/>
          <p:nvPr/>
        </p:nvSpPr>
        <p:spPr>
          <a:xfrm>
            <a:off x="452628" y="4826762"/>
            <a:ext cx="503089" cy="1271016"/>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5.3.1</a:t>
            </a:r>
          </a:p>
        </p:txBody>
      </p:sp>
      <p:sp>
        <p:nvSpPr>
          <p:cNvPr id="52" name="TextBox 51"/>
          <p:cNvSpPr txBox="1"/>
          <p:nvPr/>
        </p:nvSpPr>
        <p:spPr>
          <a:xfrm>
            <a:off x="1092877" y="4826762"/>
            <a:ext cx="2698228" cy="1271016"/>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Ritos e rotina de gestão das equipes de loja revisados e implantados</a:t>
            </a:r>
          </a:p>
        </p:txBody>
      </p:sp>
      <p:sp>
        <p:nvSpPr>
          <p:cNvPr id="53" name="TextBox 52"/>
          <p:cNvSpPr txBox="1"/>
          <p:nvPr/>
        </p:nvSpPr>
        <p:spPr>
          <a:xfrm>
            <a:off x="3928266" y="4826762"/>
            <a:ext cx="1106752" cy="1271016"/>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Pablo Chaves</a:t>
            </a:r>
          </a:p>
        </p:txBody>
      </p:sp>
      <p:sp>
        <p:nvSpPr>
          <p:cNvPr id="54" name="TextBox 53"/>
          <p:cNvSpPr txBox="1"/>
          <p:nvPr/>
        </p:nvSpPr>
        <p:spPr>
          <a:xfrm>
            <a:off x="5172178" y="4826762"/>
            <a:ext cx="649431" cy="1271016"/>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set/26</a:t>
            </a:r>
          </a:p>
        </p:txBody>
      </p:sp>
      <p:sp>
        <p:nvSpPr>
          <p:cNvPr id="55" name="Rounded Rectangle 54"/>
          <p:cNvSpPr/>
          <p:nvPr/>
        </p:nvSpPr>
        <p:spPr>
          <a:xfrm>
            <a:off x="5958770" y="4837734"/>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56" name="TextBox 55"/>
          <p:cNvSpPr txBox="1"/>
          <p:nvPr/>
        </p:nvSpPr>
        <p:spPr>
          <a:xfrm>
            <a:off x="5958770" y="4837734"/>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57" name="Rectangle 56"/>
          <p:cNvSpPr/>
          <p:nvPr/>
        </p:nvSpPr>
        <p:spPr>
          <a:xfrm>
            <a:off x="6800247" y="4817618"/>
            <a:ext cx="1600644" cy="1289304"/>
          </a:xfrm>
          <a:prstGeom prst="rect">
            <a:avLst/>
          </a:prstGeom>
          <a:solidFill>
            <a:srgbClr val="FFFFFF"/>
          </a:solidFill>
          <a:ln w="6350">
            <a:solidFill>
              <a:srgbClr val="D5D5D5"/>
            </a:solidFill>
          </a:ln>
          <a:effectLst/>
        </p:spPr>
        <p:txBody>
          <a:bodyPr rtlCol="0" anchor="ctr" lIns="0" rIns="0" tIns="0" bIns="0"/>
          <a:lstStyle/>
          <a:p>
            <a:pPr algn="ctr"/>
          </a:p>
        </p:txBody>
      </p:sp>
      <p:sp>
        <p:nvSpPr>
          <p:cNvPr id="58" name="TextBox 57"/>
          <p:cNvSpPr txBox="1"/>
          <p:nvPr/>
        </p:nvSpPr>
        <p:spPr>
          <a:xfrm>
            <a:off x="6855111" y="4845050"/>
            <a:ext cx="1490916" cy="1234439"/>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59" name="Rectangle 58"/>
          <p:cNvSpPr/>
          <p:nvPr/>
        </p:nvSpPr>
        <p:spPr>
          <a:xfrm>
            <a:off x="8483188" y="4817618"/>
            <a:ext cx="1600644" cy="1289304"/>
          </a:xfrm>
          <a:prstGeom prst="rect">
            <a:avLst/>
          </a:prstGeom>
          <a:solidFill>
            <a:srgbClr val="FFFFFF"/>
          </a:solidFill>
          <a:ln w="6350">
            <a:solidFill>
              <a:srgbClr val="D5D5D5"/>
            </a:solidFill>
          </a:ln>
          <a:effectLst/>
        </p:spPr>
        <p:txBody>
          <a:bodyPr rtlCol="0" anchor="ctr" lIns="0" rIns="0" tIns="0" bIns="0"/>
          <a:lstStyle/>
          <a:p>
            <a:pPr algn="ctr"/>
          </a:p>
        </p:txBody>
      </p:sp>
      <p:sp>
        <p:nvSpPr>
          <p:cNvPr id="60" name="TextBox 59"/>
          <p:cNvSpPr txBox="1"/>
          <p:nvPr/>
        </p:nvSpPr>
        <p:spPr>
          <a:xfrm>
            <a:off x="8538052" y="4845050"/>
            <a:ext cx="1490916" cy="1234439"/>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61" name="Rectangle 60"/>
          <p:cNvSpPr/>
          <p:nvPr/>
        </p:nvSpPr>
        <p:spPr>
          <a:xfrm>
            <a:off x="10166128" y="4817618"/>
            <a:ext cx="1600644" cy="1289304"/>
          </a:xfrm>
          <a:prstGeom prst="rect">
            <a:avLst/>
          </a:prstGeom>
          <a:solidFill>
            <a:srgbClr val="FFFFFF"/>
          </a:solidFill>
          <a:ln w="6350">
            <a:solidFill>
              <a:srgbClr val="D5D5D5"/>
            </a:solidFill>
          </a:ln>
          <a:effectLst/>
        </p:spPr>
        <p:txBody>
          <a:bodyPr rtlCol="0" anchor="ctr" lIns="0" rIns="0" tIns="0" bIns="0"/>
          <a:lstStyle/>
          <a:p>
            <a:pPr algn="ctr"/>
          </a:p>
        </p:txBody>
      </p:sp>
      <p:sp>
        <p:nvSpPr>
          <p:cNvPr id="62" name="TextBox 61"/>
          <p:cNvSpPr txBox="1"/>
          <p:nvPr/>
        </p:nvSpPr>
        <p:spPr>
          <a:xfrm>
            <a:off x="10220992" y="4845050"/>
            <a:ext cx="1490916" cy="1234439"/>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63" name="Connector 62"/>
          <p:cNvCxnSpPr/>
          <p:nvPr/>
        </p:nvCxnSpPr>
        <p:spPr>
          <a:xfrm>
            <a:off x="384048" y="6148070"/>
            <a:ext cx="11423873" cy="0"/>
          </a:xfrm>
          <a:prstGeom prst="line">
            <a:avLst/>
          </a:prstGeom>
          <a:ln w="6350">
            <a:solidFill>
              <a:srgbClr val="D5D5D5"/>
            </a:solidFill>
          </a:ln>
          <a:effectLst/>
        </p:spPr>
      </p:cxnSp>
      <p:cxnSp>
        <p:nvCxnSpPr>
          <p:cNvPr id="64" name="Connector 63"/>
          <p:cNvCxnSpPr/>
          <p:nvPr/>
        </p:nvCxnSpPr>
        <p:spPr>
          <a:xfrm>
            <a:off x="384048" y="6583680"/>
            <a:ext cx="11423873" cy="0"/>
          </a:xfrm>
          <a:prstGeom prst="line">
            <a:avLst/>
          </a:prstGeom>
          <a:ln w="6350">
            <a:solidFill>
              <a:srgbClr val="E2E2E2"/>
            </a:solidFill>
          </a:ln>
          <a:effectLst/>
        </p:spPr>
      </p:cxnSp>
      <p:sp>
        <p:nvSpPr>
          <p:cNvPr id="65" name="TextBox 64"/>
          <p:cNvSpPr txBox="1"/>
          <p:nvPr/>
        </p:nvSpPr>
        <p:spPr>
          <a:xfrm>
            <a:off x="384048" y="6624828"/>
            <a:ext cx="9139098" cy="128016"/>
          </a:xfrm>
          <a:prstGeom prst="rect">
            <a:avLst/>
          </a:prstGeom>
          <a:noFill/>
        </p:spPr>
        <p:txBody>
          <a:bodyPr wrap="square" lIns="0" rIns="0" tIns="0" bIns="0" anchor="t">
            <a:spAutoFit/>
          </a:bodyPr>
          <a:lstStyle/>
          <a:p>
            <a:pPr algn="l">
              <a:lnSpc>
                <a:spcPct val="122000"/>
              </a:lnSpc>
            </a:pPr>
            <a:r>
              <a:rPr sz="650" b="0" i="0">
                <a:solidFill>
                  <a:srgbClr val="757575"/>
                </a:solidFill>
                <a:latin typeface="Arial"/>
              </a:rPr>
              <a:t>Fonte: Painel de Controle Lead-to-Sales — Aceleração Seminovos</a:t>
            </a:r>
          </a:p>
        </p:txBody>
      </p:sp>
      <p:sp>
        <p:nvSpPr>
          <p:cNvPr id="66" name="TextBox 65"/>
          <p:cNvSpPr txBox="1"/>
          <p:nvPr/>
        </p:nvSpPr>
        <p:spPr>
          <a:xfrm>
            <a:off x="10893521" y="6624828"/>
            <a:ext cx="914400" cy="128016"/>
          </a:xfrm>
          <a:prstGeom prst="rect">
            <a:avLst/>
          </a:prstGeom>
          <a:noFill/>
        </p:spPr>
        <p:txBody>
          <a:bodyPr wrap="square" lIns="0" rIns="0" tIns="0" bIns="0" anchor="t">
            <a:spAutoFit/>
          </a:bodyPr>
          <a:lstStyle/>
          <a:p>
            <a:pPr algn="r">
              <a:lnSpc>
                <a:spcPct val="122000"/>
              </a:lnSpc>
            </a:pPr>
            <a:r>
              <a:rPr sz="650" b="0" i="0">
                <a:solidFill>
                  <a:srgbClr val="757575"/>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txBody>
          <a:bodyPr rtlCol="0" anchor="ctr" lIns="0" rIns="0" tIns="0" bIns="0"/>
          <a:lstStyle/>
          <a:p>
            <a:pPr algn="ctr"/>
          </a:p>
        </p:txBody>
      </p:sp>
      <p:sp>
        <p:nvSpPr>
          <p:cNvPr id="3" name="TextBox 2"/>
          <p:cNvSpPr txBox="1"/>
          <p:nvPr/>
        </p:nvSpPr>
        <p:spPr>
          <a:xfrm>
            <a:off x="384048" y="274320"/>
            <a:ext cx="7996711" cy="146304"/>
          </a:xfrm>
          <a:prstGeom prst="rect">
            <a:avLst/>
          </a:prstGeom>
          <a:noFill/>
        </p:spPr>
        <p:txBody>
          <a:bodyPr wrap="square" lIns="0" rIns="0" tIns="0" bIns="0" anchor="t">
            <a:spAutoFit/>
          </a:bodyPr>
          <a:lstStyle/>
          <a:p>
            <a:pPr algn="l">
              <a:lnSpc>
                <a:spcPct val="122000"/>
              </a:lnSpc>
            </a:pPr>
            <a:r>
              <a:rPr sz="750" b="1" i="0">
                <a:solidFill>
                  <a:srgbClr val="1A1A1A"/>
                </a:solidFill>
                <a:latin typeface="Arial"/>
              </a:rPr>
              <a:t>Lead-to-Sales  ·  Painel de Controle</a:t>
            </a:r>
            <a:r>
              <a:rPr sz="750" b="0" i="0">
                <a:solidFill>
                  <a:srgbClr val="757575"/>
                </a:solidFill>
                <a:latin typeface="Arial"/>
              </a:rPr>
              <a:t>   |   Aceleração Seminovos</a:t>
            </a:r>
          </a:p>
        </p:txBody>
      </p:sp>
      <p:sp>
        <p:nvSpPr>
          <p:cNvPr id="4" name="TextBox 3"/>
          <p:cNvSpPr txBox="1"/>
          <p:nvPr/>
        </p:nvSpPr>
        <p:spPr>
          <a:xfrm>
            <a:off x="9796241" y="274320"/>
            <a:ext cx="2011680" cy="146304"/>
          </a:xfrm>
          <a:prstGeom prst="rect">
            <a:avLst/>
          </a:prstGeom>
          <a:noFill/>
        </p:spPr>
        <p:txBody>
          <a:bodyPr wrap="square" lIns="0" rIns="0" tIns="0" bIns="0" anchor="t">
            <a:spAutoFit/>
          </a:bodyPr>
          <a:lstStyle/>
          <a:p>
            <a:pPr algn="r">
              <a:lnSpc>
                <a:spcPct val="122000"/>
              </a:lnSpc>
            </a:pPr>
            <a:r>
              <a:rPr sz="750" b="0" i="0">
                <a:solidFill>
                  <a:srgbClr val="757575"/>
                </a:solidFill>
                <a:latin typeface="Arial"/>
              </a:rPr>
              <a:t>Frente 6 de 6</a:t>
            </a:r>
          </a:p>
        </p:txBody>
      </p:sp>
      <p:sp>
        <p:nvSpPr>
          <p:cNvPr id="5" name="Rectangle 4"/>
          <p:cNvSpPr/>
          <p:nvPr/>
        </p:nvSpPr>
        <p:spPr>
          <a:xfrm>
            <a:off x="384048" y="512064"/>
            <a:ext cx="11423873" cy="876046"/>
          </a:xfrm>
          <a:prstGeom prst="rect">
            <a:avLst/>
          </a:prstGeom>
          <a:solidFill>
            <a:srgbClr val="F7F7F7"/>
          </a:solidFill>
          <a:ln w="9525">
            <a:solidFill>
              <a:srgbClr val="E2E2E2"/>
            </a:solidFill>
          </a:ln>
          <a:effectLst/>
        </p:spPr>
        <p:txBody>
          <a:bodyPr rtlCol="0" anchor="ctr" lIns="0" rIns="0" tIns="0" bIns="0"/>
          <a:lstStyle/>
          <a:p>
            <a:pPr algn="ctr"/>
          </a:p>
        </p:txBody>
      </p:sp>
      <p:sp>
        <p:nvSpPr>
          <p:cNvPr id="6" name="Rectangle 5"/>
          <p:cNvSpPr/>
          <p:nvPr/>
        </p:nvSpPr>
        <p:spPr>
          <a:xfrm>
            <a:off x="384048" y="512064"/>
            <a:ext cx="68580" cy="876046"/>
          </a:xfrm>
          <a:prstGeom prst="rect">
            <a:avLst/>
          </a:prstGeom>
          <a:solidFill>
            <a:srgbClr val="78DE1F"/>
          </a:solidFill>
          <a:ln>
            <a:noFill/>
          </a:ln>
          <a:effectLst/>
        </p:spPr>
        <p:txBody>
          <a:bodyPr rtlCol="0" anchor="ctr" lIns="0" rIns="0" tIns="0" bIns="0"/>
          <a:lstStyle/>
          <a:p>
            <a:pPr algn="ctr"/>
          </a:p>
        </p:txBody>
      </p:sp>
      <p:sp>
        <p:nvSpPr>
          <p:cNvPr id="7" name="Oval 6"/>
          <p:cNvSpPr/>
          <p:nvPr/>
        </p:nvSpPr>
        <p:spPr>
          <a:xfrm>
            <a:off x="690372" y="658368"/>
            <a:ext cx="256032" cy="256032"/>
          </a:xfrm>
          <a:prstGeom prst="ellipse">
            <a:avLst/>
          </a:prstGeom>
          <a:solidFill>
            <a:srgbClr val="78DE1F"/>
          </a:solidFill>
          <a:ln>
            <a:noFill/>
          </a:ln>
          <a:effectLst/>
        </p:spPr>
        <p:txBody>
          <a:bodyPr rtlCol="0" anchor="ctr" lIns="0" rIns="0" tIns="0" bIns="0"/>
          <a:lstStyle/>
          <a:p>
            <a:pPr algn="ctr"/>
          </a:p>
        </p:txBody>
      </p:sp>
      <p:sp>
        <p:nvSpPr>
          <p:cNvPr id="8" name="TextBox 7"/>
          <p:cNvSpPr txBox="1"/>
          <p:nvPr/>
        </p:nvSpPr>
        <p:spPr>
          <a:xfrm>
            <a:off x="690372" y="699516"/>
            <a:ext cx="256032" cy="182880"/>
          </a:xfrm>
          <a:prstGeom prst="rect">
            <a:avLst/>
          </a:prstGeom>
          <a:noFill/>
        </p:spPr>
        <p:txBody>
          <a:bodyPr wrap="square" lIns="0" rIns="0" tIns="0" bIns="0" anchor="t">
            <a:spAutoFit/>
          </a:bodyPr>
          <a:lstStyle/>
          <a:p>
            <a:pPr algn="ctr">
              <a:lnSpc>
                <a:spcPct val="122000"/>
              </a:lnSpc>
            </a:pPr>
            <a:r>
              <a:rPr sz="1100" b="1" i="0">
                <a:solidFill>
                  <a:srgbClr val="1A1A1A"/>
                </a:solidFill>
                <a:latin typeface="Arial"/>
              </a:rPr>
              <a:t>6</a:t>
            </a:r>
          </a:p>
        </p:txBody>
      </p:sp>
      <p:sp>
        <p:nvSpPr>
          <p:cNvPr id="9" name="TextBox 8"/>
          <p:cNvSpPr txBox="1"/>
          <p:nvPr/>
        </p:nvSpPr>
        <p:spPr>
          <a:xfrm>
            <a:off x="1074420" y="658368"/>
            <a:ext cx="6289517" cy="193675"/>
          </a:xfrm>
          <a:prstGeom prst="rect">
            <a:avLst/>
          </a:prstGeom>
          <a:noFill/>
        </p:spPr>
        <p:txBody>
          <a:bodyPr wrap="square" lIns="0" rIns="0" tIns="0" bIns="0" anchor="t">
            <a:spAutoFit/>
          </a:bodyPr>
          <a:lstStyle/>
          <a:p>
            <a:pPr algn="l">
              <a:lnSpc>
                <a:spcPct val="122000"/>
              </a:lnSpc>
            </a:pPr>
            <a:r>
              <a:rPr sz="1250" b="1" i="0">
                <a:solidFill>
                  <a:srgbClr val="1A1A1A"/>
                </a:solidFill>
                <a:latin typeface="Arial"/>
              </a:rPr>
              <a:t>Geração de leads</a:t>
            </a:r>
          </a:p>
        </p:txBody>
      </p:sp>
      <p:sp>
        <p:nvSpPr>
          <p:cNvPr id="10" name="TextBox 9"/>
          <p:cNvSpPr txBox="1"/>
          <p:nvPr/>
        </p:nvSpPr>
        <p:spPr>
          <a:xfrm>
            <a:off x="1074420" y="978408"/>
            <a:ext cx="6289517" cy="263397"/>
          </a:xfrm>
          <a:prstGeom prst="rect">
            <a:avLst/>
          </a:prstGeom>
          <a:noFill/>
        </p:spPr>
        <p:txBody>
          <a:bodyPr wrap="square" lIns="0" rIns="0" tIns="0" bIns="0" anchor="t">
            <a:spAutoFit/>
          </a:bodyPr>
          <a:lstStyle/>
          <a:p>
            <a:pPr algn="l">
              <a:lnSpc>
                <a:spcPct val="122000"/>
              </a:lnSpc>
            </a:pPr>
            <a:r>
              <a:rPr sz="850" b="0" i="0">
                <a:solidFill>
                  <a:srgbClr val="6B6B6B"/>
                </a:solidFill>
                <a:latin typeface="Arial"/>
              </a:rPr>
              <a:t>Aumentar a eficácia e a eficiência da geração de leads, reduzindo o CAC (geral e por região/categoria), mantendo ou aumentando o volume gerado e elevando a qualidade dos leads a um menor custo.</a:t>
            </a:r>
          </a:p>
        </p:txBody>
      </p:sp>
      <p:sp>
        <p:nvSpPr>
          <p:cNvPr id="11" name="TextBox 10"/>
          <p:cNvSpPr txBox="1"/>
          <p:nvPr/>
        </p:nvSpPr>
        <p:spPr>
          <a:xfrm>
            <a:off x="7638257" y="658368"/>
            <a:ext cx="1572768" cy="100711"/>
          </a:xfrm>
          <a:prstGeom prst="rect">
            <a:avLst/>
          </a:prstGeom>
          <a:noFill/>
        </p:spPr>
        <p:txBody>
          <a:bodyPr wrap="square" lIns="0" rIns="0" tIns="0" bIns="0" anchor="t">
            <a:spAutoFit/>
          </a:bodyPr>
          <a:lstStyle/>
          <a:p>
            <a:pPr algn="l">
              <a:lnSpc>
                <a:spcPct val="122000"/>
              </a:lnSpc>
            </a:pPr>
            <a:r>
              <a:rPr sz="650" b="1" i="0">
                <a:solidFill>
                  <a:srgbClr val="757575"/>
                </a:solidFill>
                <a:latin typeface="Arial"/>
              </a:rPr>
              <a:t>LÍDER(ES)</a:t>
            </a:r>
          </a:p>
        </p:txBody>
      </p:sp>
      <p:sp>
        <p:nvSpPr>
          <p:cNvPr id="12" name="TextBox 11"/>
          <p:cNvSpPr txBox="1"/>
          <p:nvPr/>
        </p:nvSpPr>
        <p:spPr>
          <a:xfrm>
            <a:off x="7638257" y="804799"/>
            <a:ext cx="1572768" cy="123951"/>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Juliana Ribas e Thaise Leocadio</a:t>
            </a:r>
          </a:p>
        </p:txBody>
      </p:sp>
      <p:sp>
        <p:nvSpPr>
          <p:cNvPr id="13" name="TextBox 12"/>
          <p:cNvSpPr txBox="1"/>
          <p:nvPr/>
        </p:nvSpPr>
        <p:spPr>
          <a:xfrm>
            <a:off x="9412193" y="658368"/>
            <a:ext cx="2212848" cy="100711"/>
          </a:xfrm>
          <a:prstGeom prst="rect">
            <a:avLst/>
          </a:prstGeom>
          <a:noFill/>
        </p:spPr>
        <p:txBody>
          <a:bodyPr wrap="square" lIns="0" rIns="0" tIns="0" bIns="0" anchor="t">
            <a:spAutoFit/>
          </a:bodyPr>
          <a:lstStyle/>
          <a:p>
            <a:pPr algn="l">
              <a:lnSpc>
                <a:spcPct val="122000"/>
              </a:lnSpc>
            </a:pPr>
            <a:r>
              <a:rPr sz="650" b="1" i="0">
                <a:solidFill>
                  <a:srgbClr val="757575"/>
                </a:solidFill>
                <a:latin typeface="Arial"/>
              </a:rPr>
              <a:t>TIME DE TRABALHO</a:t>
            </a:r>
          </a:p>
        </p:txBody>
      </p:sp>
      <p:sp>
        <p:nvSpPr>
          <p:cNvPr id="14" name="TextBox 13"/>
          <p:cNvSpPr txBox="1"/>
          <p:nvPr/>
        </p:nvSpPr>
        <p:spPr>
          <a:xfrm>
            <a:off x="9412193" y="804799"/>
            <a:ext cx="2212848" cy="123951"/>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a:t>
            </a:r>
          </a:p>
        </p:txBody>
      </p:sp>
      <p:sp>
        <p:nvSpPr>
          <p:cNvPr id="15" name="TextBox 14"/>
          <p:cNvSpPr txBox="1"/>
          <p:nvPr/>
        </p:nvSpPr>
        <p:spPr>
          <a:xfrm>
            <a:off x="384048" y="1570990"/>
            <a:ext cx="2743200" cy="155448"/>
          </a:xfrm>
          <a:prstGeom prst="rect">
            <a:avLst/>
          </a:prstGeom>
          <a:noFill/>
        </p:spPr>
        <p:txBody>
          <a:bodyPr wrap="square" lIns="0" rIns="0" tIns="0" bIns="0" anchor="t">
            <a:spAutoFit/>
          </a:bodyPr>
          <a:lstStyle/>
          <a:p>
            <a:pPr algn="l">
              <a:lnSpc>
                <a:spcPct val="122000"/>
              </a:lnSpc>
            </a:pPr>
            <a:r>
              <a:rPr sz="950" b="1" i="0">
                <a:solidFill>
                  <a:srgbClr val="1A1A1A"/>
                </a:solidFill>
                <a:latin typeface="Arial"/>
              </a:rPr>
              <a:t>Milestones</a:t>
            </a:r>
          </a:p>
        </p:txBody>
      </p:sp>
      <p:sp>
        <p:nvSpPr>
          <p:cNvPr id="16" name="TextBox 15"/>
          <p:cNvSpPr txBox="1"/>
          <p:nvPr/>
        </p:nvSpPr>
        <p:spPr>
          <a:xfrm>
            <a:off x="452628" y="1804162"/>
            <a:ext cx="503089"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a:t>
            </a:r>
          </a:p>
        </p:txBody>
      </p:sp>
      <p:sp>
        <p:nvSpPr>
          <p:cNvPr id="17" name="TextBox 16"/>
          <p:cNvSpPr txBox="1"/>
          <p:nvPr/>
        </p:nvSpPr>
        <p:spPr>
          <a:xfrm>
            <a:off x="1092877" y="1804162"/>
            <a:ext cx="2698228"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Milestone</a:t>
            </a:r>
          </a:p>
        </p:txBody>
      </p:sp>
      <p:sp>
        <p:nvSpPr>
          <p:cNvPr id="18" name="TextBox 17"/>
          <p:cNvSpPr txBox="1"/>
          <p:nvPr/>
        </p:nvSpPr>
        <p:spPr>
          <a:xfrm>
            <a:off x="3928266" y="1804162"/>
            <a:ext cx="1106752"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Responsável</a:t>
            </a:r>
          </a:p>
        </p:txBody>
      </p:sp>
      <p:sp>
        <p:nvSpPr>
          <p:cNvPr id="19" name="TextBox 18"/>
          <p:cNvSpPr txBox="1"/>
          <p:nvPr/>
        </p:nvSpPr>
        <p:spPr>
          <a:xfrm>
            <a:off x="5172178" y="1804162"/>
            <a:ext cx="649431"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Prazo</a:t>
            </a:r>
          </a:p>
        </p:txBody>
      </p:sp>
      <p:sp>
        <p:nvSpPr>
          <p:cNvPr id="20" name="TextBox 19"/>
          <p:cNvSpPr txBox="1"/>
          <p:nvPr/>
        </p:nvSpPr>
        <p:spPr>
          <a:xfrm>
            <a:off x="5958770" y="1804162"/>
            <a:ext cx="731749" cy="123951"/>
          </a:xfrm>
          <a:prstGeom prst="rect">
            <a:avLst/>
          </a:prstGeom>
          <a:noFill/>
        </p:spPr>
        <p:txBody>
          <a:bodyPr wrap="square" lIns="0" rIns="0" tIns="0" bIns="0" anchor="t">
            <a:spAutoFit/>
          </a:bodyPr>
          <a:lstStyle/>
          <a:p>
            <a:pPr algn="ctr">
              <a:lnSpc>
                <a:spcPct val="122000"/>
              </a:lnSpc>
            </a:pPr>
            <a:r>
              <a:rPr sz="800" b="1" i="0">
                <a:solidFill>
                  <a:srgbClr val="757575"/>
                </a:solidFill>
                <a:latin typeface="Arial"/>
              </a:rPr>
              <a:t>Status</a:t>
            </a:r>
          </a:p>
        </p:txBody>
      </p:sp>
      <p:sp>
        <p:nvSpPr>
          <p:cNvPr id="21" name="TextBox 20"/>
          <p:cNvSpPr txBox="1"/>
          <p:nvPr/>
        </p:nvSpPr>
        <p:spPr>
          <a:xfrm>
            <a:off x="6827679" y="1804162"/>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Progresso recente</a:t>
            </a:r>
          </a:p>
        </p:txBody>
      </p:sp>
      <p:sp>
        <p:nvSpPr>
          <p:cNvPr id="22" name="TextBox 21"/>
          <p:cNvSpPr txBox="1"/>
          <p:nvPr/>
        </p:nvSpPr>
        <p:spPr>
          <a:xfrm>
            <a:off x="8510620" y="1804162"/>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Próximos passos</a:t>
            </a:r>
          </a:p>
        </p:txBody>
      </p:sp>
      <p:sp>
        <p:nvSpPr>
          <p:cNvPr id="23" name="TextBox 22"/>
          <p:cNvSpPr txBox="1"/>
          <p:nvPr/>
        </p:nvSpPr>
        <p:spPr>
          <a:xfrm>
            <a:off x="10193560" y="1804162"/>
            <a:ext cx="1545780" cy="123951"/>
          </a:xfrm>
          <a:prstGeom prst="rect">
            <a:avLst/>
          </a:prstGeom>
          <a:noFill/>
        </p:spPr>
        <p:txBody>
          <a:bodyPr wrap="square" lIns="0" rIns="0" tIns="0" bIns="0" anchor="t">
            <a:spAutoFit/>
          </a:bodyPr>
          <a:lstStyle/>
          <a:p>
            <a:pPr algn="l">
              <a:lnSpc>
                <a:spcPct val="122000"/>
              </a:lnSpc>
            </a:pPr>
            <a:r>
              <a:rPr sz="800" b="1" i="0">
                <a:solidFill>
                  <a:srgbClr val="757575"/>
                </a:solidFill>
                <a:latin typeface="Arial"/>
              </a:rPr>
              <a:t>Pontos a escalar</a:t>
            </a:r>
          </a:p>
        </p:txBody>
      </p:sp>
      <p:cxnSp>
        <p:nvCxnSpPr>
          <p:cNvPr id="24" name="Connector 23"/>
          <p:cNvCxnSpPr/>
          <p:nvPr/>
        </p:nvCxnSpPr>
        <p:spPr>
          <a:xfrm>
            <a:off x="384048" y="2033270"/>
            <a:ext cx="11423873" cy="0"/>
          </a:xfrm>
          <a:prstGeom prst="line">
            <a:avLst/>
          </a:prstGeom>
          <a:ln w="12700">
            <a:solidFill>
              <a:srgbClr val="1A1A1A"/>
            </a:solidFill>
          </a:ln>
          <a:effectLst/>
        </p:spPr>
      </p:cxnSp>
      <p:sp>
        <p:nvSpPr>
          <p:cNvPr id="25" name="TextBox 24"/>
          <p:cNvSpPr txBox="1"/>
          <p:nvPr/>
        </p:nvSpPr>
        <p:spPr>
          <a:xfrm>
            <a:off x="452628" y="2083562"/>
            <a:ext cx="503089" cy="25582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6.1.1</a:t>
            </a:r>
          </a:p>
        </p:txBody>
      </p:sp>
      <p:sp>
        <p:nvSpPr>
          <p:cNvPr id="26" name="TextBox 25"/>
          <p:cNvSpPr txBox="1"/>
          <p:nvPr/>
        </p:nvSpPr>
        <p:spPr>
          <a:xfrm>
            <a:off x="1092877" y="2083562"/>
            <a:ext cx="2698228" cy="25582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Modelo de atribuição aprimorado</a:t>
            </a:r>
          </a:p>
        </p:txBody>
      </p:sp>
      <p:sp>
        <p:nvSpPr>
          <p:cNvPr id="27" name="TextBox 26"/>
          <p:cNvSpPr txBox="1"/>
          <p:nvPr/>
        </p:nvSpPr>
        <p:spPr>
          <a:xfrm>
            <a:off x="3928266" y="2083562"/>
            <a:ext cx="1106752" cy="25582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Juliana Ribas</a:t>
            </a:r>
          </a:p>
        </p:txBody>
      </p:sp>
      <p:sp>
        <p:nvSpPr>
          <p:cNvPr id="28" name="TextBox 27"/>
          <p:cNvSpPr txBox="1"/>
          <p:nvPr/>
        </p:nvSpPr>
        <p:spPr>
          <a:xfrm>
            <a:off x="5172178" y="2083562"/>
            <a:ext cx="649431" cy="25582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ago/26</a:t>
            </a:r>
          </a:p>
        </p:txBody>
      </p:sp>
      <p:sp>
        <p:nvSpPr>
          <p:cNvPr id="29" name="Rounded Rectangle 28"/>
          <p:cNvSpPr/>
          <p:nvPr/>
        </p:nvSpPr>
        <p:spPr>
          <a:xfrm>
            <a:off x="5958770" y="2094534"/>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30" name="TextBox 29"/>
          <p:cNvSpPr txBox="1"/>
          <p:nvPr/>
        </p:nvSpPr>
        <p:spPr>
          <a:xfrm>
            <a:off x="5958770" y="2094534"/>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31" name="Rectangle 30"/>
          <p:cNvSpPr/>
          <p:nvPr/>
        </p:nvSpPr>
        <p:spPr>
          <a:xfrm>
            <a:off x="6800247" y="2074418"/>
            <a:ext cx="1600644" cy="274112"/>
          </a:xfrm>
          <a:prstGeom prst="rect">
            <a:avLst/>
          </a:prstGeom>
          <a:solidFill>
            <a:srgbClr val="FFFFFF"/>
          </a:solidFill>
          <a:ln w="6350">
            <a:solidFill>
              <a:srgbClr val="D5D5D5"/>
            </a:solidFill>
          </a:ln>
          <a:effectLst/>
        </p:spPr>
        <p:txBody>
          <a:bodyPr rtlCol="0" anchor="ctr" lIns="0" rIns="0" tIns="0" bIns="0"/>
          <a:lstStyle/>
          <a:p>
            <a:pPr algn="ctr"/>
          </a:p>
        </p:txBody>
      </p:sp>
      <p:sp>
        <p:nvSpPr>
          <p:cNvPr id="32" name="TextBox 31"/>
          <p:cNvSpPr txBox="1"/>
          <p:nvPr/>
        </p:nvSpPr>
        <p:spPr>
          <a:xfrm>
            <a:off x="6855111" y="2101850"/>
            <a:ext cx="1490916" cy="21924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33" name="Rectangle 32"/>
          <p:cNvSpPr/>
          <p:nvPr/>
        </p:nvSpPr>
        <p:spPr>
          <a:xfrm>
            <a:off x="8483188" y="2074418"/>
            <a:ext cx="1600644" cy="274112"/>
          </a:xfrm>
          <a:prstGeom prst="rect">
            <a:avLst/>
          </a:prstGeom>
          <a:solidFill>
            <a:srgbClr val="FFFFFF"/>
          </a:solidFill>
          <a:ln w="6350">
            <a:solidFill>
              <a:srgbClr val="D5D5D5"/>
            </a:solidFill>
          </a:ln>
          <a:effectLst/>
        </p:spPr>
        <p:txBody>
          <a:bodyPr rtlCol="0" anchor="ctr" lIns="0" rIns="0" tIns="0" bIns="0"/>
          <a:lstStyle/>
          <a:p>
            <a:pPr algn="ctr"/>
          </a:p>
        </p:txBody>
      </p:sp>
      <p:sp>
        <p:nvSpPr>
          <p:cNvPr id="34" name="TextBox 33"/>
          <p:cNvSpPr txBox="1"/>
          <p:nvPr/>
        </p:nvSpPr>
        <p:spPr>
          <a:xfrm>
            <a:off x="8538052" y="2101850"/>
            <a:ext cx="1490916" cy="21924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35" name="Rectangle 34"/>
          <p:cNvSpPr/>
          <p:nvPr/>
        </p:nvSpPr>
        <p:spPr>
          <a:xfrm>
            <a:off x="10166128" y="2074418"/>
            <a:ext cx="1600644" cy="274112"/>
          </a:xfrm>
          <a:prstGeom prst="rect">
            <a:avLst/>
          </a:prstGeom>
          <a:solidFill>
            <a:srgbClr val="FFFFFF"/>
          </a:solidFill>
          <a:ln w="6350">
            <a:solidFill>
              <a:srgbClr val="D5D5D5"/>
            </a:solidFill>
          </a:ln>
          <a:effectLst/>
        </p:spPr>
        <p:txBody>
          <a:bodyPr rtlCol="0" anchor="ctr" lIns="0" rIns="0" tIns="0" bIns="0"/>
          <a:lstStyle/>
          <a:p>
            <a:pPr algn="ctr"/>
          </a:p>
        </p:txBody>
      </p:sp>
      <p:sp>
        <p:nvSpPr>
          <p:cNvPr id="36" name="TextBox 35"/>
          <p:cNvSpPr txBox="1"/>
          <p:nvPr/>
        </p:nvSpPr>
        <p:spPr>
          <a:xfrm>
            <a:off x="10220992" y="2101850"/>
            <a:ext cx="1490916" cy="21924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37" name="Connector 36"/>
          <p:cNvCxnSpPr/>
          <p:nvPr/>
        </p:nvCxnSpPr>
        <p:spPr>
          <a:xfrm>
            <a:off x="384048" y="2389678"/>
            <a:ext cx="11423873" cy="0"/>
          </a:xfrm>
          <a:prstGeom prst="line">
            <a:avLst/>
          </a:prstGeom>
          <a:ln w="6350">
            <a:solidFill>
              <a:srgbClr val="ECECEC"/>
            </a:solidFill>
          </a:ln>
          <a:effectLst/>
        </p:spPr>
      </p:cxnSp>
      <p:sp>
        <p:nvSpPr>
          <p:cNvPr id="38" name="TextBox 37"/>
          <p:cNvSpPr txBox="1"/>
          <p:nvPr/>
        </p:nvSpPr>
        <p:spPr>
          <a:xfrm>
            <a:off x="452628" y="2439970"/>
            <a:ext cx="503089" cy="25582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6.1.2</a:t>
            </a:r>
          </a:p>
        </p:txBody>
      </p:sp>
      <p:sp>
        <p:nvSpPr>
          <p:cNvPr id="39" name="TextBox 38"/>
          <p:cNvSpPr txBox="1"/>
          <p:nvPr/>
        </p:nvSpPr>
        <p:spPr>
          <a:xfrm>
            <a:off x="1092877" y="2439970"/>
            <a:ext cx="2698228" cy="25582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BI gerencial e rotina mensal de apuração implementados</a:t>
            </a:r>
          </a:p>
        </p:txBody>
      </p:sp>
      <p:sp>
        <p:nvSpPr>
          <p:cNvPr id="40" name="TextBox 39"/>
          <p:cNvSpPr txBox="1"/>
          <p:nvPr/>
        </p:nvSpPr>
        <p:spPr>
          <a:xfrm>
            <a:off x="3928266" y="2439970"/>
            <a:ext cx="1106752" cy="25582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Juliana Ribas</a:t>
            </a:r>
          </a:p>
        </p:txBody>
      </p:sp>
      <p:sp>
        <p:nvSpPr>
          <p:cNvPr id="41" name="TextBox 40"/>
          <p:cNvSpPr txBox="1"/>
          <p:nvPr/>
        </p:nvSpPr>
        <p:spPr>
          <a:xfrm>
            <a:off x="5172178" y="2439970"/>
            <a:ext cx="649431" cy="25582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ago/26</a:t>
            </a:r>
          </a:p>
        </p:txBody>
      </p:sp>
      <p:sp>
        <p:nvSpPr>
          <p:cNvPr id="42" name="Rounded Rectangle 41"/>
          <p:cNvSpPr/>
          <p:nvPr/>
        </p:nvSpPr>
        <p:spPr>
          <a:xfrm>
            <a:off x="5958770" y="2450942"/>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43" name="TextBox 42"/>
          <p:cNvSpPr txBox="1"/>
          <p:nvPr/>
        </p:nvSpPr>
        <p:spPr>
          <a:xfrm>
            <a:off x="5958770" y="2450942"/>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44" name="Rectangle 43"/>
          <p:cNvSpPr/>
          <p:nvPr/>
        </p:nvSpPr>
        <p:spPr>
          <a:xfrm>
            <a:off x="6800247" y="2430826"/>
            <a:ext cx="1600644" cy="274112"/>
          </a:xfrm>
          <a:prstGeom prst="rect">
            <a:avLst/>
          </a:prstGeom>
          <a:solidFill>
            <a:srgbClr val="FFFFFF"/>
          </a:solidFill>
          <a:ln w="6350">
            <a:solidFill>
              <a:srgbClr val="D5D5D5"/>
            </a:solidFill>
          </a:ln>
          <a:effectLst/>
        </p:spPr>
        <p:txBody>
          <a:bodyPr rtlCol="0" anchor="ctr" lIns="0" rIns="0" tIns="0" bIns="0"/>
          <a:lstStyle/>
          <a:p>
            <a:pPr algn="ctr"/>
          </a:p>
        </p:txBody>
      </p:sp>
      <p:sp>
        <p:nvSpPr>
          <p:cNvPr id="45" name="TextBox 44"/>
          <p:cNvSpPr txBox="1"/>
          <p:nvPr/>
        </p:nvSpPr>
        <p:spPr>
          <a:xfrm>
            <a:off x="6855111" y="2458258"/>
            <a:ext cx="1490916" cy="21924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46" name="Rectangle 45"/>
          <p:cNvSpPr/>
          <p:nvPr/>
        </p:nvSpPr>
        <p:spPr>
          <a:xfrm>
            <a:off x="8483188" y="2430826"/>
            <a:ext cx="1600644" cy="274112"/>
          </a:xfrm>
          <a:prstGeom prst="rect">
            <a:avLst/>
          </a:prstGeom>
          <a:solidFill>
            <a:srgbClr val="FFFFFF"/>
          </a:solidFill>
          <a:ln w="6350">
            <a:solidFill>
              <a:srgbClr val="D5D5D5"/>
            </a:solidFill>
          </a:ln>
          <a:effectLst/>
        </p:spPr>
        <p:txBody>
          <a:bodyPr rtlCol="0" anchor="ctr" lIns="0" rIns="0" tIns="0" bIns="0"/>
          <a:lstStyle/>
          <a:p>
            <a:pPr algn="ctr"/>
          </a:p>
        </p:txBody>
      </p:sp>
      <p:sp>
        <p:nvSpPr>
          <p:cNvPr id="47" name="TextBox 46"/>
          <p:cNvSpPr txBox="1"/>
          <p:nvPr/>
        </p:nvSpPr>
        <p:spPr>
          <a:xfrm>
            <a:off x="8538052" y="2458258"/>
            <a:ext cx="1490916" cy="21924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48" name="Rectangle 47"/>
          <p:cNvSpPr/>
          <p:nvPr/>
        </p:nvSpPr>
        <p:spPr>
          <a:xfrm>
            <a:off x="10166128" y="2430826"/>
            <a:ext cx="1600644" cy="274112"/>
          </a:xfrm>
          <a:prstGeom prst="rect">
            <a:avLst/>
          </a:prstGeom>
          <a:solidFill>
            <a:srgbClr val="FFFFFF"/>
          </a:solidFill>
          <a:ln w="6350">
            <a:solidFill>
              <a:srgbClr val="D5D5D5"/>
            </a:solidFill>
          </a:ln>
          <a:effectLst/>
        </p:spPr>
        <p:txBody>
          <a:bodyPr rtlCol="0" anchor="ctr" lIns="0" rIns="0" tIns="0" bIns="0"/>
          <a:lstStyle/>
          <a:p>
            <a:pPr algn="ctr"/>
          </a:p>
        </p:txBody>
      </p:sp>
      <p:sp>
        <p:nvSpPr>
          <p:cNvPr id="49" name="TextBox 48"/>
          <p:cNvSpPr txBox="1"/>
          <p:nvPr/>
        </p:nvSpPr>
        <p:spPr>
          <a:xfrm>
            <a:off x="10220992" y="2458258"/>
            <a:ext cx="1490916" cy="21924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50" name="Connector 49"/>
          <p:cNvCxnSpPr/>
          <p:nvPr/>
        </p:nvCxnSpPr>
        <p:spPr>
          <a:xfrm>
            <a:off x="384048" y="2746086"/>
            <a:ext cx="11423873" cy="0"/>
          </a:xfrm>
          <a:prstGeom prst="line">
            <a:avLst/>
          </a:prstGeom>
          <a:ln w="6350">
            <a:solidFill>
              <a:srgbClr val="ECECEC"/>
            </a:solidFill>
          </a:ln>
          <a:effectLst/>
        </p:spPr>
      </p:cxnSp>
      <p:sp>
        <p:nvSpPr>
          <p:cNvPr id="51" name="TextBox 50"/>
          <p:cNvSpPr txBox="1"/>
          <p:nvPr/>
        </p:nvSpPr>
        <p:spPr>
          <a:xfrm>
            <a:off x="452628" y="2796378"/>
            <a:ext cx="503089" cy="32999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6.2.1</a:t>
            </a:r>
          </a:p>
        </p:txBody>
      </p:sp>
      <p:sp>
        <p:nvSpPr>
          <p:cNvPr id="52" name="TextBox 51"/>
          <p:cNvSpPr txBox="1"/>
          <p:nvPr/>
        </p:nvSpPr>
        <p:spPr>
          <a:xfrm>
            <a:off x="1092877" y="2796378"/>
            <a:ext cx="2698228"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Processo de revisão do plano de investimento em mídia implantado</a:t>
            </a:r>
          </a:p>
        </p:txBody>
      </p:sp>
      <p:sp>
        <p:nvSpPr>
          <p:cNvPr id="53" name="TextBox 52"/>
          <p:cNvSpPr txBox="1"/>
          <p:nvPr/>
        </p:nvSpPr>
        <p:spPr>
          <a:xfrm>
            <a:off x="3928266" y="2796378"/>
            <a:ext cx="1106752"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A definir</a:t>
            </a:r>
          </a:p>
        </p:txBody>
      </p:sp>
      <p:sp>
        <p:nvSpPr>
          <p:cNvPr id="54" name="TextBox 53"/>
          <p:cNvSpPr txBox="1"/>
          <p:nvPr/>
        </p:nvSpPr>
        <p:spPr>
          <a:xfrm>
            <a:off x="5172178" y="2796378"/>
            <a:ext cx="649431" cy="32999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ago/26</a:t>
            </a:r>
          </a:p>
        </p:txBody>
      </p:sp>
      <p:sp>
        <p:nvSpPr>
          <p:cNvPr id="55" name="Rounded Rectangle 54"/>
          <p:cNvSpPr/>
          <p:nvPr/>
        </p:nvSpPr>
        <p:spPr>
          <a:xfrm>
            <a:off x="5958770" y="2807351"/>
            <a:ext cx="731749" cy="169164"/>
          </a:xfrm>
          <a:prstGeom prst="roundRect">
            <a:avLst>
              <a:gd name="adj" fmla="val 50000"/>
            </a:avLst>
          </a:prstGeom>
          <a:solidFill>
            <a:srgbClr val="FFF8E1"/>
          </a:solidFill>
          <a:ln>
            <a:noFill/>
          </a:ln>
          <a:effectLst/>
        </p:spPr>
        <p:txBody>
          <a:bodyPr rtlCol="0" anchor="ctr" lIns="0" rIns="0" tIns="0" bIns="0"/>
          <a:lstStyle/>
          <a:p>
            <a:pPr algn="ctr"/>
          </a:p>
        </p:txBody>
      </p:sp>
      <p:sp>
        <p:nvSpPr>
          <p:cNvPr id="56" name="TextBox 55"/>
          <p:cNvSpPr txBox="1"/>
          <p:nvPr/>
        </p:nvSpPr>
        <p:spPr>
          <a:xfrm>
            <a:off x="5958770" y="2807351"/>
            <a:ext cx="731749" cy="169164"/>
          </a:xfrm>
          <a:prstGeom prst="rect">
            <a:avLst/>
          </a:prstGeom>
          <a:noFill/>
        </p:spPr>
        <p:txBody>
          <a:bodyPr wrap="square" lIns="0" rIns="0" tIns="0" bIns="0" anchor="ctr">
            <a:spAutoFit/>
          </a:bodyPr>
          <a:lstStyle/>
          <a:p>
            <a:pPr algn="ctr">
              <a:lnSpc>
                <a:spcPct val="122000"/>
              </a:lnSpc>
            </a:pPr>
            <a:r>
              <a:rPr sz="750" b="1" i="0">
                <a:solidFill>
                  <a:srgbClr val="6B5700"/>
                </a:solidFill>
                <a:latin typeface="Arial"/>
              </a:rPr>
              <a:t>Em progresso</a:t>
            </a:r>
          </a:p>
        </p:txBody>
      </p:sp>
      <p:sp>
        <p:nvSpPr>
          <p:cNvPr id="57" name="Rectangle 56"/>
          <p:cNvSpPr/>
          <p:nvPr/>
        </p:nvSpPr>
        <p:spPr>
          <a:xfrm>
            <a:off x="6800247" y="2787234"/>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58" name="TextBox 57"/>
          <p:cNvSpPr txBox="1"/>
          <p:nvPr/>
        </p:nvSpPr>
        <p:spPr>
          <a:xfrm>
            <a:off x="6855111" y="2814666"/>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59" name="Rectangle 58"/>
          <p:cNvSpPr/>
          <p:nvPr/>
        </p:nvSpPr>
        <p:spPr>
          <a:xfrm>
            <a:off x="8483188" y="2787234"/>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60" name="TextBox 59"/>
          <p:cNvSpPr txBox="1"/>
          <p:nvPr/>
        </p:nvSpPr>
        <p:spPr>
          <a:xfrm>
            <a:off x="8538052" y="2814666"/>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61" name="Rectangle 60"/>
          <p:cNvSpPr/>
          <p:nvPr/>
        </p:nvSpPr>
        <p:spPr>
          <a:xfrm>
            <a:off x="10166128" y="2787234"/>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62" name="TextBox 61"/>
          <p:cNvSpPr txBox="1"/>
          <p:nvPr/>
        </p:nvSpPr>
        <p:spPr>
          <a:xfrm>
            <a:off x="10220992" y="2814666"/>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63" name="Connector 62"/>
          <p:cNvCxnSpPr/>
          <p:nvPr/>
        </p:nvCxnSpPr>
        <p:spPr>
          <a:xfrm>
            <a:off x="384048" y="3176662"/>
            <a:ext cx="11423873" cy="0"/>
          </a:xfrm>
          <a:prstGeom prst="line">
            <a:avLst/>
          </a:prstGeom>
          <a:ln w="6350">
            <a:solidFill>
              <a:srgbClr val="ECECEC"/>
            </a:solidFill>
          </a:ln>
          <a:effectLst/>
        </p:spPr>
      </p:cxnSp>
      <p:sp>
        <p:nvSpPr>
          <p:cNvPr id="64" name="TextBox 63"/>
          <p:cNvSpPr txBox="1"/>
          <p:nvPr/>
        </p:nvSpPr>
        <p:spPr>
          <a:xfrm>
            <a:off x="452628" y="3226954"/>
            <a:ext cx="503089" cy="32999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6.3.1</a:t>
            </a:r>
          </a:p>
        </p:txBody>
      </p:sp>
      <p:sp>
        <p:nvSpPr>
          <p:cNvPr id="65" name="TextBox 64"/>
          <p:cNvSpPr txBox="1"/>
          <p:nvPr/>
        </p:nvSpPr>
        <p:spPr>
          <a:xfrm>
            <a:off x="1092877" y="3226954"/>
            <a:ext cx="2698228"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Diagnóstico das campanhas Google concluído e plano de melhoria das táticas implementado</a:t>
            </a:r>
          </a:p>
        </p:txBody>
      </p:sp>
      <p:sp>
        <p:nvSpPr>
          <p:cNvPr id="66" name="TextBox 65"/>
          <p:cNvSpPr txBox="1"/>
          <p:nvPr/>
        </p:nvSpPr>
        <p:spPr>
          <a:xfrm>
            <a:off x="3928266" y="3226954"/>
            <a:ext cx="1106752"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Leticia Medina</a:t>
            </a:r>
          </a:p>
        </p:txBody>
      </p:sp>
      <p:sp>
        <p:nvSpPr>
          <p:cNvPr id="67" name="TextBox 66"/>
          <p:cNvSpPr txBox="1"/>
          <p:nvPr/>
        </p:nvSpPr>
        <p:spPr>
          <a:xfrm>
            <a:off x="5172178" y="3226954"/>
            <a:ext cx="649431" cy="32999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S3 set/26</a:t>
            </a:r>
          </a:p>
        </p:txBody>
      </p:sp>
      <p:sp>
        <p:nvSpPr>
          <p:cNvPr id="68" name="Rounded Rectangle 67"/>
          <p:cNvSpPr/>
          <p:nvPr/>
        </p:nvSpPr>
        <p:spPr>
          <a:xfrm>
            <a:off x="5958770" y="3237927"/>
            <a:ext cx="731749" cy="169164"/>
          </a:xfrm>
          <a:prstGeom prst="roundRect">
            <a:avLst>
              <a:gd name="adj" fmla="val 50000"/>
            </a:avLst>
          </a:prstGeom>
          <a:solidFill>
            <a:srgbClr val="FFF8E1"/>
          </a:solidFill>
          <a:ln>
            <a:noFill/>
          </a:ln>
          <a:effectLst/>
        </p:spPr>
        <p:txBody>
          <a:bodyPr rtlCol="0" anchor="ctr" lIns="0" rIns="0" tIns="0" bIns="0"/>
          <a:lstStyle/>
          <a:p>
            <a:pPr algn="ctr"/>
          </a:p>
        </p:txBody>
      </p:sp>
      <p:sp>
        <p:nvSpPr>
          <p:cNvPr id="69" name="TextBox 68"/>
          <p:cNvSpPr txBox="1"/>
          <p:nvPr/>
        </p:nvSpPr>
        <p:spPr>
          <a:xfrm>
            <a:off x="5958770" y="3237927"/>
            <a:ext cx="731749" cy="169164"/>
          </a:xfrm>
          <a:prstGeom prst="rect">
            <a:avLst/>
          </a:prstGeom>
          <a:noFill/>
        </p:spPr>
        <p:txBody>
          <a:bodyPr wrap="square" lIns="0" rIns="0" tIns="0" bIns="0" anchor="ctr">
            <a:spAutoFit/>
          </a:bodyPr>
          <a:lstStyle/>
          <a:p>
            <a:pPr algn="ctr">
              <a:lnSpc>
                <a:spcPct val="122000"/>
              </a:lnSpc>
            </a:pPr>
            <a:r>
              <a:rPr sz="750" b="1" i="0">
                <a:solidFill>
                  <a:srgbClr val="6B5700"/>
                </a:solidFill>
                <a:latin typeface="Arial"/>
              </a:rPr>
              <a:t>Em progresso</a:t>
            </a:r>
          </a:p>
        </p:txBody>
      </p:sp>
      <p:sp>
        <p:nvSpPr>
          <p:cNvPr id="70" name="Rectangle 69"/>
          <p:cNvSpPr/>
          <p:nvPr/>
        </p:nvSpPr>
        <p:spPr>
          <a:xfrm>
            <a:off x="6800247" y="3217810"/>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71" name="TextBox 70"/>
          <p:cNvSpPr txBox="1"/>
          <p:nvPr/>
        </p:nvSpPr>
        <p:spPr>
          <a:xfrm>
            <a:off x="6855111" y="3245242"/>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72" name="Rectangle 71"/>
          <p:cNvSpPr/>
          <p:nvPr/>
        </p:nvSpPr>
        <p:spPr>
          <a:xfrm>
            <a:off x="8483188" y="3217810"/>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73" name="TextBox 72"/>
          <p:cNvSpPr txBox="1"/>
          <p:nvPr/>
        </p:nvSpPr>
        <p:spPr>
          <a:xfrm>
            <a:off x="8538052" y="3245242"/>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74" name="Rectangle 73"/>
          <p:cNvSpPr/>
          <p:nvPr/>
        </p:nvSpPr>
        <p:spPr>
          <a:xfrm>
            <a:off x="10166128" y="3217810"/>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75" name="TextBox 74"/>
          <p:cNvSpPr txBox="1"/>
          <p:nvPr/>
        </p:nvSpPr>
        <p:spPr>
          <a:xfrm>
            <a:off x="10220992" y="3245242"/>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76" name="Connector 75"/>
          <p:cNvCxnSpPr/>
          <p:nvPr/>
        </p:nvCxnSpPr>
        <p:spPr>
          <a:xfrm>
            <a:off x="384048" y="3607238"/>
            <a:ext cx="11423873" cy="0"/>
          </a:xfrm>
          <a:prstGeom prst="line">
            <a:avLst/>
          </a:prstGeom>
          <a:ln w="6350">
            <a:solidFill>
              <a:srgbClr val="ECECEC"/>
            </a:solidFill>
          </a:ln>
          <a:effectLst/>
        </p:spPr>
      </p:cxnSp>
      <p:sp>
        <p:nvSpPr>
          <p:cNvPr id="77" name="TextBox 76"/>
          <p:cNvSpPr txBox="1"/>
          <p:nvPr/>
        </p:nvSpPr>
        <p:spPr>
          <a:xfrm>
            <a:off x="452628" y="3657530"/>
            <a:ext cx="503089" cy="32999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6.4.1</a:t>
            </a:r>
          </a:p>
        </p:txBody>
      </p:sp>
      <p:sp>
        <p:nvSpPr>
          <p:cNvPr id="78" name="TextBox 77"/>
          <p:cNvSpPr txBox="1"/>
          <p:nvPr/>
        </p:nvSpPr>
        <p:spPr>
          <a:xfrm>
            <a:off x="1092877" y="3657530"/>
            <a:ext cx="2698228"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Diagnóstico das campanhas Meta concluído e plano de melhoria das táticas implementado</a:t>
            </a:r>
          </a:p>
        </p:txBody>
      </p:sp>
      <p:sp>
        <p:nvSpPr>
          <p:cNvPr id="79" name="TextBox 78"/>
          <p:cNvSpPr txBox="1"/>
          <p:nvPr/>
        </p:nvSpPr>
        <p:spPr>
          <a:xfrm>
            <a:off x="3928266" y="3657530"/>
            <a:ext cx="1106752"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Jessica Guimarães</a:t>
            </a:r>
          </a:p>
        </p:txBody>
      </p:sp>
      <p:sp>
        <p:nvSpPr>
          <p:cNvPr id="80" name="TextBox 79"/>
          <p:cNvSpPr txBox="1"/>
          <p:nvPr/>
        </p:nvSpPr>
        <p:spPr>
          <a:xfrm>
            <a:off x="5172178" y="3657530"/>
            <a:ext cx="649431" cy="32999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S3 set/26</a:t>
            </a:r>
          </a:p>
        </p:txBody>
      </p:sp>
      <p:sp>
        <p:nvSpPr>
          <p:cNvPr id="81" name="Rounded Rectangle 80"/>
          <p:cNvSpPr/>
          <p:nvPr/>
        </p:nvSpPr>
        <p:spPr>
          <a:xfrm>
            <a:off x="5958770" y="3668503"/>
            <a:ext cx="731749" cy="169164"/>
          </a:xfrm>
          <a:prstGeom prst="roundRect">
            <a:avLst>
              <a:gd name="adj" fmla="val 50000"/>
            </a:avLst>
          </a:prstGeom>
          <a:solidFill>
            <a:srgbClr val="FFF8E1"/>
          </a:solidFill>
          <a:ln>
            <a:noFill/>
          </a:ln>
          <a:effectLst/>
        </p:spPr>
        <p:txBody>
          <a:bodyPr rtlCol="0" anchor="ctr" lIns="0" rIns="0" tIns="0" bIns="0"/>
          <a:lstStyle/>
          <a:p>
            <a:pPr algn="ctr"/>
          </a:p>
        </p:txBody>
      </p:sp>
      <p:sp>
        <p:nvSpPr>
          <p:cNvPr id="82" name="TextBox 81"/>
          <p:cNvSpPr txBox="1"/>
          <p:nvPr/>
        </p:nvSpPr>
        <p:spPr>
          <a:xfrm>
            <a:off x="5958770" y="3668503"/>
            <a:ext cx="731749" cy="169164"/>
          </a:xfrm>
          <a:prstGeom prst="rect">
            <a:avLst/>
          </a:prstGeom>
          <a:noFill/>
        </p:spPr>
        <p:txBody>
          <a:bodyPr wrap="square" lIns="0" rIns="0" tIns="0" bIns="0" anchor="ctr">
            <a:spAutoFit/>
          </a:bodyPr>
          <a:lstStyle/>
          <a:p>
            <a:pPr algn="ctr">
              <a:lnSpc>
                <a:spcPct val="122000"/>
              </a:lnSpc>
            </a:pPr>
            <a:r>
              <a:rPr sz="750" b="1" i="0">
                <a:solidFill>
                  <a:srgbClr val="6B5700"/>
                </a:solidFill>
                <a:latin typeface="Arial"/>
              </a:rPr>
              <a:t>Em progresso</a:t>
            </a:r>
          </a:p>
        </p:txBody>
      </p:sp>
      <p:sp>
        <p:nvSpPr>
          <p:cNvPr id="83" name="Rectangle 82"/>
          <p:cNvSpPr/>
          <p:nvPr/>
        </p:nvSpPr>
        <p:spPr>
          <a:xfrm>
            <a:off x="6800247" y="3648386"/>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84" name="TextBox 83"/>
          <p:cNvSpPr txBox="1"/>
          <p:nvPr/>
        </p:nvSpPr>
        <p:spPr>
          <a:xfrm>
            <a:off x="6855111" y="3675818"/>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85" name="Rectangle 84"/>
          <p:cNvSpPr/>
          <p:nvPr/>
        </p:nvSpPr>
        <p:spPr>
          <a:xfrm>
            <a:off x="8483188" y="3648386"/>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86" name="TextBox 85"/>
          <p:cNvSpPr txBox="1"/>
          <p:nvPr/>
        </p:nvSpPr>
        <p:spPr>
          <a:xfrm>
            <a:off x="8538052" y="3675818"/>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87" name="Rectangle 86"/>
          <p:cNvSpPr/>
          <p:nvPr/>
        </p:nvSpPr>
        <p:spPr>
          <a:xfrm>
            <a:off x="10166128" y="3648386"/>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88" name="TextBox 87"/>
          <p:cNvSpPr txBox="1"/>
          <p:nvPr/>
        </p:nvSpPr>
        <p:spPr>
          <a:xfrm>
            <a:off x="10220992" y="3675818"/>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89" name="Connector 88"/>
          <p:cNvCxnSpPr/>
          <p:nvPr/>
        </p:nvCxnSpPr>
        <p:spPr>
          <a:xfrm>
            <a:off x="384048" y="4037814"/>
            <a:ext cx="11423873" cy="0"/>
          </a:xfrm>
          <a:prstGeom prst="line">
            <a:avLst/>
          </a:prstGeom>
          <a:ln w="6350">
            <a:solidFill>
              <a:srgbClr val="ECECEC"/>
            </a:solidFill>
          </a:ln>
          <a:effectLst/>
        </p:spPr>
      </p:cxnSp>
      <p:sp>
        <p:nvSpPr>
          <p:cNvPr id="90" name="TextBox 89"/>
          <p:cNvSpPr txBox="1"/>
          <p:nvPr/>
        </p:nvSpPr>
        <p:spPr>
          <a:xfrm>
            <a:off x="452628" y="4088106"/>
            <a:ext cx="503089" cy="32999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6.5.1</a:t>
            </a:r>
          </a:p>
        </p:txBody>
      </p:sp>
      <p:sp>
        <p:nvSpPr>
          <p:cNvPr id="91" name="TextBox 90"/>
          <p:cNvSpPr txBox="1"/>
          <p:nvPr/>
        </p:nvSpPr>
        <p:spPr>
          <a:xfrm>
            <a:off x="1092877" y="4088106"/>
            <a:ext cx="2698228"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Diagnóstico e revisão das demais campanhas (afiliados, programática etc.) concluídos</a:t>
            </a:r>
          </a:p>
        </p:txBody>
      </p:sp>
      <p:sp>
        <p:nvSpPr>
          <p:cNvPr id="92" name="TextBox 91"/>
          <p:cNvSpPr txBox="1"/>
          <p:nvPr/>
        </p:nvSpPr>
        <p:spPr>
          <a:xfrm>
            <a:off x="3928266" y="4088106"/>
            <a:ext cx="1106752"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Thaise Leocadio</a:t>
            </a:r>
          </a:p>
        </p:txBody>
      </p:sp>
      <p:sp>
        <p:nvSpPr>
          <p:cNvPr id="93" name="TextBox 92"/>
          <p:cNvSpPr txBox="1"/>
          <p:nvPr/>
        </p:nvSpPr>
        <p:spPr>
          <a:xfrm>
            <a:off x="5172178" y="4088106"/>
            <a:ext cx="649431" cy="32999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S3 set/26</a:t>
            </a:r>
          </a:p>
        </p:txBody>
      </p:sp>
      <p:sp>
        <p:nvSpPr>
          <p:cNvPr id="94" name="Rounded Rectangle 93"/>
          <p:cNvSpPr/>
          <p:nvPr/>
        </p:nvSpPr>
        <p:spPr>
          <a:xfrm>
            <a:off x="5958770" y="4099079"/>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95" name="TextBox 94"/>
          <p:cNvSpPr txBox="1"/>
          <p:nvPr/>
        </p:nvSpPr>
        <p:spPr>
          <a:xfrm>
            <a:off x="5958770" y="4099079"/>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96" name="Rectangle 95"/>
          <p:cNvSpPr/>
          <p:nvPr/>
        </p:nvSpPr>
        <p:spPr>
          <a:xfrm>
            <a:off x="6800247" y="4078962"/>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97" name="TextBox 96"/>
          <p:cNvSpPr txBox="1"/>
          <p:nvPr/>
        </p:nvSpPr>
        <p:spPr>
          <a:xfrm>
            <a:off x="6855111" y="4106394"/>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98" name="Rectangle 97"/>
          <p:cNvSpPr/>
          <p:nvPr/>
        </p:nvSpPr>
        <p:spPr>
          <a:xfrm>
            <a:off x="8483188" y="4078962"/>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99" name="TextBox 98"/>
          <p:cNvSpPr txBox="1"/>
          <p:nvPr/>
        </p:nvSpPr>
        <p:spPr>
          <a:xfrm>
            <a:off x="8538052" y="4106394"/>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00" name="Rectangle 99"/>
          <p:cNvSpPr/>
          <p:nvPr/>
        </p:nvSpPr>
        <p:spPr>
          <a:xfrm>
            <a:off x="10166128" y="4078962"/>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101" name="TextBox 100"/>
          <p:cNvSpPr txBox="1"/>
          <p:nvPr/>
        </p:nvSpPr>
        <p:spPr>
          <a:xfrm>
            <a:off x="10220992" y="4106394"/>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102" name="Connector 101"/>
          <p:cNvCxnSpPr/>
          <p:nvPr/>
        </p:nvCxnSpPr>
        <p:spPr>
          <a:xfrm>
            <a:off x="384048" y="4468391"/>
            <a:ext cx="11423873" cy="0"/>
          </a:xfrm>
          <a:prstGeom prst="line">
            <a:avLst/>
          </a:prstGeom>
          <a:ln w="6350">
            <a:solidFill>
              <a:srgbClr val="ECECEC"/>
            </a:solidFill>
          </a:ln>
          <a:effectLst/>
        </p:spPr>
      </p:cxnSp>
      <p:sp>
        <p:nvSpPr>
          <p:cNvPr id="103" name="TextBox 102"/>
          <p:cNvSpPr txBox="1"/>
          <p:nvPr/>
        </p:nvSpPr>
        <p:spPr>
          <a:xfrm>
            <a:off x="452628" y="4518683"/>
            <a:ext cx="503089" cy="32999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6.6.1</a:t>
            </a:r>
          </a:p>
        </p:txBody>
      </p:sp>
      <p:sp>
        <p:nvSpPr>
          <p:cNvPr id="104" name="TextBox 103"/>
          <p:cNvSpPr txBox="1"/>
          <p:nvPr/>
        </p:nvSpPr>
        <p:spPr>
          <a:xfrm>
            <a:off x="1092877" y="4518683"/>
            <a:ext cx="2698228"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Novas campanhas para segmentos prioritários (classe média/alta e SUVs) lançadas</a:t>
            </a:r>
          </a:p>
        </p:txBody>
      </p:sp>
      <p:sp>
        <p:nvSpPr>
          <p:cNvPr id="105" name="TextBox 104"/>
          <p:cNvSpPr txBox="1"/>
          <p:nvPr/>
        </p:nvSpPr>
        <p:spPr>
          <a:xfrm>
            <a:off x="3928266" y="4518683"/>
            <a:ext cx="1106752"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Thaise Leocadio</a:t>
            </a:r>
          </a:p>
        </p:txBody>
      </p:sp>
      <p:sp>
        <p:nvSpPr>
          <p:cNvPr id="106" name="TextBox 105"/>
          <p:cNvSpPr txBox="1"/>
          <p:nvPr/>
        </p:nvSpPr>
        <p:spPr>
          <a:xfrm>
            <a:off x="5172178" y="4518683"/>
            <a:ext cx="649431" cy="32999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S2 out/26</a:t>
            </a:r>
          </a:p>
        </p:txBody>
      </p:sp>
      <p:sp>
        <p:nvSpPr>
          <p:cNvPr id="107" name="Rounded Rectangle 106"/>
          <p:cNvSpPr/>
          <p:nvPr/>
        </p:nvSpPr>
        <p:spPr>
          <a:xfrm>
            <a:off x="5958770" y="4529655"/>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108" name="TextBox 107"/>
          <p:cNvSpPr txBox="1"/>
          <p:nvPr/>
        </p:nvSpPr>
        <p:spPr>
          <a:xfrm>
            <a:off x="5958770" y="4529655"/>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109" name="Rectangle 108"/>
          <p:cNvSpPr/>
          <p:nvPr/>
        </p:nvSpPr>
        <p:spPr>
          <a:xfrm>
            <a:off x="6800247" y="4509539"/>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110" name="TextBox 109"/>
          <p:cNvSpPr txBox="1"/>
          <p:nvPr/>
        </p:nvSpPr>
        <p:spPr>
          <a:xfrm>
            <a:off x="6855111" y="4536971"/>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11" name="Rectangle 110"/>
          <p:cNvSpPr/>
          <p:nvPr/>
        </p:nvSpPr>
        <p:spPr>
          <a:xfrm>
            <a:off x="8483188" y="4509539"/>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112" name="TextBox 111"/>
          <p:cNvSpPr txBox="1"/>
          <p:nvPr/>
        </p:nvSpPr>
        <p:spPr>
          <a:xfrm>
            <a:off x="8538052" y="4536971"/>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13" name="Rectangle 112"/>
          <p:cNvSpPr/>
          <p:nvPr/>
        </p:nvSpPr>
        <p:spPr>
          <a:xfrm>
            <a:off x="10166128" y="4509539"/>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114" name="TextBox 113"/>
          <p:cNvSpPr txBox="1"/>
          <p:nvPr/>
        </p:nvSpPr>
        <p:spPr>
          <a:xfrm>
            <a:off x="10220992" y="4536971"/>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115" name="Connector 114"/>
          <p:cNvCxnSpPr/>
          <p:nvPr/>
        </p:nvCxnSpPr>
        <p:spPr>
          <a:xfrm>
            <a:off x="384048" y="4898967"/>
            <a:ext cx="11423873" cy="0"/>
          </a:xfrm>
          <a:prstGeom prst="line">
            <a:avLst/>
          </a:prstGeom>
          <a:ln w="6350">
            <a:solidFill>
              <a:srgbClr val="ECECEC"/>
            </a:solidFill>
          </a:ln>
          <a:effectLst/>
        </p:spPr>
      </p:cxnSp>
      <p:sp>
        <p:nvSpPr>
          <p:cNvPr id="116" name="TextBox 115"/>
          <p:cNvSpPr txBox="1"/>
          <p:nvPr/>
        </p:nvSpPr>
        <p:spPr>
          <a:xfrm>
            <a:off x="452628" y="4949259"/>
            <a:ext cx="503089" cy="32999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6.7.1</a:t>
            </a:r>
          </a:p>
        </p:txBody>
      </p:sp>
      <p:sp>
        <p:nvSpPr>
          <p:cNvPr id="117" name="TextBox 116"/>
          <p:cNvSpPr txBox="1"/>
          <p:nvPr/>
        </p:nvSpPr>
        <p:spPr>
          <a:xfrm>
            <a:off x="1092877" y="4949259"/>
            <a:ext cx="2698228"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Modelo de produção e melhoria contínua de conteúdo revisado</a:t>
            </a:r>
          </a:p>
        </p:txBody>
      </p:sp>
      <p:sp>
        <p:nvSpPr>
          <p:cNvPr id="118" name="TextBox 117"/>
          <p:cNvSpPr txBox="1"/>
          <p:nvPr/>
        </p:nvSpPr>
        <p:spPr>
          <a:xfrm>
            <a:off x="3928266" y="4949259"/>
            <a:ext cx="1106752"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Thaise Leocadio</a:t>
            </a:r>
          </a:p>
        </p:txBody>
      </p:sp>
      <p:sp>
        <p:nvSpPr>
          <p:cNvPr id="119" name="TextBox 118"/>
          <p:cNvSpPr txBox="1"/>
          <p:nvPr/>
        </p:nvSpPr>
        <p:spPr>
          <a:xfrm>
            <a:off x="5172178" y="4949259"/>
            <a:ext cx="649431" cy="32999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set/26</a:t>
            </a:r>
          </a:p>
        </p:txBody>
      </p:sp>
      <p:sp>
        <p:nvSpPr>
          <p:cNvPr id="120" name="Rounded Rectangle 119"/>
          <p:cNvSpPr/>
          <p:nvPr/>
        </p:nvSpPr>
        <p:spPr>
          <a:xfrm>
            <a:off x="5958770" y="4960232"/>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121" name="TextBox 120"/>
          <p:cNvSpPr txBox="1"/>
          <p:nvPr/>
        </p:nvSpPr>
        <p:spPr>
          <a:xfrm>
            <a:off x="5958770" y="4960232"/>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122" name="Rectangle 121"/>
          <p:cNvSpPr/>
          <p:nvPr/>
        </p:nvSpPr>
        <p:spPr>
          <a:xfrm>
            <a:off x="6800247" y="4940115"/>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123" name="TextBox 122"/>
          <p:cNvSpPr txBox="1"/>
          <p:nvPr/>
        </p:nvSpPr>
        <p:spPr>
          <a:xfrm>
            <a:off x="6855111" y="4967547"/>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24" name="Rectangle 123"/>
          <p:cNvSpPr/>
          <p:nvPr/>
        </p:nvSpPr>
        <p:spPr>
          <a:xfrm>
            <a:off x="8483188" y="4940115"/>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125" name="TextBox 124"/>
          <p:cNvSpPr txBox="1"/>
          <p:nvPr/>
        </p:nvSpPr>
        <p:spPr>
          <a:xfrm>
            <a:off x="8538052" y="4967547"/>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26" name="Rectangle 125"/>
          <p:cNvSpPr/>
          <p:nvPr/>
        </p:nvSpPr>
        <p:spPr>
          <a:xfrm>
            <a:off x="10166128" y="4940115"/>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127" name="TextBox 126"/>
          <p:cNvSpPr txBox="1"/>
          <p:nvPr/>
        </p:nvSpPr>
        <p:spPr>
          <a:xfrm>
            <a:off x="10220992" y="4967547"/>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128" name="Connector 127"/>
          <p:cNvCxnSpPr/>
          <p:nvPr/>
        </p:nvCxnSpPr>
        <p:spPr>
          <a:xfrm>
            <a:off x="384048" y="5329543"/>
            <a:ext cx="11423873" cy="0"/>
          </a:xfrm>
          <a:prstGeom prst="line">
            <a:avLst/>
          </a:prstGeom>
          <a:ln w="6350">
            <a:solidFill>
              <a:srgbClr val="ECECEC"/>
            </a:solidFill>
          </a:ln>
          <a:effectLst/>
        </p:spPr>
      </p:cxnSp>
      <p:sp>
        <p:nvSpPr>
          <p:cNvPr id="129" name="TextBox 128"/>
          <p:cNvSpPr txBox="1"/>
          <p:nvPr/>
        </p:nvSpPr>
        <p:spPr>
          <a:xfrm>
            <a:off x="452628" y="5379835"/>
            <a:ext cx="503089" cy="32999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6.8.1</a:t>
            </a:r>
          </a:p>
        </p:txBody>
      </p:sp>
      <p:sp>
        <p:nvSpPr>
          <p:cNvPr id="130" name="TextBox 129"/>
          <p:cNvSpPr txBox="1"/>
          <p:nvPr/>
        </p:nvSpPr>
        <p:spPr>
          <a:xfrm>
            <a:off x="1092877" y="5379835"/>
            <a:ext cx="2698228"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Ativos prioritários de conversão (landing pages, conteúdos, páginas de cadastro) revisados e aprimorados</a:t>
            </a:r>
          </a:p>
        </p:txBody>
      </p:sp>
      <p:sp>
        <p:nvSpPr>
          <p:cNvPr id="131" name="TextBox 130"/>
          <p:cNvSpPr txBox="1"/>
          <p:nvPr/>
        </p:nvSpPr>
        <p:spPr>
          <a:xfrm>
            <a:off x="3928266" y="5379835"/>
            <a:ext cx="1106752"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A definir</a:t>
            </a:r>
          </a:p>
        </p:txBody>
      </p:sp>
      <p:sp>
        <p:nvSpPr>
          <p:cNvPr id="132" name="TextBox 131"/>
          <p:cNvSpPr txBox="1"/>
          <p:nvPr/>
        </p:nvSpPr>
        <p:spPr>
          <a:xfrm>
            <a:off x="5172178" y="5379835"/>
            <a:ext cx="649431" cy="32999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out/26</a:t>
            </a:r>
          </a:p>
        </p:txBody>
      </p:sp>
      <p:sp>
        <p:nvSpPr>
          <p:cNvPr id="133" name="Rounded Rectangle 132"/>
          <p:cNvSpPr/>
          <p:nvPr/>
        </p:nvSpPr>
        <p:spPr>
          <a:xfrm>
            <a:off x="5958770" y="5390808"/>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134" name="TextBox 133"/>
          <p:cNvSpPr txBox="1"/>
          <p:nvPr/>
        </p:nvSpPr>
        <p:spPr>
          <a:xfrm>
            <a:off x="5958770" y="5390808"/>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135" name="Rectangle 134"/>
          <p:cNvSpPr/>
          <p:nvPr/>
        </p:nvSpPr>
        <p:spPr>
          <a:xfrm>
            <a:off x="6800247" y="5370691"/>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136" name="TextBox 135"/>
          <p:cNvSpPr txBox="1"/>
          <p:nvPr/>
        </p:nvSpPr>
        <p:spPr>
          <a:xfrm>
            <a:off x="6855111" y="5398123"/>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37" name="Rectangle 136"/>
          <p:cNvSpPr/>
          <p:nvPr/>
        </p:nvSpPr>
        <p:spPr>
          <a:xfrm>
            <a:off x="8483188" y="5370691"/>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138" name="TextBox 137"/>
          <p:cNvSpPr txBox="1"/>
          <p:nvPr/>
        </p:nvSpPr>
        <p:spPr>
          <a:xfrm>
            <a:off x="8538052" y="5398123"/>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39" name="Rectangle 138"/>
          <p:cNvSpPr/>
          <p:nvPr/>
        </p:nvSpPr>
        <p:spPr>
          <a:xfrm>
            <a:off x="10166128" y="5370691"/>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140" name="TextBox 139"/>
          <p:cNvSpPr txBox="1"/>
          <p:nvPr/>
        </p:nvSpPr>
        <p:spPr>
          <a:xfrm>
            <a:off x="10220992" y="5398123"/>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141" name="Connector 140"/>
          <p:cNvCxnSpPr/>
          <p:nvPr/>
        </p:nvCxnSpPr>
        <p:spPr>
          <a:xfrm>
            <a:off x="384048" y="5760119"/>
            <a:ext cx="11423873" cy="0"/>
          </a:xfrm>
          <a:prstGeom prst="line">
            <a:avLst/>
          </a:prstGeom>
          <a:ln w="6350">
            <a:solidFill>
              <a:srgbClr val="ECECEC"/>
            </a:solidFill>
          </a:ln>
          <a:effectLst/>
        </p:spPr>
      </p:cxnSp>
      <p:sp>
        <p:nvSpPr>
          <p:cNvPr id="142" name="TextBox 141"/>
          <p:cNvSpPr txBox="1"/>
          <p:nvPr/>
        </p:nvSpPr>
        <p:spPr>
          <a:xfrm>
            <a:off x="452628" y="5810411"/>
            <a:ext cx="503089" cy="255824"/>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6.9.1</a:t>
            </a:r>
          </a:p>
        </p:txBody>
      </p:sp>
      <p:sp>
        <p:nvSpPr>
          <p:cNvPr id="143" name="TextBox 142"/>
          <p:cNvSpPr txBox="1"/>
          <p:nvPr/>
        </p:nvSpPr>
        <p:spPr>
          <a:xfrm>
            <a:off x="1092877" y="5810411"/>
            <a:ext cx="2698228" cy="25582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Modelo de experimentação implantado</a:t>
            </a:r>
          </a:p>
        </p:txBody>
      </p:sp>
      <p:sp>
        <p:nvSpPr>
          <p:cNvPr id="144" name="TextBox 143"/>
          <p:cNvSpPr txBox="1"/>
          <p:nvPr/>
        </p:nvSpPr>
        <p:spPr>
          <a:xfrm>
            <a:off x="3928266" y="5810411"/>
            <a:ext cx="1106752" cy="255824"/>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A definir</a:t>
            </a:r>
          </a:p>
        </p:txBody>
      </p:sp>
      <p:sp>
        <p:nvSpPr>
          <p:cNvPr id="145" name="TextBox 144"/>
          <p:cNvSpPr txBox="1"/>
          <p:nvPr/>
        </p:nvSpPr>
        <p:spPr>
          <a:xfrm>
            <a:off x="5172178" y="5810411"/>
            <a:ext cx="649431" cy="255824"/>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set/26</a:t>
            </a:r>
          </a:p>
        </p:txBody>
      </p:sp>
      <p:sp>
        <p:nvSpPr>
          <p:cNvPr id="146" name="Rounded Rectangle 145"/>
          <p:cNvSpPr/>
          <p:nvPr/>
        </p:nvSpPr>
        <p:spPr>
          <a:xfrm>
            <a:off x="5958770" y="5821384"/>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147" name="TextBox 146"/>
          <p:cNvSpPr txBox="1"/>
          <p:nvPr/>
        </p:nvSpPr>
        <p:spPr>
          <a:xfrm>
            <a:off x="5958770" y="5821384"/>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148" name="Rectangle 147"/>
          <p:cNvSpPr/>
          <p:nvPr/>
        </p:nvSpPr>
        <p:spPr>
          <a:xfrm>
            <a:off x="6800247" y="5801267"/>
            <a:ext cx="1600644" cy="274112"/>
          </a:xfrm>
          <a:prstGeom prst="rect">
            <a:avLst/>
          </a:prstGeom>
          <a:solidFill>
            <a:srgbClr val="FFFFFF"/>
          </a:solidFill>
          <a:ln w="6350">
            <a:solidFill>
              <a:srgbClr val="D5D5D5"/>
            </a:solidFill>
          </a:ln>
          <a:effectLst/>
        </p:spPr>
        <p:txBody>
          <a:bodyPr rtlCol="0" anchor="ctr" lIns="0" rIns="0" tIns="0" bIns="0"/>
          <a:lstStyle/>
          <a:p>
            <a:pPr algn="ctr"/>
          </a:p>
        </p:txBody>
      </p:sp>
      <p:sp>
        <p:nvSpPr>
          <p:cNvPr id="149" name="TextBox 148"/>
          <p:cNvSpPr txBox="1"/>
          <p:nvPr/>
        </p:nvSpPr>
        <p:spPr>
          <a:xfrm>
            <a:off x="6855111" y="5828699"/>
            <a:ext cx="1490916" cy="21924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50" name="Rectangle 149"/>
          <p:cNvSpPr/>
          <p:nvPr/>
        </p:nvSpPr>
        <p:spPr>
          <a:xfrm>
            <a:off x="8483188" y="5801267"/>
            <a:ext cx="1600644" cy="274112"/>
          </a:xfrm>
          <a:prstGeom prst="rect">
            <a:avLst/>
          </a:prstGeom>
          <a:solidFill>
            <a:srgbClr val="FFFFFF"/>
          </a:solidFill>
          <a:ln w="6350">
            <a:solidFill>
              <a:srgbClr val="D5D5D5"/>
            </a:solidFill>
          </a:ln>
          <a:effectLst/>
        </p:spPr>
        <p:txBody>
          <a:bodyPr rtlCol="0" anchor="ctr" lIns="0" rIns="0" tIns="0" bIns="0"/>
          <a:lstStyle/>
          <a:p>
            <a:pPr algn="ctr"/>
          </a:p>
        </p:txBody>
      </p:sp>
      <p:sp>
        <p:nvSpPr>
          <p:cNvPr id="151" name="TextBox 150"/>
          <p:cNvSpPr txBox="1"/>
          <p:nvPr/>
        </p:nvSpPr>
        <p:spPr>
          <a:xfrm>
            <a:off x="8538052" y="5828699"/>
            <a:ext cx="1490916" cy="21924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52" name="Rectangle 151"/>
          <p:cNvSpPr/>
          <p:nvPr/>
        </p:nvSpPr>
        <p:spPr>
          <a:xfrm>
            <a:off x="10166128" y="5801267"/>
            <a:ext cx="1600644" cy="274112"/>
          </a:xfrm>
          <a:prstGeom prst="rect">
            <a:avLst/>
          </a:prstGeom>
          <a:solidFill>
            <a:srgbClr val="FFFFFF"/>
          </a:solidFill>
          <a:ln w="6350">
            <a:solidFill>
              <a:srgbClr val="D5D5D5"/>
            </a:solidFill>
          </a:ln>
          <a:effectLst/>
        </p:spPr>
        <p:txBody>
          <a:bodyPr rtlCol="0" anchor="ctr" lIns="0" rIns="0" tIns="0" bIns="0"/>
          <a:lstStyle/>
          <a:p>
            <a:pPr algn="ctr"/>
          </a:p>
        </p:txBody>
      </p:sp>
      <p:sp>
        <p:nvSpPr>
          <p:cNvPr id="153" name="TextBox 152"/>
          <p:cNvSpPr txBox="1"/>
          <p:nvPr/>
        </p:nvSpPr>
        <p:spPr>
          <a:xfrm>
            <a:off x="10220992" y="5828699"/>
            <a:ext cx="1490916" cy="219248"/>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154" name="Connector 153"/>
          <p:cNvCxnSpPr/>
          <p:nvPr/>
        </p:nvCxnSpPr>
        <p:spPr>
          <a:xfrm>
            <a:off x="384048" y="6116527"/>
            <a:ext cx="11423873" cy="0"/>
          </a:xfrm>
          <a:prstGeom prst="line">
            <a:avLst/>
          </a:prstGeom>
          <a:ln w="6350">
            <a:solidFill>
              <a:srgbClr val="ECECEC"/>
            </a:solidFill>
          </a:ln>
          <a:effectLst/>
        </p:spPr>
      </p:cxnSp>
      <p:sp>
        <p:nvSpPr>
          <p:cNvPr id="155" name="TextBox 154"/>
          <p:cNvSpPr txBox="1"/>
          <p:nvPr/>
        </p:nvSpPr>
        <p:spPr>
          <a:xfrm>
            <a:off x="452628" y="6166819"/>
            <a:ext cx="503089" cy="329992"/>
          </a:xfrm>
          <a:prstGeom prst="rect">
            <a:avLst/>
          </a:prstGeom>
          <a:noFill/>
        </p:spPr>
        <p:txBody>
          <a:bodyPr wrap="square" lIns="0" rIns="0" tIns="0" bIns="0" anchor="t">
            <a:spAutoFit/>
          </a:bodyPr>
          <a:lstStyle/>
          <a:p>
            <a:pPr algn="l">
              <a:lnSpc>
                <a:spcPct val="122000"/>
              </a:lnSpc>
            </a:pPr>
            <a:r>
              <a:rPr sz="750" b="1" i="0">
                <a:solidFill>
                  <a:srgbClr val="757575"/>
                </a:solidFill>
                <a:latin typeface="Arial"/>
              </a:rPr>
              <a:t>6.10.1</a:t>
            </a:r>
          </a:p>
        </p:txBody>
      </p:sp>
      <p:sp>
        <p:nvSpPr>
          <p:cNvPr id="156" name="TextBox 155"/>
          <p:cNvSpPr txBox="1"/>
          <p:nvPr/>
        </p:nvSpPr>
        <p:spPr>
          <a:xfrm>
            <a:off x="1092877" y="6166819"/>
            <a:ext cx="2698228"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Oportunidades de geração de leads via parcerias e ativações comerciais mapeadas, priorizadas e testadas</a:t>
            </a:r>
          </a:p>
        </p:txBody>
      </p:sp>
      <p:sp>
        <p:nvSpPr>
          <p:cNvPr id="157" name="TextBox 156"/>
          <p:cNvSpPr txBox="1"/>
          <p:nvPr/>
        </p:nvSpPr>
        <p:spPr>
          <a:xfrm>
            <a:off x="3928266" y="6166819"/>
            <a:ext cx="1106752" cy="329992"/>
          </a:xfrm>
          <a:prstGeom prst="rect">
            <a:avLst/>
          </a:prstGeom>
          <a:noFill/>
        </p:spPr>
        <p:txBody>
          <a:bodyPr wrap="square" lIns="0" rIns="0" tIns="0" bIns="0" anchor="t">
            <a:spAutoFit/>
          </a:bodyPr>
          <a:lstStyle/>
          <a:p>
            <a:pPr algn="l">
              <a:lnSpc>
                <a:spcPct val="122000"/>
              </a:lnSpc>
            </a:pPr>
            <a:r>
              <a:rPr sz="800" b="0" i="0">
                <a:solidFill>
                  <a:srgbClr val="333333"/>
                </a:solidFill>
                <a:latin typeface="Arial"/>
              </a:rPr>
              <a:t>A definir</a:t>
            </a:r>
          </a:p>
        </p:txBody>
      </p:sp>
      <p:sp>
        <p:nvSpPr>
          <p:cNvPr id="158" name="TextBox 157"/>
          <p:cNvSpPr txBox="1"/>
          <p:nvPr/>
        </p:nvSpPr>
        <p:spPr>
          <a:xfrm>
            <a:off x="5172178" y="6166819"/>
            <a:ext cx="649431" cy="329992"/>
          </a:xfrm>
          <a:prstGeom prst="rect">
            <a:avLst/>
          </a:prstGeom>
          <a:noFill/>
        </p:spPr>
        <p:txBody>
          <a:bodyPr wrap="square" lIns="0" rIns="0" tIns="0" bIns="0" anchor="t">
            <a:spAutoFit/>
          </a:bodyPr>
          <a:lstStyle/>
          <a:p>
            <a:pPr algn="l">
              <a:lnSpc>
                <a:spcPct val="122000"/>
              </a:lnSpc>
            </a:pPr>
            <a:r>
              <a:rPr sz="800" b="0" i="0">
                <a:solidFill>
                  <a:srgbClr val="6B6B6B"/>
                </a:solidFill>
                <a:latin typeface="Arial"/>
              </a:rPr>
              <a:t>S4 out/26</a:t>
            </a:r>
          </a:p>
        </p:txBody>
      </p:sp>
      <p:sp>
        <p:nvSpPr>
          <p:cNvPr id="159" name="Rounded Rectangle 158"/>
          <p:cNvSpPr/>
          <p:nvPr/>
        </p:nvSpPr>
        <p:spPr>
          <a:xfrm>
            <a:off x="5958770" y="6177792"/>
            <a:ext cx="731749" cy="169164"/>
          </a:xfrm>
          <a:prstGeom prst="roundRect">
            <a:avLst>
              <a:gd name="adj" fmla="val 50000"/>
            </a:avLst>
          </a:prstGeom>
          <a:solidFill>
            <a:srgbClr val="FCEAEA"/>
          </a:solidFill>
          <a:ln>
            <a:noFill/>
          </a:ln>
          <a:effectLst/>
        </p:spPr>
        <p:txBody>
          <a:bodyPr rtlCol="0" anchor="ctr" lIns="0" rIns="0" tIns="0" bIns="0"/>
          <a:lstStyle/>
          <a:p>
            <a:pPr algn="ctr"/>
          </a:p>
        </p:txBody>
      </p:sp>
      <p:sp>
        <p:nvSpPr>
          <p:cNvPr id="160" name="TextBox 159"/>
          <p:cNvSpPr txBox="1"/>
          <p:nvPr/>
        </p:nvSpPr>
        <p:spPr>
          <a:xfrm>
            <a:off x="5958770" y="6177792"/>
            <a:ext cx="731749" cy="169164"/>
          </a:xfrm>
          <a:prstGeom prst="rect">
            <a:avLst/>
          </a:prstGeom>
          <a:noFill/>
        </p:spPr>
        <p:txBody>
          <a:bodyPr wrap="square" lIns="0" rIns="0" tIns="0" bIns="0" anchor="ctr">
            <a:spAutoFit/>
          </a:bodyPr>
          <a:lstStyle/>
          <a:p>
            <a:pPr algn="ctr">
              <a:lnSpc>
                <a:spcPct val="122000"/>
              </a:lnSpc>
            </a:pPr>
            <a:r>
              <a:rPr sz="750" b="1" i="0">
                <a:solidFill>
                  <a:srgbClr val="A30000"/>
                </a:solidFill>
                <a:latin typeface="Arial"/>
              </a:rPr>
              <a:t>Não iniciado</a:t>
            </a:r>
          </a:p>
        </p:txBody>
      </p:sp>
      <p:sp>
        <p:nvSpPr>
          <p:cNvPr id="161" name="Rectangle 160"/>
          <p:cNvSpPr/>
          <p:nvPr/>
        </p:nvSpPr>
        <p:spPr>
          <a:xfrm>
            <a:off x="6800247" y="6157675"/>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162" name="TextBox 161"/>
          <p:cNvSpPr txBox="1"/>
          <p:nvPr/>
        </p:nvSpPr>
        <p:spPr>
          <a:xfrm>
            <a:off x="6855111" y="6185107"/>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63" name="Rectangle 162"/>
          <p:cNvSpPr/>
          <p:nvPr/>
        </p:nvSpPr>
        <p:spPr>
          <a:xfrm>
            <a:off x="8483188" y="6157675"/>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164" name="TextBox 163"/>
          <p:cNvSpPr txBox="1"/>
          <p:nvPr/>
        </p:nvSpPr>
        <p:spPr>
          <a:xfrm>
            <a:off x="8538052" y="6185107"/>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sp>
        <p:nvSpPr>
          <p:cNvPr id="165" name="Rectangle 164"/>
          <p:cNvSpPr/>
          <p:nvPr/>
        </p:nvSpPr>
        <p:spPr>
          <a:xfrm>
            <a:off x="10166128" y="6157675"/>
            <a:ext cx="1600644" cy="348280"/>
          </a:xfrm>
          <a:prstGeom prst="rect">
            <a:avLst/>
          </a:prstGeom>
          <a:solidFill>
            <a:srgbClr val="FFFFFF"/>
          </a:solidFill>
          <a:ln w="6350">
            <a:solidFill>
              <a:srgbClr val="D5D5D5"/>
            </a:solidFill>
          </a:ln>
          <a:effectLst/>
        </p:spPr>
        <p:txBody>
          <a:bodyPr rtlCol="0" anchor="ctr" lIns="0" rIns="0" tIns="0" bIns="0"/>
          <a:lstStyle/>
          <a:p>
            <a:pPr algn="ctr"/>
          </a:p>
        </p:txBody>
      </p:sp>
      <p:sp>
        <p:nvSpPr>
          <p:cNvPr id="166" name="TextBox 165"/>
          <p:cNvSpPr txBox="1"/>
          <p:nvPr/>
        </p:nvSpPr>
        <p:spPr>
          <a:xfrm>
            <a:off x="10220992" y="6185107"/>
            <a:ext cx="1490916" cy="293416"/>
          </a:xfrm>
          <a:prstGeom prst="rect">
            <a:avLst/>
          </a:prstGeom>
          <a:noFill/>
        </p:spPr>
        <p:txBody>
          <a:bodyPr wrap="square" lIns="0" rIns="0" tIns="0" bIns="0" anchor="t">
            <a:spAutoFit/>
          </a:bodyPr>
          <a:lstStyle/>
          <a:p>
            <a:pPr algn="l">
              <a:lnSpc>
                <a:spcPct val="122000"/>
              </a:lnSpc>
            </a:pPr>
            <a:r>
              <a:rPr sz="800" b="0" i="0">
                <a:solidFill>
                  <a:srgbClr val="828282"/>
                </a:solidFill>
                <a:latin typeface="Arial"/>
              </a:rPr>
              <a:t>TBD</a:t>
            </a:r>
          </a:p>
        </p:txBody>
      </p:sp>
      <p:cxnSp>
        <p:nvCxnSpPr>
          <p:cNvPr id="167" name="Connector 166"/>
          <p:cNvCxnSpPr/>
          <p:nvPr/>
        </p:nvCxnSpPr>
        <p:spPr>
          <a:xfrm>
            <a:off x="384048" y="6547104"/>
            <a:ext cx="11423873" cy="0"/>
          </a:xfrm>
          <a:prstGeom prst="line">
            <a:avLst/>
          </a:prstGeom>
          <a:ln w="6350">
            <a:solidFill>
              <a:srgbClr val="D5D5D5"/>
            </a:solidFill>
          </a:ln>
          <a:effectLst/>
        </p:spPr>
      </p:cxnSp>
      <p:cxnSp>
        <p:nvCxnSpPr>
          <p:cNvPr id="168" name="Connector 167"/>
          <p:cNvCxnSpPr/>
          <p:nvPr/>
        </p:nvCxnSpPr>
        <p:spPr>
          <a:xfrm>
            <a:off x="384048" y="6583680"/>
            <a:ext cx="11423873" cy="0"/>
          </a:xfrm>
          <a:prstGeom prst="line">
            <a:avLst/>
          </a:prstGeom>
          <a:ln w="6350">
            <a:solidFill>
              <a:srgbClr val="E2E2E2"/>
            </a:solidFill>
          </a:ln>
          <a:effectLst/>
        </p:spPr>
      </p:cxnSp>
      <p:sp>
        <p:nvSpPr>
          <p:cNvPr id="169" name="TextBox 168"/>
          <p:cNvSpPr txBox="1"/>
          <p:nvPr/>
        </p:nvSpPr>
        <p:spPr>
          <a:xfrm>
            <a:off x="384048" y="6624828"/>
            <a:ext cx="9139098" cy="128016"/>
          </a:xfrm>
          <a:prstGeom prst="rect">
            <a:avLst/>
          </a:prstGeom>
          <a:noFill/>
        </p:spPr>
        <p:txBody>
          <a:bodyPr wrap="square" lIns="0" rIns="0" tIns="0" bIns="0" anchor="t">
            <a:spAutoFit/>
          </a:bodyPr>
          <a:lstStyle/>
          <a:p>
            <a:pPr algn="l">
              <a:lnSpc>
                <a:spcPct val="122000"/>
              </a:lnSpc>
            </a:pPr>
            <a:r>
              <a:rPr sz="650" b="0" i="0">
                <a:solidFill>
                  <a:srgbClr val="757575"/>
                </a:solidFill>
                <a:latin typeface="Arial"/>
              </a:rPr>
              <a:t>Fonte: Painel de Controle Lead-to-Sales — Aceleração Seminovos</a:t>
            </a:r>
          </a:p>
        </p:txBody>
      </p:sp>
      <p:sp>
        <p:nvSpPr>
          <p:cNvPr id="170" name="TextBox 169"/>
          <p:cNvSpPr txBox="1"/>
          <p:nvPr/>
        </p:nvSpPr>
        <p:spPr>
          <a:xfrm>
            <a:off x="10893521" y="6624828"/>
            <a:ext cx="914400" cy="128016"/>
          </a:xfrm>
          <a:prstGeom prst="rect">
            <a:avLst/>
          </a:prstGeom>
          <a:noFill/>
        </p:spPr>
        <p:txBody>
          <a:bodyPr wrap="square" lIns="0" rIns="0" tIns="0" bIns="0" anchor="t">
            <a:spAutoFit/>
          </a:bodyPr>
          <a:lstStyle/>
          <a:p>
            <a:pPr algn="r">
              <a:lnSpc>
                <a:spcPct val="122000"/>
              </a:lnSpc>
            </a:pPr>
            <a:r>
              <a:rPr sz="650" b="0" i="0">
                <a:solidFill>
                  <a:srgbClr val="757575"/>
                </a:solidFill>
                <a:latin typeface="Arial"/>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Lead-to-Sales — Frentes e Milestones</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