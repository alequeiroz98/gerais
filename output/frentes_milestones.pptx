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274320"/>
          <a:ext cx="11423874" cy="99479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"/>
                <a:gridCol w="6966174"/>
                <a:gridCol w="1737360"/>
                <a:gridCol w="2651760"/>
              </a:tblGrid>
              <a:tr h="994791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A1A1A"/>
                          </a:solidFill>
                          <a:latin typeface="Arial"/>
                        </a:rPr>
                        <a:t>Planejamento integrado mkt | vendas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Aprimorar o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planejamento integrado e colaborativo entre marketing e vendas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 para dimensionar a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necessidade de vendas de curto prazo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, desdobrando-a em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planos de geração de leads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 e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planos comerciais de conversão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, com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ambições compartilhadas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 entre as áreas.</a:t>
                      </a:r>
                    </a:p>
                  </a:txBody>
                  <a:tcPr marL="585216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757575"/>
                          </a:solidFill>
                          <a:latin typeface="Arial"/>
                        </a:rPr>
                        <a:t>LÍDER(ES)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Leonardo Viali, Luiz Santi e João Azevedo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757575"/>
                          </a:solidFill>
                          <a:latin typeface="Arial"/>
                        </a:rPr>
                        <a:t>TIME DE TRABALHO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Vitor Moraes, Juliana Ribas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>
            <a:hlinkClick action="ppaction://hlinksldjump" r:id="rId2"/>
          </p:cNvPr>
          <p:cNvSpPr txBox="1"/>
          <p:nvPr/>
        </p:nvSpPr>
        <p:spPr>
          <a:xfrm>
            <a:off x="384048" y="1387983"/>
            <a:ext cx="2183755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3F7C0E"/>
                </a:solidFill>
                <a:latin typeface="Arial"/>
              </a:rPr>
              <a:t>1. Planejamento integrado mkt | vendas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2785905" y="1387983"/>
            <a:ext cx="255857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2. Tratamento, priorização e alocação de leads</a:t>
            </a:r>
          </a:p>
        </p:txBody>
      </p:sp>
      <p:sp>
        <p:nvSpPr>
          <p:cNvPr id="6" name="TextBox 5">
            <a:hlinkClick action="ppaction://hlinksldjump" r:id="rId4"/>
          </p:cNvPr>
          <p:cNvSpPr txBox="1"/>
          <p:nvPr/>
        </p:nvSpPr>
        <p:spPr>
          <a:xfrm>
            <a:off x="5562586" y="1387983"/>
            <a:ext cx="168983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3. Atendimento agêntico (Liza)</a:t>
            </a:r>
          </a:p>
        </p:txBody>
      </p:sp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7470524" y="1387983"/>
            <a:ext cx="1543934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4. Atendimento pela Central</a:t>
            </a:r>
          </a:p>
        </p:txBody>
      </p:sp>
      <p:sp>
        <p:nvSpPr>
          <p:cNvPr id="8" name="TextBox 7">
            <a:hlinkClick action="ppaction://hlinksldjump" r:id="rId6"/>
          </p:cNvPr>
          <p:cNvSpPr txBox="1"/>
          <p:nvPr/>
        </p:nvSpPr>
        <p:spPr>
          <a:xfrm>
            <a:off x="9232560" y="1387983"/>
            <a:ext cx="128350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5. Atendimento em loja</a:t>
            </a:r>
          </a:p>
        </p:txBody>
      </p:sp>
      <p:sp>
        <p:nvSpPr>
          <p:cNvPr id="9" name="TextBox 8">
            <a:hlinkClick action="ppaction://hlinksldjump" r:id="rId7"/>
          </p:cNvPr>
          <p:cNvSpPr txBox="1"/>
          <p:nvPr/>
        </p:nvSpPr>
        <p:spPr>
          <a:xfrm>
            <a:off x="10734171" y="1387983"/>
            <a:ext cx="111032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6. Geração de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1030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Milestones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979930"/>
          <a:ext cx="11423874" cy="45123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67532"/>
                <a:gridCol w="3020736"/>
                <a:gridCol w="1299832"/>
                <a:gridCol w="869606"/>
                <a:gridCol w="1052681"/>
                <a:gridCol w="1537829"/>
                <a:gridCol w="1537829"/>
                <a:gridCol w="1537829"/>
              </a:tblGrid>
              <a:tr h="26746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</a:tr>
              <a:tr h="94193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1.1.1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Planejamento de vendas de curto prazo melhorado e em execução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, com definição da necessidade de vendas por loja, tipo de veículo e mês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Vitor Moraes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S4 ago/26 (TBC)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99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1.2.1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Planejamento de geração de leads melhorado e em execução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Juliana Ribas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S4 ago/26 (TBC)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193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1.3.1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Planejamento de conversão de leads em vendas evoluído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, com dimensionamento de capacidade, produtividade e conversão das estruturas de venda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Juliana Ribas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S3 set/26 (TBC)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99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1.4.1 / 1.5.1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Telemetria de geração e conversão de leads aprimorada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Vitor Moraes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S2 out/26 (TBC)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99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1.6.1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Fóruns, governança e rotina recorrente de planejamento mensal integrado implantados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Glauco Zebral + Dico Gomes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S1 set/26 (TBC)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Oval 11"/>
          <p:cNvSpPr/>
          <p:nvPr/>
        </p:nvSpPr>
        <p:spPr>
          <a:xfrm>
            <a:off x="635508" y="363093"/>
            <a:ext cx="274320" cy="274320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" y="413385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4048" y="6565392"/>
            <a:ext cx="11423873" cy="0"/>
          </a:xfrm>
          <a:prstGeom prst="line">
            <a:avLst/>
          </a:prstGeom>
          <a:ln w="6350">
            <a:solidFill>
              <a:srgbClr val="E2E2E2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384048" y="6611112"/>
            <a:ext cx="913909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Fonte: Memorando estratégico Lead to Sales — Aceleração Seminovos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3521" y="661111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274320"/>
          <a:ext cx="11423874" cy="99479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"/>
                <a:gridCol w="6966174"/>
                <a:gridCol w="1737360"/>
                <a:gridCol w="2651760"/>
              </a:tblGrid>
              <a:tr h="994791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A1A1A"/>
                          </a:solidFill>
                          <a:latin typeface="Arial"/>
                        </a:rPr>
                        <a:t>Tratamento, priorização e alocação de leads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Melhorar a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experiência dos clientes em prospecção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, o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entendimento de suas necessidades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, a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priorização dos leads com maior potencial de conversão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 e a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alocação às estruturas de vendas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 com maior chance de conversão.</a:t>
                      </a:r>
                    </a:p>
                  </a:txBody>
                  <a:tcPr marL="585216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757575"/>
                          </a:solidFill>
                          <a:latin typeface="Arial"/>
                        </a:rPr>
                        <a:t>LÍDER(ES)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Eloah Aguiar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757575"/>
                          </a:solidFill>
                          <a:latin typeface="Arial"/>
                        </a:rPr>
                        <a:t>TIME DE TRABALHO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Thais Pimenta, Luma Gomes e João Azevedo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>
            <a:hlinkClick action="ppaction://hlinksldjump" r:id="rId2"/>
          </p:cNvPr>
          <p:cNvSpPr txBox="1"/>
          <p:nvPr/>
        </p:nvSpPr>
        <p:spPr>
          <a:xfrm>
            <a:off x="384048" y="1387983"/>
            <a:ext cx="2183755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1. Planejamento integrado mkt | vendas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2785905" y="1387983"/>
            <a:ext cx="255857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3F7C0E"/>
                </a:solidFill>
                <a:latin typeface="Arial"/>
              </a:rPr>
              <a:t>2. Tratamento, priorização e alocação de leads</a:t>
            </a:r>
          </a:p>
        </p:txBody>
      </p:sp>
      <p:sp>
        <p:nvSpPr>
          <p:cNvPr id="6" name="TextBox 5">
            <a:hlinkClick action="ppaction://hlinksldjump" r:id="rId4"/>
          </p:cNvPr>
          <p:cNvSpPr txBox="1"/>
          <p:nvPr/>
        </p:nvSpPr>
        <p:spPr>
          <a:xfrm>
            <a:off x="5562586" y="1387983"/>
            <a:ext cx="168983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3. Atendimento agêntico (Liza)</a:t>
            </a:r>
          </a:p>
        </p:txBody>
      </p:sp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7470524" y="1387983"/>
            <a:ext cx="1543934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4. Atendimento pela Central</a:t>
            </a:r>
          </a:p>
        </p:txBody>
      </p:sp>
      <p:sp>
        <p:nvSpPr>
          <p:cNvPr id="8" name="TextBox 7">
            <a:hlinkClick action="ppaction://hlinksldjump" r:id="rId6"/>
          </p:cNvPr>
          <p:cNvSpPr txBox="1"/>
          <p:nvPr/>
        </p:nvSpPr>
        <p:spPr>
          <a:xfrm>
            <a:off x="9232560" y="1387983"/>
            <a:ext cx="128350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5. Atendimento em loja</a:t>
            </a:r>
          </a:p>
        </p:txBody>
      </p:sp>
      <p:sp>
        <p:nvSpPr>
          <p:cNvPr id="9" name="TextBox 8">
            <a:hlinkClick action="ppaction://hlinksldjump" r:id="rId7"/>
          </p:cNvPr>
          <p:cNvSpPr txBox="1"/>
          <p:nvPr/>
        </p:nvSpPr>
        <p:spPr>
          <a:xfrm>
            <a:off x="10734171" y="1387983"/>
            <a:ext cx="111032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6. Geração de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1030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Milestones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979930"/>
          <a:ext cx="11423874" cy="451231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67532"/>
                <a:gridCol w="3020736"/>
                <a:gridCol w="1299832"/>
                <a:gridCol w="869606"/>
                <a:gridCol w="1052681"/>
                <a:gridCol w="1537829"/>
                <a:gridCol w="1537829"/>
                <a:gridCol w="1537829"/>
              </a:tblGrid>
              <a:tr h="26746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</a:tr>
              <a:tr h="5054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2.1.1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Ativos de captação melhorados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 (landing pages, WhatsApp)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Luma Gomes e Thais Pimenta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S3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040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2.2.1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Informações capturadas no site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 (ex.: localização por IP)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integradas e disponíveis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 para todos os canais de atendimento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Luma Gomes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S4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040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2.3.1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Lead score evoluído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 com novas variáveis (score B3 de propensão a financiamento, renda presumida etc.)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João Azevedo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S3 out/26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4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2.4.1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Novo modelo de alocação em lojas desenhado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Luma Gomes e Yure Cangussu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S1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674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2.4.2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Piloto com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nova lógica de roteamento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 lançado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Luma Gomes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S2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46A3D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E6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4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2.4.3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Novo modelo de alocação de leads em lojas escalado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 para todas as lojas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Luma Gomes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S2 nov/26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4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2.4.4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Piloto de alocação total dos leads na Liza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, com transbordo para a Central, lançado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Luma Gomes e Yure Cangussu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S4 out/26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4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2.4.5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Modelo de clusterização revisado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 com base nas distâncias entre lojas e leads alocados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João Azevedo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S2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Oval 11"/>
          <p:cNvSpPr/>
          <p:nvPr/>
        </p:nvSpPr>
        <p:spPr>
          <a:xfrm>
            <a:off x="635508" y="363093"/>
            <a:ext cx="274320" cy="274320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" y="413385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4048" y="6565392"/>
            <a:ext cx="11423873" cy="0"/>
          </a:xfrm>
          <a:prstGeom prst="line">
            <a:avLst/>
          </a:prstGeom>
          <a:ln w="6350">
            <a:solidFill>
              <a:srgbClr val="E2E2E2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384048" y="6611112"/>
            <a:ext cx="913909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Fonte: Memorando estratégico Lead to Sales — Aceleração Seminovos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3521" y="661111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274320"/>
          <a:ext cx="11423874" cy="99479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"/>
                <a:gridCol w="6966174"/>
                <a:gridCol w="1737360"/>
                <a:gridCol w="2651760"/>
              </a:tblGrid>
              <a:tr h="994791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A1A1A"/>
                          </a:solidFill>
                          <a:latin typeface="Arial"/>
                        </a:rPr>
                        <a:t>Atendimento agêntico (Liza)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Usar a Liza para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entender a necessidade do cliente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, direcioná-lo à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loja mais aderente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 e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maximizar, inicialmente, a conversão em comparecimento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 — além de aumentar a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produtividade do vendedor humano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 no primeiro atendimento.</a:t>
                      </a:r>
                    </a:p>
                  </a:txBody>
                  <a:tcPr marL="585216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757575"/>
                          </a:solidFill>
                          <a:latin typeface="Arial"/>
                        </a:rPr>
                        <a:t>LÍDER(ES)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Isadora Barreto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757575"/>
                          </a:solidFill>
                          <a:latin typeface="Arial"/>
                        </a:rPr>
                        <a:t>TIME DE TRABALHO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Lucas Lima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>
            <a:hlinkClick action="ppaction://hlinksldjump" r:id="rId2"/>
          </p:cNvPr>
          <p:cNvSpPr txBox="1"/>
          <p:nvPr/>
        </p:nvSpPr>
        <p:spPr>
          <a:xfrm>
            <a:off x="384048" y="1387983"/>
            <a:ext cx="2183755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1. Planejamento integrado mkt | vendas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2785905" y="1387983"/>
            <a:ext cx="255857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2. Tratamento, priorização e alocação de leads</a:t>
            </a:r>
          </a:p>
        </p:txBody>
      </p:sp>
      <p:sp>
        <p:nvSpPr>
          <p:cNvPr id="6" name="TextBox 5">
            <a:hlinkClick action="ppaction://hlinksldjump" r:id="rId4"/>
          </p:cNvPr>
          <p:cNvSpPr txBox="1"/>
          <p:nvPr/>
        </p:nvSpPr>
        <p:spPr>
          <a:xfrm>
            <a:off x="5562586" y="1387983"/>
            <a:ext cx="168983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3F7C0E"/>
                </a:solidFill>
                <a:latin typeface="Arial"/>
              </a:rPr>
              <a:t>3. Atendimento agêntico (Liza)</a:t>
            </a:r>
          </a:p>
        </p:txBody>
      </p:sp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7470524" y="1387983"/>
            <a:ext cx="1543934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4. Atendimento pela Central</a:t>
            </a:r>
          </a:p>
        </p:txBody>
      </p:sp>
      <p:sp>
        <p:nvSpPr>
          <p:cNvPr id="8" name="TextBox 7">
            <a:hlinkClick action="ppaction://hlinksldjump" r:id="rId6"/>
          </p:cNvPr>
          <p:cNvSpPr txBox="1"/>
          <p:nvPr/>
        </p:nvSpPr>
        <p:spPr>
          <a:xfrm>
            <a:off x="9232560" y="1387983"/>
            <a:ext cx="128350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5. Atendimento em loja</a:t>
            </a:r>
          </a:p>
        </p:txBody>
      </p:sp>
      <p:sp>
        <p:nvSpPr>
          <p:cNvPr id="9" name="TextBox 8">
            <a:hlinkClick action="ppaction://hlinksldjump" r:id="rId7"/>
          </p:cNvPr>
          <p:cNvSpPr txBox="1"/>
          <p:nvPr/>
        </p:nvSpPr>
        <p:spPr>
          <a:xfrm>
            <a:off x="10734171" y="1387983"/>
            <a:ext cx="111032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6. Geração de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1030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Milestones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7248" y="1737741"/>
            <a:ext cx="868067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Ciclo completo em ~8 meses, com possibilidade de antecipação para ~3 meses, condicionada a suporte externo em tecnologia.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979930"/>
          <a:ext cx="11423874" cy="45123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67532"/>
                <a:gridCol w="3020736"/>
                <a:gridCol w="1299832"/>
                <a:gridCol w="869606"/>
                <a:gridCol w="1052681"/>
                <a:gridCol w="1537829"/>
                <a:gridCol w="1537829"/>
                <a:gridCol w="1537829"/>
              </a:tblGrid>
              <a:tr h="26746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</a:tr>
              <a:tr h="82775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3.1.1 / 3.2.1 / 3.3.1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Melhorias dos pontos críticos da jornada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: captura e validação de informações, condução da conversa, recomendações de veículos/lojas e simulação financeira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Isadora Barreto e Lucas Lima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ago/26 –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8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3.4.1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Entendimento das situações de troca de veículo (trade-in)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 implementado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Isadora Barreto e Lucas Lima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out/26 – nov/26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281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3.5.1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Limites de interação e regras de encerramento ou transbordo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 das conversas definidos e implementados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Isadora Barreto e Lucas Lima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set/26 – nov/26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8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3.6.1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Integração entre Liza e atendimento humano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, com transbordo inteligente, implementada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Isadora Barreto e Lucas Lima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nov/26 – jan/27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8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3.7.1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Expansão da Liza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 para atendimento dos ~120 mil leads gerados pelas campanhas Meta WhatsApp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Isadora Barreto e Lucas Lima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jan/27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8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3.8.1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Gestão de performance da Liza aprimorada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 com uso de agentes de IA (ex.: Alethe.IA)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Isadora Barreto e Lucas Lima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jan/27 – fev/27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281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3.9.1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Ferramenta de IA consultiva implementada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, com recomendações de abordagem integradas ao fluxo de vendas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Isadora Barreto e Lucas Lima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mar/27 – abr/27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635508" y="363093"/>
            <a:ext cx="274320" cy="274320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" y="413385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4048" y="6565392"/>
            <a:ext cx="11423873" cy="0"/>
          </a:xfrm>
          <a:prstGeom prst="line">
            <a:avLst/>
          </a:prstGeom>
          <a:ln w="6350">
            <a:solidFill>
              <a:srgbClr val="E2E2E2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384048" y="6611112"/>
            <a:ext cx="913909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Fonte: Memorando estratégico Lead to Sales — Aceleração Seminovos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93521" y="661111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274320"/>
          <a:ext cx="11423874" cy="8539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"/>
                <a:gridCol w="6966174"/>
                <a:gridCol w="1737360"/>
                <a:gridCol w="2651760"/>
              </a:tblGrid>
              <a:tr h="853948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A1A1A"/>
                          </a:solidFill>
                          <a:latin typeface="Arial"/>
                        </a:rPr>
                        <a:t>Atendimento pela Central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Melhorar a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experiência dos clientes atendidos pela Central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 (via transbordo da Liza ou escolha do cliente), direcioná-los à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loja mais aderente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 e maximizar, inicialmente, a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conversão em comparecimento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.</a:t>
                      </a:r>
                    </a:p>
                  </a:txBody>
                  <a:tcPr marL="585216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757575"/>
                          </a:solidFill>
                          <a:latin typeface="Arial"/>
                        </a:rPr>
                        <a:t>LÍDER(ES)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Rafael Vidal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757575"/>
                          </a:solidFill>
                          <a:latin typeface="Arial"/>
                        </a:rPr>
                        <a:t>TIME DE TRABALHO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Vitor Sueth (time do João Azevedo), Luis Dutra (time da Eloah Aguiar) e Rômulo Rodrigo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>
            <a:hlinkClick action="ppaction://hlinksldjump" r:id="rId2"/>
          </p:cNvPr>
          <p:cNvSpPr txBox="1"/>
          <p:nvPr/>
        </p:nvSpPr>
        <p:spPr>
          <a:xfrm>
            <a:off x="384048" y="1247139"/>
            <a:ext cx="2183755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1. Planejamento integrado mkt | vendas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2785905" y="1247139"/>
            <a:ext cx="255857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2. Tratamento, priorização e alocação de leads</a:t>
            </a:r>
          </a:p>
        </p:txBody>
      </p:sp>
      <p:sp>
        <p:nvSpPr>
          <p:cNvPr id="6" name="TextBox 5">
            <a:hlinkClick action="ppaction://hlinksldjump" r:id="rId4"/>
          </p:cNvPr>
          <p:cNvSpPr txBox="1"/>
          <p:nvPr/>
        </p:nvSpPr>
        <p:spPr>
          <a:xfrm>
            <a:off x="5562586" y="1247139"/>
            <a:ext cx="168983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3. Atendimento agêntico (Liza)</a:t>
            </a:r>
          </a:p>
        </p:txBody>
      </p:sp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7470524" y="1247139"/>
            <a:ext cx="1543934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3F7C0E"/>
                </a:solidFill>
                <a:latin typeface="Arial"/>
              </a:rPr>
              <a:t>4. Atendimento pela Central</a:t>
            </a:r>
          </a:p>
        </p:txBody>
      </p:sp>
      <p:sp>
        <p:nvSpPr>
          <p:cNvPr id="8" name="TextBox 7">
            <a:hlinkClick action="ppaction://hlinksldjump" r:id="rId6"/>
          </p:cNvPr>
          <p:cNvSpPr txBox="1"/>
          <p:nvPr/>
        </p:nvSpPr>
        <p:spPr>
          <a:xfrm>
            <a:off x="9232560" y="1247139"/>
            <a:ext cx="128350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5. Atendimento em loja</a:t>
            </a:r>
          </a:p>
        </p:txBody>
      </p:sp>
      <p:sp>
        <p:nvSpPr>
          <p:cNvPr id="9" name="TextBox 8">
            <a:hlinkClick action="ppaction://hlinksldjump" r:id="rId7"/>
          </p:cNvPr>
          <p:cNvSpPr txBox="1"/>
          <p:nvPr/>
        </p:nvSpPr>
        <p:spPr>
          <a:xfrm>
            <a:off x="10734171" y="1247139"/>
            <a:ext cx="111032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6. Geração de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569465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Milestones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839087"/>
          <a:ext cx="11423874" cy="46531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67532"/>
                <a:gridCol w="3020736"/>
                <a:gridCol w="1299832"/>
                <a:gridCol w="869606"/>
                <a:gridCol w="1052681"/>
                <a:gridCol w="1537829"/>
                <a:gridCol w="1537829"/>
                <a:gridCol w="1537829"/>
              </a:tblGrid>
              <a:tr h="26746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</a:tr>
              <a:tr h="69742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4.1.1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Melhores práticas de atendimento na Central mapeadas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Luis Dutra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S4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42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4.2.1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Modelo de treinamento e nova rotina de gestão de performance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 dos RDVs evoluídos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Rômulo Rodrigo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S3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23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4.3.1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Teste com contratação de atendentes mais qualificados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 (classe 13, nível de EVs, vs. classe 10, nível de CVs) realizado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Eloah Aguiar e Rômulo Rodrigo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S3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870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4.4.1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Rotina de gestão de performance implementada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Vitor Sueth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S4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42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4.5.1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Piloto de atendimento da Central em lojas do varejo lançado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Rômulo Rodrigo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S4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46A3D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E6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23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4.5.2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Piloto de atendimento da Central em lojas do varejo expandido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 (condicionado a resultados favoráveis)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Rômulo Rodrigo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S4 dez/26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Oval 11"/>
          <p:cNvSpPr/>
          <p:nvPr/>
        </p:nvSpPr>
        <p:spPr>
          <a:xfrm>
            <a:off x="635508" y="363093"/>
            <a:ext cx="274320" cy="274320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" y="413385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4048" y="6565392"/>
            <a:ext cx="11423873" cy="0"/>
          </a:xfrm>
          <a:prstGeom prst="line">
            <a:avLst/>
          </a:prstGeom>
          <a:ln w="6350">
            <a:solidFill>
              <a:srgbClr val="E2E2E2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384048" y="6611112"/>
            <a:ext cx="913909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Fonte: Memorando estratégico Lead to Sales — Aceleração Seminovos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3521" y="661111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274320"/>
          <a:ext cx="11423874" cy="99479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"/>
                <a:gridCol w="6966174"/>
                <a:gridCol w="1737360"/>
                <a:gridCol w="2651760"/>
              </a:tblGrid>
              <a:tr h="994791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A1A1A"/>
                          </a:solidFill>
                          <a:latin typeface="Arial"/>
                        </a:rPr>
                        <a:t>Atendimento em loja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Melhorar a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experiência dos clientes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 nos atendimentos realizados pelos CVs e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aumentar a conversão em venda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, via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melhores práticas de atendimento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,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treinamento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 e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gestão de performance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 com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visibilidade completa do funil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.</a:t>
                      </a:r>
                    </a:p>
                  </a:txBody>
                  <a:tcPr marL="585216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757575"/>
                          </a:solidFill>
                          <a:latin typeface="Arial"/>
                        </a:rPr>
                        <a:t>LÍDER(ES)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Eloah Aguiar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757575"/>
                          </a:solidFill>
                          <a:latin typeface="Arial"/>
                        </a:rPr>
                        <a:t>TIME DE TRABALHO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Pablo Chaves e Isadora Savaget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>
            <a:hlinkClick action="ppaction://hlinksldjump" r:id="rId2"/>
          </p:cNvPr>
          <p:cNvSpPr txBox="1"/>
          <p:nvPr/>
        </p:nvSpPr>
        <p:spPr>
          <a:xfrm>
            <a:off x="384048" y="1387983"/>
            <a:ext cx="2183755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1. Planejamento integrado mkt | vendas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2785905" y="1387983"/>
            <a:ext cx="255857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2. Tratamento, priorização e alocação de leads</a:t>
            </a:r>
          </a:p>
        </p:txBody>
      </p:sp>
      <p:sp>
        <p:nvSpPr>
          <p:cNvPr id="6" name="TextBox 5">
            <a:hlinkClick action="ppaction://hlinksldjump" r:id="rId4"/>
          </p:cNvPr>
          <p:cNvSpPr txBox="1"/>
          <p:nvPr/>
        </p:nvSpPr>
        <p:spPr>
          <a:xfrm>
            <a:off x="5562586" y="1387983"/>
            <a:ext cx="168983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3. Atendimento agêntico (Liza)</a:t>
            </a:r>
          </a:p>
        </p:txBody>
      </p:sp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7470524" y="1387983"/>
            <a:ext cx="1543934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4. Atendimento pela Central</a:t>
            </a:r>
          </a:p>
        </p:txBody>
      </p:sp>
      <p:sp>
        <p:nvSpPr>
          <p:cNvPr id="8" name="TextBox 7">
            <a:hlinkClick action="ppaction://hlinksldjump" r:id="rId6"/>
          </p:cNvPr>
          <p:cNvSpPr txBox="1"/>
          <p:nvPr/>
        </p:nvSpPr>
        <p:spPr>
          <a:xfrm>
            <a:off x="9232560" y="1387983"/>
            <a:ext cx="128350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3F7C0E"/>
                </a:solidFill>
                <a:latin typeface="Arial"/>
              </a:rPr>
              <a:t>5. Atendimento em loja</a:t>
            </a:r>
          </a:p>
        </p:txBody>
      </p:sp>
      <p:sp>
        <p:nvSpPr>
          <p:cNvPr id="9" name="TextBox 8">
            <a:hlinkClick action="ppaction://hlinksldjump" r:id="rId7"/>
          </p:cNvPr>
          <p:cNvSpPr txBox="1"/>
          <p:nvPr/>
        </p:nvSpPr>
        <p:spPr>
          <a:xfrm>
            <a:off x="10734171" y="1387983"/>
            <a:ext cx="111032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6. Geração de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1030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Milestones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979930"/>
          <a:ext cx="11423874" cy="328498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67532"/>
                <a:gridCol w="3020736"/>
                <a:gridCol w="1299832"/>
                <a:gridCol w="869606"/>
                <a:gridCol w="1052681"/>
                <a:gridCol w="1537829"/>
                <a:gridCol w="1537829"/>
                <a:gridCol w="1537829"/>
              </a:tblGrid>
              <a:tr h="26746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5.1.1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Solução de atendimento via WhatsApp Business integrado ao Slack expandida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 para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todas as lojas do varejo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, em ondas mensais (1 loja jul., 28 ago., 80 set., 156 out., 235 nov., 256 dez.)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Isadora Savaget e Denys Damm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dez/26 (TBC)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5.2.1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Inteligência de gestão da performance dos CVs implementada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, combinando indicadores do funil e dados qualitativos via Alethe.IA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Isadora Savaget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S4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757575"/>
                          </a:solidFill>
                          <a:latin typeface="Arial"/>
                        </a:rPr>
                        <a:t>5.3.1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Arial"/>
                        </a:rPr>
                        <a:t>Ritos e rotina de gestão das equipes de loja revisados e implantados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Pablo Chaves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6B6B6B"/>
                          </a:solidFill>
                          <a:latin typeface="Arial"/>
                        </a:rPr>
                        <a:t>S4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Oval 11"/>
          <p:cNvSpPr/>
          <p:nvPr/>
        </p:nvSpPr>
        <p:spPr>
          <a:xfrm>
            <a:off x="635508" y="363093"/>
            <a:ext cx="274320" cy="274320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" y="413385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4048" y="6565392"/>
            <a:ext cx="11423873" cy="0"/>
          </a:xfrm>
          <a:prstGeom prst="line">
            <a:avLst/>
          </a:prstGeom>
          <a:ln w="6350">
            <a:solidFill>
              <a:srgbClr val="E2E2E2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384048" y="6611112"/>
            <a:ext cx="913909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Fonte: Memorando estratégico Lead to Sales — Aceleração Seminovos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3521" y="661111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274320"/>
          <a:ext cx="11423874" cy="8321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"/>
                <a:gridCol w="6966174"/>
                <a:gridCol w="1737360"/>
                <a:gridCol w="2651760"/>
              </a:tblGrid>
              <a:tr h="832104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A1A1A"/>
                          </a:solidFill>
                          <a:latin typeface="Arial"/>
                        </a:rPr>
                        <a:t>Geração de leads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Aumentar a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eficácia e a eficiência da geração de leads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,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reduzindo o CAC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 (geral e por região/categoria), mantendo ou aumentando o volume gerado e elevando a </a:t>
                      </a:r>
                      <a:r>
                        <a:rPr sz="1050" b="1" i="0">
                          <a:solidFill>
                            <a:srgbClr val="6B6B6B"/>
                          </a:solidFill>
                          <a:latin typeface="Arial"/>
                        </a:rPr>
                        <a:t>qualidade dos leads a um menor custo</a:t>
                      </a:r>
                      <a:r>
                        <a:rPr sz="1050" b="0" i="0">
                          <a:solidFill>
                            <a:srgbClr val="6B6B6B"/>
                          </a:solidFill>
                          <a:latin typeface="Arial"/>
                        </a:rPr>
                        <a:t>.</a:t>
                      </a:r>
                    </a:p>
                  </a:txBody>
                  <a:tcPr marL="585216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757575"/>
                          </a:solidFill>
                          <a:latin typeface="Arial"/>
                        </a:rPr>
                        <a:t>LÍDER(ES)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Juliana Ribas e Thaise Leocadio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757575"/>
                          </a:solidFill>
                          <a:latin typeface="Arial"/>
                        </a:rPr>
                        <a:t>TIME DE TRABALHO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>
            <a:hlinkClick action="ppaction://hlinksldjump" r:id="rId2"/>
          </p:cNvPr>
          <p:cNvSpPr txBox="1"/>
          <p:nvPr/>
        </p:nvSpPr>
        <p:spPr>
          <a:xfrm>
            <a:off x="384048" y="1225296"/>
            <a:ext cx="2183755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1. Planejamento integrado mkt | vendas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2785905" y="1225296"/>
            <a:ext cx="255857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2. Tratamento, priorização e alocação de leads</a:t>
            </a:r>
          </a:p>
        </p:txBody>
      </p:sp>
      <p:sp>
        <p:nvSpPr>
          <p:cNvPr id="6" name="TextBox 5">
            <a:hlinkClick action="ppaction://hlinksldjump" r:id="rId4"/>
          </p:cNvPr>
          <p:cNvSpPr txBox="1"/>
          <p:nvPr/>
        </p:nvSpPr>
        <p:spPr>
          <a:xfrm>
            <a:off x="5562586" y="1225296"/>
            <a:ext cx="168983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3. Atendimento agêntico (Liza)</a:t>
            </a:r>
          </a:p>
        </p:txBody>
      </p:sp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7470524" y="1225296"/>
            <a:ext cx="1543934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4. Atendimento pela Central</a:t>
            </a:r>
          </a:p>
        </p:txBody>
      </p:sp>
      <p:sp>
        <p:nvSpPr>
          <p:cNvPr id="8" name="TextBox 7">
            <a:hlinkClick action="ppaction://hlinksldjump" r:id="rId6"/>
          </p:cNvPr>
          <p:cNvSpPr txBox="1"/>
          <p:nvPr/>
        </p:nvSpPr>
        <p:spPr>
          <a:xfrm>
            <a:off x="9232560" y="1225296"/>
            <a:ext cx="128350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4A4A4A"/>
                </a:solidFill>
                <a:latin typeface="Arial"/>
              </a:rPr>
              <a:t>5. Atendimento em loja</a:t>
            </a:r>
          </a:p>
        </p:txBody>
      </p:sp>
      <p:sp>
        <p:nvSpPr>
          <p:cNvPr id="9" name="TextBox 8">
            <a:hlinkClick action="ppaction://hlinksldjump" r:id="rId7"/>
          </p:cNvPr>
          <p:cNvSpPr txBox="1"/>
          <p:nvPr/>
        </p:nvSpPr>
        <p:spPr>
          <a:xfrm>
            <a:off x="10734171" y="1225296"/>
            <a:ext cx="111032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Arial"/>
              </a:rPr>
              <a:t/>
            </a:r>
            <a:r>
              <a:rPr sz="900" b="1" i="0">
                <a:solidFill>
                  <a:srgbClr val="3F7C0E"/>
                </a:solidFill>
                <a:latin typeface="Arial"/>
              </a:rPr>
              <a:t>6. Geração de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54762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Milestones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817243"/>
          <a:ext cx="11423874" cy="46749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67532"/>
                <a:gridCol w="3020736"/>
                <a:gridCol w="1299832"/>
                <a:gridCol w="869606"/>
                <a:gridCol w="1052681"/>
                <a:gridCol w="1537829"/>
                <a:gridCol w="1537829"/>
                <a:gridCol w="1537829"/>
              </a:tblGrid>
              <a:tr h="26746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</a:tr>
              <a:tr h="337139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757575"/>
                          </a:solidFill>
                          <a:latin typeface="Arial"/>
                        </a:rPr>
                        <a:t>6.1.1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333333"/>
                          </a:solidFill>
                          <a:latin typeface="Arial"/>
                        </a:rPr>
                        <a:t>Modelo de atribuição aprimorado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Juliana Ribas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6B6B6B"/>
                          </a:solidFill>
                          <a:latin typeface="Arial"/>
                        </a:rPr>
                        <a:t>S4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7139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757575"/>
                          </a:solidFill>
                          <a:latin typeface="Arial"/>
                        </a:rPr>
                        <a:t>6.1.2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333333"/>
                          </a:solidFill>
                          <a:latin typeface="Arial"/>
                        </a:rPr>
                        <a:t>BI gerencial e rotina mensal de apuração implementados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Juliana Ribas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6B6B6B"/>
                          </a:solidFill>
                          <a:latin typeface="Arial"/>
                        </a:rPr>
                        <a:t>S4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875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757575"/>
                          </a:solidFill>
                          <a:latin typeface="Arial"/>
                        </a:rPr>
                        <a:t>6.2.1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333333"/>
                          </a:solidFill>
                          <a:latin typeface="Arial"/>
                        </a:rPr>
                        <a:t>Processo de revisão do plano de investimento em mídia implantado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A definir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6B6B6B"/>
                          </a:solidFill>
                          <a:latin typeface="Arial"/>
                        </a:rPr>
                        <a:t>S4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875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757575"/>
                          </a:solidFill>
                          <a:latin typeface="Arial"/>
                        </a:rPr>
                        <a:t>6.3.1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333333"/>
                          </a:solidFill>
                          <a:latin typeface="Arial"/>
                        </a:rPr>
                        <a:t>Diagnóstico das campanhas Google</a:t>
                      </a:r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 concluído e </a:t>
                      </a:r>
                      <a:r>
                        <a:rPr sz="800" b="1" i="0">
                          <a:solidFill>
                            <a:srgbClr val="333333"/>
                          </a:solidFill>
                          <a:latin typeface="Arial"/>
                        </a:rPr>
                        <a:t>plano de melhoria das táticas implementado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Leticia Medina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6B6B6B"/>
                          </a:solidFill>
                          <a:latin typeface="Arial"/>
                        </a:rPr>
                        <a:t>S3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875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757575"/>
                          </a:solidFill>
                          <a:latin typeface="Arial"/>
                        </a:rPr>
                        <a:t>6.4.1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333333"/>
                          </a:solidFill>
                          <a:latin typeface="Arial"/>
                        </a:rPr>
                        <a:t>Diagnóstico das campanhas Meta</a:t>
                      </a:r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 concluído e </a:t>
                      </a:r>
                      <a:r>
                        <a:rPr sz="800" b="1" i="0">
                          <a:solidFill>
                            <a:srgbClr val="333333"/>
                          </a:solidFill>
                          <a:latin typeface="Arial"/>
                        </a:rPr>
                        <a:t>plano de melhoria das táticas implementado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Jessica Guimarães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6B6B6B"/>
                          </a:solidFill>
                          <a:latin typeface="Arial"/>
                        </a:rPr>
                        <a:t>S3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875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757575"/>
                          </a:solidFill>
                          <a:latin typeface="Arial"/>
                        </a:rPr>
                        <a:t>6.5.1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333333"/>
                          </a:solidFill>
                          <a:latin typeface="Arial"/>
                        </a:rPr>
                        <a:t>Diagnóstico e revisão das demais campanhas</a:t>
                      </a:r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 (afiliados, programática etc.) concluídos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Thaise Leocadio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6B6B6B"/>
                          </a:solidFill>
                          <a:latin typeface="Arial"/>
                        </a:rPr>
                        <a:t>S3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875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757575"/>
                          </a:solidFill>
                          <a:latin typeface="Arial"/>
                        </a:rPr>
                        <a:t>6.6.1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333333"/>
                          </a:solidFill>
                          <a:latin typeface="Arial"/>
                        </a:rPr>
                        <a:t>Novas campanhas para segmentos prioritários</a:t>
                      </a:r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 (classe média/alta e SUVs) lançadas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Thaise Leocadio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6B6B6B"/>
                          </a:solidFill>
                          <a:latin typeface="Arial"/>
                        </a:rPr>
                        <a:t>S2 out/26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7139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757575"/>
                          </a:solidFill>
                          <a:latin typeface="Arial"/>
                        </a:rPr>
                        <a:t>6.7.1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333333"/>
                          </a:solidFill>
                          <a:latin typeface="Arial"/>
                        </a:rPr>
                        <a:t>Modelo de produção e melhoria contínua de conteúdo revisado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Thaise Leocadio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6B6B6B"/>
                          </a:solidFill>
                          <a:latin typeface="Arial"/>
                        </a:rPr>
                        <a:t>S4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7827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757575"/>
                          </a:solidFill>
                          <a:latin typeface="Arial"/>
                        </a:rPr>
                        <a:t>6.8.1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333333"/>
                          </a:solidFill>
                          <a:latin typeface="Arial"/>
                        </a:rPr>
                        <a:t>Ativos prioritários de conversão</a:t>
                      </a:r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 (landing pages, conteúdos, páginas de cadastro e enriquecimento) </a:t>
                      </a:r>
                      <a:r>
                        <a:rPr sz="800" b="1" i="0">
                          <a:solidFill>
                            <a:srgbClr val="333333"/>
                          </a:solidFill>
                          <a:latin typeface="Arial"/>
                        </a:rPr>
                        <a:t>revisados e aprimorados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A definir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6B6B6B"/>
                          </a:solidFill>
                          <a:latin typeface="Arial"/>
                        </a:rPr>
                        <a:t>S4 out/26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7139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757575"/>
                          </a:solidFill>
                          <a:latin typeface="Arial"/>
                        </a:rPr>
                        <a:t>6.9.1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333333"/>
                          </a:solidFill>
                          <a:latin typeface="Arial"/>
                        </a:rPr>
                        <a:t>Modelo de experimentação implantado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A definir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6B6B6B"/>
                          </a:solidFill>
                          <a:latin typeface="Arial"/>
                        </a:rPr>
                        <a:t>S4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1779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757575"/>
                          </a:solidFill>
                          <a:latin typeface="Arial"/>
                        </a:rPr>
                        <a:t>6.10.1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333333"/>
                          </a:solidFill>
                          <a:latin typeface="Arial"/>
                        </a:rPr>
                        <a:t>Oportunidades de geração de leads via parcerias e ativações comerciais mapeadas, priorizadas e testadas</a:t>
                      </a:r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; escalonamento dos modelos de melhor performance condicionado à comprovação de volume, conversão e custo por venda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3333"/>
                          </a:solidFill>
                          <a:latin typeface="Arial"/>
                        </a:rPr>
                        <a:t>A definir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6B6B6B"/>
                          </a:solidFill>
                          <a:latin typeface="Arial"/>
                        </a:rPr>
                        <a:t>S4 out/26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Oval 11"/>
          <p:cNvSpPr/>
          <p:nvPr/>
        </p:nvSpPr>
        <p:spPr>
          <a:xfrm>
            <a:off x="635508" y="363093"/>
            <a:ext cx="274320" cy="274320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" y="413385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6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4048" y="6565392"/>
            <a:ext cx="11423873" cy="0"/>
          </a:xfrm>
          <a:prstGeom prst="line">
            <a:avLst/>
          </a:prstGeom>
          <a:ln w="6350">
            <a:solidFill>
              <a:srgbClr val="E2E2E2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384048" y="6611112"/>
            <a:ext cx="913909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Fonte: Memorando estratégico Lead to Sales — Aceleração Seminovos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3521" y="661111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Lead-to-Sales — Frentes e Milestones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