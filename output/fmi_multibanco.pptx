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227" y="145472"/>
            <a:ext cx="11369239" cy="1662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1" spc="330" lang="pt-BR" dirty="0">
                <a:solidFill>
                  <a:srgbClr val="444444"/>
                </a:solidFill>
                <a:latin typeface="Arial"/>
              </a:rPr>
              <a:t>F&amp;I MULTIBANCO |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227" y="467590"/>
            <a:ext cx="11127340" cy="7273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67"/>
              </a:lnSpc>
            </a:pPr>
            <a:r>
              <a:rPr sz="2540" b="1" lang="pt-BR" dirty="0">
                <a:solidFill>
                  <a:srgbClr val="111111"/>
                </a:solidFill>
                <a:latin typeface="Arial"/>
              </a:rPr>
              <a:t>Entregar a plataforma de F&amp;I multibanco depende de cinco frentes,</a:t>
            </a:r>
          </a:p>
          <a:p>
            <a:pPr algn="l">
              <a:lnSpc>
                <a:spcPts val="2667"/>
              </a:lnSpc>
            </a:pPr>
            <a:r>
              <a:rPr sz="2540" b="1" lang="pt-BR" dirty="0">
                <a:solidFill>
                  <a:srgbClr val="C70A20"/>
                </a:solidFill>
                <a:latin typeface="Arial"/>
              </a:rPr>
              <a:t>iniciadas por um piloto com lojistas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227" y="1433945"/>
            <a:ext cx="1862620" cy="737754"/>
          </a:xfrm>
          <a:prstGeom prst="rect">
            <a:avLst/>
          </a:prstGeom>
          <a:gradFill rotWithShape="1">
            <a:gsLst>
              <a:gs pos="0">
                <a:srgbClr val="C40A20"/>
              </a:gs>
              <a:gs pos="100000">
                <a:srgbClr val="C1081D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708" rIns="0" tIns="0" bIns="0"/>
          <a:lstStyle/>
          <a:p>
            <a:pPr algn="l">
              <a:lnSpc>
                <a:spcPts val="1782"/>
              </a:lnSpc>
            </a:pPr>
            <a:r>
              <a:rPr sz="1550" b="1" lang="pt-BR" dirty="0">
                <a:solidFill>
                  <a:srgbClr val="FFFFFF"/>
                </a:solidFill>
                <a:latin typeface="Arial"/>
              </a:rPr>
              <a:t>Ambição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4797" y="1433945"/>
            <a:ext cx="9385670" cy="73775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0411" y="1558636"/>
            <a:ext cx="8974442" cy="4883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8"/>
              </a:lnSpc>
            </a:pPr>
            <a:r>
              <a:rPr sz="1639" b="1" lang="pt-BR" dirty="0">
                <a:solidFill>
                  <a:srgbClr val="111111"/>
                </a:solidFill>
                <a:latin typeface="Arial"/>
              </a:rPr>
              <a:t>Plataforma de F&amp;I multibanco e ponta a ponta que faz o lojista vender mais,</a:t>
            </a:r>
          </a:p>
          <a:p>
            <a:pPr algn="l">
              <a:lnSpc>
                <a:spcPts val="1918"/>
              </a:lnSpc>
            </a:pPr>
            <a:r>
              <a:rPr sz="1639" b="1" lang="pt-BR" dirty="0">
                <a:solidFill>
                  <a:srgbClr val="111111"/>
                </a:solidFill>
                <a:latin typeface="Arial"/>
              </a:rPr>
              <a:t>com simulação e envio de ficha em um só fluxo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227" y="2296390"/>
            <a:ext cx="1862620" cy="1111827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708" rIns="0" tIns="0" bIns="0"/>
          <a:lstStyle/>
          <a:p>
            <a:pPr algn="l">
              <a:lnSpc>
                <a:spcPts val="1690"/>
              </a:lnSpc>
            </a:pPr>
            <a:r>
              <a:rPr sz="1470" b="1" lang="pt-BR" dirty="0">
                <a:solidFill>
                  <a:srgbClr val="111111"/>
                </a:solidFill>
                <a:latin typeface="Arial"/>
              </a:rPr>
              <a:t>Valor para...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4797" y="2296390"/>
            <a:ext cx="3047923" cy="111182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56506" y="2500312"/>
            <a:ext cx="77931" cy="77931"/>
          </a:xfrm>
          <a:prstGeom prst="ellipse">
            <a:avLst/>
          </a:pr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3921" y="2500312"/>
            <a:ext cx="77931" cy="77931"/>
          </a:xfrm>
          <a:prstGeom prst="ellipse">
            <a:avLst/>
          </a:pr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627282" y="2597727"/>
            <a:ext cx="155863" cy="87673"/>
          </a:xfrm>
          <a:custGeom>
            <a:avLst/>
            <a:gdLst/>
            <a:ahLst/>
            <a:cxnLst/>
            <a:rect l="l" t="t" r="r" b="b"/>
            <a:pathLst>
              <a:path w="155863" h="87673">
                <a:moveTo>
                  <a:pt x="0" y="87673"/>
                </a:moveTo>
                <a:lnTo>
                  <a:pt x="1482" y="75596"/>
                </a:lnTo>
                <a:lnTo>
                  <a:pt x="3805" y="64413"/>
                </a:lnTo>
                <a:lnTo>
                  <a:pt x="6917" y="54125"/>
                </a:lnTo>
                <a:lnTo>
                  <a:pt x="10764" y="44731"/>
                </a:lnTo>
                <a:lnTo>
                  <a:pt x="15292" y="36232"/>
                </a:lnTo>
                <a:lnTo>
                  <a:pt x="20448" y="28628"/>
                </a:lnTo>
                <a:lnTo>
                  <a:pt x="26180" y="21918"/>
                </a:lnTo>
                <a:lnTo>
                  <a:pt x="32433" y="16103"/>
                </a:lnTo>
                <a:lnTo>
                  <a:pt x="39155" y="11183"/>
                </a:lnTo>
                <a:lnTo>
                  <a:pt x="46293" y="7157"/>
                </a:lnTo>
                <a:lnTo>
                  <a:pt x="53793" y="4026"/>
                </a:lnTo>
                <a:lnTo>
                  <a:pt x="61601" y="1789"/>
                </a:lnTo>
                <a:lnTo>
                  <a:pt x="69665" y="447"/>
                </a:lnTo>
                <a:lnTo>
                  <a:pt x="77931" y="0"/>
                </a:lnTo>
                <a:lnTo>
                  <a:pt x="86198" y="447"/>
                </a:lnTo>
                <a:lnTo>
                  <a:pt x="94262" y="1789"/>
                </a:lnTo>
                <a:lnTo>
                  <a:pt x="102070" y="4026"/>
                </a:lnTo>
                <a:lnTo>
                  <a:pt x="109570" y="7157"/>
                </a:lnTo>
                <a:lnTo>
                  <a:pt x="116707" y="11183"/>
                </a:lnTo>
                <a:lnTo>
                  <a:pt x="123430" y="16103"/>
                </a:lnTo>
                <a:lnTo>
                  <a:pt x="129683" y="21918"/>
                </a:lnTo>
                <a:lnTo>
                  <a:pt x="135415" y="28628"/>
                </a:lnTo>
                <a:lnTo>
                  <a:pt x="140571" y="36232"/>
                </a:lnTo>
                <a:lnTo>
                  <a:pt x="145099" y="44731"/>
                </a:lnTo>
                <a:lnTo>
                  <a:pt x="148946" y="54125"/>
                </a:lnTo>
                <a:lnTo>
                  <a:pt x="152058" y="64413"/>
                </a:lnTo>
                <a:lnTo>
                  <a:pt x="154381" y="75596"/>
                </a:lnTo>
                <a:lnTo>
                  <a:pt x="155863" y="87673"/>
                </a:lnTo>
              </a:path>
            </a:pathLst>
          </a:cu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714955" y="2612339"/>
            <a:ext cx="136381" cy="73061"/>
          </a:xfrm>
          <a:custGeom>
            <a:avLst/>
            <a:gdLst/>
            <a:ahLst/>
            <a:cxnLst/>
            <a:rect l="l" t="t" r="r" b="b"/>
            <a:pathLst>
              <a:path w="136381" h="73061">
                <a:moveTo>
                  <a:pt x="0" y="73061"/>
                </a:moveTo>
                <a:lnTo>
                  <a:pt x="1409" y="62997"/>
                </a:lnTo>
                <a:lnTo>
                  <a:pt x="3522" y="53678"/>
                </a:lnTo>
                <a:lnTo>
                  <a:pt x="6294" y="45104"/>
                </a:lnTo>
                <a:lnTo>
                  <a:pt x="9685" y="37276"/>
                </a:lnTo>
                <a:lnTo>
                  <a:pt x="13650" y="30194"/>
                </a:lnTo>
                <a:lnTo>
                  <a:pt x="18148" y="23857"/>
                </a:lnTo>
                <a:lnTo>
                  <a:pt x="23136" y="18265"/>
                </a:lnTo>
                <a:lnTo>
                  <a:pt x="28571" y="13419"/>
                </a:lnTo>
                <a:lnTo>
                  <a:pt x="34411" y="9319"/>
                </a:lnTo>
                <a:lnTo>
                  <a:pt x="40613" y="5964"/>
                </a:lnTo>
                <a:lnTo>
                  <a:pt x="47135" y="3355"/>
                </a:lnTo>
                <a:lnTo>
                  <a:pt x="53933" y="1491"/>
                </a:lnTo>
                <a:lnTo>
                  <a:pt x="60966" y="373"/>
                </a:lnTo>
                <a:lnTo>
                  <a:pt x="68190" y="0"/>
                </a:lnTo>
                <a:lnTo>
                  <a:pt x="75415" y="373"/>
                </a:lnTo>
                <a:lnTo>
                  <a:pt x="82447" y="1491"/>
                </a:lnTo>
                <a:lnTo>
                  <a:pt x="89246" y="3355"/>
                </a:lnTo>
                <a:lnTo>
                  <a:pt x="95767" y="5964"/>
                </a:lnTo>
                <a:lnTo>
                  <a:pt x="101969" y="9319"/>
                </a:lnTo>
                <a:lnTo>
                  <a:pt x="107809" y="13419"/>
                </a:lnTo>
                <a:lnTo>
                  <a:pt x="113245" y="18265"/>
                </a:lnTo>
                <a:lnTo>
                  <a:pt x="118233" y="23857"/>
                </a:lnTo>
                <a:lnTo>
                  <a:pt x="122730" y="30194"/>
                </a:lnTo>
                <a:lnTo>
                  <a:pt x="126696" y="37276"/>
                </a:lnTo>
                <a:lnTo>
                  <a:pt x="130086" y="45104"/>
                </a:lnTo>
                <a:lnTo>
                  <a:pt x="132859" y="53678"/>
                </a:lnTo>
                <a:lnTo>
                  <a:pt x="134971" y="62997"/>
                </a:lnTo>
                <a:lnTo>
                  <a:pt x="136381" y="73061"/>
                </a:lnTo>
              </a:path>
            </a:pathLst>
          </a:cu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0493" y="2431472"/>
            <a:ext cx="2128708" cy="85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Aft>
                <a:spcPts val="160"/>
              </a:spcAft>
            </a:pPr>
            <a:r>
              <a:rPr sz="1470" b="1" lang="pt-BR" dirty="0">
                <a:solidFill>
                  <a:srgbClr val="111111"/>
                </a:solidFill>
                <a:latin typeface="Arial"/>
              </a:rPr>
              <a:t>Lojista e seu cliente</a:t>
            </a:r>
          </a:p>
          <a:p>
            <a:pPr algn="l">
              <a:lnSpc>
                <a:spcPts val="1572"/>
              </a:lnSpc>
            </a:pPr>
            <a:r>
              <a:rPr sz="1310" b="0" lang="pt-BR" dirty="0">
                <a:solidFill>
                  <a:srgbClr val="2F2F2F"/>
                </a:solidFill>
                <a:latin typeface="Arial"/>
              </a:rPr>
              <a:t>Mais aprovação, menos retrabalho e resposta em minutos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3670" y="2296390"/>
            <a:ext cx="3047923" cy="111182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796155" y="2558761"/>
            <a:ext cx="233795" cy="126639"/>
          </a:xfrm>
          <a:custGeom>
            <a:avLst/>
            <a:gdLst/>
            <a:ahLst/>
            <a:cxnLst/>
            <a:rect l="l" t="t" r="r" b="b"/>
            <a:pathLst>
              <a:path w="233795" h="126639">
                <a:moveTo>
                  <a:pt x="0" y="68190"/>
                </a:moveTo>
                <a:lnTo>
                  <a:pt x="29224" y="0"/>
                </a:lnTo>
                <a:lnTo>
                  <a:pt x="204571" y="0"/>
                </a:lnTo>
                <a:lnTo>
                  <a:pt x="233795" y="68190"/>
                </a:lnTo>
                <a:lnTo>
                  <a:pt x="233795" y="126639"/>
                </a:lnTo>
                <a:lnTo>
                  <a:pt x="204571" y="126639"/>
                </a:lnTo>
                <a:lnTo>
                  <a:pt x="203243" y="116554"/>
                </a:lnTo>
                <a:lnTo>
                  <a:pt x="199350" y="107156"/>
                </a:lnTo>
                <a:lnTo>
                  <a:pt x="193158" y="99086"/>
                </a:lnTo>
                <a:lnTo>
                  <a:pt x="185088" y="92894"/>
                </a:lnTo>
                <a:lnTo>
                  <a:pt x="175690" y="89001"/>
                </a:lnTo>
                <a:lnTo>
                  <a:pt x="165605" y="87673"/>
                </a:lnTo>
                <a:lnTo>
                  <a:pt x="155520" y="89001"/>
                </a:lnTo>
                <a:lnTo>
                  <a:pt x="146122" y="92894"/>
                </a:lnTo>
                <a:lnTo>
                  <a:pt x="138052" y="99086"/>
                </a:lnTo>
                <a:lnTo>
                  <a:pt x="131859" y="107156"/>
                </a:lnTo>
                <a:lnTo>
                  <a:pt x="127967" y="116554"/>
                </a:lnTo>
                <a:lnTo>
                  <a:pt x="126639" y="126639"/>
                </a:lnTo>
                <a:lnTo>
                  <a:pt x="107156" y="126639"/>
                </a:lnTo>
                <a:lnTo>
                  <a:pt x="105828" y="116554"/>
                </a:lnTo>
                <a:lnTo>
                  <a:pt x="101936" y="107156"/>
                </a:lnTo>
                <a:lnTo>
                  <a:pt x="95743" y="99086"/>
                </a:lnTo>
                <a:lnTo>
                  <a:pt x="87673" y="92894"/>
                </a:lnTo>
                <a:lnTo>
                  <a:pt x="78275" y="89001"/>
                </a:lnTo>
                <a:lnTo>
                  <a:pt x="68190" y="87673"/>
                </a:lnTo>
                <a:lnTo>
                  <a:pt x="58105" y="89001"/>
                </a:lnTo>
                <a:lnTo>
                  <a:pt x="48707" y="92894"/>
                </a:lnTo>
                <a:lnTo>
                  <a:pt x="40637" y="99086"/>
                </a:lnTo>
                <a:lnTo>
                  <a:pt x="34445" y="107156"/>
                </a:lnTo>
                <a:lnTo>
                  <a:pt x="30552" y="116554"/>
                </a:lnTo>
                <a:lnTo>
                  <a:pt x="29224" y="126639"/>
                </a:lnTo>
                <a:lnTo>
                  <a:pt x="0" y="126639"/>
                </a:lnTo>
                <a:close/>
              </a:path>
            </a:pathLst>
          </a:cu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835121" y="2519795"/>
            <a:ext cx="155863" cy="38966"/>
          </a:xfrm>
          <a:custGeom>
            <a:avLst/>
            <a:gdLst/>
            <a:ahLst/>
            <a:cxnLst/>
            <a:rect l="l" t="t" r="r" b="b"/>
            <a:pathLst>
              <a:path w="155863" h="38966">
                <a:moveTo>
                  <a:pt x="0" y="38966"/>
                </a:moveTo>
                <a:lnTo>
                  <a:pt x="29224" y="0"/>
                </a:lnTo>
                <a:lnTo>
                  <a:pt x="126639" y="0"/>
                </a:lnTo>
                <a:lnTo>
                  <a:pt x="155863" y="38966"/>
                </a:lnTo>
              </a:path>
            </a:pathLst>
          </a:cu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39991" y="2651305"/>
            <a:ext cx="48707" cy="48707"/>
          </a:xfrm>
          <a:prstGeom prst="ellipse">
            <a:avLst/>
          </a:pr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37406" y="2651305"/>
            <a:ext cx="48707" cy="48707"/>
          </a:xfrm>
          <a:prstGeom prst="ellipse">
            <a:avLst/>
          </a:pr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9366" y="2431472"/>
            <a:ext cx="2128708" cy="85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Aft>
                <a:spcPts val="160"/>
              </a:spcAft>
            </a:pPr>
            <a:r>
              <a:rPr sz="1470" b="1" lang="pt-BR" dirty="0">
                <a:solidFill>
                  <a:srgbClr val="111111"/>
                </a:solidFill>
                <a:latin typeface="Arial"/>
              </a:rPr>
              <a:t>Localiza</a:t>
            </a:r>
          </a:p>
          <a:p>
            <a:pPr algn="l">
              <a:lnSpc>
                <a:spcPts val="1572"/>
              </a:lnSpc>
            </a:pPr>
            <a:r>
              <a:rPr sz="1310" b="0" lang="pt-BR" dirty="0">
                <a:solidFill>
                  <a:srgbClr val="2F2F2F"/>
                </a:solidFill>
                <a:latin typeface="Arial"/>
              </a:rPr>
              <a:t>Mais penetração de F&amp;I e relação mais forte com a rede de lojistas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43" y="2296390"/>
            <a:ext cx="3047923" cy="111182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974769" y="2490571"/>
            <a:ext cx="214313" cy="68190"/>
          </a:xfrm>
          <a:custGeom>
            <a:avLst/>
            <a:gdLst/>
            <a:ahLst/>
            <a:cxnLst/>
            <a:rect l="l" t="t" r="r" b="b"/>
            <a:pathLst>
              <a:path w="214313" h="68190">
                <a:moveTo>
                  <a:pt x="0" y="68190"/>
                </a:moveTo>
                <a:lnTo>
                  <a:pt x="107157" y="0"/>
                </a:lnTo>
                <a:lnTo>
                  <a:pt x="214313" y="68190"/>
                </a:lnTo>
              </a:path>
            </a:pathLst>
          </a:custGeom>
          <a:noFill/>
          <a:ln w="19482">
            <a:solidFill>
              <a:srgbClr val="BC1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994252" y="2568502"/>
            <a:ext cx="175347" cy="0"/>
          </a:xfrm>
          <a:prstGeom prst="line">
            <a:avLst/>
          </a:prstGeom>
          <a:ln w="19482">
            <a:solidFill>
              <a:srgbClr val="BC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13735" y="2568502"/>
            <a:ext cx="0" cy="116898"/>
          </a:xfrm>
          <a:prstGeom prst="line">
            <a:avLst/>
          </a:prstGeom>
          <a:ln w="19482">
            <a:solidFill>
              <a:srgbClr val="BC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72184" y="2568502"/>
            <a:ext cx="0" cy="116898"/>
          </a:xfrm>
          <a:prstGeom prst="line">
            <a:avLst/>
          </a:prstGeom>
          <a:ln w="19482">
            <a:solidFill>
              <a:srgbClr val="BC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30633" y="2568502"/>
            <a:ext cx="0" cy="116898"/>
          </a:xfrm>
          <a:prstGeom prst="line">
            <a:avLst/>
          </a:prstGeom>
          <a:ln w="19482">
            <a:solidFill>
              <a:srgbClr val="BC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74769" y="2695142"/>
            <a:ext cx="214313" cy="0"/>
          </a:xfrm>
          <a:prstGeom prst="line">
            <a:avLst/>
          </a:prstGeom>
          <a:ln w="19482">
            <a:solidFill>
              <a:srgbClr val="BC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58239" y="2431472"/>
            <a:ext cx="2128708" cy="8520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Aft>
                <a:spcPts val="160"/>
              </a:spcAft>
            </a:pPr>
            <a:r>
              <a:rPr sz="1470" b="1" lang="pt-BR" dirty="0">
                <a:solidFill>
                  <a:srgbClr val="111111"/>
                </a:solidFill>
                <a:latin typeface="Arial"/>
              </a:rPr>
              <a:t>Banco</a:t>
            </a:r>
          </a:p>
          <a:p>
            <a:pPr algn="l">
              <a:lnSpc>
                <a:spcPts val="1572"/>
              </a:lnSpc>
            </a:pPr>
            <a:r>
              <a:rPr sz="1310" b="0" lang="pt-BR" dirty="0">
                <a:solidFill>
                  <a:srgbClr val="2F2F2F"/>
                </a:solidFill>
                <a:latin typeface="Arial"/>
              </a:rPr>
              <a:t>Originação qualificada com custo de aquisição menor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227" y="3782290"/>
            <a:ext cx="1257873" cy="20781"/>
          </a:xfrm>
          <a:prstGeom prst="rect">
            <a:avLst/>
          </a:prstGeom>
          <a:solidFill>
            <a:srgbClr val="BD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65860" y="3699163"/>
            <a:ext cx="326563" cy="187036"/>
          </a:xfrm>
          <a:prstGeom prst="ellipse">
            <a:avLst/>
          </a:prstGeom>
          <a:noFill/>
          <a:ln w="19050">
            <a:solidFill>
              <a:srgbClr val="BC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83569" y="3782290"/>
            <a:ext cx="205613" cy="20781"/>
          </a:xfrm>
          <a:prstGeom prst="rect">
            <a:avLst/>
          </a:prstGeom>
          <a:solidFill>
            <a:srgbClr val="BD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89183" y="3678381"/>
            <a:ext cx="3938661" cy="249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2"/>
              </a:lnSpc>
            </a:pPr>
            <a:r>
              <a:rPr sz="1550" b="1" lang="pt-BR" dirty="0">
                <a:solidFill>
                  <a:srgbClr val="111111"/>
                </a:solidFill>
                <a:latin typeface="Arial"/>
              </a:rPr>
              <a:t>cinco frentes, escaladas em ondas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79464" y="3782290"/>
            <a:ext cx="5701002" cy="20781"/>
          </a:xfrm>
          <a:prstGeom prst="rect">
            <a:avLst/>
          </a:prstGeom>
          <a:solidFill>
            <a:srgbClr val="BD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685075" y="4073236"/>
            <a:ext cx="0" cy="1974273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758331" y="4233970"/>
            <a:ext cx="250031" cy="79556"/>
          </a:xfrm>
          <a:custGeom>
            <a:avLst/>
            <a:gdLst/>
            <a:ahLst/>
            <a:cxnLst/>
            <a:rect l="l" t="t" r="r" b="b"/>
            <a:pathLst>
              <a:path w="250031" h="79556">
                <a:moveTo>
                  <a:pt x="0" y="79556"/>
                </a:moveTo>
                <a:lnTo>
                  <a:pt x="125016" y="0"/>
                </a:lnTo>
                <a:lnTo>
                  <a:pt x="250031" y="79556"/>
                </a:lnTo>
              </a:path>
            </a:pathLst>
          </a:custGeom>
          <a:noFill/>
          <a:ln w="22730">
            <a:solidFill>
              <a:srgbClr val="B61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81061" y="4324891"/>
            <a:ext cx="204571" cy="0"/>
          </a:xfrm>
          <a:prstGeom prst="line">
            <a:avLst/>
          </a:prstGeom>
          <a:ln w="22730">
            <a:solidFill>
              <a:srgbClr val="B61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3791" y="4324891"/>
            <a:ext cx="0" cy="136380"/>
          </a:xfrm>
          <a:prstGeom prst="line">
            <a:avLst/>
          </a:prstGeom>
          <a:ln w="22730">
            <a:solidFill>
              <a:srgbClr val="B61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1982" y="4324891"/>
            <a:ext cx="0" cy="136380"/>
          </a:xfrm>
          <a:prstGeom prst="line">
            <a:avLst/>
          </a:prstGeom>
          <a:ln w="22730">
            <a:solidFill>
              <a:srgbClr val="B61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0172" y="4324891"/>
            <a:ext cx="0" cy="136380"/>
          </a:xfrm>
          <a:prstGeom prst="line">
            <a:avLst/>
          </a:prstGeom>
          <a:ln w="22730">
            <a:solidFill>
              <a:srgbClr val="B61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331" y="4472636"/>
            <a:ext cx="250031" cy="0"/>
          </a:xfrm>
          <a:prstGeom prst="line">
            <a:avLst/>
          </a:prstGeom>
          <a:ln w="22730">
            <a:solidFill>
              <a:srgbClr val="B61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11227" y="4052454"/>
            <a:ext cx="301336" cy="301336"/>
          </a:xfrm>
          <a:prstGeom prst="ellipse">
            <a:avLst/>
          </a:prstGeom>
          <a:solidFill>
            <a:srgbClr val="C90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ts val="1506"/>
              </a:lnSpc>
            </a:pPr>
            <a:r>
              <a:rPr sz="131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746" y="4655127"/>
            <a:ext cx="1874715" cy="22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9"/>
              </a:lnSpc>
            </a:pPr>
            <a:r>
              <a:rPr sz="1390" b="1" lang="pt-BR" dirty="0">
                <a:solidFill>
                  <a:srgbClr val="111111"/>
                </a:solidFill>
                <a:latin typeface="Arial"/>
              </a:rPr>
              <a:t>Bancos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746" y="4954905"/>
            <a:ext cx="1874715" cy="1092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6"/>
              </a:lnSpc>
            </a:pPr>
            <a:r>
              <a:rPr sz="1150" b="0" lang="pt-BR" dirty="0">
                <a:solidFill>
                  <a:srgbClr val="222222"/>
                </a:solidFill>
                <a:latin typeface="Arial"/>
              </a:rPr>
              <a:t>Integrar em ondas, dos bancos menores aos maiores, à medida que a proposta de valor se confirma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58923" y="4073236"/>
            <a:ext cx="0" cy="1974273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100369" y="4302161"/>
            <a:ext cx="113650" cy="113650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043544" y="4245335"/>
            <a:ext cx="227301" cy="227301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157195" y="4211240"/>
            <a:ext cx="0" cy="45460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157195" y="4461271"/>
            <a:ext cx="0" cy="45461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09449" y="4358986"/>
            <a:ext cx="45460" cy="0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259480" y="4358986"/>
            <a:ext cx="45460" cy="0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54909" y="4256700"/>
            <a:ext cx="34095" cy="34096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25385" y="4427176"/>
            <a:ext cx="34095" cy="34095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225385" y="4256700"/>
            <a:ext cx="34095" cy="34096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3054909" y="4427176"/>
            <a:ext cx="34095" cy="34095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685075" y="4052454"/>
            <a:ext cx="301336" cy="301336"/>
          </a:xfrm>
          <a:prstGeom prst="ellipse">
            <a:avLst/>
          </a:prstGeom>
          <a:solidFill>
            <a:srgbClr val="C90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ts val="1506"/>
              </a:lnSpc>
            </a:pPr>
            <a:r>
              <a:rPr sz="131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78594" y="4655127"/>
            <a:ext cx="1874715" cy="22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9"/>
              </a:lnSpc>
            </a:pPr>
            <a:r>
              <a:rPr sz="1390" b="1" lang="pt-BR" dirty="0">
                <a:solidFill>
                  <a:srgbClr val="111111"/>
                </a:solidFill>
                <a:latin typeface="Arial"/>
              </a:rPr>
              <a:t>Tecnologia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78594" y="4954905"/>
            <a:ext cx="1874715" cy="1092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6"/>
              </a:lnSpc>
            </a:pPr>
            <a:r>
              <a:rPr sz="1150" b="0" lang="pt-BR" dirty="0">
                <a:solidFill>
                  <a:srgbClr val="222222"/>
                </a:solidFill>
                <a:latin typeface="Arial"/>
              </a:rPr>
              <a:t>APIs para simulação via Corban do lojista e envio da ficha a múltiplos bancos em um único disparo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232771" y="4073236"/>
            <a:ext cx="0" cy="1974273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5306027" y="4233970"/>
            <a:ext cx="250031" cy="181841"/>
          </a:xfrm>
          <a:custGeom>
            <a:avLst/>
            <a:gdLst/>
            <a:ahLst/>
            <a:cxnLst/>
            <a:rect l="l" t="t" r="r" b="b"/>
            <a:pathLst>
              <a:path w="250031" h="181841">
                <a:moveTo>
                  <a:pt x="0" y="0"/>
                </a:moveTo>
                <a:lnTo>
                  <a:pt x="250031" y="0"/>
                </a:lnTo>
                <a:lnTo>
                  <a:pt x="250031" y="181841"/>
                </a:lnTo>
                <a:lnTo>
                  <a:pt x="0" y="181841"/>
                </a:lnTo>
                <a:close/>
              </a:path>
            </a:pathLst>
          </a:cu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5385582" y="4484001"/>
            <a:ext cx="90921" cy="0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31043" y="4415811"/>
            <a:ext cx="0" cy="68190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958923" y="4052454"/>
            <a:ext cx="301336" cy="301336"/>
          </a:xfrm>
          <a:prstGeom prst="ellipse">
            <a:avLst/>
          </a:prstGeom>
          <a:solidFill>
            <a:srgbClr val="C90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ts val="1506"/>
              </a:lnSpc>
            </a:pPr>
            <a:r>
              <a:rPr sz="131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52442" y="4655127"/>
            <a:ext cx="1874715" cy="412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9"/>
              </a:lnSpc>
            </a:pPr>
            <a:r>
              <a:rPr sz="1390" b="1" lang="pt-BR" dirty="0">
                <a:solidFill>
                  <a:srgbClr val="111111"/>
                </a:solidFill>
                <a:latin typeface="Arial"/>
              </a:rPr>
              <a:t>Interface</a:t>
            </a:r>
          </a:p>
          <a:p>
            <a:pPr algn="l">
              <a:lnSpc>
                <a:spcPts val="1459"/>
              </a:lnSpc>
            </a:pPr>
            <a:r>
              <a:rPr sz="1390" b="1" lang="pt-BR" dirty="0">
                <a:solidFill>
                  <a:srgbClr val="111111"/>
                </a:solidFill>
                <a:latin typeface="Arial"/>
              </a:rPr>
              <a:t>da plataforma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52442" y="5140382"/>
            <a:ext cx="1874715" cy="9071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6"/>
              </a:lnSpc>
            </a:pPr>
            <a:r>
              <a:rPr sz="1150" b="0" lang="pt-BR" dirty="0">
                <a:solidFill>
                  <a:srgbClr val="222222"/>
                </a:solidFill>
                <a:latin typeface="Arial"/>
              </a:rPr>
              <a:t>Melhoria contínua guiada pelo uso do vendedor, com ciclos curtos de release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506619" y="4073236"/>
            <a:ext cx="0" cy="1974273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602605" y="4245335"/>
            <a:ext cx="90920" cy="90920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716255" y="4245335"/>
            <a:ext cx="90920" cy="90920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568510" y="4358986"/>
            <a:ext cx="181841" cy="102285"/>
          </a:xfrm>
          <a:custGeom>
            <a:avLst/>
            <a:gdLst/>
            <a:ahLst/>
            <a:cxnLst/>
            <a:rect l="l" t="t" r="r" b="b"/>
            <a:pathLst>
              <a:path w="181841" h="102285">
                <a:moveTo>
                  <a:pt x="0" y="102285"/>
                </a:moveTo>
                <a:lnTo>
                  <a:pt x="1729" y="88195"/>
                </a:lnTo>
                <a:lnTo>
                  <a:pt x="4440" y="75148"/>
                </a:lnTo>
                <a:lnTo>
                  <a:pt x="8070" y="63146"/>
                </a:lnTo>
                <a:lnTo>
                  <a:pt x="12558" y="52186"/>
                </a:lnTo>
                <a:lnTo>
                  <a:pt x="17840" y="42271"/>
                </a:lnTo>
                <a:lnTo>
                  <a:pt x="23856" y="33399"/>
                </a:lnTo>
                <a:lnTo>
                  <a:pt x="30543" y="25571"/>
                </a:lnTo>
                <a:lnTo>
                  <a:pt x="37839" y="18787"/>
                </a:lnTo>
                <a:lnTo>
                  <a:pt x="45682" y="13046"/>
                </a:lnTo>
                <a:lnTo>
                  <a:pt x="54009" y="8350"/>
                </a:lnTo>
                <a:lnTo>
                  <a:pt x="62758" y="4697"/>
                </a:lnTo>
                <a:lnTo>
                  <a:pt x="71868" y="2087"/>
                </a:lnTo>
                <a:lnTo>
                  <a:pt x="81276" y="522"/>
                </a:lnTo>
                <a:lnTo>
                  <a:pt x="90920" y="0"/>
                </a:lnTo>
                <a:lnTo>
                  <a:pt x="100564" y="522"/>
                </a:lnTo>
                <a:lnTo>
                  <a:pt x="109972" y="2087"/>
                </a:lnTo>
                <a:lnTo>
                  <a:pt x="119082" y="4697"/>
                </a:lnTo>
                <a:lnTo>
                  <a:pt x="127832" y="8350"/>
                </a:lnTo>
                <a:lnTo>
                  <a:pt x="136159" y="13046"/>
                </a:lnTo>
                <a:lnTo>
                  <a:pt x="144001" y="18787"/>
                </a:lnTo>
                <a:lnTo>
                  <a:pt x="151297" y="25571"/>
                </a:lnTo>
                <a:lnTo>
                  <a:pt x="157984" y="33399"/>
                </a:lnTo>
                <a:lnTo>
                  <a:pt x="164000" y="42271"/>
                </a:lnTo>
                <a:lnTo>
                  <a:pt x="169283" y="52186"/>
                </a:lnTo>
                <a:lnTo>
                  <a:pt x="173770" y="63146"/>
                </a:lnTo>
                <a:lnTo>
                  <a:pt x="177401" y="75148"/>
                </a:lnTo>
                <a:lnTo>
                  <a:pt x="180111" y="88195"/>
                </a:lnTo>
                <a:lnTo>
                  <a:pt x="181841" y="102285"/>
                </a:lnTo>
              </a:path>
            </a:pathLst>
          </a:cu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670795" y="4376033"/>
            <a:ext cx="159111" cy="85238"/>
          </a:xfrm>
          <a:custGeom>
            <a:avLst/>
            <a:gdLst/>
            <a:ahLst/>
            <a:cxnLst/>
            <a:rect l="l" t="t" r="r" b="b"/>
            <a:pathLst>
              <a:path w="159111" h="85238">
                <a:moveTo>
                  <a:pt x="0" y="85238"/>
                </a:moveTo>
                <a:lnTo>
                  <a:pt x="1645" y="73496"/>
                </a:lnTo>
                <a:lnTo>
                  <a:pt x="4109" y="62624"/>
                </a:lnTo>
                <a:lnTo>
                  <a:pt x="7344" y="52622"/>
                </a:lnTo>
                <a:lnTo>
                  <a:pt x="11299" y="43489"/>
                </a:lnTo>
                <a:lnTo>
                  <a:pt x="15925" y="35226"/>
                </a:lnTo>
                <a:lnTo>
                  <a:pt x="21173" y="27833"/>
                </a:lnTo>
                <a:lnTo>
                  <a:pt x="26992" y="21310"/>
                </a:lnTo>
                <a:lnTo>
                  <a:pt x="33333" y="15656"/>
                </a:lnTo>
                <a:lnTo>
                  <a:pt x="40147" y="10873"/>
                </a:lnTo>
                <a:lnTo>
                  <a:pt x="47382" y="6959"/>
                </a:lnTo>
                <a:lnTo>
                  <a:pt x="54991" y="3914"/>
                </a:lnTo>
                <a:lnTo>
                  <a:pt x="62922" y="1740"/>
                </a:lnTo>
                <a:lnTo>
                  <a:pt x="71127" y="435"/>
                </a:lnTo>
                <a:lnTo>
                  <a:pt x="79556" y="0"/>
                </a:lnTo>
                <a:lnTo>
                  <a:pt x="87984" y="435"/>
                </a:lnTo>
                <a:lnTo>
                  <a:pt x="96189" y="1740"/>
                </a:lnTo>
                <a:lnTo>
                  <a:pt x="104121" y="3914"/>
                </a:lnTo>
                <a:lnTo>
                  <a:pt x="111729" y="6959"/>
                </a:lnTo>
                <a:lnTo>
                  <a:pt x="118965" y="10873"/>
                </a:lnTo>
                <a:lnTo>
                  <a:pt x="125778" y="15656"/>
                </a:lnTo>
                <a:lnTo>
                  <a:pt x="132119" y="21310"/>
                </a:lnTo>
                <a:lnTo>
                  <a:pt x="137938" y="27833"/>
                </a:lnTo>
                <a:lnTo>
                  <a:pt x="143186" y="35226"/>
                </a:lnTo>
                <a:lnTo>
                  <a:pt x="147812" y="43489"/>
                </a:lnTo>
                <a:lnTo>
                  <a:pt x="151768" y="52622"/>
                </a:lnTo>
                <a:lnTo>
                  <a:pt x="155002" y="62624"/>
                </a:lnTo>
                <a:lnTo>
                  <a:pt x="157467" y="73496"/>
                </a:lnTo>
                <a:lnTo>
                  <a:pt x="159111" y="85238"/>
                </a:lnTo>
              </a:path>
            </a:pathLst>
          </a:cu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32771" y="4052454"/>
            <a:ext cx="301336" cy="301336"/>
          </a:xfrm>
          <a:prstGeom prst="ellipse">
            <a:avLst/>
          </a:prstGeom>
          <a:solidFill>
            <a:srgbClr val="C90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ts val="1506"/>
              </a:lnSpc>
            </a:pPr>
            <a:r>
              <a:rPr sz="131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6290" y="4655127"/>
            <a:ext cx="1874715" cy="22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9"/>
              </a:lnSpc>
            </a:pPr>
            <a:r>
              <a:rPr sz="1390" b="1" lang="pt-BR" dirty="0">
                <a:solidFill>
                  <a:srgbClr val="111111"/>
                </a:solidFill>
                <a:latin typeface="Arial"/>
              </a:rPr>
              <a:t>Lojistas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6290" y="4954905"/>
            <a:ext cx="1874715" cy="1092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6"/>
              </a:lnSpc>
            </a:pPr>
            <a:r>
              <a:rPr sz="1150" b="0" lang="pt-BR" dirty="0">
                <a:solidFill>
                  <a:srgbClr val="222222"/>
                </a:solidFill>
                <a:latin typeface="Arial"/>
              </a:rPr>
              <a:t>Piloto em pequena escala para provar a proposta de valor e, confirmada, escalar por onda</a:t>
            </a:r>
          </a:p>
        </p:txBody>
      </p:sp>
      <p:sp>
        <p:nvSpPr>
          <p:cNvPr id="72" name="Oval 71"/>
          <p:cNvSpPr/>
          <p:nvPr/>
        </p:nvSpPr>
        <p:spPr>
          <a:xfrm>
            <a:off x="9853723" y="4324891"/>
            <a:ext cx="68190" cy="68190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024199" y="4233970"/>
            <a:ext cx="68190" cy="68190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24199" y="4415811"/>
            <a:ext cx="68190" cy="68190"/>
          </a:xfrm>
          <a:prstGeom prst="ellipse">
            <a:avLst/>
          </a:prstGeom>
          <a:noFill/>
          <a:ln w="227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9921913" y="4279430"/>
            <a:ext cx="102286" cy="68191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921913" y="4370351"/>
            <a:ext cx="102286" cy="68190"/>
          </a:xfrm>
          <a:prstGeom prst="line">
            <a:avLst/>
          </a:prstGeom>
          <a:ln w="227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506619" y="4052454"/>
            <a:ext cx="301336" cy="301336"/>
          </a:xfrm>
          <a:prstGeom prst="ellipse">
            <a:avLst/>
          </a:prstGeom>
          <a:solidFill>
            <a:srgbClr val="C90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ts val="1506"/>
              </a:lnSpc>
            </a:pPr>
            <a:r>
              <a:rPr sz="1310" b="1" lang="pt-BR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00138" y="4655127"/>
            <a:ext cx="1874715" cy="22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9"/>
              </a:lnSpc>
            </a:pPr>
            <a:r>
              <a:rPr sz="1390" b="1" lang="pt-BR" dirty="0">
                <a:solidFill>
                  <a:srgbClr val="111111"/>
                </a:solidFill>
                <a:latin typeface="Arial"/>
              </a:rPr>
              <a:t>Ecossistema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00138" y="4954905"/>
            <a:ext cx="1874715" cy="1092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6"/>
              </a:lnSpc>
            </a:pPr>
            <a:r>
              <a:rPr sz="1150" b="0" lang="pt-BR" dirty="0">
                <a:solidFill>
                  <a:srgbClr val="222222"/>
                </a:solidFill>
                <a:latin typeface="Arial"/>
              </a:rPr>
              <a:t>Novos serviços e integração com Valorização depois que o núcleo estiver estável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227" y="6525490"/>
            <a:ext cx="7256961" cy="1662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</a:pPr>
            <a:r>
              <a:rPr sz="900" b="0" lang="pt-BR" dirty="0">
                <a:solidFill>
                  <a:srgbClr val="444444"/>
                </a:solidFill>
                <a:latin typeface="Arial"/>
              </a:rPr>
              <a:t>Fonte: análise Bain. Preliminar, para discussão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973" y="6515100"/>
            <a:ext cx="1209493" cy="187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272"/>
              </a:lnSpc>
            </a:pPr>
            <a:r>
              <a:rPr sz="1060" b="0" lang="pt-BR" dirty="0">
                <a:solidFill>
                  <a:srgbClr val="44444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F&amp;I Multibanco | Visão Geral</dc:title>
  <dc:subject/>
  <dc:creator>ConsultingInnovation@bain.com</dc:creator>
  <cp:keywords/>
  <dc:description>generated using python-pptx</dc:description>
  <cp:lastModifiedBy>ConsultingInnovation@bain.com</cp:lastModifiedBy>
  <cp:revision>1</cp:revision>
  <dcterms:created xsi:type="dcterms:W3CDTF">2013-01-27T09:14:16Z</dcterms:created>
  <dcterms:modified xsi:type="dcterms:W3CDTF">2013-01-27T09:15:58Z</dcterms:modified>
  <cp:category/>
</cp:coreProperties>
</file>