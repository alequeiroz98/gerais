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227" y="145472"/>
            <a:ext cx="11369239" cy="1662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spc="330" lang="pt-BR" dirty="0">
                <a:solidFill>
                  <a:srgbClr val="444444"/>
                </a:solidFill>
                <a:latin typeface="Arial"/>
              </a:rPr>
              <a:t>F&amp;I MULTIBANCO | 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227" y="467590"/>
            <a:ext cx="11127340" cy="7273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67"/>
              </a:lnSpc>
            </a:pPr>
            <a:r>
              <a:rPr sz="2540" b="1" lang="pt-BR" dirty="0">
                <a:solidFill>
                  <a:srgbClr val="111111"/>
                </a:solidFill>
                <a:latin typeface="Arial"/>
              </a:rPr>
              <a:t>Entregar a plataforma de F&amp;I multibanco depende de cinco frentes,</a:t>
            </a:r>
          </a:p>
          <a:p>
            <a:pPr algn="l">
              <a:lnSpc>
                <a:spcPts val="2667"/>
              </a:lnSpc>
            </a:pPr>
            <a:r>
              <a:rPr sz="2540" b="1" lang="pt-BR" dirty="0">
                <a:solidFill>
                  <a:srgbClr val="C70A20"/>
                </a:solidFill>
                <a:latin typeface="Arial"/>
              </a:rPr>
              <a:t>iniciadas por um piloto com lojistas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227" y="1433945"/>
            <a:ext cx="1862620" cy="737754"/>
          </a:xfrm>
          <a:prstGeom prst="rect">
            <a:avLst/>
          </a:prstGeom>
          <a:gradFill rotWithShape="1">
            <a:gsLst>
              <a:gs pos="0">
                <a:srgbClr val="C40A20"/>
              </a:gs>
              <a:gs pos="100000">
                <a:srgbClr val="C1081D"/>
              </a:gs>
            </a:gsLst>
            <a:lin scaled="0" ang="5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7708" rIns="0" tIns="0" bIns="0"/>
          <a:lstStyle/>
          <a:p>
            <a:pPr algn="l">
              <a:lnSpc>
                <a:spcPts val="1782"/>
              </a:lnSpc>
            </a:pPr>
            <a:r>
              <a:rPr sz="1550" b="1" lang="pt-BR" dirty="0">
                <a:solidFill>
                  <a:srgbClr val="FFFFFF"/>
                </a:solidFill>
                <a:latin typeface="Arial"/>
              </a:rPr>
              <a:t>Ambição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2394797" y="1433945"/>
            <a:ext cx="9385670" cy="737754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0411" y="1558636"/>
            <a:ext cx="8974442" cy="4883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8"/>
              </a:lnSpc>
            </a:pPr>
            <a:r>
              <a:rPr sz="1639" b="1" lang="pt-BR" dirty="0">
                <a:solidFill>
                  <a:srgbClr val="111111"/>
                </a:solidFill>
                <a:latin typeface="Arial"/>
              </a:rPr>
              <a:t>Plataforma de F&amp;I multibanco e ponta a ponta que faz o lojista vender mais,</a:t>
            </a:r>
          </a:p>
          <a:p>
            <a:pPr algn="l">
              <a:lnSpc>
                <a:spcPts val="1918"/>
              </a:lnSpc>
            </a:pPr>
            <a:r>
              <a:rPr sz="1639" b="1" lang="pt-BR" dirty="0">
                <a:solidFill>
                  <a:srgbClr val="111111"/>
                </a:solidFill>
                <a:latin typeface="Arial"/>
              </a:rPr>
              <a:t>com simulação e envio de ficha em um só fluxo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227" y="2296390"/>
            <a:ext cx="1862620" cy="1111827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7708" rIns="0" tIns="0" bIns="0"/>
          <a:lstStyle/>
          <a:p>
            <a:pPr algn="l">
              <a:lnSpc>
                <a:spcPts val="1690"/>
              </a:lnSpc>
            </a:pPr>
            <a:r>
              <a:rPr sz="1470" b="1" lang="pt-BR" dirty="0">
                <a:solidFill>
                  <a:srgbClr val="111111"/>
                </a:solidFill>
                <a:latin typeface="Arial"/>
              </a:rPr>
              <a:t>Valor para...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4797" y="2296390"/>
            <a:ext cx="3047923" cy="1111827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656506" y="2500312"/>
            <a:ext cx="77931" cy="77931"/>
          </a:xfrm>
          <a:prstGeom prst="ellipse">
            <a:avLst/>
          </a:prstGeom>
          <a:noFill/>
          <a:ln w="19482" cap="rnd">
            <a:solidFill>
              <a:srgbClr val="BC1227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3921" y="2500312"/>
            <a:ext cx="77931" cy="77931"/>
          </a:xfrm>
          <a:prstGeom prst="ellipse">
            <a:avLst/>
          </a:prstGeom>
          <a:noFill/>
          <a:ln w="19482" cap="rnd">
            <a:solidFill>
              <a:srgbClr val="BC1227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2627282" y="2597727"/>
            <a:ext cx="155864" cy="87674"/>
          </a:xfrm>
          <a:custGeom>
            <a:avLst/>
            <a:gdLst/>
            <a:ahLst/>
            <a:cxnLst/>
            <a:rect l="l" t="t" r="r" b="b"/>
            <a:pathLst>
              <a:path w="155864" h="87674">
                <a:moveTo>
                  <a:pt x="0" y="87674"/>
                </a:moveTo>
                <a:lnTo>
                  <a:pt x="1482" y="75596"/>
                </a:lnTo>
                <a:lnTo>
                  <a:pt x="3806" y="64413"/>
                </a:lnTo>
                <a:lnTo>
                  <a:pt x="6918" y="54125"/>
                </a:lnTo>
                <a:lnTo>
                  <a:pt x="10764" y="44732"/>
                </a:lnTo>
                <a:lnTo>
                  <a:pt x="15292" y="36233"/>
                </a:lnTo>
                <a:lnTo>
                  <a:pt x="20449" y="28628"/>
                </a:lnTo>
                <a:lnTo>
                  <a:pt x="26180" y="21919"/>
                </a:lnTo>
                <a:lnTo>
                  <a:pt x="32434" y="16104"/>
                </a:lnTo>
                <a:lnTo>
                  <a:pt x="39156" y="11183"/>
                </a:lnTo>
                <a:lnTo>
                  <a:pt x="46293" y="7157"/>
                </a:lnTo>
                <a:lnTo>
                  <a:pt x="53793" y="4026"/>
                </a:lnTo>
                <a:lnTo>
                  <a:pt x="61602" y="1790"/>
                </a:lnTo>
                <a:lnTo>
                  <a:pt x="69666" y="448"/>
                </a:lnTo>
                <a:lnTo>
                  <a:pt x="77932" y="0"/>
                </a:lnTo>
                <a:lnTo>
                  <a:pt x="86198" y="448"/>
                </a:lnTo>
                <a:lnTo>
                  <a:pt x="94262" y="1790"/>
                </a:lnTo>
                <a:lnTo>
                  <a:pt x="102071" y="4026"/>
                </a:lnTo>
                <a:lnTo>
                  <a:pt x="109570" y="7157"/>
                </a:lnTo>
                <a:lnTo>
                  <a:pt x="116708" y="11183"/>
                </a:lnTo>
                <a:lnTo>
                  <a:pt x="123430" y="16104"/>
                </a:lnTo>
                <a:lnTo>
                  <a:pt x="129684" y="21919"/>
                </a:lnTo>
                <a:lnTo>
                  <a:pt x="135415" y="28628"/>
                </a:lnTo>
                <a:lnTo>
                  <a:pt x="140572" y="36233"/>
                </a:lnTo>
                <a:lnTo>
                  <a:pt x="145100" y="44732"/>
                </a:lnTo>
                <a:lnTo>
                  <a:pt x="148946" y="54125"/>
                </a:lnTo>
                <a:lnTo>
                  <a:pt x="152058" y="64413"/>
                </a:lnTo>
                <a:lnTo>
                  <a:pt x="154382" y="75596"/>
                </a:lnTo>
                <a:lnTo>
                  <a:pt x="155864" y="87674"/>
                </a:lnTo>
              </a:path>
            </a:pathLst>
          </a:custGeom>
          <a:noFill/>
          <a:ln w="19482" cap="rnd">
            <a:solidFill>
              <a:srgbClr val="BC1227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2714955" y="2612339"/>
            <a:ext cx="136381" cy="73062"/>
          </a:xfrm>
          <a:custGeom>
            <a:avLst/>
            <a:gdLst/>
            <a:ahLst/>
            <a:cxnLst/>
            <a:rect l="l" t="t" r="r" b="b"/>
            <a:pathLst>
              <a:path w="136381" h="73062">
                <a:moveTo>
                  <a:pt x="0" y="73062"/>
                </a:moveTo>
                <a:lnTo>
                  <a:pt x="1410" y="62997"/>
                </a:lnTo>
                <a:lnTo>
                  <a:pt x="3522" y="53678"/>
                </a:lnTo>
                <a:lnTo>
                  <a:pt x="6295" y="45105"/>
                </a:lnTo>
                <a:lnTo>
                  <a:pt x="9685" y="37277"/>
                </a:lnTo>
                <a:lnTo>
                  <a:pt x="13651" y="30194"/>
                </a:lnTo>
                <a:lnTo>
                  <a:pt x="18149" y="23857"/>
                </a:lnTo>
                <a:lnTo>
                  <a:pt x="23136" y="18266"/>
                </a:lnTo>
                <a:lnTo>
                  <a:pt x="28572" y="13420"/>
                </a:lnTo>
                <a:lnTo>
                  <a:pt x="34412" y="9320"/>
                </a:lnTo>
                <a:lnTo>
                  <a:pt x="40614" y="5965"/>
                </a:lnTo>
                <a:lnTo>
                  <a:pt x="47135" y="3355"/>
                </a:lnTo>
                <a:lnTo>
                  <a:pt x="53934" y="1492"/>
                </a:lnTo>
                <a:lnTo>
                  <a:pt x="60966" y="373"/>
                </a:lnTo>
                <a:lnTo>
                  <a:pt x="68191" y="0"/>
                </a:lnTo>
                <a:lnTo>
                  <a:pt x="75415" y="373"/>
                </a:lnTo>
                <a:lnTo>
                  <a:pt x="82448" y="1492"/>
                </a:lnTo>
                <a:lnTo>
                  <a:pt x="89246" y="3355"/>
                </a:lnTo>
                <a:lnTo>
                  <a:pt x="95768" y="5965"/>
                </a:lnTo>
                <a:lnTo>
                  <a:pt x="101970" y="9320"/>
                </a:lnTo>
                <a:lnTo>
                  <a:pt x="107810" y="13420"/>
                </a:lnTo>
                <a:lnTo>
                  <a:pt x="113245" y="18266"/>
                </a:lnTo>
                <a:lnTo>
                  <a:pt x="118233" y="23857"/>
                </a:lnTo>
                <a:lnTo>
                  <a:pt x="122731" y="30194"/>
                </a:lnTo>
                <a:lnTo>
                  <a:pt x="126696" y="37277"/>
                </a:lnTo>
                <a:lnTo>
                  <a:pt x="130087" y="45105"/>
                </a:lnTo>
                <a:lnTo>
                  <a:pt x="132859" y="53678"/>
                </a:lnTo>
                <a:lnTo>
                  <a:pt x="134972" y="62997"/>
                </a:lnTo>
                <a:lnTo>
                  <a:pt x="136381" y="73062"/>
                </a:lnTo>
              </a:path>
            </a:pathLst>
          </a:custGeom>
          <a:noFill/>
          <a:ln w="19482" cap="rnd">
            <a:solidFill>
              <a:srgbClr val="BC1227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20493" y="2431472"/>
            <a:ext cx="2128708" cy="8520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  <a:spcAft>
                <a:spcPts val="160"/>
              </a:spcAft>
            </a:pPr>
            <a:r>
              <a:rPr sz="1470" b="1" lang="pt-BR" dirty="0">
                <a:solidFill>
                  <a:srgbClr val="111111"/>
                </a:solidFill>
                <a:latin typeface="Arial"/>
              </a:rPr>
              <a:t>Lojista e seu cliente</a:t>
            </a:r>
          </a:p>
          <a:p>
            <a:pPr algn="l">
              <a:lnSpc>
                <a:spcPts val="1572"/>
              </a:lnSpc>
            </a:pPr>
            <a:r>
              <a:rPr sz="1310" b="0" lang="pt-BR" dirty="0">
                <a:solidFill>
                  <a:srgbClr val="2F2F2F"/>
                </a:solidFill>
                <a:latin typeface="Arial"/>
              </a:rPr>
              <a:t>Mais aprovação, menos retrabalho e resposta em minutos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63670" y="2296390"/>
            <a:ext cx="3047923" cy="1111827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5796155" y="2558761"/>
            <a:ext cx="233796" cy="126640"/>
          </a:xfrm>
          <a:custGeom>
            <a:avLst/>
            <a:gdLst/>
            <a:ahLst/>
            <a:cxnLst/>
            <a:rect l="l" t="t" r="r" b="b"/>
            <a:pathLst>
              <a:path w="233796" h="126640">
                <a:moveTo>
                  <a:pt x="0" y="68191"/>
                </a:moveTo>
                <a:lnTo>
                  <a:pt x="29225" y="0"/>
                </a:lnTo>
                <a:lnTo>
                  <a:pt x="204571" y="0"/>
                </a:lnTo>
                <a:lnTo>
                  <a:pt x="233796" y="68191"/>
                </a:lnTo>
                <a:lnTo>
                  <a:pt x="233796" y="126640"/>
                </a:lnTo>
                <a:lnTo>
                  <a:pt x="204571" y="126640"/>
                </a:lnTo>
                <a:lnTo>
                  <a:pt x="203244" y="116554"/>
                </a:lnTo>
                <a:lnTo>
                  <a:pt x="199351" y="107157"/>
                </a:lnTo>
                <a:lnTo>
                  <a:pt x="193158" y="99087"/>
                </a:lnTo>
                <a:lnTo>
                  <a:pt x="185088" y="92894"/>
                </a:lnTo>
                <a:lnTo>
                  <a:pt x="175691" y="89001"/>
                </a:lnTo>
                <a:lnTo>
                  <a:pt x="165605" y="87674"/>
                </a:lnTo>
                <a:lnTo>
                  <a:pt x="155520" y="89001"/>
                </a:lnTo>
                <a:lnTo>
                  <a:pt x="146122" y="92894"/>
                </a:lnTo>
                <a:lnTo>
                  <a:pt x="138052" y="99087"/>
                </a:lnTo>
                <a:lnTo>
                  <a:pt x="131860" y="107157"/>
                </a:lnTo>
                <a:lnTo>
                  <a:pt x="127967" y="116554"/>
                </a:lnTo>
                <a:lnTo>
                  <a:pt x="126640" y="126640"/>
                </a:lnTo>
                <a:lnTo>
                  <a:pt x="107157" y="126640"/>
                </a:lnTo>
                <a:lnTo>
                  <a:pt x="105829" y="116554"/>
                </a:lnTo>
                <a:lnTo>
                  <a:pt x="101936" y="107157"/>
                </a:lnTo>
                <a:lnTo>
                  <a:pt x="95744" y="99087"/>
                </a:lnTo>
                <a:lnTo>
                  <a:pt x="87674" y="92894"/>
                </a:lnTo>
                <a:lnTo>
                  <a:pt x="78276" y="89001"/>
                </a:lnTo>
                <a:lnTo>
                  <a:pt x="68191" y="87674"/>
                </a:lnTo>
                <a:lnTo>
                  <a:pt x="58106" y="89001"/>
                </a:lnTo>
                <a:lnTo>
                  <a:pt x="48708" y="92894"/>
                </a:lnTo>
                <a:lnTo>
                  <a:pt x="40638" y="99087"/>
                </a:lnTo>
                <a:lnTo>
                  <a:pt x="34445" y="107157"/>
                </a:lnTo>
                <a:lnTo>
                  <a:pt x="30552" y="116554"/>
                </a:lnTo>
                <a:lnTo>
                  <a:pt x="29225" y="126640"/>
                </a:lnTo>
                <a:lnTo>
                  <a:pt x="0" y="126640"/>
                </a:lnTo>
                <a:close/>
              </a:path>
            </a:pathLst>
          </a:custGeom>
          <a:noFill/>
          <a:ln w="19482" cap="rnd">
            <a:solidFill>
              <a:srgbClr val="BC1227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5835121" y="2519795"/>
            <a:ext cx="155864" cy="38966"/>
          </a:xfrm>
          <a:custGeom>
            <a:avLst/>
            <a:gdLst/>
            <a:ahLst/>
            <a:cxnLst/>
            <a:rect l="l" t="t" r="r" b="b"/>
            <a:pathLst>
              <a:path w="155864" h="38966">
                <a:moveTo>
                  <a:pt x="0" y="38966"/>
                </a:moveTo>
                <a:lnTo>
                  <a:pt x="29225" y="0"/>
                </a:lnTo>
                <a:lnTo>
                  <a:pt x="126639" y="0"/>
                </a:lnTo>
                <a:lnTo>
                  <a:pt x="155864" y="38966"/>
                </a:lnTo>
              </a:path>
            </a:pathLst>
          </a:custGeom>
          <a:noFill/>
          <a:ln w="19482" cap="rnd">
            <a:solidFill>
              <a:srgbClr val="BC1227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39991" y="2651305"/>
            <a:ext cx="48707" cy="48707"/>
          </a:xfrm>
          <a:prstGeom prst="ellipse">
            <a:avLst/>
          </a:prstGeom>
          <a:noFill/>
          <a:ln w="19482" cap="rnd">
            <a:solidFill>
              <a:srgbClr val="BC1227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37406" y="2651305"/>
            <a:ext cx="48707" cy="48707"/>
          </a:xfrm>
          <a:prstGeom prst="ellipse">
            <a:avLst/>
          </a:prstGeom>
          <a:noFill/>
          <a:ln w="19482" cap="rnd">
            <a:solidFill>
              <a:srgbClr val="BC1227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9366" y="2431472"/>
            <a:ext cx="2128708" cy="8520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  <a:spcAft>
                <a:spcPts val="160"/>
              </a:spcAft>
            </a:pPr>
            <a:r>
              <a:rPr sz="1470" b="1" lang="pt-BR" dirty="0">
                <a:solidFill>
                  <a:srgbClr val="111111"/>
                </a:solidFill>
                <a:latin typeface="Arial"/>
              </a:rPr>
              <a:t>Localiza</a:t>
            </a:r>
          </a:p>
          <a:p>
            <a:pPr algn="l">
              <a:lnSpc>
                <a:spcPts val="1572"/>
              </a:lnSpc>
            </a:pPr>
            <a:r>
              <a:rPr sz="1310" b="0" lang="pt-BR" dirty="0">
                <a:solidFill>
                  <a:srgbClr val="2F2F2F"/>
                </a:solidFill>
                <a:latin typeface="Arial"/>
              </a:rPr>
              <a:t>Mais penetração de F&amp;I e relação mais forte com a rede de lojistas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32543" y="2296390"/>
            <a:ext cx="3047923" cy="1111827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974770" y="2490571"/>
            <a:ext cx="214312" cy="68190"/>
          </a:xfrm>
          <a:custGeom>
            <a:avLst/>
            <a:gdLst/>
            <a:ahLst/>
            <a:cxnLst/>
            <a:rect l="l" t="t" r="r" b="b"/>
            <a:pathLst>
              <a:path w="214312" h="68190">
                <a:moveTo>
                  <a:pt x="0" y="68190"/>
                </a:moveTo>
                <a:lnTo>
                  <a:pt x="107156" y="0"/>
                </a:lnTo>
                <a:lnTo>
                  <a:pt x="214312" y="68190"/>
                </a:lnTo>
              </a:path>
            </a:pathLst>
          </a:custGeom>
          <a:noFill/>
          <a:ln w="19482" cap="rnd">
            <a:solidFill>
              <a:srgbClr val="BC1227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8994252" y="2568502"/>
            <a:ext cx="175347" cy="0"/>
          </a:xfrm>
          <a:prstGeom prst="line">
            <a:avLst/>
          </a:prstGeom>
          <a:ln w="19482" cap="rnd">
            <a:solidFill>
              <a:srgbClr val="BC1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013735" y="2568502"/>
            <a:ext cx="0" cy="116898"/>
          </a:xfrm>
          <a:prstGeom prst="line">
            <a:avLst/>
          </a:prstGeom>
          <a:ln w="19482" cap="rnd">
            <a:solidFill>
              <a:srgbClr val="BC1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072184" y="2568502"/>
            <a:ext cx="0" cy="116898"/>
          </a:xfrm>
          <a:prstGeom prst="line">
            <a:avLst/>
          </a:prstGeom>
          <a:ln w="19482" cap="rnd">
            <a:solidFill>
              <a:srgbClr val="BC1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30633" y="2568502"/>
            <a:ext cx="0" cy="116898"/>
          </a:xfrm>
          <a:prstGeom prst="line">
            <a:avLst/>
          </a:prstGeom>
          <a:ln w="19482" cap="rnd">
            <a:solidFill>
              <a:srgbClr val="BC1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974769" y="2695142"/>
            <a:ext cx="214313" cy="0"/>
          </a:xfrm>
          <a:prstGeom prst="line">
            <a:avLst/>
          </a:prstGeom>
          <a:ln w="19482" cap="rnd">
            <a:solidFill>
              <a:srgbClr val="BC1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58239" y="2431472"/>
            <a:ext cx="2128708" cy="8520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  <a:spcAft>
                <a:spcPts val="160"/>
              </a:spcAft>
            </a:pPr>
            <a:r>
              <a:rPr sz="1470" b="1" lang="pt-BR" dirty="0">
                <a:solidFill>
                  <a:srgbClr val="111111"/>
                </a:solidFill>
                <a:latin typeface="Arial"/>
              </a:rPr>
              <a:t>Banco</a:t>
            </a:r>
          </a:p>
          <a:p>
            <a:pPr algn="l">
              <a:lnSpc>
                <a:spcPts val="1572"/>
              </a:lnSpc>
            </a:pPr>
            <a:r>
              <a:rPr sz="1310" b="0" lang="pt-BR" dirty="0">
                <a:solidFill>
                  <a:srgbClr val="2F2F2F"/>
                </a:solidFill>
                <a:latin typeface="Arial"/>
              </a:rPr>
              <a:t>Originação qualificada com custo de aquisição menor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227" y="3782290"/>
            <a:ext cx="1257873" cy="20781"/>
          </a:xfrm>
          <a:prstGeom prst="rect">
            <a:avLst/>
          </a:prstGeom>
          <a:solidFill>
            <a:srgbClr val="BD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765860" y="3699163"/>
            <a:ext cx="326563" cy="187036"/>
          </a:xfrm>
          <a:prstGeom prst="ellipse">
            <a:avLst/>
          </a:prstGeom>
          <a:noFill/>
          <a:ln w="19050">
            <a:solidFill>
              <a:srgbClr val="BCBC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83569" y="3782290"/>
            <a:ext cx="205613" cy="20781"/>
          </a:xfrm>
          <a:prstGeom prst="rect">
            <a:avLst/>
          </a:prstGeom>
          <a:solidFill>
            <a:srgbClr val="BD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89183" y="3678381"/>
            <a:ext cx="3938661" cy="2493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82"/>
              </a:lnSpc>
            </a:pPr>
            <a:r>
              <a:rPr sz="1550" b="1" lang="pt-BR" dirty="0">
                <a:solidFill>
                  <a:srgbClr val="111111"/>
                </a:solidFill>
                <a:latin typeface="Arial"/>
              </a:rPr>
              <a:t>cinco frentes, escaladas em ondas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79464" y="3782290"/>
            <a:ext cx="5701002" cy="20781"/>
          </a:xfrm>
          <a:prstGeom prst="rect">
            <a:avLst/>
          </a:prstGeom>
          <a:solidFill>
            <a:srgbClr val="BD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2685075" y="4073236"/>
            <a:ext cx="0" cy="1974273"/>
          </a:xfrm>
          <a:prstGeom prst="line">
            <a:avLst/>
          </a:prstGeom>
          <a:ln w="9525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reeform 33"/>
          <p:cNvSpPr/>
          <p:nvPr/>
        </p:nvSpPr>
        <p:spPr>
          <a:xfrm>
            <a:off x="758332" y="4233971"/>
            <a:ext cx="250031" cy="79555"/>
          </a:xfrm>
          <a:custGeom>
            <a:avLst/>
            <a:gdLst/>
            <a:ahLst/>
            <a:cxnLst/>
            <a:rect l="l" t="t" r="r" b="b"/>
            <a:pathLst>
              <a:path w="250031" h="79555">
                <a:moveTo>
                  <a:pt x="0" y="79555"/>
                </a:moveTo>
                <a:lnTo>
                  <a:pt x="125015" y="0"/>
                </a:lnTo>
                <a:lnTo>
                  <a:pt x="250031" y="79555"/>
                </a:lnTo>
              </a:path>
            </a:pathLst>
          </a:custGeom>
          <a:noFill/>
          <a:ln w="22730" cap="rnd">
            <a:solidFill>
              <a:srgbClr val="B6162D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781061" y="4324891"/>
            <a:ext cx="204571" cy="0"/>
          </a:xfrm>
          <a:prstGeom prst="line">
            <a:avLst/>
          </a:prstGeom>
          <a:ln w="22730" cap="rnd">
            <a:solidFill>
              <a:srgbClr val="B616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03791" y="4324891"/>
            <a:ext cx="0" cy="136380"/>
          </a:xfrm>
          <a:prstGeom prst="line">
            <a:avLst/>
          </a:prstGeom>
          <a:ln w="22730" cap="rnd">
            <a:solidFill>
              <a:srgbClr val="B616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1982" y="4324891"/>
            <a:ext cx="0" cy="136380"/>
          </a:xfrm>
          <a:prstGeom prst="line">
            <a:avLst/>
          </a:prstGeom>
          <a:ln w="22730" cap="rnd">
            <a:solidFill>
              <a:srgbClr val="B616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40172" y="4324891"/>
            <a:ext cx="0" cy="136380"/>
          </a:xfrm>
          <a:prstGeom prst="line">
            <a:avLst/>
          </a:prstGeom>
          <a:ln w="22730" cap="rnd">
            <a:solidFill>
              <a:srgbClr val="B616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8331" y="4472636"/>
            <a:ext cx="250031" cy="0"/>
          </a:xfrm>
          <a:prstGeom prst="line">
            <a:avLst/>
          </a:prstGeom>
          <a:ln w="22730" cap="rnd">
            <a:solidFill>
              <a:srgbClr val="B616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411227" y="4052454"/>
            <a:ext cx="301336" cy="301336"/>
          </a:xfrm>
          <a:prstGeom prst="ellipse">
            <a:avLst/>
          </a:prstGeom>
          <a:solidFill>
            <a:srgbClr val="C90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ts val="1506"/>
              </a:lnSpc>
            </a:pPr>
            <a:r>
              <a:rPr sz="1310" b="1" lang="pt-BR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4746" y="4655127"/>
            <a:ext cx="1874715" cy="22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9"/>
              </a:lnSpc>
            </a:pPr>
            <a:r>
              <a:rPr sz="1390" b="1" lang="pt-BR" dirty="0">
                <a:solidFill>
                  <a:srgbClr val="111111"/>
                </a:solidFill>
                <a:latin typeface="Arial"/>
              </a:rPr>
              <a:t>Bancos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746" y="4954905"/>
            <a:ext cx="1874715" cy="1092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6"/>
              </a:lnSpc>
            </a:pPr>
            <a:r>
              <a:rPr sz="1150" b="0" lang="pt-BR" dirty="0">
                <a:solidFill>
                  <a:srgbClr val="222222"/>
                </a:solidFill>
                <a:latin typeface="Arial"/>
              </a:rPr>
              <a:t>Integrar em ondas, dos bancos menores aos maiores, à medida que a proposta de valor se confirma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958923" y="4073236"/>
            <a:ext cx="0" cy="1974273"/>
          </a:xfrm>
          <a:prstGeom prst="line">
            <a:avLst/>
          </a:prstGeom>
          <a:ln w="9525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3100369" y="4302161"/>
            <a:ext cx="113650" cy="113650"/>
          </a:xfrm>
          <a:prstGeom prst="ellipse">
            <a:avLst/>
          </a:prstGeom>
          <a:noFill/>
          <a:ln w="22730" cap="rnd">
            <a:solidFill>
              <a:srgbClr val="111111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043544" y="4245335"/>
            <a:ext cx="227301" cy="227301"/>
          </a:xfrm>
          <a:prstGeom prst="ellipse">
            <a:avLst/>
          </a:prstGeom>
          <a:noFill/>
          <a:ln w="22730" cap="rnd">
            <a:solidFill>
              <a:srgbClr val="111111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157195" y="4211240"/>
            <a:ext cx="0" cy="45460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157195" y="4461271"/>
            <a:ext cx="0" cy="45461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009449" y="4358986"/>
            <a:ext cx="45460" cy="0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259480" y="4358986"/>
            <a:ext cx="45460" cy="0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54909" y="4256700"/>
            <a:ext cx="34095" cy="34096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225385" y="4427176"/>
            <a:ext cx="34095" cy="34095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3225385" y="4256700"/>
            <a:ext cx="34095" cy="34096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054909" y="4427176"/>
            <a:ext cx="34095" cy="34095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2685075" y="4052454"/>
            <a:ext cx="301336" cy="301336"/>
          </a:xfrm>
          <a:prstGeom prst="ellipse">
            <a:avLst/>
          </a:prstGeom>
          <a:solidFill>
            <a:srgbClr val="C90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ts val="1506"/>
              </a:lnSpc>
            </a:pPr>
            <a:r>
              <a:rPr sz="1310" b="1" lang="pt-BR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78594" y="4655127"/>
            <a:ext cx="1874715" cy="22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9"/>
              </a:lnSpc>
            </a:pPr>
            <a:r>
              <a:rPr sz="1390" b="1" lang="pt-BR" dirty="0">
                <a:solidFill>
                  <a:srgbClr val="111111"/>
                </a:solidFill>
                <a:latin typeface="Arial"/>
              </a:rPr>
              <a:t>Tecnologia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78594" y="4954905"/>
            <a:ext cx="1874715" cy="1092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6"/>
              </a:lnSpc>
            </a:pPr>
            <a:r>
              <a:rPr sz="1150" b="0" lang="pt-BR" dirty="0">
                <a:solidFill>
                  <a:srgbClr val="222222"/>
                </a:solidFill>
                <a:latin typeface="Arial"/>
              </a:rPr>
              <a:t>APIs para simulação via Corban do lojista e envio da ficha a múltiplos bancos em um único disparo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232771" y="4073236"/>
            <a:ext cx="0" cy="1974273"/>
          </a:xfrm>
          <a:prstGeom prst="line">
            <a:avLst/>
          </a:prstGeom>
          <a:ln w="9525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5306027" y="4233971"/>
            <a:ext cx="250032" cy="181841"/>
          </a:xfrm>
          <a:custGeom>
            <a:avLst/>
            <a:gdLst/>
            <a:ahLst/>
            <a:cxnLst/>
            <a:rect l="l" t="t" r="r" b="b"/>
            <a:pathLst>
              <a:path w="250032" h="181841">
                <a:moveTo>
                  <a:pt x="0" y="0"/>
                </a:moveTo>
                <a:lnTo>
                  <a:pt x="250032" y="0"/>
                </a:lnTo>
                <a:lnTo>
                  <a:pt x="250032" y="181841"/>
                </a:lnTo>
                <a:lnTo>
                  <a:pt x="0" y="181841"/>
                </a:lnTo>
                <a:close/>
              </a:path>
            </a:pathLst>
          </a:custGeom>
          <a:noFill/>
          <a:ln w="22730" cap="rnd">
            <a:solidFill>
              <a:srgbClr val="111111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5385582" y="4484001"/>
            <a:ext cx="90921" cy="0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431043" y="4415811"/>
            <a:ext cx="0" cy="68190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958923" y="4052454"/>
            <a:ext cx="301336" cy="301336"/>
          </a:xfrm>
          <a:prstGeom prst="ellipse">
            <a:avLst/>
          </a:prstGeom>
          <a:solidFill>
            <a:srgbClr val="C90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ts val="1506"/>
              </a:lnSpc>
            </a:pPr>
            <a:r>
              <a:rPr sz="1310" b="1" lang="pt-BR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2442" y="4655127"/>
            <a:ext cx="1874715" cy="4125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9"/>
              </a:lnSpc>
            </a:pPr>
            <a:r>
              <a:rPr sz="1390" b="1" lang="pt-BR" dirty="0">
                <a:solidFill>
                  <a:srgbClr val="111111"/>
                </a:solidFill>
                <a:latin typeface="Arial"/>
              </a:rPr>
              <a:t>Interface</a:t>
            </a:r>
          </a:p>
          <a:p>
            <a:pPr algn="l">
              <a:lnSpc>
                <a:spcPts val="1459"/>
              </a:lnSpc>
            </a:pPr>
            <a:r>
              <a:rPr sz="1390" b="1" lang="pt-BR" dirty="0">
                <a:solidFill>
                  <a:srgbClr val="111111"/>
                </a:solidFill>
                <a:latin typeface="Arial"/>
              </a:rPr>
              <a:t>da plataforma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52442" y="5140382"/>
            <a:ext cx="1874715" cy="9071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6"/>
              </a:lnSpc>
            </a:pPr>
            <a:r>
              <a:rPr sz="1150" b="0" lang="pt-BR" dirty="0">
                <a:solidFill>
                  <a:srgbClr val="222222"/>
                </a:solidFill>
                <a:latin typeface="Arial"/>
              </a:rPr>
              <a:t>Melhoria contínua guiada pelo uso do vendedor, com ciclos curtos de release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506619" y="4073236"/>
            <a:ext cx="0" cy="1974273"/>
          </a:xfrm>
          <a:prstGeom prst="line">
            <a:avLst/>
          </a:prstGeom>
          <a:ln w="9525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602605" y="4245335"/>
            <a:ext cx="90920" cy="90920"/>
          </a:xfrm>
          <a:prstGeom prst="ellipse">
            <a:avLst/>
          </a:prstGeom>
          <a:noFill/>
          <a:ln w="22730" cap="rnd">
            <a:solidFill>
              <a:srgbClr val="111111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716255" y="4245335"/>
            <a:ext cx="90920" cy="90920"/>
          </a:xfrm>
          <a:prstGeom prst="ellipse">
            <a:avLst/>
          </a:prstGeom>
          <a:noFill/>
          <a:ln w="22730" cap="rnd">
            <a:solidFill>
              <a:srgbClr val="111111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68510" y="4358986"/>
            <a:ext cx="181841" cy="102286"/>
          </a:xfrm>
          <a:custGeom>
            <a:avLst/>
            <a:gdLst/>
            <a:ahLst/>
            <a:cxnLst/>
            <a:rect l="l" t="t" r="r" b="b"/>
            <a:pathLst>
              <a:path w="181841" h="102286">
                <a:moveTo>
                  <a:pt x="0" y="102286"/>
                </a:moveTo>
                <a:lnTo>
                  <a:pt x="1729" y="88196"/>
                </a:lnTo>
                <a:lnTo>
                  <a:pt x="4440" y="75149"/>
                </a:lnTo>
                <a:lnTo>
                  <a:pt x="8071" y="63146"/>
                </a:lnTo>
                <a:lnTo>
                  <a:pt x="12558" y="52187"/>
                </a:lnTo>
                <a:lnTo>
                  <a:pt x="17841" y="42271"/>
                </a:lnTo>
                <a:lnTo>
                  <a:pt x="23857" y="33400"/>
                </a:lnTo>
                <a:lnTo>
                  <a:pt x="30544" y="25572"/>
                </a:lnTo>
                <a:lnTo>
                  <a:pt x="37840" y="18787"/>
                </a:lnTo>
                <a:lnTo>
                  <a:pt x="45682" y="13047"/>
                </a:lnTo>
                <a:lnTo>
                  <a:pt x="54009" y="8350"/>
                </a:lnTo>
                <a:lnTo>
                  <a:pt x="62759" y="4697"/>
                </a:lnTo>
                <a:lnTo>
                  <a:pt x="71868" y="2088"/>
                </a:lnTo>
                <a:lnTo>
                  <a:pt x="81277" y="522"/>
                </a:lnTo>
                <a:lnTo>
                  <a:pt x="90921" y="0"/>
                </a:lnTo>
                <a:lnTo>
                  <a:pt x="100565" y="522"/>
                </a:lnTo>
                <a:lnTo>
                  <a:pt x="109973" y="2088"/>
                </a:lnTo>
                <a:lnTo>
                  <a:pt x="119083" y="4697"/>
                </a:lnTo>
                <a:lnTo>
                  <a:pt x="127832" y="8350"/>
                </a:lnTo>
                <a:lnTo>
                  <a:pt x="136159" y="13047"/>
                </a:lnTo>
                <a:lnTo>
                  <a:pt x="144002" y="18787"/>
                </a:lnTo>
                <a:lnTo>
                  <a:pt x="151298" y="25572"/>
                </a:lnTo>
                <a:lnTo>
                  <a:pt x="157984" y="33400"/>
                </a:lnTo>
                <a:lnTo>
                  <a:pt x="164000" y="42271"/>
                </a:lnTo>
                <a:lnTo>
                  <a:pt x="169283" y="52187"/>
                </a:lnTo>
                <a:lnTo>
                  <a:pt x="173771" y="63146"/>
                </a:lnTo>
                <a:lnTo>
                  <a:pt x="177401" y="75149"/>
                </a:lnTo>
                <a:lnTo>
                  <a:pt x="180112" y="88196"/>
                </a:lnTo>
                <a:lnTo>
                  <a:pt x="181841" y="102286"/>
                </a:lnTo>
              </a:path>
            </a:pathLst>
          </a:custGeom>
          <a:noFill/>
          <a:ln w="22730" cap="rnd">
            <a:solidFill>
              <a:srgbClr val="111111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7670796" y="4376034"/>
            <a:ext cx="159111" cy="85238"/>
          </a:xfrm>
          <a:custGeom>
            <a:avLst/>
            <a:gdLst/>
            <a:ahLst/>
            <a:cxnLst/>
            <a:rect l="l" t="t" r="r" b="b"/>
            <a:pathLst>
              <a:path w="159111" h="85238">
                <a:moveTo>
                  <a:pt x="0" y="85238"/>
                </a:moveTo>
                <a:lnTo>
                  <a:pt x="1644" y="73496"/>
                </a:lnTo>
                <a:lnTo>
                  <a:pt x="4108" y="62624"/>
                </a:lnTo>
                <a:lnTo>
                  <a:pt x="7343" y="52621"/>
                </a:lnTo>
                <a:lnTo>
                  <a:pt x="11299" y="43489"/>
                </a:lnTo>
                <a:lnTo>
                  <a:pt x="15925" y="35226"/>
                </a:lnTo>
                <a:lnTo>
                  <a:pt x="21173" y="27833"/>
                </a:lnTo>
                <a:lnTo>
                  <a:pt x="26992" y="21309"/>
                </a:lnTo>
                <a:lnTo>
                  <a:pt x="33333" y="15656"/>
                </a:lnTo>
                <a:lnTo>
                  <a:pt x="40146" y="10872"/>
                </a:lnTo>
                <a:lnTo>
                  <a:pt x="47382" y="6958"/>
                </a:lnTo>
                <a:lnTo>
                  <a:pt x="54990" y="3914"/>
                </a:lnTo>
                <a:lnTo>
                  <a:pt x="62922" y="1739"/>
                </a:lnTo>
                <a:lnTo>
                  <a:pt x="71127" y="435"/>
                </a:lnTo>
                <a:lnTo>
                  <a:pt x="79555" y="0"/>
                </a:lnTo>
                <a:lnTo>
                  <a:pt x="87984" y="435"/>
                </a:lnTo>
                <a:lnTo>
                  <a:pt x="96189" y="1739"/>
                </a:lnTo>
                <a:lnTo>
                  <a:pt x="104120" y="3914"/>
                </a:lnTo>
                <a:lnTo>
                  <a:pt x="111729" y="6958"/>
                </a:lnTo>
                <a:lnTo>
                  <a:pt x="118964" y="10872"/>
                </a:lnTo>
                <a:lnTo>
                  <a:pt x="125777" y="15656"/>
                </a:lnTo>
                <a:lnTo>
                  <a:pt x="132119" y="21309"/>
                </a:lnTo>
                <a:lnTo>
                  <a:pt x="137938" y="27833"/>
                </a:lnTo>
                <a:lnTo>
                  <a:pt x="143185" y="35226"/>
                </a:lnTo>
                <a:lnTo>
                  <a:pt x="147812" y="43489"/>
                </a:lnTo>
                <a:lnTo>
                  <a:pt x="151767" y="52621"/>
                </a:lnTo>
                <a:lnTo>
                  <a:pt x="155002" y="62624"/>
                </a:lnTo>
                <a:lnTo>
                  <a:pt x="157466" y="73496"/>
                </a:lnTo>
                <a:lnTo>
                  <a:pt x="159111" y="85238"/>
                </a:lnTo>
              </a:path>
            </a:pathLst>
          </a:custGeom>
          <a:noFill/>
          <a:ln w="22730" cap="rnd">
            <a:solidFill>
              <a:srgbClr val="111111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232771" y="4052454"/>
            <a:ext cx="301336" cy="301336"/>
          </a:xfrm>
          <a:prstGeom prst="ellipse">
            <a:avLst/>
          </a:prstGeom>
          <a:solidFill>
            <a:srgbClr val="C90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ts val="1506"/>
              </a:lnSpc>
            </a:pPr>
            <a:r>
              <a:rPr sz="1310" b="1" lang="pt-BR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6290" y="4655127"/>
            <a:ext cx="1874715" cy="22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9"/>
              </a:lnSpc>
            </a:pPr>
            <a:r>
              <a:rPr sz="1390" b="1" lang="pt-BR" dirty="0">
                <a:solidFill>
                  <a:srgbClr val="111111"/>
                </a:solidFill>
                <a:latin typeface="Arial"/>
              </a:rPr>
              <a:t>Lojistas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26290" y="4954905"/>
            <a:ext cx="1874715" cy="1092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6"/>
              </a:lnSpc>
            </a:pPr>
            <a:r>
              <a:rPr sz="1150" b="0" lang="pt-BR" dirty="0">
                <a:solidFill>
                  <a:srgbClr val="222222"/>
                </a:solidFill>
                <a:latin typeface="Arial"/>
              </a:rPr>
              <a:t>Piloto em pequena escala para provar a proposta de valor e, confirmada, escalar por onda</a:t>
            </a:r>
          </a:p>
        </p:txBody>
      </p:sp>
      <p:sp>
        <p:nvSpPr>
          <p:cNvPr id="72" name="Oval 71"/>
          <p:cNvSpPr/>
          <p:nvPr/>
        </p:nvSpPr>
        <p:spPr>
          <a:xfrm>
            <a:off x="9853723" y="4324891"/>
            <a:ext cx="68190" cy="68190"/>
          </a:xfrm>
          <a:prstGeom prst="ellipse">
            <a:avLst/>
          </a:prstGeom>
          <a:noFill/>
          <a:ln w="22730" cap="rnd">
            <a:solidFill>
              <a:srgbClr val="111111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024199" y="4233970"/>
            <a:ext cx="68190" cy="68190"/>
          </a:xfrm>
          <a:prstGeom prst="ellipse">
            <a:avLst/>
          </a:prstGeom>
          <a:noFill/>
          <a:ln w="22730" cap="rnd">
            <a:solidFill>
              <a:srgbClr val="111111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024199" y="4415811"/>
            <a:ext cx="68190" cy="68190"/>
          </a:xfrm>
          <a:prstGeom prst="ellipse">
            <a:avLst/>
          </a:prstGeom>
          <a:noFill/>
          <a:ln w="22730" cap="rnd">
            <a:solidFill>
              <a:srgbClr val="111111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 flipV="1">
            <a:off x="9921913" y="4279430"/>
            <a:ext cx="102286" cy="68191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921913" y="4370351"/>
            <a:ext cx="102286" cy="68190"/>
          </a:xfrm>
          <a:prstGeom prst="line">
            <a:avLst/>
          </a:prstGeom>
          <a:ln w="22730" cap="rnd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9506619" y="4052454"/>
            <a:ext cx="301336" cy="301336"/>
          </a:xfrm>
          <a:prstGeom prst="ellipse">
            <a:avLst/>
          </a:prstGeom>
          <a:solidFill>
            <a:srgbClr val="C90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ts val="1506"/>
              </a:lnSpc>
            </a:pPr>
            <a:r>
              <a:rPr sz="1310" b="1" lang="pt-BR" dirty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00138" y="4655127"/>
            <a:ext cx="1874715" cy="22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9"/>
              </a:lnSpc>
            </a:pPr>
            <a:r>
              <a:rPr sz="1390" b="1" lang="pt-BR" dirty="0">
                <a:solidFill>
                  <a:srgbClr val="111111"/>
                </a:solidFill>
                <a:latin typeface="Arial"/>
              </a:rPr>
              <a:t>Ecossistema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00138" y="4954905"/>
            <a:ext cx="1874715" cy="1092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6"/>
              </a:lnSpc>
            </a:pPr>
            <a:r>
              <a:rPr sz="1150" b="0" lang="pt-BR" dirty="0">
                <a:solidFill>
                  <a:srgbClr val="222222"/>
                </a:solidFill>
                <a:latin typeface="Arial"/>
              </a:rPr>
              <a:t>Novos serviços e integração com Valorização depois que o núcleo estiver estável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227" y="6525490"/>
            <a:ext cx="7256961" cy="1662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lang="pt-BR" dirty="0">
                <a:solidFill>
                  <a:srgbClr val="444444"/>
                </a:solidFill>
                <a:latin typeface="Arial"/>
              </a:rPr>
              <a:t>Fonte: análise Bain. Preliminar, para discussão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70973" y="6515100"/>
            <a:ext cx="1209493" cy="187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72"/>
              </a:lnSpc>
            </a:pPr>
            <a:r>
              <a:rPr sz="1060" b="0" lang="pt-BR" dirty="0">
                <a:solidFill>
                  <a:srgbClr val="44444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F&amp;I Multibanco | Visão Geral</dc:title>
  <dc:subject/>
  <dc:creator>ConsultingInnovation@bain.com</dc:creator>
  <cp:keywords/>
  <dc:description>generated using python-pptx</dc:description>
  <cp:lastModifiedBy>ConsultingInnovation@bain.com</cp:lastModifiedBy>
  <cp:revision>1</cp:revision>
  <dcterms:created xsi:type="dcterms:W3CDTF">2013-01-27T09:14:16Z</dcterms:created>
  <dcterms:modified xsi:type="dcterms:W3CDTF">2013-01-27T09:15:58Z</dcterms:modified>
  <cp:category/>
</cp:coreProperties>
</file>